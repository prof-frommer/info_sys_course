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av" ContentType="audio/x-wav"/>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4"/>
  </p:notesMasterIdLst>
  <p:handoutMasterIdLst>
    <p:handoutMasterId r:id="rId45"/>
  </p:handoutMasterIdLst>
  <p:sldIdLst>
    <p:sldId id="257" r:id="rId2"/>
    <p:sldId id="318" r:id="rId3"/>
    <p:sldId id="329" r:id="rId4"/>
    <p:sldId id="328" r:id="rId5"/>
    <p:sldId id="270" r:id="rId6"/>
    <p:sldId id="271" r:id="rId7"/>
    <p:sldId id="304" r:id="rId8"/>
    <p:sldId id="272" r:id="rId9"/>
    <p:sldId id="273" r:id="rId10"/>
    <p:sldId id="319" r:id="rId11"/>
    <p:sldId id="305" r:id="rId12"/>
    <p:sldId id="295" r:id="rId13"/>
    <p:sldId id="307" r:id="rId14"/>
    <p:sldId id="309" r:id="rId15"/>
    <p:sldId id="311" r:id="rId16"/>
    <p:sldId id="321" r:id="rId17"/>
    <p:sldId id="312" r:id="rId18"/>
    <p:sldId id="330" r:id="rId19"/>
    <p:sldId id="297" r:id="rId20"/>
    <p:sldId id="274" r:id="rId21"/>
    <p:sldId id="276" r:id="rId22"/>
    <p:sldId id="308" r:id="rId23"/>
    <p:sldId id="277" r:id="rId24"/>
    <p:sldId id="278" r:id="rId25"/>
    <p:sldId id="281" r:id="rId26"/>
    <p:sldId id="282" r:id="rId27"/>
    <p:sldId id="280" r:id="rId28"/>
    <p:sldId id="279" r:id="rId29"/>
    <p:sldId id="283" r:id="rId30"/>
    <p:sldId id="284" r:id="rId31"/>
    <p:sldId id="285" r:id="rId32"/>
    <p:sldId id="288" r:id="rId33"/>
    <p:sldId id="313" r:id="rId34"/>
    <p:sldId id="314" r:id="rId35"/>
    <p:sldId id="316" r:id="rId36"/>
    <p:sldId id="317" r:id="rId37"/>
    <p:sldId id="322" r:id="rId38"/>
    <p:sldId id="325" r:id="rId39"/>
    <p:sldId id="326" r:id="rId40"/>
    <p:sldId id="323" r:id="rId41"/>
    <p:sldId id="331" r:id="rId42"/>
    <p:sldId id="290"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B3BD73-169F-4674-90AA-19E9D113805A}" v="14" dt="2026-09-23T17:27:14.8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01" autoAdjust="0"/>
    <p:restoredTop sz="89568" autoAdjust="0"/>
  </p:normalViewPr>
  <p:slideViewPr>
    <p:cSldViewPr snapToGrid="0" snapToObjects="1">
      <p:cViewPr varScale="1">
        <p:scale>
          <a:sx n="111" d="100"/>
          <a:sy n="111" d="100"/>
        </p:scale>
        <p:origin x="1512" y="10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ommer, Ian Dr. (EDU)" userId="28ca3ff0-544f-450a-928b-99e19cf49b89" providerId="ADAL" clId="{A3E8E5B1-0D91-4643-B70B-3D065C8674E0}"/>
    <pc:docChg chg="undo redo custSel addSld delSld modSld">
      <pc:chgData name="Frommer, Ian Dr. (EDU)" userId="28ca3ff0-544f-450a-928b-99e19cf49b89" providerId="ADAL" clId="{A3E8E5B1-0D91-4643-B70B-3D065C8674E0}" dt="2026-09-23T17:27:47.531" v="201" actId="1076"/>
      <pc:docMkLst>
        <pc:docMk/>
      </pc:docMkLst>
      <pc:sldChg chg="modSp mod">
        <pc:chgData name="Frommer, Ian Dr. (EDU)" userId="28ca3ff0-544f-450a-928b-99e19cf49b89" providerId="ADAL" clId="{A3E8E5B1-0D91-4643-B70B-3D065C8674E0}" dt="2026-09-23T16:27:41.364" v="39" actId="207"/>
        <pc:sldMkLst>
          <pc:docMk/>
          <pc:sldMk cId="1093004934" sldId="274"/>
        </pc:sldMkLst>
        <pc:spChg chg="mod">
          <ac:chgData name="Frommer, Ian Dr. (EDU)" userId="28ca3ff0-544f-450a-928b-99e19cf49b89" providerId="ADAL" clId="{A3E8E5B1-0D91-4643-B70B-3D065C8674E0}" dt="2026-09-23T16:27:41.364" v="39" actId="207"/>
          <ac:spMkLst>
            <pc:docMk/>
            <pc:sldMk cId="1093004934" sldId="274"/>
            <ac:spMk id="13" creationId="{00000000-0000-0000-0000-000000000000}"/>
          </ac:spMkLst>
        </pc:spChg>
        <pc:spChg chg="mod">
          <ac:chgData name="Frommer, Ian Dr. (EDU)" userId="28ca3ff0-544f-450a-928b-99e19cf49b89" providerId="ADAL" clId="{A3E8E5B1-0D91-4643-B70B-3D065C8674E0}" dt="2026-09-23T16:27:26.773" v="37" actId="207"/>
          <ac:spMkLst>
            <pc:docMk/>
            <pc:sldMk cId="1093004934" sldId="274"/>
            <ac:spMk id="16" creationId="{00000000-0000-0000-0000-000000000000}"/>
          </ac:spMkLst>
        </pc:spChg>
        <pc:spChg chg="mod">
          <ac:chgData name="Frommer, Ian Dr. (EDU)" userId="28ca3ff0-544f-450a-928b-99e19cf49b89" providerId="ADAL" clId="{A3E8E5B1-0D91-4643-B70B-3D065C8674E0}" dt="2026-09-23T16:26:56.155" v="32" actId="6549"/>
          <ac:spMkLst>
            <pc:docMk/>
            <pc:sldMk cId="1093004934" sldId="274"/>
            <ac:spMk id="20" creationId="{40B45056-9451-4586-BCFB-5D6D89883422}"/>
          </ac:spMkLst>
        </pc:spChg>
        <pc:spChg chg="mod">
          <ac:chgData name="Frommer, Ian Dr. (EDU)" userId="28ca3ff0-544f-450a-928b-99e19cf49b89" providerId="ADAL" clId="{A3E8E5B1-0D91-4643-B70B-3D065C8674E0}" dt="2026-09-23T16:26:59.069" v="33" actId="20577"/>
          <ac:spMkLst>
            <pc:docMk/>
            <pc:sldMk cId="1093004934" sldId="274"/>
            <ac:spMk id="33" creationId="{F582C484-1256-408A-BBF8-329FE8E00AA0}"/>
          </ac:spMkLst>
        </pc:spChg>
        <pc:spChg chg="mod">
          <ac:chgData name="Frommer, Ian Dr. (EDU)" userId="28ca3ff0-544f-450a-928b-99e19cf49b89" providerId="ADAL" clId="{A3E8E5B1-0D91-4643-B70B-3D065C8674E0}" dt="2026-09-23T16:27:18.378" v="36" actId="20577"/>
          <ac:spMkLst>
            <pc:docMk/>
            <pc:sldMk cId="1093004934" sldId="274"/>
            <ac:spMk id="37" creationId="{5FEBA28A-E8AF-46CE-8E6D-FEAC0D1DD535}"/>
          </ac:spMkLst>
        </pc:spChg>
      </pc:sldChg>
      <pc:sldChg chg="add del">
        <pc:chgData name="Frommer, Ian Dr. (EDU)" userId="28ca3ff0-544f-450a-928b-99e19cf49b89" providerId="ADAL" clId="{A3E8E5B1-0D91-4643-B70B-3D065C8674E0}" dt="2026-09-23T16:37:43.473" v="44"/>
        <pc:sldMkLst>
          <pc:docMk/>
          <pc:sldMk cId="655143150" sldId="278"/>
        </pc:sldMkLst>
      </pc:sldChg>
      <pc:sldChg chg="addSp delSp modSp mod">
        <pc:chgData name="Frommer, Ian Dr. (EDU)" userId="28ca3ff0-544f-450a-928b-99e19cf49b89" providerId="ADAL" clId="{A3E8E5B1-0D91-4643-B70B-3D065C8674E0}" dt="2026-09-23T16:37:28.901" v="43" actId="14100"/>
        <pc:sldMkLst>
          <pc:docMk/>
          <pc:sldMk cId="3736434980" sldId="279"/>
        </pc:sldMkLst>
        <pc:spChg chg="add mod">
          <ac:chgData name="Frommer, Ian Dr. (EDU)" userId="28ca3ff0-544f-450a-928b-99e19cf49b89" providerId="ADAL" clId="{A3E8E5B1-0D91-4643-B70B-3D065C8674E0}" dt="2026-09-23T16:37:28.901" v="43" actId="14100"/>
          <ac:spMkLst>
            <pc:docMk/>
            <pc:sldMk cId="3736434980" sldId="279"/>
            <ac:spMk id="5" creationId="{84C52F80-4932-E264-ADDE-27CEBA6F7C6C}"/>
          </ac:spMkLst>
        </pc:spChg>
        <pc:spChg chg="del">
          <ac:chgData name="Frommer, Ian Dr. (EDU)" userId="28ca3ff0-544f-450a-928b-99e19cf49b89" providerId="ADAL" clId="{A3E8E5B1-0D91-4643-B70B-3D065C8674E0}" dt="2026-09-23T16:28:47.878" v="40" actId="478"/>
          <ac:spMkLst>
            <pc:docMk/>
            <pc:sldMk cId="3736434980" sldId="279"/>
            <ac:spMk id="9" creationId="{00000000-0000-0000-0000-000000000000}"/>
          </ac:spMkLst>
        </pc:spChg>
      </pc:sldChg>
      <pc:sldChg chg="add">
        <pc:chgData name="Frommer, Ian Dr. (EDU)" userId="28ca3ff0-544f-450a-928b-99e19cf49b89" providerId="ADAL" clId="{A3E8E5B1-0D91-4643-B70B-3D065C8674E0}" dt="2026-09-23T16:37:43.473" v="44"/>
        <pc:sldMkLst>
          <pc:docMk/>
          <pc:sldMk cId="1977493954" sldId="280"/>
        </pc:sldMkLst>
      </pc:sldChg>
      <pc:sldChg chg="add">
        <pc:chgData name="Frommer, Ian Dr. (EDU)" userId="28ca3ff0-544f-450a-928b-99e19cf49b89" providerId="ADAL" clId="{A3E8E5B1-0D91-4643-B70B-3D065C8674E0}" dt="2026-09-23T16:37:43.473" v="44"/>
        <pc:sldMkLst>
          <pc:docMk/>
          <pc:sldMk cId="4046738892" sldId="281"/>
        </pc:sldMkLst>
      </pc:sldChg>
      <pc:sldChg chg="add">
        <pc:chgData name="Frommer, Ian Dr. (EDU)" userId="28ca3ff0-544f-450a-928b-99e19cf49b89" providerId="ADAL" clId="{A3E8E5B1-0D91-4643-B70B-3D065C8674E0}" dt="2026-09-23T16:37:43.473" v="44"/>
        <pc:sldMkLst>
          <pc:docMk/>
          <pc:sldMk cId="2630577512" sldId="282"/>
        </pc:sldMkLst>
      </pc:sldChg>
      <pc:sldChg chg="modSp mod">
        <pc:chgData name="Frommer, Ian Dr. (EDU)" userId="28ca3ff0-544f-450a-928b-99e19cf49b89" providerId="ADAL" clId="{A3E8E5B1-0D91-4643-B70B-3D065C8674E0}" dt="2026-09-20T16:38:45.654" v="21" actId="6549"/>
        <pc:sldMkLst>
          <pc:docMk/>
          <pc:sldMk cId="4232733603" sldId="295"/>
        </pc:sldMkLst>
        <pc:spChg chg="mod">
          <ac:chgData name="Frommer, Ian Dr. (EDU)" userId="28ca3ff0-544f-450a-928b-99e19cf49b89" providerId="ADAL" clId="{A3E8E5B1-0D91-4643-B70B-3D065C8674E0}" dt="2026-09-20T16:38:45.654" v="21" actId="6549"/>
          <ac:spMkLst>
            <pc:docMk/>
            <pc:sldMk cId="4232733603" sldId="295"/>
            <ac:spMk id="3" creationId="{AC3D384F-B67C-4431-9D6A-B8D75F56EED4}"/>
          </ac:spMkLst>
        </pc:spChg>
      </pc:sldChg>
      <pc:sldChg chg="addSp modSp mod">
        <pc:chgData name="Frommer, Ian Dr. (EDU)" userId="28ca3ff0-544f-450a-928b-99e19cf49b89" providerId="ADAL" clId="{A3E8E5B1-0D91-4643-B70B-3D065C8674E0}" dt="2026-09-20T16:52:03.363" v="23" actId="1076"/>
        <pc:sldMkLst>
          <pc:docMk/>
          <pc:sldMk cId="2133753849" sldId="308"/>
        </pc:sldMkLst>
        <pc:spChg chg="add mod">
          <ac:chgData name="Frommer, Ian Dr. (EDU)" userId="28ca3ff0-544f-450a-928b-99e19cf49b89" providerId="ADAL" clId="{A3E8E5B1-0D91-4643-B70B-3D065C8674E0}" dt="2026-09-20T16:52:03.363" v="23" actId="1076"/>
          <ac:spMkLst>
            <pc:docMk/>
            <pc:sldMk cId="2133753849" sldId="308"/>
            <ac:spMk id="6" creationId="{8ADB309B-B061-2F7F-6067-4C2C23D2933B}"/>
          </ac:spMkLst>
        </pc:spChg>
      </pc:sldChg>
      <pc:sldChg chg="addSp modSp new mod">
        <pc:chgData name="Frommer, Ian Dr. (EDU)" userId="28ca3ff0-544f-450a-928b-99e19cf49b89" providerId="ADAL" clId="{A3E8E5B1-0D91-4643-B70B-3D065C8674E0}" dt="2026-09-23T17:27:47.531" v="201" actId="1076"/>
        <pc:sldMkLst>
          <pc:docMk/>
          <pc:sldMk cId="2160823425" sldId="331"/>
        </pc:sldMkLst>
        <pc:spChg chg="mod">
          <ac:chgData name="Frommer, Ian Dr. (EDU)" userId="28ca3ff0-544f-450a-928b-99e19cf49b89" providerId="ADAL" clId="{A3E8E5B1-0D91-4643-B70B-3D065C8674E0}" dt="2026-09-23T17:01:40.141" v="46"/>
          <ac:spMkLst>
            <pc:docMk/>
            <pc:sldMk cId="2160823425" sldId="331"/>
            <ac:spMk id="2" creationId="{959F58F2-5FC2-7962-1707-9824743F302A}"/>
          </ac:spMkLst>
        </pc:spChg>
        <pc:spChg chg="mod">
          <ac:chgData name="Frommer, Ian Dr. (EDU)" userId="28ca3ff0-544f-450a-928b-99e19cf49b89" providerId="ADAL" clId="{A3E8E5B1-0D91-4643-B70B-3D065C8674E0}" dt="2026-09-23T17:27:23.071" v="190" actId="14100"/>
          <ac:spMkLst>
            <pc:docMk/>
            <pc:sldMk cId="2160823425" sldId="331"/>
            <ac:spMk id="3" creationId="{54F74308-7247-2B5B-0181-75B75F9F1592}"/>
          </ac:spMkLst>
        </pc:spChg>
        <pc:spChg chg="add mod">
          <ac:chgData name="Frommer, Ian Dr. (EDU)" userId="28ca3ff0-544f-450a-928b-99e19cf49b89" providerId="ADAL" clId="{A3E8E5B1-0D91-4643-B70B-3D065C8674E0}" dt="2026-09-23T17:27:39.639" v="198" actId="27636"/>
          <ac:spMkLst>
            <pc:docMk/>
            <pc:sldMk cId="2160823425" sldId="331"/>
            <ac:spMk id="8" creationId="{CADD2F10-FA97-9DAD-652B-9AE781B21A7D}"/>
          </ac:spMkLst>
        </pc:spChg>
        <pc:spChg chg="add mod">
          <ac:chgData name="Frommer, Ian Dr. (EDU)" userId="28ca3ff0-544f-450a-928b-99e19cf49b89" providerId="ADAL" clId="{A3E8E5B1-0D91-4643-B70B-3D065C8674E0}" dt="2026-09-23T17:27:45.624" v="200" actId="1076"/>
          <ac:spMkLst>
            <pc:docMk/>
            <pc:sldMk cId="2160823425" sldId="331"/>
            <ac:spMk id="10" creationId="{3D92904E-C31A-76F4-04CA-CE6C1D63E92F}"/>
          </ac:spMkLst>
        </pc:spChg>
        <pc:picChg chg="add">
          <ac:chgData name="Frommer, Ian Dr. (EDU)" userId="28ca3ff0-544f-450a-928b-99e19cf49b89" providerId="ADAL" clId="{A3E8E5B1-0D91-4643-B70B-3D065C8674E0}" dt="2026-09-23T17:01:48.268" v="47" actId="22"/>
          <ac:picMkLst>
            <pc:docMk/>
            <pc:sldMk cId="2160823425" sldId="331"/>
            <ac:picMk id="6" creationId="{D3AFD333-2840-C627-1A0A-9C9720FFC923}"/>
          </ac:picMkLst>
        </pc:picChg>
        <pc:picChg chg="add mod">
          <ac:chgData name="Frommer, Ian Dr. (EDU)" userId="28ca3ff0-544f-450a-928b-99e19cf49b89" providerId="ADAL" clId="{A3E8E5B1-0D91-4643-B70B-3D065C8674E0}" dt="2026-09-23T17:27:47.531" v="201" actId="1076"/>
          <ac:picMkLst>
            <pc:docMk/>
            <pc:sldMk cId="2160823425" sldId="331"/>
            <ac:picMk id="7" creationId="{36061E42-F6E8-2F9D-EE6E-E5DBC13FDD7B}"/>
          </ac:picMkLst>
        </pc:picChg>
      </pc:sldChg>
      <pc:sldChg chg="add del">
        <pc:chgData name="Frommer, Ian Dr. (EDU)" userId="28ca3ff0-544f-450a-928b-99e19cf49b89" providerId="ADAL" clId="{A3E8E5B1-0D91-4643-B70B-3D065C8674E0}" dt="2026-09-23T17:26:23.893" v="176" actId="47"/>
        <pc:sldMkLst>
          <pc:docMk/>
          <pc:sldMk cId="3531109861" sldId="332"/>
        </pc:sldMkLst>
      </pc:sldChg>
      <pc:sldChg chg="add del">
        <pc:chgData name="Frommer, Ian Dr. (EDU)" userId="28ca3ff0-544f-450a-928b-99e19cf49b89" providerId="ADAL" clId="{A3E8E5B1-0D91-4643-B70B-3D065C8674E0}" dt="2026-09-23T17:26:56.132" v="180" actId="47"/>
        <pc:sldMkLst>
          <pc:docMk/>
          <pc:sldMk cId="2148290662" sldId="33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9A959E3-8550-42F9-8921-EBDBCF9A1669}" type="datetimeFigureOut">
              <a:rPr lang="en-US" smtClean="0"/>
              <a:t>9/23/2026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D484C0-96EB-414C-B80C-C19DFB4E0314}" type="slidenum">
              <a:rPr lang="en-US" smtClean="0"/>
              <a:t>‹#›</a:t>
            </a:fld>
            <a:endParaRPr lang="en-US"/>
          </a:p>
        </p:txBody>
      </p:sp>
    </p:spTree>
    <p:extLst>
      <p:ext uri="{BB962C8B-B14F-4D97-AF65-F5344CB8AC3E}">
        <p14:creationId xmlns:p14="http://schemas.microsoft.com/office/powerpoint/2010/main" val="17260336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4EE5F19-4F90-8B48-A21B-2B05369B7F3C}" type="datetimeFigureOut">
              <a:rPr lang="en-US" smtClean="0"/>
              <a:t>9/23/2026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A7557B-27E6-714E-8DF7-07E79EF318B5}" type="slidenum">
              <a:rPr lang="en-US" smtClean="0"/>
              <a:t>‹#›</a:t>
            </a:fld>
            <a:endParaRPr lang="en-US"/>
          </a:p>
        </p:txBody>
      </p:sp>
    </p:spTree>
    <p:extLst>
      <p:ext uri="{BB962C8B-B14F-4D97-AF65-F5344CB8AC3E}">
        <p14:creationId xmlns:p14="http://schemas.microsoft.com/office/powerpoint/2010/main" val="125677749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en.wikipedia.org/wiki/Relational_database" TargetMode="External"/><Relationship Id="rId2" Type="http://schemas.openxmlformats.org/officeDocument/2006/relationships/slide" Target="../slides/slide29.xml"/><Relationship Id="rId1" Type="http://schemas.openxmlformats.org/officeDocument/2006/relationships/notesMaster" Target="../notesMasters/notesMaster1.xml"/><Relationship Id="rId6" Type="http://schemas.openxmlformats.org/officeDocument/2006/relationships/hyperlink" Target="https://en.wikipedia.org/wiki/Data_integrity" TargetMode="External"/><Relationship Id="rId5" Type="http://schemas.openxmlformats.org/officeDocument/2006/relationships/hyperlink" Target="https://en.wikipedia.org/wiki/Data_redundancy" TargetMode="External"/><Relationship Id="rId4" Type="http://schemas.openxmlformats.org/officeDocument/2006/relationships/hyperlink" Target="https://en.wikipedia.org/wiki/Database_normalization#Normal_forms"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Shortcomings:</a:t>
            </a:r>
          </a:p>
          <a:p>
            <a:r>
              <a:rPr lang="en-US" dirty="0"/>
              <a:t>- Lots of redundancy</a:t>
            </a:r>
          </a:p>
          <a:p>
            <a:r>
              <a:rPr lang="en-US" dirty="0"/>
              <a:t>- Lots of room for human error</a:t>
            </a:r>
          </a:p>
          <a:p>
            <a:r>
              <a:rPr lang="en-US" dirty="0"/>
              <a:t>- Too much information in one field– what if you wanted to search for all customers in a specific state?  Is there any way to do that easily with the data in the current format?</a:t>
            </a:r>
          </a:p>
          <a:p>
            <a:r>
              <a:rPr lang="en-US" dirty="0"/>
              <a:t>- What if the person ordered more than one product?  More rows? List</a:t>
            </a:r>
            <a:r>
              <a:rPr lang="en-US" baseline="0" dirty="0"/>
              <a:t> the product? Add more columns?</a:t>
            </a:r>
            <a:endParaRPr lang="en-US" dirty="0"/>
          </a:p>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dirty="0"/>
              <a:t>Working left to right across columns – order is</a:t>
            </a:r>
            <a:r>
              <a:rPr lang="en-US" baseline="0" dirty="0"/>
              <a:t> a noun, salesperson is a noun, date is an attribute of an order, customer is a noun, </a:t>
            </a:r>
            <a:r>
              <a:rPr lang="en-US" baseline="0" dirty="0" err="1"/>
              <a:t>cust</a:t>
            </a:r>
            <a:r>
              <a:rPr lang="en-US" baseline="0" dirty="0"/>
              <a:t>. Contact info is an attribute of customer, product is a noun – with attributes: id, unit price;  quantity is an attribute of order; supplier is a noun with contact as attribute</a:t>
            </a:r>
            <a:endParaRPr lang="en-US" dirty="0"/>
          </a:p>
          <a:p>
            <a:endParaRPr lang="en-US" dirty="0"/>
          </a:p>
          <a:p>
            <a:r>
              <a:rPr lang="en-US" dirty="0"/>
              <a:t>Order</a:t>
            </a:r>
            <a:r>
              <a:rPr lang="en-US" baseline="0" dirty="0"/>
              <a:t> Details:  Order #, Salesperson, Date, Quantity[</a:t>
            </a:r>
            <a:r>
              <a:rPr lang="en-US" baseline="0" dirty="0" err="1"/>
              <a:t>idf</a:t>
            </a:r>
            <a:r>
              <a:rPr lang="en-US" baseline="0" dirty="0"/>
              <a:t>]</a:t>
            </a:r>
          </a:p>
          <a:p>
            <a:r>
              <a:rPr lang="en-US" baseline="0" dirty="0"/>
              <a:t>Customer: Customer Name, Customer contact info</a:t>
            </a:r>
          </a:p>
          <a:p>
            <a:r>
              <a:rPr lang="en-US" baseline="0" dirty="0"/>
              <a:t>Product: Product ID, price[</a:t>
            </a:r>
            <a:r>
              <a:rPr lang="en-US" baseline="0" dirty="0" err="1"/>
              <a:t>idf</a:t>
            </a:r>
            <a:r>
              <a:rPr lang="en-US" baseline="0" dirty="0"/>
              <a:t>]?</a:t>
            </a:r>
          </a:p>
          <a:p>
            <a:r>
              <a:rPr lang="en-US" baseline="0" dirty="0"/>
              <a:t>Supplier: Supplier Contact</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2800" dirty="0"/>
              <a:t>:</a:t>
            </a:r>
          </a:p>
          <a:p>
            <a:pPr lvl="1"/>
            <a:r>
              <a:rPr lang="en-US" sz="2800" dirty="0"/>
              <a:t>:</a:t>
            </a:r>
            <a:endParaRPr lang="en-US" dirty="0"/>
          </a:p>
        </p:txBody>
      </p:sp>
      <p:sp>
        <p:nvSpPr>
          <p:cNvPr id="4" name="Slide Number Placeholder 3"/>
          <p:cNvSpPr>
            <a:spLocks noGrp="1"/>
          </p:cNvSpPr>
          <p:nvPr>
            <p:ph type="sldNum" sz="quarter" idx="10"/>
          </p:nvPr>
        </p:nvSpPr>
        <p:spPr/>
        <p:txBody>
          <a:bodyPr/>
          <a:lstStyle/>
          <a:p>
            <a:fld id="{49A7557B-27E6-714E-8DF7-07E79EF318B5}" type="slidenum">
              <a:rPr lang="en-US" smtClean="0"/>
              <a:t>9</a:t>
            </a:fld>
            <a:endParaRPr lang="en-US"/>
          </a:p>
        </p:txBody>
      </p:sp>
    </p:spTree>
    <p:extLst>
      <p:ext uri="{BB962C8B-B14F-4D97-AF65-F5344CB8AC3E}">
        <p14:creationId xmlns:p14="http://schemas.microsoft.com/office/powerpoint/2010/main" val="670645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2800" dirty="0"/>
              <a:t>:</a:t>
            </a:r>
          </a:p>
          <a:p>
            <a:pPr lvl="1"/>
            <a:r>
              <a:rPr lang="en-US" sz="2800" dirty="0"/>
              <a:t>:</a:t>
            </a:r>
            <a:endParaRPr lang="en-US" dirty="0"/>
          </a:p>
        </p:txBody>
      </p:sp>
      <p:sp>
        <p:nvSpPr>
          <p:cNvPr id="4" name="Slide Number Placeholder 3"/>
          <p:cNvSpPr>
            <a:spLocks noGrp="1"/>
          </p:cNvSpPr>
          <p:nvPr>
            <p:ph type="sldNum" sz="quarter" idx="10"/>
          </p:nvPr>
        </p:nvSpPr>
        <p:spPr/>
        <p:txBody>
          <a:bodyPr/>
          <a:lstStyle/>
          <a:p>
            <a:fld id="{49A7557B-27E6-714E-8DF7-07E79EF318B5}" type="slidenum">
              <a:rPr lang="en-US" smtClean="0"/>
              <a:t>10</a:t>
            </a:fld>
            <a:endParaRPr lang="en-US"/>
          </a:p>
        </p:txBody>
      </p:sp>
    </p:spTree>
    <p:extLst>
      <p:ext uri="{BB962C8B-B14F-4D97-AF65-F5344CB8AC3E}">
        <p14:creationId xmlns:p14="http://schemas.microsoft.com/office/powerpoint/2010/main" val="737712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rectangle with the entity-type at the top, filled in with the attributes below follows UML.  In OOP, this is used to represent a class, and would have a third section below the attributes that would encompass the methods of the class.</a:t>
            </a:r>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13</a:t>
            </a:fld>
            <a:endParaRPr lang="en-US">
              <a:solidFill>
                <a:prstClr val="black"/>
              </a:solidFill>
              <a:latin typeface="Calibri"/>
            </a:endParaRPr>
          </a:p>
        </p:txBody>
      </p:sp>
    </p:spTree>
    <p:extLst>
      <p:ext uri="{BB962C8B-B14F-4D97-AF65-F5344CB8AC3E}">
        <p14:creationId xmlns:p14="http://schemas.microsoft.com/office/powerpoint/2010/main" val="1987799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14</a:t>
            </a:fld>
            <a:endParaRPr lang="en-US">
              <a:solidFill>
                <a:prstClr val="black"/>
              </a:solidFill>
              <a:latin typeface="Calibri"/>
            </a:endParaRPr>
          </a:p>
        </p:txBody>
      </p:sp>
    </p:spTree>
    <p:extLst>
      <p:ext uri="{BB962C8B-B14F-4D97-AF65-F5344CB8AC3E}">
        <p14:creationId xmlns:p14="http://schemas.microsoft.com/office/powerpoint/2010/main" val="2809683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15</a:t>
            </a:fld>
            <a:endParaRPr lang="en-US">
              <a:solidFill>
                <a:prstClr val="black"/>
              </a:solidFill>
              <a:latin typeface="Calibri"/>
            </a:endParaRPr>
          </a:p>
        </p:txBody>
      </p:sp>
    </p:spTree>
    <p:extLst>
      <p:ext uri="{BB962C8B-B14F-4D97-AF65-F5344CB8AC3E}">
        <p14:creationId xmlns:p14="http://schemas.microsoft.com/office/powerpoint/2010/main" val="1156101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table would capture all of the student’s info:  Name, grad year, code, DOB, </a:t>
            </a:r>
            <a:r>
              <a:rPr lang="en-US" dirty="0" err="1"/>
              <a:t>etc</a:t>
            </a:r>
            <a:endParaRPr lang="en-US" dirty="0"/>
          </a:p>
          <a:p>
            <a:r>
              <a:rPr lang="en-US" dirty="0"/>
              <a:t>The section table would capture all of the section’s info:  Parent course, location, meeting time</a:t>
            </a:r>
          </a:p>
          <a:p>
            <a:endParaRPr lang="en-US" dirty="0"/>
          </a:p>
          <a:p>
            <a:r>
              <a:rPr lang="en-US" dirty="0"/>
              <a:t>How could we capture the relationship between these two tables?</a:t>
            </a:r>
          </a:p>
          <a:p>
            <a:r>
              <a:rPr lang="en-US" dirty="0"/>
              <a:t>Without a third table it would require repetition in one of the tables...</a:t>
            </a:r>
          </a:p>
          <a:p>
            <a:r>
              <a:rPr lang="en-US" dirty="0"/>
              <a:t>One student’s information could be repeated in the student table, and an additional section field would list a different section that the student was enrolled in for each entry into this student table.</a:t>
            </a:r>
          </a:p>
          <a:p>
            <a:endParaRPr lang="en-US" dirty="0"/>
          </a:p>
          <a:p>
            <a:r>
              <a:rPr lang="en-US" dirty="0"/>
              <a:t>By creating a third table, this table only requires the primary key from both tables in the many-to-many relationship.</a:t>
            </a:r>
          </a:p>
          <a:p>
            <a:endParaRPr lang="en-US" dirty="0"/>
          </a:p>
        </p:txBody>
      </p:sp>
      <p:sp>
        <p:nvSpPr>
          <p:cNvPr id="4" name="Slide Number Placeholder 3"/>
          <p:cNvSpPr>
            <a:spLocks noGrp="1"/>
          </p:cNvSpPr>
          <p:nvPr>
            <p:ph type="sldNum" sz="quarter" idx="10"/>
          </p:nvPr>
        </p:nvSpPr>
        <p:spPr/>
        <p:txBody>
          <a:bodyPr/>
          <a:lstStyle/>
          <a:p>
            <a:fld id="{49A7557B-27E6-714E-8DF7-07E79EF318B5}" type="slidenum">
              <a:rPr lang="en-US" smtClean="0"/>
              <a:t>16</a:t>
            </a:fld>
            <a:endParaRPr lang="en-US"/>
          </a:p>
        </p:txBody>
      </p:sp>
    </p:spTree>
    <p:extLst>
      <p:ext uri="{BB962C8B-B14F-4D97-AF65-F5344CB8AC3E}">
        <p14:creationId xmlns:p14="http://schemas.microsoft.com/office/powerpoint/2010/main" val="2585371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For the student-section relationship, the third table should be called ‘Student-Section’ (explicitly describes the purpose of the table), and only requires the Student PK and Section PK</a:t>
            </a:r>
          </a:p>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17</a:t>
            </a:fld>
            <a:endParaRPr lang="en-US">
              <a:solidFill>
                <a:prstClr val="black"/>
              </a:solidFill>
              <a:latin typeface="Calibri"/>
            </a:endParaRPr>
          </a:p>
        </p:txBody>
      </p:sp>
    </p:spTree>
    <p:extLst>
      <p:ext uri="{BB962C8B-B14F-4D97-AF65-F5344CB8AC3E}">
        <p14:creationId xmlns:p14="http://schemas.microsoft.com/office/powerpoint/2010/main" val="1388717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For the student-section relationship, the third table should be called ‘Student-Section’ (explicitly describes the purpose of the table), and only requires the Student PK and Section PK</a:t>
            </a:r>
          </a:p>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18</a:t>
            </a:fld>
            <a:endParaRPr lang="en-US">
              <a:solidFill>
                <a:prstClr val="black"/>
              </a:solidFill>
              <a:latin typeface="Calibri"/>
            </a:endParaRPr>
          </a:p>
        </p:txBody>
      </p:sp>
    </p:spTree>
    <p:extLst>
      <p:ext uri="{BB962C8B-B14F-4D97-AF65-F5344CB8AC3E}">
        <p14:creationId xmlns:p14="http://schemas.microsoft.com/office/powerpoint/2010/main" val="1337352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19</a:t>
            </a:fld>
            <a:endParaRPr lang="en-US">
              <a:solidFill>
                <a:prstClr val="black"/>
              </a:solidFill>
              <a:latin typeface="Calibri"/>
            </a:endParaRPr>
          </a:p>
        </p:txBody>
      </p:sp>
    </p:spTree>
    <p:extLst>
      <p:ext uri="{BB962C8B-B14F-4D97-AF65-F5344CB8AC3E}">
        <p14:creationId xmlns:p14="http://schemas.microsoft.com/office/powerpoint/2010/main" val="2459994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to product:</a:t>
            </a:r>
            <a:r>
              <a:rPr lang="en-US" baseline="0" dirty="0"/>
              <a:t> many to many</a:t>
            </a:r>
          </a:p>
          <a:p>
            <a:r>
              <a:rPr lang="en-US" baseline="0" dirty="0"/>
              <a:t>	A customer can have many products; a product can belong to many customers</a:t>
            </a:r>
          </a:p>
          <a:p>
            <a:r>
              <a:rPr lang="en-US" baseline="0" dirty="0"/>
              <a:t>Customer to supplier: not a direct link</a:t>
            </a:r>
          </a:p>
          <a:p>
            <a:r>
              <a:rPr lang="en-US" baseline="0" dirty="0"/>
              <a:t>Customer to order: one to many</a:t>
            </a:r>
          </a:p>
          <a:p>
            <a:r>
              <a:rPr lang="en-US" baseline="0" dirty="0"/>
              <a:t>	A customer can have many orders; an order can have one customer</a:t>
            </a:r>
          </a:p>
          <a:p>
            <a:r>
              <a:rPr lang="en-US" baseline="0" dirty="0"/>
              <a:t>Orders to product: many to many</a:t>
            </a:r>
          </a:p>
          <a:p>
            <a:r>
              <a:rPr lang="en-US" baseline="0" dirty="0"/>
              <a:t>	An order can have many product; a product can belong to many orders</a:t>
            </a:r>
          </a:p>
          <a:p>
            <a:r>
              <a:rPr lang="en-US" baseline="0" dirty="0"/>
              <a:t>	Need another table:  order-product</a:t>
            </a:r>
          </a:p>
          <a:p>
            <a:r>
              <a:rPr lang="en-US" baseline="0" dirty="0"/>
              <a:t>Orders to supplier:  through a product</a:t>
            </a:r>
          </a:p>
          <a:p>
            <a:r>
              <a:rPr lang="en-US" baseline="0" dirty="0"/>
              <a:t>Product to supplier: many to many</a:t>
            </a:r>
          </a:p>
          <a:p>
            <a:r>
              <a:rPr lang="en-US" baseline="0" dirty="0"/>
              <a:t>	A product can have many suppliers; a supplier can have many products</a:t>
            </a:r>
          </a:p>
          <a:p>
            <a:r>
              <a:rPr lang="en-US" baseline="0" dirty="0"/>
              <a:t>	Need another table:  supplier product</a:t>
            </a:r>
          </a:p>
          <a:p>
            <a:endParaRPr lang="en-US" baseline="0" dirty="0"/>
          </a:p>
          <a:p>
            <a:r>
              <a:rPr lang="en-US" baseline="0" dirty="0"/>
              <a:t>Consider adding a salesperson entity</a:t>
            </a:r>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20</a:t>
            </a:fld>
            <a:endParaRPr lang="en-US">
              <a:solidFill>
                <a:prstClr val="black"/>
              </a:solidFill>
              <a:latin typeface="Calibri"/>
            </a:endParaRPr>
          </a:p>
        </p:txBody>
      </p:sp>
    </p:spTree>
    <p:extLst>
      <p:ext uri="{BB962C8B-B14F-4D97-AF65-F5344CB8AC3E}">
        <p14:creationId xmlns:p14="http://schemas.microsoft.com/office/powerpoint/2010/main" val="1534356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many-to-many relationships, a third table must be created.</a:t>
            </a:r>
          </a:p>
          <a:p>
            <a:r>
              <a:rPr lang="en-US" dirty="0"/>
              <a:t>Only the primary keys from the tables in the many-to-many relationship must be in this third table.</a:t>
            </a:r>
          </a:p>
          <a:p>
            <a:endParaRPr lang="en-US" dirty="0"/>
          </a:p>
          <a:p>
            <a:r>
              <a:rPr lang="en-US" dirty="0"/>
              <a:t>Went ahead and added a Salesperson entity.  This seems like a logical place to capture the sales person data, so the name, contact info, </a:t>
            </a:r>
            <a:r>
              <a:rPr lang="en-US" dirty="0" err="1"/>
              <a:t>etc</a:t>
            </a:r>
            <a:r>
              <a:rPr lang="en-US" dirty="0"/>
              <a:t> does not have to be entered for each salesperson on each order.  With a salesperson table, only the salesperson ID has to be added to the order table to build this relationship.</a:t>
            </a:r>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21</a:t>
            </a:fld>
            <a:endParaRPr lang="en-US">
              <a:solidFill>
                <a:prstClr val="black"/>
              </a:solidFill>
              <a:latin typeface="Calibri"/>
            </a:endParaRPr>
          </a:p>
        </p:txBody>
      </p:sp>
    </p:spTree>
    <p:extLst>
      <p:ext uri="{BB962C8B-B14F-4D97-AF65-F5344CB8AC3E}">
        <p14:creationId xmlns:p14="http://schemas.microsoft.com/office/powerpoint/2010/main" val="2835029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many-to-many relationships, a third table must be created.</a:t>
            </a:r>
          </a:p>
          <a:p>
            <a:r>
              <a:rPr lang="en-US" dirty="0"/>
              <a:t>Only the primary keys from the tables in the many-to-many relationship must be in this third table.</a:t>
            </a:r>
          </a:p>
          <a:p>
            <a:endParaRPr lang="en-US" dirty="0"/>
          </a:p>
          <a:p>
            <a:r>
              <a:rPr lang="en-US" dirty="0"/>
              <a:t>Went ahead and added a Salesperson entity.  This seems like a logical place to capture the sales person data, so the name, contact info, </a:t>
            </a:r>
            <a:r>
              <a:rPr lang="en-US" dirty="0" err="1"/>
              <a:t>etc</a:t>
            </a:r>
            <a:r>
              <a:rPr lang="en-US" dirty="0"/>
              <a:t> does not have to be entered for each salesperson on each order.  With a salesperson table, only the salesperson ID has to be added to the order table to build this relationship.</a:t>
            </a:r>
          </a:p>
          <a:p>
            <a:endParaRPr lang="en-US" dirty="0"/>
          </a:p>
          <a:p>
            <a:r>
              <a:rPr lang="en-US" dirty="0" err="1"/>
              <a:t>Idf</a:t>
            </a:r>
            <a:r>
              <a:rPr lang="en-US" dirty="0"/>
              <a:t>:  ** KEY SLIDE **</a:t>
            </a:r>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22</a:t>
            </a:fld>
            <a:endParaRPr lang="en-US">
              <a:solidFill>
                <a:prstClr val="black"/>
              </a:solidFill>
              <a:latin typeface="Calibri"/>
            </a:endParaRPr>
          </a:p>
        </p:txBody>
      </p:sp>
    </p:spTree>
    <p:extLst>
      <p:ext uri="{BB962C8B-B14F-4D97-AF65-F5344CB8AC3E}">
        <p14:creationId xmlns:p14="http://schemas.microsoft.com/office/powerpoint/2010/main" val="2835029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 data for a given customer must be repeated when another sales rep</a:t>
            </a:r>
            <a:r>
              <a:rPr lang="en-US" baseline="0" dirty="0"/>
              <a:t> is assigned to that customer</a:t>
            </a:r>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25</a:t>
            </a:fld>
            <a:endParaRPr lang="en-US">
              <a:solidFill>
                <a:prstClr val="black"/>
              </a:solidFill>
              <a:latin typeface="Calibri"/>
            </a:endParaRPr>
          </a:p>
        </p:txBody>
      </p:sp>
    </p:spTree>
    <p:extLst>
      <p:ext uri="{BB962C8B-B14F-4D97-AF65-F5344CB8AC3E}">
        <p14:creationId xmlns:p14="http://schemas.microsoft.com/office/powerpoint/2010/main" val="2221482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lone star distributors change its name, then you’d have to update it in three spots</a:t>
            </a:r>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26</a:t>
            </a:fld>
            <a:endParaRPr lang="en-US">
              <a:solidFill>
                <a:prstClr val="black"/>
              </a:solidFill>
              <a:latin typeface="Calibri"/>
            </a:endParaRPr>
          </a:p>
        </p:txBody>
      </p:sp>
    </p:spTree>
    <p:extLst>
      <p:ext uri="{BB962C8B-B14F-4D97-AF65-F5344CB8AC3E}">
        <p14:creationId xmlns:p14="http://schemas.microsoft.com/office/powerpoint/2010/main" val="22214826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Cannot enter</a:t>
            </a:r>
            <a:r>
              <a:rPr lang="en-US" baseline="0" dirty="0"/>
              <a:t> data for a new department until you have at least one employee assigned to the department</a:t>
            </a:r>
          </a:p>
          <a:p>
            <a:endParaRPr lang="en-US" baseline="0" dirty="0"/>
          </a:p>
          <a:p>
            <a:r>
              <a:rPr lang="en-US" baseline="0" dirty="0"/>
              <a:t>Cannot add a new employee unless you’re ready to assign him/her to a particular department</a:t>
            </a:r>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27</a:t>
            </a:fld>
            <a:endParaRPr lang="en-US">
              <a:solidFill>
                <a:prstClr val="black"/>
              </a:solidFill>
              <a:latin typeface="Calibri"/>
            </a:endParaRPr>
          </a:p>
        </p:txBody>
      </p:sp>
    </p:spTree>
    <p:extLst>
      <p:ext uri="{BB962C8B-B14F-4D97-AF65-F5344CB8AC3E}">
        <p14:creationId xmlns:p14="http://schemas.microsoft.com/office/powerpoint/2010/main" val="26512963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  </a:t>
            </a:r>
            <a:r>
              <a:rPr lang="en-US" sz="1200" b="1" i="0" kern="1200" dirty="0">
                <a:solidFill>
                  <a:schemeClr val="tx1"/>
                </a:solidFill>
                <a:effectLst/>
                <a:latin typeface="+mn-lt"/>
                <a:ea typeface="+mn-ea"/>
                <a:cs typeface="+mn-cs"/>
              </a:rPr>
              <a:t>Database normalization</a:t>
            </a:r>
            <a:r>
              <a:rPr lang="en-US" sz="1200" b="0" i="0" kern="1200" dirty="0">
                <a:solidFill>
                  <a:schemeClr val="tx1"/>
                </a:solidFill>
                <a:effectLst/>
                <a:latin typeface="+mn-lt"/>
                <a:ea typeface="+mn-ea"/>
                <a:cs typeface="+mn-cs"/>
              </a:rPr>
              <a:t> is the process of structuring a </a:t>
            </a:r>
            <a:r>
              <a:rPr lang="en-US" sz="1200" b="0" i="0" u="none" strike="noStrike" kern="1200" dirty="0">
                <a:solidFill>
                  <a:schemeClr val="tx1"/>
                </a:solidFill>
                <a:effectLst/>
                <a:latin typeface="+mn-lt"/>
                <a:ea typeface="+mn-ea"/>
                <a:cs typeface="+mn-cs"/>
                <a:hlinkClick r:id="rId3" tooltip="Relational database"/>
              </a:rPr>
              <a:t>relational database</a:t>
            </a:r>
            <a:r>
              <a:rPr lang="en-US" sz="1200" b="0" i="0" kern="1200" dirty="0">
                <a:solidFill>
                  <a:schemeClr val="tx1"/>
                </a:solidFill>
                <a:effectLst/>
                <a:latin typeface="+mn-lt"/>
                <a:ea typeface="+mn-ea"/>
                <a:cs typeface="+mn-cs"/>
              </a:rPr>
              <a:t> in accordance with a series of so-called </a:t>
            </a:r>
            <a:r>
              <a:rPr lang="en-US" sz="1200" b="0" i="0" u="none" strike="noStrike" kern="1200" dirty="0">
                <a:solidFill>
                  <a:schemeClr val="tx1"/>
                </a:solidFill>
                <a:effectLst/>
                <a:latin typeface="+mn-lt"/>
                <a:ea typeface="+mn-ea"/>
                <a:cs typeface="+mn-cs"/>
                <a:hlinkClick r:id="rId4" tooltip="Database normalization"/>
              </a:rPr>
              <a:t>normal forms</a:t>
            </a:r>
            <a:r>
              <a:rPr lang="en-US" sz="1200" b="0" i="0" kern="1200" dirty="0">
                <a:solidFill>
                  <a:schemeClr val="tx1"/>
                </a:solidFill>
                <a:effectLst/>
                <a:latin typeface="+mn-lt"/>
                <a:ea typeface="+mn-ea"/>
                <a:cs typeface="+mn-cs"/>
              </a:rPr>
              <a:t> in order to reduce </a:t>
            </a:r>
            <a:r>
              <a:rPr lang="en-US" sz="1200" b="0" i="0" u="none" strike="noStrike" kern="1200" dirty="0">
                <a:solidFill>
                  <a:schemeClr val="tx1"/>
                </a:solidFill>
                <a:effectLst/>
                <a:latin typeface="+mn-lt"/>
                <a:ea typeface="+mn-ea"/>
                <a:cs typeface="+mn-cs"/>
                <a:hlinkClick r:id="rId5" tooltip="Data redundancy"/>
              </a:rPr>
              <a:t>data redundancy</a:t>
            </a:r>
            <a:r>
              <a:rPr lang="en-US" sz="1200" b="0" i="0" kern="1200" dirty="0">
                <a:solidFill>
                  <a:schemeClr val="tx1"/>
                </a:solidFill>
                <a:effectLst/>
                <a:latin typeface="+mn-lt"/>
                <a:ea typeface="+mn-ea"/>
                <a:cs typeface="+mn-cs"/>
              </a:rPr>
              <a:t> and improve </a:t>
            </a:r>
            <a:r>
              <a:rPr lang="en-US" sz="1200" b="0" i="0" u="none" strike="noStrike" kern="1200" dirty="0">
                <a:solidFill>
                  <a:schemeClr val="tx1"/>
                </a:solidFill>
                <a:effectLst/>
                <a:latin typeface="+mn-lt"/>
                <a:ea typeface="+mn-ea"/>
                <a:cs typeface="+mn-cs"/>
                <a:hlinkClick r:id="rId6" tooltip="Data integrity"/>
              </a:rPr>
              <a:t>data integrity</a:t>
            </a:r>
            <a:r>
              <a:rPr lang="en-US" sz="1200" b="0" i="0" kern="1200" dirty="0">
                <a:solidFill>
                  <a:schemeClr val="tx1"/>
                </a:solidFill>
                <a:effectLst/>
                <a:latin typeface="+mn-lt"/>
                <a:ea typeface="+mn-ea"/>
                <a:cs typeface="+mn-cs"/>
              </a:rPr>
              <a:t>. </a:t>
            </a:r>
          </a:p>
          <a:p>
            <a:endParaRPr lang="en-US" dirty="0"/>
          </a:p>
          <a:p>
            <a:r>
              <a:rPr lang="en-US" dirty="0"/>
              <a:t>Via 1 of the links:</a:t>
            </a:r>
          </a:p>
          <a:p>
            <a:r>
              <a:rPr lang="en-US" sz="1200" b="0" i="0" kern="1200" dirty="0">
                <a:solidFill>
                  <a:schemeClr val="tx1"/>
                </a:solidFill>
                <a:effectLst/>
                <a:latin typeface="+mn-lt"/>
                <a:ea typeface="+mn-ea"/>
                <a:cs typeface="+mn-cs"/>
              </a:rPr>
              <a:t>A database is in third normal form if it satisfies the following conditions:</a:t>
            </a:r>
          </a:p>
          <a:p>
            <a:r>
              <a:rPr lang="en-US" sz="1200" b="0" i="0" kern="1200" dirty="0">
                <a:solidFill>
                  <a:schemeClr val="tx1"/>
                </a:solidFill>
                <a:effectLst/>
                <a:latin typeface="+mn-lt"/>
                <a:ea typeface="+mn-ea"/>
                <a:cs typeface="+mn-cs"/>
              </a:rPr>
              <a:t>It is in second normal form</a:t>
            </a:r>
          </a:p>
          <a:p>
            <a:r>
              <a:rPr lang="en-US" sz="1200" b="0" i="0" kern="1200" dirty="0">
                <a:solidFill>
                  <a:schemeClr val="tx1"/>
                </a:solidFill>
                <a:effectLst/>
                <a:latin typeface="+mn-lt"/>
                <a:ea typeface="+mn-ea"/>
                <a:cs typeface="+mn-cs"/>
              </a:rPr>
              <a:t>There is no transitive functional dependency - By transitive functional dependency, we mean we have the following relationships in the table: A is functionally dependent on B, and B is functionally dependent on C. In this case, C is transitively dependent on A via B.</a:t>
            </a:r>
          </a:p>
          <a:p>
            <a:endParaRPr lang="en-US" dirty="0"/>
          </a:p>
        </p:txBody>
      </p:sp>
      <p:sp>
        <p:nvSpPr>
          <p:cNvPr id="4" name="Slide Number Placeholder 3"/>
          <p:cNvSpPr>
            <a:spLocks noGrp="1"/>
          </p:cNvSpPr>
          <p:nvPr>
            <p:ph type="sldNum" sz="quarter" idx="10"/>
          </p:nvPr>
        </p:nvSpPr>
        <p:spPr/>
        <p:txBody>
          <a:bodyPr/>
          <a:lstStyle/>
          <a:p>
            <a:fld id="{49A7557B-27E6-714E-8DF7-07E79EF318B5}" type="slidenum">
              <a:rPr lang="en-US" smtClean="0"/>
              <a:t>29</a:t>
            </a:fld>
            <a:endParaRPr lang="en-US"/>
          </a:p>
        </p:txBody>
      </p:sp>
    </p:spTree>
    <p:extLst>
      <p:ext uri="{BB962C8B-B14F-4D97-AF65-F5344CB8AC3E}">
        <p14:creationId xmlns:p14="http://schemas.microsoft.com/office/powerpoint/2010/main" val="14630155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30</a:t>
            </a:fld>
            <a:endParaRPr lang="en-US">
              <a:solidFill>
                <a:prstClr val="black"/>
              </a:solidFill>
              <a:latin typeface="Calibri"/>
            </a:endParaRPr>
          </a:p>
        </p:txBody>
      </p:sp>
    </p:spTree>
    <p:extLst>
      <p:ext uri="{BB962C8B-B14F-4D97-AF65-F5344CB8AC3E}">
        <p14:creationId xmlns:p14="http://schemas.microsoft.com/office/powerpoint/2010/main" val="11889008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31</a:t>
            </a:fld>
            <a:endParaRPr lang="en-US">
              <a:solidFill>
                <a:prstClr val="black"/>
              </a:solidFill>
              <a:latin typeface="Calibri"/>
            </a:endParaRPr>
          </a:p>
        </p:txBody>
      </p:sp>
    </p:spTree>
    <p:extLst>
      <p:ext uri="{BB962C8B-B14F-4D97-AF65-F5344CB8AC3E}">
        <p14:creationId xmlns:p14="http://schemas.microsoft.com/office/powerpoint/2010/main" val="11889008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60DFA87B-D22B-4447-BB2F-F863025D4677}" type="slidenum">
              <a:rPr lang="en-US" smtClean="0">
                <a:solidFill>
                  <a:prstClr val="black"/>
                </a:solidFill>
                <a:latin typeface="Calibri"/>
              </a:rPr>
              <a:pPr/>
              <a:t>32</a:t>
            </a:fld>
            <a:endParaRPr lang="en-US">
              <a:solidFill>
                <a:prstClr val="black"/>
              </a:solidFill>
              <a:latin typeface="Calibri"/>
            </a:endParaRPr>
          </a:p>
        </p:txBody>
      </p:sp>
    </p:spTree>
    <p:extLst>
      <p:ext uri="{BB962C8B-B14F-4D97-AF65-F5344CB8AC3E}">
        <p14:creationId xmlns:p14="http://schemas.microsoft.com/office/powerpoint/2010/main" val="1188900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Anytime you see grumpy cat, we’ll visit</a:t>
            </a:r>
            <a:r>
              <a:rPr lang="en-US" baseline="0" dirty="0"/>
              <a:t> this example</a:t>
            </a:r>
            <a:endParaRPr lang="en-US" dirty="0"/>
          </a:p>
        </p:txBody>
      </p:sp>
      <p:sp>
        <p:nvSpPr>
          <p:cNvPr id="4" name="Slide Number Placeholder 3"/>
          <p:cNvSpPr>
            <a:spLocks noGrp="1"/>
          </p:cNvSpPr>
          <p:nvPr>
            <p:ph type="sldNum" sz="quarter" idx="10"/>
          </p:nvPr>
        </p:nvSpPr>
        <p:spPr/>
        <p:txBody>
          <a:bodyPr/>
          <a:lstStyle/>
          <a:p>
            <a:fld id="{49A7557B-27E6-714E-8DF7-07E79EF318B5}" type="slidenum">
              <a:rPr lang="en-US" smtClean="0"/>
              <a:t>35</a:t>
            </a:fld>
            <a:endParaRPr lang="en-US"/>
          </a:p>
        </p:txBody>
      </p:sp>
    </p:spTree>
    <p:extLst>
      <p:ext uri="{BB962C8B-B14F-4D97-AF65-F5344CB8AC3E}">
        <p14:creationId xmlns:p14="http://schemas.microsoft.com/office/powerpoint/2010/main" val="42548248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p:spPr>
        <p:txBody>
          <a:bodyPr/>
          <a:lstStyle/>
          <a:p>
            <a:r>
              <a:rPr lang="en-US" dirty="0"/>
              <a:t>Run through this process in class</a:t>
            </a:r>
          </a:p>
        </p:txBody>
      </p:sp>
    </p:spTree>
    <p:extLst>
      <p:ext uri="{BB962C8B-B14F-4D97-AF65-F5344CB8AC3E}">
        <p14:creationId xmlns:p14="http://schemas.microsoft.com/office/powerpoint/2010/main" val="7323956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notes / do on whiteboard</a:t>
            </a:r>
          </a:p>
        </p:txBody>
      </p:sp>
      <p:sp>
        <p:nvSpPr>
          <p:cNvPr id="4" name="Slide Number Placeholder 3"/>
          <p:cNvSpPr>
            <a:spLocks noGrp="1"/>
          </p:cNvSpPr>
          <p:nvPr>
            <p:ph type="sldNum" sz="quarter" idx="10"/>
          </p:nvPr>
        </p:nvSpPr>
        <p:spPr/>
        <p:txBody>
          <a:bodyPr/>
          <a:lstStyle/>
          <a:p>
            <a:fld id="{49A7557B-27E6-714E-8DF7-07E79EF318B5}" type="slidenum">
              <a:rPr lang="en-US" smtClean="0"/>
              <a:t>37</a:t>
            </a:fld>
            <a:endParaRPr lang="en-US"/>
          </a:p>
        </p:txBody>
      </p:sp>
    </p:spTree>
    <p:extLst>
      <p:ext uri="{BB962C8B-B14F-4D97-AF65-F5344CB8AC3E}">
        <p14:creationId xmlns:p14="http://schemas.microsoft.com/office/powerpoint/2010/main" val="3671966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5" name="Footer Placeholder 4"/>
          <p:cNvSpPr>
            <a:spLocks noGrp="1"/>
          </p:cNvSpPr>
          <p:nvPr>
            <p:ph type="ftr" sz="quarter" idx="11"/>
          </p:nvPr>
        </p:nvSpPr>
        <p:spPr/>
        <p:txBody>
          <a:bodyPr/>
          <a:lstStyle/>
          <a:p>
            <a:endParaRPr lang="en-US">
              <a:latin typeface="Arial"/>
            </a:endParaRPr>
          </a:p>
        </p:txBody>
      </p:sp>
      <p:sp>
        <p:nvSpPr>
          <p:cNvPr id="6" name="Slide Number Placeholder 5"/>
          <p:cNvSpPr>
            <a:spLocks noGrp="1"/>
          </p:cNvSpPr>
          <p:nvPr>
            <p:ph type="sldNum" sz="quarter" idx="12"/>
          </p:nvPr>
        </p:nvSpPr>
        <p:spPr/>
        <p:txBody>
          <a:bodyPr/>
          <a:lstStyle/>
          <a:p>
            <a:fld id="{7C7F4FEF-C2BA-405C-940A-0938B86B92B3}" type="slidenum">
              <a:rPr lang="en-US" smtClean="0">
                <a:latin typeface="Arial"/>
              </a:rPr>
              <a:pPr/>
              <a:t>‹#›</a:t>
            </a:fld>
            <a:endParaRPr lang="en-US">
              <a:latin typeface="Arial"/>
            </a:endParaRPr>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1722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5" name="Footer Placeholder 4"/>
          <p:cNvSpPr>
            <a:spLocks noGrp="1"/>
          </p:cNvSpPr>
          <p:nvPr>
            <p:ph type="ftr" sz="quarter" idx="11"/>
          </p:nvPr>
        </p:nvSpPr>
        <p:spPr/>
        <p:txBody>
          <a:bodyPr/>
          <a:lstStyle/>
          <a:p>
            <a:endParaRPr lang="en-US">
              <a:latin typeface="Arial"/>
            </a:endParaRPr>
          </a:p>
        </p:txBody>
      </p:sp>
      <p:sp>
        <p:nvSpPr>
          <p:cNvPr id="6" name="Slide Number Placeholder 5"/>
          <p:cNvSpPr>
            <a:spLocks noGrp="1"/>
          </p:cNvSpPr>
          <p:nvPr>
            <p:ph type="sldNum" sz="quarter" idx="12"/>
          </p:nvPr>
        </p:nvSpPr>
        <p:spPr/>
        <p:txBody>
          <a:bodyPr/>
          <a:lstStyle/>
          <a:p>
            <a:fld id="{E345EAD5-4C19-43E8-92AC-D4AD00C5745A}" type="slidenum">
              <a:rPr lang="en-US" smtClean="0">
                <a:latin typeface="Arial"/>
              </a:rPr>
              <a:pPr/>
              <a:t>‹#›</a:t>
            </a:fld>
            <a:endParaRPr lang="en-US">
              <a:latin typeface="Arial"/>
            </a:endParaRPr>
          </a:p>
        </p:txBody>
      </p:sp>
    </p:spTree>
    <p:extLst>
      <p:ext uri="{BB962C8B-B14F-4D97-AF65-F5344CB8AC3E}">
        <p14:creationId xmlns:p14="http://schemas.microsoft.com/office/powerpoint/2010/main" val="1860589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Fundamentals of Information Systems, Fourth Edition</a:t>
            </a:r>
          </a:p>
        </p:txBody>
      </p:sp>
      <p:sp>
        <p:nvSpPr>
          <p:cNvPr id="6" name="Slide Number Placeholder 5"/>
          <p:cNvSpPr>
            <a:spLocks noGrp="1"/>
          </p:cNvSpPr>
          <p:nvPr>
            <p:ph type="sldNum" sz="quarter" idx="12"/>
          </p:nvPr>
        </p:nvSpPr>
        <p:spPr/>
        <p:txBody>
          <a:bodyPr/>
          <a:lstStyle/>
          <a:p>
            <a:fld id="{B10EB8EC-5880-40B2-BCE1-89D9874E17C0}" type="slidenum">
              <a:rPr lang="en-US" smtClean="0">
                <a:latin typeface="Arial"/>
              </a:rPr>
              <a:pPr/>
              <a:t>‹#›</a:t>
            </a:fld>
            <a:endParaRPr lang="en-US">
              <a:latin typeface="Arial"/>
            </a:endParaRPr>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917316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6" name="Footer Placeholder 5"/>
          <p:cNvSpPr>
            <a:spLocks noGrp="1"/>
          </p:cNvSpPr>
          <p:nvPr>
            <p:ph type="ftr" sz="quarter" idx="11"/>
          </p:nvPr>
        </p:nvSpPr>
        <p:spPr/>
        <p:txBody>
          <a:bodyPr/>
          <a:lstStyle/>
          <a:p>
            <a:r>
              <a:rPr lang="en-US">
                <a:latin typeface="Arial"/>
              </a:rPr>
              <a:t>Fundamentals of Information Systems, Fourth Edition</a:t>
            </a:r>
          </a:p>
        </p:txBody>
      </p:sp>
      <p:sp>
        <p:nvSpPr>
          <p:cNvPr id="7" name="Slide Number Placeholder 6"/>
          <p:cNvSpPr>
            <a:spLocks noGrp="1"/>
          </p:cNvSpPr>
          <p:nvPr>
            <p:ph type="sldNum" sz="quarter" idx="12"/>
          </p:nvPr>
        </p:nvSpPr>
        <p:spPr/>
        <p:txBody>
          <a:bodyPr/>
          <a:lstStyle/>
          <a:p>
            <a:fld id="{320E163F-9706-41DA-BEEC-9D55578F1725}" type="slidenum">
              <a:rPr lang="en-US" smtClean="0">
                <a:latin typeface="Arial"/>
              </a:rPr>
              <a:pPr/>
              <a:t>‹#›</a:t>
            </a:fld>
            <a:endParaRPr lang="en-US">
              <a:latin typeface="Arial"/>
            </a:endParaRPr>
          </a:p>
        </p:txBody>
      </p:sp>
    </p:spTree>
    <p:extLst>
      <p:ext uri="{BB962C8B-B14F-4D97-AF65-F5344CB8AC3E}">
        <p14:creationId xmlns:p14="http://schemas.microsoft.com/office/powerpoint/2010/main" val="334196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8" name="Footer Placeholder 7"/>
          <p:cNvSpPr>
            <a:spLocks noGrp="1"/>
          </p:cNvSpPr>
          <p:nvPr>
            <p:ph type="ftr" sz="quarter" idx="11"/>
          </p:nvPr>
        </p:nvSpPr>
        <p:spPr/>
        <p:txBody>
          <a:bodyPr/>
          <a:lstStyle/>
          <a:p>
            <a:r>
              <a:rPr lang="en-US">
                <a:latin typeface="Arial"/>
              </a:rPr>
              <a:t>Fundamentals of Information Systems, Fourth Edition</a:t>
            </a:r>
          </a:p>
        </p:txBody>
      </p:sp>
      <p:sp>
        <p:nvSpPr>
          <p:cNvPr id="9" name="Slide Number Placeholder 8"/>
          <p:cNvSpPr>
            <a:spLocks noGrp="1"/>
          </p:cNvSpPr>
          <p:nvPr>
            <p:ph type="sldNum" sz="quarter" idx="12"/>
          </p:nvPr>
        </p:nvSpPr>
        <p:spPr/>
        <p:txBody>
          <a:bodyPr/>
          <a:lstStyle/>
          <a:p>
            <a:fld id="{3336E7A7-AA1E-4950-A61E-48C7D28E80B4}" type="slidenum">
              <a:rPr lang="en-US" smtClean="0">
                <a:latin typeface="Arial"/>
              </a:rPr>
              <a:pPr/>
              <a:t>‹#›</a:t>
            </a:fld>
            <a:endParaRPr lang="en-US">
              <a:latin typeface="Arial"/>
            </a:endParaRPr>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593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4" name="Footer Placeholder 3"/>
          <p:cNvSpPr>
            <a:spLocks noGrp="1"/>
          </p:cNvSpPr>
          <p:nvPr>
            <p:ph type="ftr" sz="quarter" idx="11"/>
          </p:nvPr>
        </p:nvSpPr>
        <p:spPr/>
        <p:txBody>
          <a:bodyPr/>
          <a:lstStyle/>
          <a:p>
            <a:r>
              <a:rPr lang="en-US">
                <a:latin typeface="Arial"/>
              </a:rPr>
              <a:t>Fundamentals of Information Systems, Fourth Edition</a:t>
            </a:r>
          </a:p>
        </p:txBody>
      </p:sp>
      <p:sp>
        <p:nvSpPr>
          <p:cNvPr id="5" name="Slide Number Placeholder 4"/>
          <p:cNvSpPr>
            <a:spLocks noGrp="1"/>
          </p:cNvSpPr>
          <p:nvPr>
            <p:ph type="sldNum" sz="quarter" idx="12"/>
          </p:nvPr>
        </p:nvSpPr>
        <p:spPr/>
        <p:txBody>
          <a:bodyPr/>
          <a:lstStyle/>
          <a:p>
            <a:fld id="{E9998C29-0FBE-4E3D-B015-97B59C0080D2}" type="slidenum">
              <a:rPr lang="en-US" smtClean="0">
                <a:latin typeface="Arial"/>
              </a:rPr>
              <a:pPr/>
              <a:t>‹#›</a:t>
            </a:fld>
            <a:endParaRPr lang="en-US">
              <a:latin typeface="Arial"/>
            </a:endParaRPr>
          </a:p>
        </p:txBody>
      </p:sp>
    </p:spTree>
    <p:extLst>
      <p:ext uri="{BB962C8B-B14F-4D97-AF65-F5344CB8AC3E}">
        <p14:creationId xmlns:p14="http://schemas.microsoft.com/office/powerpoint/2010/main" val="2820482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3" name="Footer Placeholder 2"/>
          <p:cNvSpPr>
            <a:spLocks noGrp="1"/>
          </p:cNvSpPr>
          <p:nvPr>
            <p:ph type="ftr" sz="quarter" idx="11"/>
          </p:nvPr>
        </p:nvSpPr>
        <p:spPr/>
        <p:txBody>
          <a:bodyPr/>
          <a:lstStyle/>
          <a:p>
            <a:r>
              <a:rPr lang="en-US">
                <a:latin typeface="Arial"/>
              </a:rPr>
              <a:t>Fundamentals of Information Systems, Fourth Edition</a:t>
            </a:r>
          </a:p>
        </p:txBody>
      </p:sp>
      <p:sp>
        <p:nvSpPr>
          <p:cNvPr id="4" name="Slide Number Placeholder 3"/>
          <p:cNvSpPr>
            <a:spLocks noGrp="1"/>
          </p:cNvSpPr>
          <p:nvPr>
            <p:ph type="sldNum" sz="quarter" idx="12"/>
          </p:nvPr>
        </p:nvSpPr>
        <p:spPr/>
        <p:txBody>
          <a:bodyPr/>
          <a:lstStyle/>
          <a:p>
            <a:fld id="{8C2D593D-B61E-4215-B242-BF4C72556C47}" type="slidenum">
              <a:rPr lang="en-US" smtClean="0">
                <a:latin typeface="Arial"/>
              </a:rPr>
              <a:pPr/>
              <a:t>‹#›</a:t>
            </a:fld>
            <a:endParaRPr lang="en-US">
              <a:latin typeface="Arial"/>
            </a:endParaRPr>
          </a:p>
        </p:txBody>
      </p:sp>
    </p:spTree>
    <p:extLst>
      <p:ext uri="{BB962C8B-B14F-4D97-AF65-F5344CB8AC3E}">
        <p14:creationId xmlns:p14="http://schemas.microsoft.com/office/powerpoint/2010/main" val="2153854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6" name="Footer Placeholder 5"/>
          <p:cNvSpPr>
            <a:spLocks noGrp="1"/>
          </p:cNvSpPr>
          <p:nvPr>
            <p:ph type="ftr" sz="quarter" idx="11"/>
          </p:nvPr>
        </p:nvSpPr>
        <p:spPr/>
        <p:txBody>
          <a:bodyPr/>
          <a:lstStyle/>
          <a:p>
            <a:r>
              <a:rPr lang="en-US">
                <a:latin typeface="Arial"/>
              </a:rPr>
              <a:t>Fundamentals of Information Systems, Fourth Edition</a:t>
            </a:r>
          </a:p>
        </p:txBody>
      </p:sp>
      <p:sp>
        <p:nvSpPr>
          <p:cNvPr id="7" name="Slide Number Placeholder 6"/>
          <p:cNvSpPr>
            <a:spLocks noGrp="1"/>
          </p:cNvSpPr>
          <p:nvPr>
            <p:ph type="sldNum" sz="quarter" idx="12"/>
          </p:nvPr>
        </p:nvSpPr>
        <p:spPr/>
        <p:txBody>
          <a:bodyPr/>
          <a:lstStyle/>
          <a:p>
            <a:fld id="{70FF8419-802B-407E-8929-770ED3D66584}" type="slidenum">
              <a:rPr lang="en-US" smtClean="0">
                <a:latin typeface="Arial"/>
              </a:rPr>
              <a:pPr/>
              <a:t>‹#›</a:t>
            </a:fld>
            <a:endParaRPr lang="en-US">
              <a:latin typeface="Arial"/>
            </a:endParaRPr>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904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6" name="Footer Placeholder 5"/>
          <p:cNvSpPr>
            <a:spLocks noGrp="1"/>
          </p:cNvSpPr>
          <p:nvPr>
            <p:ph type="ftr" sz="quarter" idx="11"/>
          </p:nvPr>
        </p:nvSpPr>
        <p:spPr/>
        <p:txBody>
          <a:bodyPr/>
          <a:lstStyle/>
          <a:p>
            <a:r>
              <a:rPr lang="en-US">
                <a:latin typeface="Arial"/>
              </a:rPr>
              <a:t>Fundamentals of Information Systems, Fourth Edition</a:t>
            </a:r>
          </a:p>
        </p:txBody>
      </p:sp>
      <p:sp>
        <p:nvSpPr>
          <p:cNvPr id="7" name="Slide Number Placeholder 6"/>
          <p:cNvSpPr>
            <a:spLocks noGrp="1"/>
          </p:cNvSpPr>
          <p:nvPr>
            <p:ph type="sldNum" sz="quarter" idx="12"/>
          </p:nvPr>
        </p:nvSpPr>
        <p:spPr/>
        <p:txBody>
          <a:bodyPr/>
          <a:lstStyle/>
          <a:p>
            <a:fld id="{FC9EC94F-360B-4B6D-81AD-989F75F85BBF}" type="slidenum">
              <a:rPr lang="en-US" smtClean="0">
                <a:latin typeface="Arial"/>
              </a:rPr>
              <a:pPr/>
              <a:t>‹#›</a:t>
            </a:fld>
            <a:endParaRPr lang="en-US">
              <a:latin typeface="Arial"/>
            </a:endParaRPr>
          </a:p>
        </p:txBody>
      </p:sp>
    </p:spTree>
    <p:extLst>
      <p:ext uri="{BB962C8B-B14F-4D97-AF65-F5344CB8AC3E}">
        <p14:creationId xmlns:p14="http://schemas.microsoft.com/office/powerpoint/2010/main" val="183630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Fundamentals of Information Systems, Fourth Edition</a:t>
            </a:r>
          </a:p>
        </p:txBody>
      </p:sp>
      <p:sp>
        <p:nvSpPr>
          <p:cNvPr id="6" name="Slide Number Placeholder 5"/>
          <p:cNvSpPr>
            <a:spLocks noGrp="1"/>
          </p:cNvSpPr>
          <p:nvPr>
            <p:ph type="sldNum" sz="quarter" idx="12"/>
          </p:nvPr>
        </p:nvSpPr>
        <p:spPr/>
        <p:txBody>
          <a:bodyPr/>
          <a:lstStyle/>
          <a:p>
            <a:fld id="{E9E4E860-0FF2-422C-838C-1022CDDC119C}" type="slidenum">
              <a:rPr lang="en-US" smtClean="0">
                <a:latin typeface="Arial"/>
              </a:rPr>
              <a:pPr/>
              <a:t>‹#›</a:t>
            </a:fld>
            <a:endParaRPr lang="en-US">
              <a:latin typeface="Arial"/>
            </a:endParaRPr>
          </a:p>
        </p:txBody>
      </p:sp>
    </p:spTree>
    <p:extLst>
      <p:ext uri="{BB962C8B-B14F-4D97-AF65-F5344CB8AC3E}">
        <p14:creationId xmlns:p14="http://schemas.microsoft.com/office/powerpoint/2010/main" val="2002230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1744FC-BD29-453B-8F5A-0A30F90FC68A}" type="datetimeFigureOut">
              <a:rPr lang="en-US" smtClean="0">
                <a:latin typeface="Arial"/>
              </a:rPr>
              <a:pPr/>
              <a:t>9/23/2026</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Fundamentals of Information Systems, Fourth Edition</a:t>
            </a:r>
          </a:p>
        </p:txBody>
      </p:sp>
      <p:sp>
        <p:nvSpPr>
          <p:cNvPr id="6" name="Slide Number Placeholder 5"/>
          <p:cNvSpPr>
            <a:spLocks noGrp="1"/>
          </p:cNvSpPr>
          <p:nvPr>
            <p:ph type="sldNum" sz="quarter" idx="12"/>
          </p:nvPr>
        </p:nvSpPr>
        <p:spPr/>
        <p:txBody>
          <a:bodyPr/>
          <a:lstStyle/>
          <a:p>
            <a:fld id="{9275B01C-0DE6-4A7A-B272-9B00FB4447FB}" type="slidenum">
              <a:rPr lang="en-US" smtClean="0">
                <a:latin typeface="Arial"/>
              </a:rPr>
              <a:pPr/>
              <a:t>‹#›</a:t>
            </a:fld>
            <a:endParaRPr lang="en-US">
              <a:latin typeface="Arial"/>
            </a:endParaRPr>
          </a:p>
        </p:txBody>
      </p:sp>
    </p:spTree>
    <p:extLst>
      <p:ext uri="{BB962C8B-B14F-4D97-AF65-F5344CB8AC3E}">
        <p14:creationId xmlns:p14="http://schemas.microsoft.com/office/powerpoint/2010/main" val="3523344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defTabSz="914400"/>
            <a:fld id="{201744FC-BD29-453B-8F5A-0A30F90FC68A}" type="datetimeFigureOut">
              <a:rPr lang="en-US" smtClean="0">
                <a:latin typeface="Arial"/>
              </a:rPr>
              <a:pPr defTabSz="914400"/>
              <a:t>9/23/2026</a:t>
            </a:fld>
            <a:endParaRPr lang="en-US">
              <a:latin typeface="Arial"/>
            </a:endParaRPr>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defTabSz="914400"/>
            <a:endParaRPr lang="en-US">
              <a:latin typeface="Arial"/>
            </a:endParaRPr>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pPr defTabSz="914400"/>
            <a:fld id="{A005A5E8-4213-488D-8019-D06882925F76}" type="slidenum">
              <a:rPr lang="en-US" smtClean="0">
                <a:latin typeface="Arial"/>
              </a:rPr>
              <a:pPr defTabSz="914400"/>
              <a:t>‹#›</a:t>
            </a:fld>
            <a:endParaRPr lang="en-US">
              <a:latin typeface="Arial"/>
            </a:endParaRPr>
          </a:p>
        </p:txBody>
      </p:sp>
    </p:spTree>
    <p:extLst>
      <p:ext uri="{BB962C8B-B14F-4D97-AF65-F5344CB8AC3E}">
        <p14:creationId xmlns:p14="http://schemas.microsoft.com/office/powerpoint/2010/main" val="29320118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0.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8" Type="http://schemas.openxmlformats.org/officeDocument/2006/relationships/image" Target="../media/image14.png"/><Relationship Id="rId3" Type="http://schemas.openxmlformats.org/officeDocument/2006/relationships/image" Target="../media/image60.png"/><Relationship Id="rId7" Type="http://schemas.openxmlformats.org/officeDocument/2006/relationships/image" Target="../media/image100.png"/><Relationship Id="rId17" Type="http://schemas.openxmlformats.org/officeDocument/2006/relationships/image" Target="../media/image101.png"/><Relationship Id="rId2" Type="http://schemas.openxmlformats.org/officeDocument/2006/relationships/notesSlide" Target="../notesSlides/notesSlide15.xml"/><Relationship Id="rId16"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0.png"/><Relationship Id="rId10" Type="http://schemas.openxmlformats.org/officeDocument/2006/relationships/image" Target="../media/image13.png"/><Relationship Id="rId4" Type="http://schemas.openxmlformats.org/officeDocument/2006/relationships/image" Target="../media/image70.png"/><Relationship Id="rId9" Type="http://schemas.openxmlformats.org/officeDocument/2006/relationships/image" Target="../media/image120.png"/></Relationships>
</file>

<file path=ppt/slides/_rels/slide22.xml.rels><?xml version="1.0" encoding="UTF-8" standalone="yes"?>
<Relationships xmlns="http://schemas.openxmlformats.org/package/2006/relationships"><Relationship Id="rId8" Type="http://schemas.openxmlformats.org/officeDocument/2006/relationships/image" Target="../media/image100.png"/><Relationship Id="rId18" Type="http://schemas.openxmlformats.org/officeDocument/2006/relationships/image" Target="../media/image15.png"/><Relationship Id="rId3" Type="http://schemas.openxmlformats.org/officeDocument/2006/relationships/audio" Target="../media/audio1.wav"/><Relationship Id="rId7" Type="http://schemas.openxmlformats.org/officeDocument/2006/relationships/image" Target="../media/image90.png"/><Relationship Id="rId17" Type="http://schemas.openxmlformats.org/officeDocument/2006/relationships/image" Target="../media/image101.png"/><Relationship Id="rId2" Type="http://schemas.openxmlformats.org/officeDocument/2006/relationships/notesSlide" Target="../notesSlides/notesSlide16.xml"/><Relationship Id="rId16"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10" Type="http://schemas.openxmlformats.org/officeDocument/2006/relationships/image" Target="../media/image13.png"/><Relationship Id="rId4" Type="http://schemas.openxmlformats.org/officeDocument/2006/relationships/image" Target="../media/image60.png"/><Relationship Id="rId9" Type="http://schemas.openxmlformats.org/officeDocument/2006/relationships/image" Target="../media/image120.png"/></Relationships>
</file>

<file path=ppt/slides/_rels/slide23.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6.emf"/><Relationship Id="rId7" Type="http://schemas.openxmlformats.org/officeDocument/2006/relationships/image" Target="../media/image10.emf"/><Relationship Id="rId2" Type="http://schemas.openxmlformats.org/officeDocument/2006/relationships/package" Target="../embeddings/Microsoft_Excel_Worksheet.xlsx"/><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image" Target="../media/image8.emf"/><Relationship Id="rId10" Type="http://schemas.openxmlformats.org/officeDocument/2006/relationships/image" Target="../media/image4.png"/><Relationship Id="rId4" Type="http://schemas.openxmlformats.org/officeDocument/2006/relationships/image" Target="../media/image7.emf"/><Relationship Id="rId9" Type="http://schemas.openxmlformats.org/officeDocument/2006/relationships/image" Target="../media/image12.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1keydata.com/database-normaliza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ctrTitle"/>
          </p:nvPr>
        </p:nvSpPr>
        <p:spPr/>
        <p:txBody>
          <a:bodyPr/>
          <a:lstStyle/>
          <a:p>
            <a:r>
              <a:rPr lang="en-US" dirty="0"/>
              <a:t>Relational Database Design</a:t>
            </a:r>
            <a:br>
              <a:rPr lang="en-US" dirty="0"/>
            </a:br>
            <a:endParaRPr lang="en-US" sz="1800" dirty="0"/>
          </a:p>
        </p:txBody>
      </p:sp>
    </p:spTree>
    <p:extLst>
      <p:ext uri="{BB962C8B-B14F-4D97-AF65-F5344CB8AC3E}">
        <p14:creationId xmlns:p14="http://schemas.microsoft.com/office/powerpoint/2010/main" val="2475985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Designing a Relational Database: Overview</a:t>
            </a:r>
          </a:p>
        </p:txBody>
      </p:sp>
      <p:sp>
        <p:nvSpPr>
          <p:cNvPr id="3" name="Content Placeholder 2"/>
          <p:cNvSpPr>
            <a:spLocks noGrp="1"/>
          </p:cNvSpPr>
          <p:nvPr>
            <p:ph idx="1"/>
          </p:nvPr>
        </p:nvSpPr>
        <p:spPr/>
        <p:txBody>
          <a:bodyPr>
            <a:normAutofit/>
          </a:body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a:t>
            </a:fld>
            <a:endParaRPr lang="en-US">
              <a:latin typeface="Arial"/>
            </a:endParaRPr>
          </a:p>
        </p:txBody>
      </p:sp>
      <p:sp>
        <p:nvSpPr>
          <p:cNvPr id="5" name="TextBox 4"/>
          <p:cNvSpPr txBox="1"/>
          <p:nvPr/>
        </p:nvSpPr>
        <p:spPr>
          <a:xfrm>
            <a:off x="228600" y="5905500"/>
            <a:ext cx="8571577" cy="461665"/>
          </a:xfrm>
          <a:prstGeom prst="rect">
            <a:avLst/>
          </a:prstGeom>
          <a:noFill/>
        </p:spPr>
        <p:txBody>
          <a:bodyPr wrap="none" rtlCol="0">
            <a:spAutoFit/>
          </a:bodyPr>
          <a:lstStyle/>
          <a:p>
            <a:r>
              <a:rPr lang="en-US" sz="2400" i="1" dirty="0"/>
              <a:t>Follow this process for the Library example on the homework.</a:t>
            </a:r>
          </a:p>
        </p:txBody>
      </p:sp>
      <p:sp>
        <p:nvSpPr>
          <p:cNvPr id="6" name="TextBox 5"/>
          <p:cNvSpPr txBox="1"/>
          <p:nvPr/>
        </p:nvSpPr>
        <p:spPr>
          <a:xfrm>
            <a:off x="6639067" y="4996765"/>
            <a:ext cx="1133644" cy="646331"/>
          </a:xfrm>
          <a:prstGeom prst="rect">
            <a:avLst/>
          </a:prstGeom>
          <a:noFill/>
        </p:spPr>
        <p:txBody>
          <a:bodyPr wrap="none" rtlCol="0">
            <a:spAutoFit/>
          </a:bodyPr>
          <a:lstStyle/>
          <a:p>
            <a:r>
              <a:rPr lang="en-US" b="1" dirty="0"/>
              <a:t>PIER-RN</a:t>
            </a:r>
          </a:p>
          <a:p>
            <a:r>
              <a:rPr lang="en-US" dirty="0"/>
              <a:t> </a:t>
            </a:r>
          </a:p>
        </p:txBody>
      </p:sp>
    </p:spTree>
    <p:extLst>
      <p:ext uri="{BB962C8B-B14F-4D97-AF65-F5344CB8AC3E}">
        <p14:creationId xmlns:p14="http://schemas.microsoft.com/office/powerpoint/2010/main" val="2532530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7F824-7FF4-F985-8CFF-AA095251D9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CF83EF-C188-02F1-A320-A2C8E65D7099}"/>
              </a:ext>
            </a:extLst>
          </p:cNvPr>
          <p:cNvSpPr>
            <a:spLocks noGrp="1"/>
          </p:cNvSpPr>
          <p:nvPr>
            <p:ph idx="1"/>
          </p:nvPr>
        </p:nvSpPr>
        <p:spPr/>
        <p:txBody>
          <a:bodyPr/>
          <a:lstStyle/>
          <a:p>
            <a:r>
              <a:rPr lang="en-US" sz="2400" dirty="0"/>
              <a:t>Create </a:t>
            </a:r>
            <a:r>
              <a:rPr lang="en-US" sz="2400" b="1" dirty="0"/>
              <a:t>Entity-Relationship </a:t>
            </a:r>
            <a:r>
              <a:rPr lang="en-US" sz="2400" dirty="0"/>
              <a:t>(E-R) diagram</a:t>
            </a:r>
          </a:p>
          <a:p>
            <a:endParaRPr lang="en-US" dirty="0"/>
          </a:p>
        </p:txBody>
      </p:sp>
      <p:sp>
        <p:nvSpPr>
          <p:cNvPr id="4" name="Slide Number Placeholder 3">
            <a:extLst>
              <a:ext uri="{FF2B5EF4-FFF2-40B4-BE49-F238E27FC236}">
                <a16:creationId xmlns:a16="http://schemas.microsoft.com/office/drawing/2014/main" id="{3C65BE6B-53A8-5C31-3B01-A96EE789C616}"/>
              </a:ext>
            </a:extLst>
          </p:cNvPr>
          <p:cNvSpPr>
            <a:spLocks noGrp="1"/>
          </p:cNvSpPr>
          <p:nvPr>
            <p:ph type="sldNum" sz="quarter" idx="12"/>
          </p:nvPr>
        </p:nvSpPr>
        <p:spPr/>
        <p:txBody>
          <a:bodyPr/>
          <a:lstStyle/>
          <a:p>
            <a:fld id="{E345EAD5-4C19-43E8-92AC-D4AD00C5745A}" type="slidenum">
              <a:rPr lang="en-US" smtClean="0">
                <a:latin typeface="Arial"/>
              </a:rPr>
              <a:pPr/>
              <a:t>3</a:t>
            </a:fld>
            <a:endParaRPr lang="en-US">
              <a:latin typeface="Arial"/>
            </a:endParaRPr>
          </a:p>
        </p:txBody>
      </p:sp>
      <p:pic>
        <p:nvPicPr>
          <p:cNvPr id="6" name="Picture 5">
            <a:extLst>
              <a:ext uri="{FF2B5EF4-FFF2-40B4-BE49-F238E27FC236}">
                <a16:creationId xmlns:a16="http://schemas.microsoft.com/office/drawing/2014/main" id="{007CEF3A-1281-C9E4-DACF-7DE4457DC32F}"/>
              </a:ext>
            </a:extLst>
          </p:cNvPr>
          <p:cNvPicPr>
            <a:picLocks noChangeAspect="1"/>
          </p:cNvPicPr>
          <p:nvPr/>
        </p:nvPicPr>
        <p:blipFill>
          <a:blip r:embed="rId2"/>
          <a:stretch>
            <a:fillRect/>
          </a:stretch>
        </p:blipFill>
        <p:spPr>
          <a:xfrm>
            <a:off x="941479" y="2696086"/>
            <a:ext cx="7068536" cy="3439005"/>
          </a:xfrm>
          <a:prstGeom prst="rect">
            <a:avLst/>
          </a:prstGeom>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pic>
    </p:spTree>
    <p:extLst>
      <p:ext uri="{BB962C8B-B14F-4D97-AF65-F5344CB8AC3E}">
        <p14:creationId xmlns:p14="http://schemas.microsoft.com/office/powerpoint/2010/main" val="2784182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Designing a Relational Database: Overview</a:t>
            </a:r>
          </a:p>
        </p:txBody>
      </p:sp>
      <p:sp>
        <p:nvSpPr>
          <p:cNvPr id="3" name="Content Placeholder 2"/>
          <p:cNvSpPr>
            <a:spLocks noGrp="1"/>
          </p:cNvSpPr>
          <p:nvPr>
            <p:ph idx="1"/>
          </p:nvPr>
        </p:nvSpPr>
        <p:spPr/>
        <p:txBody>
          <a:bodyPr>
            <a:normAutofit/>
          </a:body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4</a:t>
            </a:fld>
            <a:endParaRPr lang="en-US">
              <a:latin typeface="Arial"/>
            </a:endParaRPr>
          </a:p>
        </p:txBody>
      </p:sp>
      <p:sp>
        <p:nvSpPr>
          <p:cNvPr id="5" name="TextBox 4"/>
          <p:cNvSpPr txBox="1"/>
          <p:nvPr/>
        </p:nvSpPr>
        <p:spPr>
          <a:xfrm>
            <a:off x="228600" y="5905500"/>
            <a:ext cx="8571577" cy="461665"/>
          </a:xfrm>
          <a:prstGeom prst="rect">
            <a:avLst/>
          </a:prstGeom>
          <a:noFill/>
        </p:spPr>
        <p:txBody>
          <a:bodyPr wrap="none" rtlCol="0">
            <a:spAutoFit/>
          </a:bodyPr>
          <a:lstStyle/>
          <a:p>
            <a:r>
              <a:rPr lang="en-US" sz="2400" i="1" dirty="0"/>
              <a:t>Follow this process for the Library example on the homework.</a:t>
            </a:r>
          </a:p>
        </p:txBody>
      </p:sp>
      <p:sp>
        <p:nvSpPr>
          <p:cNvPr id="6" name="TextBox 5"/>
          <p:cNvSpPr txBox="1"/>
          <p:nvPr/>
        </p:nvSpPr>
        <p:spPr>
          <a:xfrm>
            <a:off x="6639067" y="4996765"/>
            <a:ext cx="1133644" cy="646331"/>
          </a:xfrm>
          <a:prstGeom prst="rect">
            <a:avLst/>
          </a:prstGeom>
          <a:noFill/>
        </p:spPr>
        <p:txBody>
          <a:bodyPr wrap="none" rtlCol="0">
            <a:spAutoFit/>
          </a:bodyPr>
          <a:lstStyle/>
          <a:p>
            <a:r>
              <a:rPr lang="en-US" b="1" dirty="0"/>
              <a:t>PIER-RN</a:t>
            </a:r>
          </a:p>
          <a:p>
            <a:r>
              <a:rPr lang="en-US" dirty="0"/>
              <a:t> </a:t>
            </a:r>
          </a:p>
        </p:txBody>
      </p:sp>
    </p:spTree>
    <p:extLst>
      <p:ext uri="{BB962C8B-B14F-4D97-AF65-F5344CB8AC3E}">
        <p14:creationId xmlns:p14="http://schemas.microsoft.com/office/powerpoint/2010/main" val="3239075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600200"/>
            <a:ext cx="8458200" cy="5029200"/>
          </a:xfrm>
        </p:spPr>
        <p:txBody>
          <a:bodyPr>
            <a:normAutofit/>
          </a:bodyPr>
          <a:lstStyle/>
          <a:p>
            <a:pPr marL="0" indent="0">
              <a:buNone/>
            </a:pPr>
            <a:endParaRPr lang="en-US" dirty="0"/>
          </a:p>
          <a:p>
            <a:pPr lvl="2"/>
            <a:endParaRPr lang="en-US" dirty="0"/>
          </a:p>
        </p:txBody>
      </p:sp>
      <p:sp>
        <p:nvSpPr>
          <p:cNvPr id="2" name="Title 1"/>
          <p:cNvSpPr>
            <a:spLocks noGrp="1"/>
          </p:cNvSpPr>
          <p:nvPr>
            <p:ph type="title"/>
          </p:nvPr>
        </p:nvSpPr>
        <p:spPr>
          <a:xfrm>
            <a:off x="239549" y="647700"/>
            <a:ext cx="8637751" cy="876300"/>
          </a:xfrm>
        </p:spPr>
        <p:txBody>
          <a:bodyPr>
            <a:normAutofit fontScale="90000"/>
          </a:bodyPr>
          <a:lstStyle/>
          <a:p>
            <a:r>
              <a:rPr lang="en-US" dirty="0"/>
              <a:t>Example: </a:t>
            </a:r>
            <a:r>
              <a:rPr lang="en-US" sz="3600" dirty="0"/>
              <a:t>Order tracking in a single spreadsheet</a:t>
            </a:r>
          </a:p>
        </p:txBody>
      </p:sp>
      <p:pic>
        <p:nvPicPr>
          <p:cNvPr id="5" name="Picture 4">
            <a:extLst>
              <a:ext uri="{FF2B5EF4-FFF2-40B4-BE49-F238E27FC236}">
                <a16:creationId xmlns:a16="http://schemas.microsoft.com/office/drawing/2014/main" id="{2578C868-D83F-4499-BE45-889E1FB91777}"/>
              </a:ext>
            </a:extLst>
          </p:cNvPr>
          <p:cNvPicPr>
            <a:picLocks noChangeAspect="1"/>
          </p:cNvPicPr>
          <p:nvPr/>
        </p:nvPicPr>
        <p:blipFill>
          <a:blip r:embed="rId3"/>
          <a:stretch>
            <a:fillRect/>
          </a:stretch>
        </p:blipFill>
        <p:spPr>
          <a:xfrm>
            <a:off x="239549" y="1892300"/>
            <a:ext cx="8741102" cy="1768034"/>
          </a:xfrm>
          <a:prstGeom prst="rect">
            <a:avLst/>
          </a:prstGeom>
        </p:spPr>
      </p:pic>
      <p:sp>
        <p:nvSpPr>
          <p:cNvPr id="7" name="TextBox 6">
            <a:extLst>
              <a:ext uri="{FF2B5EF4-FFF2-40B4-BE49-F238E27FC236}">
                <a16:creationId xmlns:a16="http://schemas.microsoft.com/office/drawing/2014/main" id="{B54B0649-9305-4384-B268-9FACDCBB223F}"/>
              </a:ext>
            </a:extLst>
          </p:cNvPr>
          <p:cNvSpPr txBox="1"/>
          <p:nvPr/>
        </p:nvSpPr>
        <p:spPr>
          <a:xfrm>
            <a:off x="126999" y="4276635"/>
            <a:ext cx="8853651" cy="1292662"/>
          </a:xfrm>
          <a:prstGeom prst="rect">
            <a:avLst/>
          </a:prstGeom>
          <a:noFill/>
        </p:spPr>
        <p:txBody>
          <a:bodyPr wrap="square" rtlCol="0">
            <a:spAutoFit/>
          </a:bodyPr>
          <a:lstStyle/>
          <a:p>
            <a:pPr marL="342900" indent="-342900" defTabSz="914400">
              <a:buFont typeface="Arial" panose="020B0604020202020204" pitchFamily="34" charset="0"/>
              <a:buChar char="•"/>
            </a:pPr>
            <a:r>
              <a:rPr lang="en-US" sz="2600" dirty="0">
                <a:solidFill>
                  <a:srgbClr val="292934"/>
                </a:solidFill>
                <a:latin typeface="Arial"/>
              </a:rPr>
              <a:t>This approach has </a:t>
            </a:r>
            <a:r>
              <a:rPr lang="en-US" sz="2600" dirty="0">
                <a:solidFill>
                  <a:srgbClr val="292934"/>
                </a:solidFill>
              </a:rPr>
              <a:t>some shortcomings (what are they?) </a:t>
            </a:r>
            <a:endParaRPr lang="en-US" sz="2600" dirty="0">
              <a:solidFill>
                <a:srgbClr val="292934"/>
              </a:solidFill>
              <a:latin typeface="Arial"/>
            </a:endParaRPr>
          </a:p>
          <a:p>
            <a:pPr marL="342900" indent="-342900" defTabSz="914400">
              <a:buFont typeface="Arial" panose="020B0604020202020204" pitchFamily="34" charset="0"/>
              <a:buChar char="•"/>
            </a:pPr>
            <a:endParaRPr lang="en-US" sz="2600" dirty="0">
              <a:solidFill>
                <a:srgbClr val="292934"/>
              </a:solidFill>
            </a:endParaRPr>
          </a:p>
          <a:p>
            <a:pPr marL="342900" indent="-342900" defTabSz="914400">
              <a:buFont typeface="Arial" panose="020B0604020202020204" pitchFamily="34" charset="0"/>
              <a:buChar char="•"/>
            </a:pPr>
            <a:r>
              <a:rPr lang="en-US" sz="2600" dirty="0">
                <a:solidFill>
                  <a:srgbClr val="292934"/>
                </a:solidFill>
              </a:rPr>
              <a:t>Consider designing a database instead</a:t>
            </a:r>
          </a:p>
        </p:txBody>
      </p:sp>
    </p:spTree>
    <p:extLst>
      <p:ext uri="{BB962C8B-B14F-4D97-AF65-F5344CB8AC3E}">
        <p14:creationId xmlns:p14="http://schemas.microsoft.com/office/powerpoint/2010/main" val="28993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600200"/>
            <a:ext cx="8458200" cy="5029200"/>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lvl="2"/>
            <a:endParaRPr lang="en-US" dirty="0"/>
          </a:p>
        </p:txBody>
      </p:sp>
      <p:sp>
        <p:nvSpPr>
          <p:cNvPr id="2" name="Title 1"/>
          <p:cNvSpPr>
            <a:spLocks noGrp="1"/>
          </p:cNvSpPr>
          <p:nvPr>
            <p:ph type="title"/>
          </p:nvPr>
        </p:nvSpPr>
        <p:spPr>
          <a:xfrm>
            <a:off x="457200" y="533400"/>
            <a:ext cx="4572000" cy="1600200"/>
          </a:xfrm>
        </p:spPr>
        <p:txBody>
          <a:bodyPr>
            <a:normAutofit fontScale="90000"/>
          </a:bodyPr>
          <a:lstStyle/>
          <a:p>
            <a:r>
              <a:rPr lang="en-US" dirty="0"/>
              <a:t>I. Determine purpose of the database</a:t>
            </a:r>
          </a:p>
        </p:txBody>
      </p:sp>
      <p:sp>
        <p:nvSpPr>
          <p:cNvPr id="7" name="Content Placeholder 2"/>
          <p:cNvSpPr txBox="1">
            <a:spLocks/>
          </p:cNvSpPr>
          <p:nvPr/>
        </p:nvSpPr>
        <p:spPr>
          <a:xfrm>
            <a:off x="381000" y="2387600"/>
            <a:ext cx="8458200" cy="34417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Clr>
                <a:srgbClr val="93A299"/>
              </a:buClr>
              <a:buFont typeface="Arial" pitchFamily="34" charset="0"/>
              <a:buNone/>
            </a:pPr>
            <a:r>
              <a:rPr lang="en-US" b="1" dirty="0">
                <a:solidFill>
                  <a:srgbClr val="292934"/>
                </a:solidFill>
                <a:latin typeface="Arial"/>
              </a:rPr>
              <a:t>How?</a:t>
            </a:r>
          </a:p>
          <a:p>
            <a:pPr marL="0" indent="0">
              <a:buClr>
                <a:srgbClr val="93A299"/>
              </a:buClr>
              <a:buFont typeface="Arial" pitchFamily="34" charset="0"/>
              <a:buNone/>
            </a:pPr>
            <a:r>
              <a:rPr lang="en-US" b="1" u="sng" dirty="0">
                <a:solidFill>
                  <a:srgbClr val="292934"/>
                </a:solidFill>
                <a:latin typeface="Arial"/>
              </a:rPr>
              <a:t>In general</a:t>
            </a:r>
            <a:r>
              <a:rPr lang="en-US" dirty="0">
                <a:solidFill>
                  <a:srgbClr val="292934"/>
                </a:solidFill>
                <a:latin typeface="Arial"/>
              </a:rPr>
              <a:t>:  a database is utilized to track information in an efficient, usable way</a:t>
            </a:r>
          </a:p>
          <a:p>
            <a:pPr marL="0" indent="0">
              <a:buClr>
                <a:srgbClr val="93A299"/>
              </a:buClr>
              <a:buFont typeface="Arial" pitchFamily="34" charset="0"/>
              <a:buNone/>
            </a:pPr>
            <a:endParaRPr lang="en-US" dirty="0">
              <a:solidFill>
                <a:srgbClr val="292934"/>
              </a:solidFill>
              <a:latin typeface="Arial"/>
            </a:endParaRPr>
          </a:p>
          <a:p>
            <a:pPr marL="0" indent="0">
              <a:buClr>
                <a:srgbClr val="93A299"/>
              </a:buClr>
              <a:buFont typeface="Arial" pitchFamily="34" charset="0"/>
              <a:buNone/>
            </a:pPr>
            <a:r>
              <a:rPr lang="en-US" b="1" u="sng" dirty="0">
                <a:solidFill>
                  <a:srgbClr val="292934"/>
                </a:solidFill>
                <a:latin typeface="Arial"/>
              </a:rPr>
              <a:t>In this order tracking example</a:t>
            </a:r>
            <a:r>
              <a:rPr lang="en-US" b="1" dirty="0">
                <a:solidFill>
                  <a:srgbClr val="292934"/>
                </a:solidFill>
                <a:latin typeface="Arial"/>
              </a:rPr>
              <a:t>:  </a:t>
            </a:r>
          </a:p>
          <a:p>
            <a:pPr marL="0" indent="0">
              <a:buClr>
                <a:srgbClr val="93A299"/>
              </a:buClr>
              <a:buFont typeface="Arial" pitchFamily="34" charset="0"/>
              <a:buNone/>
            </a:pPr>
            <a:r>
              <a:rPr lang="en-US" dirty="0">
                <a:solidFill>
                  <a:srgbClr val="292934"/>
                </a:solidFill>
                <a:latin typeface="Arial"/>
              </a:rPr>
              <a:t>  the purpose of the database is to track orders to include all information contained in the existing spreadsheet</a:t>
            </a:r>
          </a:p>
          <a:p>
            <a:pPr marL="0" indent="0">
              <a:buClr>
                <a:srgbClr val="93A299"/>
              </a:buClr>
              <a:buFont typeface="Arial" pitchFamily="34" charset="0"/>
              <a:buNone/>
            </a:pPr>
            <a:endParaRPr lang="en-US" dirty="0">
              <a:solidFill>
                <a:srgbClr val="292934"/>
              </a:solidFill>
              <a:latin typeface="Arial"/>
            </a:endParaRPr>
          </a:p>
          <a:p>
            <a:pPr marL="0" indent="0">
              <a:buClr>
                <a:srgbClr val="93A299"/>
              </a:buClr>
              <a:buFont typeface="Arial" pitchFamily="34" charset="0"/>
              <a:buNone/>
            </a:pPr>
            <a:endParaRPr lang="en-US" dirty="0">
              <a:solidFill>
                <a:srgbClr val="292934"/>
              </a:solidFill>
              <a:latin typeface="Arial"/>
            </a:endParaRPr>
          </a:p>
          <a:p>
            <a:pPr lvl="2">
              <a:buClr>
                <a:srgbClr val="93A299"/>
              </a:buClr>
            </a:pPr>
            <a:endParaRPr lang="en-US" dirty="0">
              <a:solidFill>
                <a:srgbClr val="292934"/>
              </a:solidFill>
              <a:latin typeface="Arial"/>
            </a:endParaRPr>
          </a:p>
        </p:txBody>
      </p:sp>
      <p:sp>
        <p:nvSpPr>
          <p:cNvPr id="6" name="Content Placeholder 2"/>
          <p:cNvSpPr txBox="1">
            <a:spLocks/>
          </p:cNvSpPr>
          <p:nvPr/>
        </p:nvSpPr>
        <p:spPr>
          <a:xfrm>
            <a:off x="5372100" y="53340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4" name="Rectangle 3"/>
          <p:cNvSpPr/>
          <p:nvPr/>
        </p:nvSpPr>
        <p:spPr>
          <a:xfrm>
            <a:off x="5372100" y="533400"/>
            <a:ext cx="34671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737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78C868-D83F-4499-BE45-889E1FB91777}"/>
              </a:ext>
            </a:extLst>
          </p:cNvPr>
          <p:cNvPicPr>
            <a:picLocks noChangeAspect="1"/>
          </p:cNvPicPr>
          <p:nvPr/>
        </p:nvPicPr>
        <p:blipFill>
          <a:blip r:embed="rId3"/>
          <a:stretch>
            <a:fillRect/>
          </a:stretch>
        </p:blipFill>
        <p:spPr>
          <a:xfrm>
            <a:off x="166725" y="4819891"/>
            <a:ext cx="8741102" cy="1768034"/>
          </a:xfrm>
          <a:prstGeom prst="rect">
            <a:avLst/>
          </a:prstGeom>
        </p:spPr>
      </p:pic>
      <p:sp>
        <p:nvSpPr>
          <p:cNvPr id="7" name="TextBox 6">
            <a:extLst>
              <a:ext uri="{FF2B5EF4-FFF2-40B4-BE49-F238E27FC236}">
                <a16:creationId xmlns:a16="http://schemas.microsoft.com/office/drawing/2014/main" id="{B54B0649-9305-4384-B268-9FACDCBB223F}"/>
              </a:ext>
            </a:extLst>
          </p:cNvPr>
          <p:cNvSpPr txBox="1"/>
          <p:nvPr/>
        </p:nvSpPr>
        <p:spPr>
          <a:xfrm>
            <a:off x="484723" y="2344657"/>
            <a:ext cx="8534400" cy="2923877"/>
          </a:xfrm>
          <a:prstGeom prst="rect">
            <a:avLst/>
          </a:prstGeom>
          <a:noFill/>
        </p:spPr>
        <p:txBody>
          <a:bodyPr wrap="square" rtlCol="0">
            <a:spAutoFit/>
          </a:bodyPr>
          <a:lstStyle/>
          <a:p>
            <a:pPr defTabSz="914400"/>
            <a:r>
              <a:rPr lang="en-US" sz="2400" b="1" dirty="0"/>
              <a:t>How?</a:t>
            </a:r>
          </a:p>
          <a:p>
            <a:pPr defTabSz="914400"/>
            <a:r>
              <a:rPr lang="en-US" sz="2400" dirty="0"/>
              <a:t>Identify within the data the:</a:t>
            </a:r>
          </a:p>
          <a:p>
            <a:pPr marL="342900" indent="-342900" defTabSz="914400">
              <a:buFont typeface="Arial" panose="020B0604020202020204" pitchFamily="34" charset="0"/>
              <a:buChar char="•"/>
            </a:pPr>
            <a:r>
              <a:rPr lang="en-US" sz="2400" b="1" dirty="0"/>
              <a:t>entities</a:t>
            </a:r>
          </a:p>
          <a:p>
            <a:pPr marL="342900" indent="-342900" defTabSz="914400">
              <a:buFont typeface="Arial" panose="020B0604020202020204" pitchFamily="34" charset="0"/>
              <a:buChar char="•"/>
            </a:pPr>
            <a:r>
              <a:rPr lang="en-US" sz="2400" b="1" dirty="0"/>
              <a:t>attributes </a:t>
            </a:r>
            <a:r>
              <a:rPr lang="en-US" sz="2400" dirty="0"/>
              <a:t>(of the entities)</a:t>
            </a:r>
          </a:p>
          <a:p>
            <a:pPr defTabSz="914400"/>
            <a:r>
              <a:rPr lang="en-US" sz="2400" dirty="0"/>
              <a:t>and organize these</a:t>
            </a:r>
          </a:p>
          <a:p>
            <a:pPr defTabSz="914400"/>
            <a:endParaRPr lang="en-US" sz="1400" dirty="0">
              <a:solidFill>
                <a:srgbClr val="292934"/>
              </a:solidFill>
              <a:latin typeface="Arial"/>
            </a:endParaRPr>
          </a:p>
          <a:p>
            <a:pPr defTabSz="914400"/>
            <a:r>
              <a:rPr lang="en-US" sz="2400" dirty="0">
                <a:solidFill>
                  <a:srgbClr val="292934"/>
                </a:solidFill>
                <a:latin typeface="Arial"/>
              </a:rPr>
              <a:t>Looking at the data in the spreadsheet below, what are they?</a:t>
            </a:r>
          </a:p>
          <a:p>
            <a:pPr defTabSz="914400"/>
            <a:endParaRPr lang="en-US" sz="2400" dirty="0">
              <a:solidFill>
                <a:srgbClr val="292934"/>
              </a:solidFill>
              <a:latin typeface="Arial"/>
            </a:endParaRPr>
          </a:p>
        </p:txBody>
      </p:sp>
      <p:sp>
        <p:nvSpPr>
          <p:cNvPr id="10" name="Title 1"/>
          <p:cNvSpPr txBox="1">
            <a:spLocks/>
          </p:cNvSpPr>
          <p:nvPr/>
        </p:nvSpPr>
        <p:spPr>
          <a:xfrm>
            <a:off x="457200" y="533400"/>
            <a:ext cx="4572000" cy="1600200"/>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dirty="0">
                <a:solidFill>
                  <a:srgbClr val="D2533C"/>
                </a:solidFill>
                <a:latin typeface="Arial"/>
              </a:rPr>
              <a:t>II. Find &amp; organize </a:t>
            </a:r>
            <a:r>
              <a:rPr lang="en-US" b="1" dirty="0">
                <a:solidFill>
                  <a:srgbClr val="D2533C"/>
                </a:solidFill>
                <a:latin typeface="Arial"/>
              </a:rPr>
              <a:t>information </a:t>
            </a:r>
            <a:r>
              <a:rPr lang="en-US" dirty="0">
                <a:solidFill>
                  <a:srgbClr val="D2533C"/>
                </a:solidFill>
                <a:latin typeface="Arial"/>
              </a:rPr>
              <a:t>required</a:t>
            </a:r>
          </a:p>
        </p:txBody>
      </p:sp>
      <p:sp>
        <p:nvSpPr>
          <p:cNvPr id="6" name="Content Placeholder 2"/>
          <p:cNvSpPr txBox="1">
            <a:spLocks/>
          </p:cNvSpPr>
          <p:nvPr/>
        </p:nvSpPr>
        <p:spPr>
          <a:xfrm>
            <a:off x="5281947" y="53340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8" name="Rectangle 7"/>
          <p:cNvSpPr/>
          <p:nvPr/>
        </p:nvSpPr>
        <p:spPr>
          <a:xfrm>
            <a:off x="5281947" y="894009"/>
            <a:ext cx="37719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988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8935" y="4857839"/>
            <a:ext cx="8572500" cy="1750468"/>
          </a:xfrm>
        </p:spPr>
        <p:txBody>
          <a:bodyPr>
            <a:normAutofit fontScale="62500" lnSpcReduction="20000"/>
          </a:bodyPr>
          <a:lstStyle/>
          <a:p>
            <a:pPr marL="0" indent="0">
              <a:buNone/>
            </a:pPr>
            <a:r>
              <a:rPr lang="en-US" sz="3400" b="1" dirty="0"/>
              <a:t>Organizing </a:t>
            </a:r>
            <a:r>
              <a:rPr lang="en-US" sz="3400" dirty="0"/>
              <a:t>information in our order spreadsheet into </a:t>
            </a:r>
            <a:r>
              <a:rPr lang="en-US" sz="3400" b="1" dirty="0"/>
              <a:t>entities</a:t>
            </a:r>
            <a:r>
              <a:rPr lang="en-US" sz="3400" dirty="0"/>
              <a:t>:</a:t>
            </a:r>
          </a:p>
          <a:p>
            <a:pPr marL="788670" lvl="1" indent="-514350">
              <a:buFont typeface="+mj-lt"/>
              <a:buAutoNum type="arabicPeriod"/>
            </a:pPr>
            <a:r>
              <a:rPr lang="en-US" sz="3600" dirty="0"/>
              <a:t>Customers</a:t>
            </a:r>
          </a:p>
          <a:p>
            <a:pPr marL="788670" lvl="1" indent="-514350">
              <a:buFont typeface="+mj-lt"/>
              <a:buAutoNum type="arabicPeriod"/>
            </a:pPr>
            <a:r>
              <a:rPr lang="en-US" sz="3600" dirty="0"/>
              <a:t>Products</a:t>
            </a:r>
          </a:p>
          <a:p>
            <a:pPr marL="788670" lvl="1" indent="-514350">
              <a:buFont typeface="+mj-lt"/>
              <a:buAutoNum type="arabicPeriod"/>
            </a:pPr>
            <a:r>
              <a:rPr lang="en-US" sz="3600" dirty="0"/>
              <a:t>Suppliers</a:t>
            </a:r>
          </a:p>
          <a:p>
            <a:pPr marL="788670" lvl="1" indent="-514350">
              <a:buFont typeface="+mj-lt"/>
              <a:buAutoNum type="arabicPeriod"/>
            </a:pPr>
            <a:r>
              <a:rPr lang="en-US" sz="3600" dirty="0"/>
              <a:t>Order details</a:t>
            </a:r>
          </a:p>
          <a:p>
            <a:pPr marL="0" indent="0">
              <a:buNone/>
            </a:pPr>
            <a:endParaRPr lang="en-US" dirty="0"/>
          </a:p>
          <a:p>
            <a:pPr lvl="2"/>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77540728"/>
              </p:ext>
            </p:extLst>
          </p:nvPr>
        </p:nvGraphicFramePr>
        <p:xfrm>
          <a:off x="30394" y="2107097"/>
          <a:ext cx="8991600" cy="594360"/>
        </p:xfrm>
        <a:graphic>
          <a:graphicData uri="http://schemas.openxmlformats.org/drawingml/2006/table">
            <a:tbl>
              <a:tblPr firstRow="1" bandRow="1">
                <a:effectLst>
                  <a:outerShdw blurRad="50800" dist="50800" dir="5400000" algn="ctr" rotWithShape="0">
                    <a:schemeClr val="tx1"/>
                  </a:outerShdw>
                </a:effectLst>
                <a:tableStyleId>{5C22544A-7EE6-4342-B048-85BDC9FD1C3A}</a:tableStyleId>
              </a:tblPr>
              <a:tblGrid>
                <a:gridCol w="899160">
                  <a:extLst>
                    <a:ext uri="{9D8B030D-6E8A-4147-A177-3AD203B41FA5}">
                      <a16:colId xmlns:a16="http://schemas.microsoft.com/office/drawing/2014/main" val="479895245"/>
                    </a:ext>
                  </a:extLst>
                </a:gridCol>
                <a:gridCol w="899160">
                  <a:extLst>
                    <a:ext uri="{9D8B030D-6E8A-4147-A177-3AD203B41FA5}">
                      <a16:colId xmlns:a16="http://schemas.microsoft.com/office/drawing/2014/main" val="2994868510"/>
                    </a:ext>
                  </a:extLst>
                </a:gridCol>
                <a:gridCol w="899160">
                  <a:extLst>
                    <a:ext uri="{9D8B030D-6E8A-4147-A177-3AD203B41FA5}">
                      <a16:colId xmlns:a16="http://schemas.microsoft.com/office/drawing/2014/main" val="3876039459"/>
                    </a:ext>
                  </a:extLst>
                </a:gridCol>
                <a:gridCol w="899160">
                  <a:extLst>
                    <a:ext uri="{9D8B030D-6E8A-4147-A177-3AD203B41FA5}">
                      <a16:colId xmlns:a16="http://schemas.microsoft.com/office/drawing/2014/main" val="226737262"/>
                    </a:ext>
                  </a:extLst>
                </a:gridCol>
                <a:gridCol w="899160">
                  <a:extLst>
                    <a:ext uri="{9D8B030D-6E8A-4147-A177-3AD203B41FA5}">
                      <a16:colId xmlns:a16="http://schemas.microsoft.com/office/drawing/2014/main" val="1830382438"/>
                    </a:ext>
                  </a:extLst>
                </a:gridCol>
                <a:gridCol w="899160">
                  <a:extLst>
                    <a:ext uri="{9D8B030D-6E8A-4147-A177-3AD203B41FA5}">
                      <a16:colId xmlns:a16="http://schemas.microsoft.com/office/drawing/2014/main" val="2047124465"/>
                    </a:ext>
                  </a:extLst>
                </a:gridCol>
                <a:gridCol w="899160">
                  <a:extLst>
                    <a:ext uri="{9D8B030D-6E8A-4147-A177-3AD203B41FA5}">
                      <a16:colId xmlns:a16="http://schemas.microsoft.com/office/drawing/2014/main" val="2697540036"/>
                    </a:ext>
                  </a:extLst>
                </a:gridCol>
                <a:gridCol w="899160">
                  <a:extLst>
                    <a:ext uri="{9D8B030D-6E8A-4147-A177-3AD203B41FA5}">
                      <a16:colId xmlns:a16="http://schemas.microsoft.com/office/drawing/2014/main" val="484977570"/>
                    </a:ext>
                  </a:extLst>
                </a:gridCol>
                <a:gridCol w="899160">
                  <a:extLst>
                    <a:ext uri="{9D8B030D-6E8A-4147-A177-3AD203B41FA5}">
                      <a16:colId xmlns:a16="http://schemas.microsoft.com/office/drawing/2014/main" val="289353123"/>
                    </a:ext>
                  </a:extLst>
                </a:gridCol>
                <a:gridCol w="899160">
                  <a:extLst>
                    <a:ext uri="{9D8B030D-6E8A-4147-A177-3AD203B41FA5}">
                      <a16:colId xmlns:a16="http://schemas.microsoft.com/office/drawing/2014/main" val="4184586859"/>
                    </a:ext>
                  </a:extLst>
                </a:gridCol>
              </a:tblGrid>
              <a:tr h="533400">
                <a:tc>
                  <a:txBody>
                    <a:bodyPr/>
                    <a:lstStyle/>
                    <a:p>
                      <a:r>
                        <a:rPr lang="en-US" sz="1100" baseline="0" dirty="0">
                          <a:solidFill>
                            <a:schemeClr val="tx1"/>
                          </a:solidFill>
                        </a:rPr>
                        <a:t>Order #</a:t>
                      </a:r>
                    </a:p>
                  </a:txBody>
                  <a:tcPr>
                    <a:noFill/>
                  </a:tcPr>
                </a:tc>
                <a:tc>
                  <a:txBody>
                    <a:bodyPr/>
                    <a:lstStyle/>
                    <a:p>
                      <a:r>
                        <a:rPr lang="en-US" sz="1100" baseline="0" dirty="0">
                          <a:solidFill>
                            <a:schemeClr val="tx1"/>
                          </a:solidFill>
                        </a:rPr>
                        <a:t>Salesperson</a:t>
                      </a:r>
                    </a:p>
                  </a:txBody>
                  <a:tcPr>
                    <a:noFill/>
                  </a:tcPr>
                </a:tc>
                <a:tc>
                  <a:txBody>
                    <a:bodyPr/>
                    <a:lstStyle/>
                    <a:p>
                      <a:r>
                        <a:rPr lang="en-US" sz="1100" baseline="0" dirty="0">
                          <a:solidFill>
                            <a:schemeClr val="tx1"/>
                          </a:solidFill>
                        </a:rPr>
                        <a:t>Date</a:t>
                      </a:r>
                    </a:p>
                  </a:txBody>
                  <a:tcPr>
                    <a:noFill/>
                  </a:tcPr>
                </a:tc>
                <a:tc>
                  <a:txBody>
                    <a:bodyPr/>
                    <a:lstStyle/>
                    <a:p>
                      <a:r>
                        <a:rPr lang="en-US" sz="1100" baseline="0" dirty="0">
                          <a:solidFill>
                            <a:schemeClr val="tx1"/>
                          </a:solidFill>
                        </a:rPr>
                        <a:t>Customer name</a:t>
                      </a:r>
                    </a:p>
                  </a:txBody>
                  <a:tcPr>
                    <a:noFill/>
                  </a:tcPr>
                </a:tc>
                <a:tc>
                  <a:txBody>
                    <a:bodyPr/>
                    <a:lstStyle/>
                    <a:p>
                      <a:r>
                        <a:rPr lang="en-US" sz="1100" baseline="0" dirty="0">
                          <a:solidFill>
                            <a:schemeClr val="tx1"/>
                          </a:solidFill>
                        </a:rPr>
                        <a:t>Customer contact info</a:t>
                      </a:r>
                    </a:p>
                  </a:txBody>
                  <a:tcPr>
                    <a:noFill/>
                  </a:tcPr>
                </a:tc>
                <a:tc>
                  <a:txBody>
                    <a:bodyPr/>
                    <a:lstStyle/>
                    <a:p>
                      <a:r>
                        <a:rPr lang="en-US" sz="1100" baseline="0" dirty="0">
                          <a:solidFill>
                            <a:schemeClr val="tx1"/>
                          </a:solidFill>
                        </a:rPr>
                        <a:t>Product ID </a:t>
                      </a:r>
                    </a:p>
                  </a:txBody>
                  <a:tcPr>
                    <a:noFill/>
                  </a:tcPr>
                </a:tc>
                <a:tc>
                  <a:txBody>
                    <a:bodyPr/>
                    <a:lstStyle/>
                    <a:p>
                      <a:r>
                        <a:rPr lang="en-US" sz="1100" baseline="0" dirty="0">
                          <a:solidFill>
                            <a:schemeClr val="tx1"/>
                          </a:solidFill>
                        </a:rPr>
                        <a:t>Quantity</a:t>
                      </a:r>
                    </a:p>
                  </a:txBody>
                  <a:tcPr>
                    <a:noFill/>
                  </a:tcPr>
                </a:tc>
                <a:tc>
                  <a:txBody>
                    <a:bodyPr/>
                    <a:lstStyle/>
                    <a:p>
                      <a:r>
                        <a:rPr lang="en-US" sz="1100" baseline="0" dirty="0">
                          <a:solidFill>
                            <a:schemeClr val="tx1"/>
                          </a:solidFill>
                        </a:rPr>
                        <a:t>Supplier</a:t>
                      </a:r>
                    </a:p>
                  </a:txBody>
                  <a:tcPr>
                    <a:noFill/>
                  </a:tcPr>
                </a:tc>
                <a:tc>
                  <a:txBody>
                    <a:bodyPr/>
                    <a:lstStyle/>
                    <a:p>
                      <a:r>
                        <a:rPr lang="en-US" sz="1100" baseline="0" dirty="0">
                          <a:solidFill>
                            <a:schemeClr val="tx1"/>
                          </a:solidFill>
                        </a:rPr>
                        <a:t>Supplier contact</a:t>
                      </a:r>
                    </a:p>
                  </a:txBody>
                  <a:tcPr>
                    <a:noFill/>
                  </a:tcPr>
                </a:tc>
                <a:tc>
                  <a:txBody>
                    <a:bodyPr/>
                    <a:lstStyle/>
                    <a:p>
                      <a:r>
                        <a:rPr lang="en-US" sz="1100" baseline="0" dirty="0">
                          <a:solidFill>
                            <a:schemeClr val="tx1"/>
                          </a:solidFill>
                        </a:rPr>
                        <a:t>price</a:t>
                      </a:r>
                    </a:p>
                  </a:txBody>
                  <a:tcPr>
                    <a:noFill/>
                  </a:tcPr>
                </a:tc>
                <a:extLst>
                  <a:ext uri="{0D108BD9-81ED-4DB2-BD59-A6C34878D82A}">
                    <a16:rowId xmlns:a16="http://schemas.microsoft.com/office/drawing/2014/main" val="1882440174"/>
                  </a:ext>
                </a:extLst>
              </a:tr>
            </a:tbl>
          </a:graphicData>
        </a:graphic>
      </p:graphicFrame>
      <p:cxnSp>
        <p:nvCxnSpPr>
          <p:cNvPr id="5" name="Straight Arrow Connector 4">
            <a:extLst>
              <a:ext uri="{FF2B5EF4-FFF2-40B4-BE49-F238E27FC236}">
                <a16:creationId xmlns:a16="http://schemas.microsoft.com/office/drawing/2014/main" id="{5C031905-95BF-4BAD-80F3-9DCCFE93E18C}"/>
              </a:ext>
            </a:extLst>
          </p:cNvPr>
          <p:cNvCxnSpPr>
            <a:cxnSpLocks/>
          </p:cNvCxnSpPr>
          <p:nvPr/>
        </p:nvCxnSpPr>
        <p:spPr>
          <a:xfrm flipV="1">
            <a:off x="1576629" y="2758577"/>
            <a:ext cx="571500" cy="107473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40ED1DC-A286-4057-9063-B3A56A332656}"/>
              </a:ext>
            </a:extLst>
          </p:cNvPr>
          <p:cNvCxnSpPr>
            <a:cxnSpLocks/>
          </p:cNvCxnSpPr>
          <p:nvPr/>
        </p:nvCxnSpPr>
        <p:spPr>
          <a:xfrm flipH="1" flipV="1">
            <a:off x="700329" y="2842713"/>
            <a:ext cx="666750" cy="9906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88A108E-1305-4D81-AFAF-9023BCD29F3B}"/>
              </a:ext>
            </a:extLst>
          </p:cNvPr>
          <p:cNvCxnSpPr>
            <a:cxnSpLocks/>
          </p:cNvCxnSpPr>
          <p:nvPr/>
        </p:nvCxnSpPr>
        <p:spPr>
          <a:xfrm flipH="1" flipV="1">
            <a:off x="5729529" y="2758576"/>
            <a:ext cx="304800" cy="914400"/>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D5C437C-3C80-4D47-9186-EDBFB99FBE49}"/>
              </a:ext>
            </a:extLst>
          </p:cNvPr>
          <p:cNvCxnSpPr>
            <a:cxnSpLocks/>
          </p:cNvCxnSpPr>
          <p:nvPr/>
        </p:nvCxnSpPr>
        <p:spPr>
          <a:xfrm flipH="1" flipV="1">
            <a:off x="1271829" y="2758576"/>
            <a:ext cx="190500" cy="9906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081ED9C-232C-4E76-8B36-6C8291CE4D68}"/>
              </a:ext>
            </a:extLst>
          </p:cNvPr>
          <p:cNvCxnSpPr>
            <a:cxnSpLocks/>
          </p:cNvCxnSpPr>
          <p:nvPr/>
        </p:nvCxnSpPr>
        <p:spPr>
          <a:xfrm flipV="1">
            <a:off x="7659868" y="2758576"/>
            <a:ext cx="88961" cy="9144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9C424F6-5CD8-4612-ABC9-4323C54CB277}"/>
              </a:ext>
            </a:extLst>
          </p:cNvPr>
          <p:cNvCxnSpPr>
            <a:cxnSpLocks/>
          </p:cNvCxnSpPr>
          <p:nvPr/>
        </p:nvCxnSpPr>
        <p:spPr>
          <a:xfrm flipV="1">
            <a:off x="6110529" y="2758576"/>
            <a:ext cx="2236248" cy="990600"/>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6CBCF50-7998-4C05-99E0-B3F4FCB0B25B}"/>
              </a:ext>
            </a:extLst>
          </p:cNvPr>
          <p:cNvCxnSpPr>
            <a:cxnSpLocks/>
          </p:cNvCxnSpPr>
          <p:nvPr/>
        </p:nvCxnSpPr>
        <p:spPr>
          <a:xfrm flipH="1" flipV="1">
            <a:off x="4999156" y="2796676"/>
            <a:ext cx="958973" cy="952500"/>
          </a:xfrm>
          <a:prstGeom prst="straightConnector1">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0ABFBA5-3E44-413B-8399-C390FBBA24C8}"/>
              </a:ext>
            </a:extLst>
          </p:cNvPr>
          <p:cNvCxnSpPr>
            <a:cxnSpLocks/>
          </p:cNvCxnSpPr>
          <p:nvPr/>
        </p:nvCxnSpPr>
        <p:spPr>
          <a:xfrm flipH="1" flipV="1">
            <a:off x="6796329" y="2758576"/>
            <a:ext cx="647700" cy="9906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032FFB2-83B9-4D48-B6F1-9D3D59CFF91B}"/>
              </a:ext>
            </a:extLst>
          </p:cNvPr>
          <p:cNvCxnSpPr>
            <a:cxnSpLocks/>
          </p:cNvCxnSpPr>
          <p:nvPr/>
        </p:nvCxnSpPr>
        <p:spPr>
          <a:xfrm flipH="1" flipV="1">
            <a:off x="2992987" y="2734616"/>
            <a:ext cx="374342" cy="86216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1AC41DF-8F46-4427-8785-AFEF59B9F7E6}"/>
              </a:ext>
            </a:extLst>
          </p:cNvPr>
          <p:cNvCxnSpPr>
            <a:cxnSpLocks/>
          </p:cNvCxnSpPr>
          <p:nvPr/>
        </p:nvCxnSpPr>
        <p:spPr>
          <a:xfrm flipV="1">
            <a:off x="3519729" y="2731657"/>
            <a:ext cx="441479" cy="865119"/>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E69A193-D473-4E90-A453-C683D6EC78FE}"/>
              </a:ext>
            </a:extLst>
          </p:cNvPr>
          <p:cNvSpPr txBox="1"/>
          <p:nvPr/>
        </p:nvSpPr>
        <p:spPr>
          <a:xfrm>
            <a:off x="852729" y="3907412"/>
            <a:ext cx="1046769" cy="646331"/>
          </a:xfrm>
          <a:prstGeom prst="rect">
            <a:avLst/>
          </a:prstGeom>
          <a:noFill/>
          <a:ln w="34925">
            <a:solidFill>
              <a:schemeClr val="accent1"/>
            </a:solidFill>
          </a:ln>
        </p:spPr>
        <p:txBody>
          <a:bodyPr wrap="square" rtlCol="0">
            <a:spAutoFit/>
          </a:bodyPr>
          <a:lstStyle/>
          <a:p>
            <a:pPr defTabSz="914400"/>
            <a:r>
              <a:rPr lang="en-US" dirty="0">
                <a:solidFill>
                  <a:srgbClr val="292934"/>
                </a:solidFill>
                <a:latin typeface="Arial"/>
              </a:rPr>
              <a:t>Order Details</a:t>
            </a:r>
          </a:p>
        </p:txBody>
      </p:sp>
      <p:sp>
        <p:nvSpPr>
          <p:cNvPr id="36" name="TextBox 35">
            <a:extLst>
              <a:ext uri="{FF2B5EF4-FFF2-40B4-BE49-F238E27FC236}">
                <a16:creationId xmlns:a16="http://schemas.microsoft.com/office/drawing/2014/main" id="{D0341AE4-249B-43E8-9757-6A4971938847}"/>
              </a:ext>
            </a:extLst>
          </p:cNvPr>
          <p:cNvSpPr txBox="1"/>
          <p:nvPr/>
        </p:nvSpPr>
        <p:spPr>
          <a:xfrm>
            <a:off x="5424729" y="3814771"/>
            <a:ext cx="1219200" cy="369332"/>
          </a:xfrm>
          <a:prstGeom prst="rect">
            <a:avLst/>
          </a:prstGeom>
          <a:noFill/>
          <a:ln w="34925">
            <a:solidFill>
              <a:schemeClr val="accent2">
                <a:lumMod val="75000"/>
              </a:schemeClr>
            </a:solidFill>
          </a:ln>
        </p:spPr>
        <p:txBody>
          <a:bodyPr wrap="square" rtlCol="0">
            <a:spAutoFit/>
          </a:bodyPr>
          <a:lstStyle/>
          <a:p>
            <a:pPr defTabSz="914400"/>
            <a:r>
              <a:rPr lang="en-US" b="1" dirty="0">
                <a:solidFill>
                  <a:srgbClr val="292934"/>
                </a:solidFill>
                <a:latin typeface="Arial"/>
              </a:rPr>
              <a:t>Products</a:t>
            </a:r>
          </a:p>
        </p:txBody>
      </p:sp>
      <p:sp>
        <p:nvSpPr>
          <p:cNvPr id="37" name="TextBox 36">
            <a:extLst>
              <a:ext uri="{FF2B5EF4-FFF2-40B4-BE49-F238E27FC236}">
                <a16:creationId xmlns:a16="http://schemas.microsoft.com/office/drawing/2014/main" id="{84983A43-9B92-40DA-B45C-7397CE1710D0}"/>
              </a:ext>
            </a:extLst>
          </p:cNvPr>
          <p:cNvSpPr txBox="1"/>
          <p:nvPr/>
        </p:nvSpPr>
        <p:spPr>
          <a:xfrm>
            <a:off x="2992987" y="3657600"/>
            <a:ext cx="1225119" cy="369332"/>
          </a:xfrm>
          <a:prstGeom prst="rect">
            <a:avLst/>
          </a:prstGeom>
          <a:noFill/>
          <a:ln w="34925">
            <a:solidFill>
              <a:schemeClr val="accent6">
                <a:lumMod val="75000"/>
              </a:schemeClr>
            </a:solidFill>
          </a:ln>
        </p:spPr>
        <p:txBody>
          <a:bodyPr wrap="square" rtlCol="0">
            <a:spAutoFit/>
          </a:bodyPr>
          <a:lstStyle/>
          <a:p>
            <a:pPr defTabSz="914400"/>
            <a:r>
              <a:rPr lang="en-US" dirty="0">
                <a:solidFill>
                  <a:srgbClr val="292934"/>
                </a:solidFill>
                <a:latin typeface="Arial"/>
              </a:rPr>
              <a:t>Customer</a:t>
            </a:r>
          </a:p>
        </p:txBody>
      </p:sp>
      <p:sp>
        <p:nvSpPr>
          <p:cNvPr id="38" name="TextBox 37">
            <a:extLst>
              <a:ext uri="{FF2B5EF4-FFF2-40B4-BE49-F238E27FC236}">
                <a16:creationId xmlns:a16="http://schemas.microsoft.com/office/drawing/2014/main" id="{C77B77FE-50FD-4183-A6F8-9C55B7AEDBC1}"/>
              </a:ext>
            </a:extLst>
          </p:cNvPr>
          <p:cNvSpPr txBox="1"/>
          <p:nvPr/>
        </p:nvSpPr>
        <p:spPr>
          <a:xfrm>
            <a:off x="7054198" y="3817128"/>
            <a:ext cx="1211340" cy="369332"/>
          </a:xfrm>
          <a:prstGeom prst="rect">
            <a:avLst/>
          </a:prstGeom>
          <a:noFill/>
          <a:ln w="34925">
            <a:solidFill>
              <a:srgbClr val="00B0F0"/>
            </a:solidFill>
          </a:ln>
        </p:spPr>
        <p:txBody>
          <a:bodyPr wrap="square" rtlCol="0">
            <a:spAutoFit/>
          </a:bodyPr>
          <a:lstStyle/>
          <a:p>
            <a:pPr defTabSz="914400"/>
            <a:r>
              <a:rPr lang="en-US" dirty="0">
                <a:solidFill>
                  <a:srgbClr val="292934"/>
                </a:solidFill>
                <a:latin typeface="Arial"/>
              </a:rPr>
              <a:t>Suppliers</a:t>
            </a:r>
          </a:p>
        </p:txBody>
      </p:sp>
      <p:sp>
        <p:nvSpPr>
          <p:cNvPr id="23" name="Title 1"/>
          <p:cNvSpPr txBox="1">
            <a:spLocks/>
          </p:cNvSpPr>
          <p:nvPr/>
        </p:nvSpPr>
        <p:spPr>
          <a:xfrm>
            <a:off x="457200" y="533400"/>
            <a:ext cx="4572000" cy="1600200"/>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dirty="0">
                <a:solidFill>
                  <a:srgbClr val="D2533C"/>
                </a:solidFill>
                <a:latin typeface="Arial"/>
              </a:rPr>
              <a:t>II. Find &amp; organize </a:t>
            </a:r>
            <a:r>
              <a:rPr lang="en-US" b="1" dirty="0">
                <a:solidFill>
                  <a:srgbClr val="D2533C"/>
                </a:solidFill>
                <a:latin typeface="Arial"/>
              </a:rPr>
              <a:t>information </a:t>
            </a:r>
            <a:r>
              <a:rPr lang="en-US" dirty="0">
                <a:solidFill>
                  <a:srgbClr val="D2533C"/>
                </a:solidFill>
                <a:latin typeface="Arial"/>
              </a:rPr>
              <a:t>required</a:t>
            </a:r>
          </a:p>
        </p:txBody>
      </p:sp>
      <p:sp>
        <p:nvSpPr>
          <p:cNvPr id="24" name="Content Placeholder 2"/>
          <p:cNvSpPr txBox="1">
            <a:spLocks/>
          </p:cNvSpPr>
          <p:nvPr/>
        </p:nvSpPr>
        <p:spPr>
          <a:xfrm>
            <a:off x="5281947" y="378852"/>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25" name="Rectangle 24"/>
          <p:cNvSpPr/>
          <p:nvPr/>
        </p:nvSpPr>
        <p:spPr>
          <a:xfrm>
            <a:off x="5281947" y="703509"/>
            <a:ext cx="37719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933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9</a:t>
            </a:fld>
            <a:endParaRPr lang="en-US">
              <a:latin typeface="Arial"/>
            </a:endParaRPr>
          </a:p>
        </p:txBody>
      </p:sp>
      <p:sp>
        <p:nvSpPr>
          <p:cNvPr id="6" name="Title 1"/>
          <p:cNvSpPr txBox="1">
            <a:spLocks/>
          </p:cNvSpPr>
          <p:nvPr/>
        </p:nvSpPr>
        <p:spPr>
          <a:xfrm>
            <a:off x="457200" y="533400"/>
            <a:ext cx="4572000" cy="1600200"/>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dirty="0">
                <a:solidFill>
                  <a:srgbClr val="D2533C"/>
                </a:solidFill>
                <a:latin typeface="Arial"/>
              </a:rPr>
              <a:t>II. Find &amp; organize </a:t>
            </a:r>
            <a:r>
              <a:rPr lang="en-US" b="1" dirty="0">
                <a:solidFill>
                  <a:srgbClr val="D2533C"/>
                </a:solidFill>
                <a:latin typeface="Arial"/>
              </a:rPr>
              <a:t>information </a:t>
            </a:r>
            <a:r>
              <a:rPr lang="en-US" dirty="0">
                <a:solidFill>
                  <a:srgbClr val="D2533C"/>
                </a:solidFill>
                <a:latin typeface="Arial"/>
              </a:rPr>
              <a:t>required</a:t>
            </a:r>
          </a:p>
        </p:txBody>
      </p:sp>
      <p:sp>
        <p:nvSpPr>
          <p:cNvPr id="7" name="Content Placeholder 2"/>
          <p:cNvSpPr txBox="1">
            <a:spLocks/>
          </p:cNvSpPr>
          <p:nvPr/>
        </p:nvSpPr>
        <p:spPr>
          <a:xfrm>
            <a:off x="5281947" y="53340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8" name="Rectangle 7"/>
          <p:cNvSpPr/>
          <p:nvPr/>
        </p:nvSpPr>
        <p:spPr>
          <a:xfrm>
            <a:off x="5281947" y="894009"/>
            <a:ext cx="37719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p:cNvGraphicFramePr>
            <a:graphicFrameLocks noGrp="1"/>
          </p:cNvGraphicFramePr>
          <p:nvPr>
            <p:extLst>
              <p:ext uri="{D42A27DB-BD31-4B8C-83A1-F6EECF244321}">
                <p14:modId xmlns:p14="http://schemas.microsoft.com/office/powerpoint/2010/main" val="2164683202"/>
              </p:ext>
            </p:extLst>
          </p:nvPr>
        </p:nvGraphicFramePr>
        <p:xfrm>
          <a:off x="457200" y="2332495"/>
          <a:ext cx="8236576" cy="4419600"/>
        </p:xfrm>
        <a:graphic>
          <a:graphicData uri="http://schemas.openxmlformats.org/drawingml/2006/table">
            <a:tbl>
              <a:tblPr firstRow="1" bandRow="1">
                <a:tableStyleId>{5940675A-B579-460E-94D1-54222C63F5DA}</a:tableStyleId>
              </a:tblPr>
              <a:tblGrid>
                <a:gridCol w="2372396">
                  <a:extLst>
                    <a:ext uri="{9D8B030D-6E8A-4147-A177-3AD203B41FA5}">
                      <a16:colId xmlns:a16="http://schemas.microsoft.com/office/drawing/2014/main" val="3990910336"/>
                    </a:ext>
                  </a:extLst>
                </a:gridCol>
                <a:gridCol w="5864180">
                  <a:extLst>
                    <a:ext uri="{9D8B030D-6E8A-4147-A177-3AD203B41FA5}">
                      <a16:colId xmlns:a16="http://schemas.microsoft.com/office/drawing/2014/main" val="4049654639"/>
                    </a:ext>
                  </a:extLst>
                </a:gridCol>
              </a:tblGrid>
              <a:tr h="370840">
                <a:tc>
                  <a:txBody>
                    <a:bodyPr/>
                    <a:lstStyle/>
                    <a:p>
                      <a:r>
                        <a:rPr lang="en-US" sz="2000" b="1" u="none" dirty="0"/>
                        <a:t>Entity</a:t>
                      </a:r>
                    </a:p>
                  </a:txBody>
                  <a:tcPr/>
                </a:tc>
                <a:tc>
                  <a:txBody>
                    <a:bodyPr/>
                    <a:lstStyle/>
                    <a:p>
                      <a:r>
                        <a:rPr lang="en-US" sz="2000" b="1" u="none" dirty="0"/>
                        <a:t>Attributes</a:t>
                      </a:r>
                    </a:p>
                  </a:txBody>
                  <a:tcPr/>
                </a:tc>
                <a:extLst>
                  <a:ext uri="{0D108BD9-81ED-4DB2-BD59-A6C34878D82A}">
                    <a16:rowId xmlns:a16="http://schemas.microsoft.com/office/drawing/2014/main" val="3222782438"/>
                  </a:ext>
                </a:extLst>
              </a:tr>
              <a:tr h="1005840">
                <a:tc>
                  <a:txBody>
                    <a:bodyPr/>
                    <a:lstStyle/>
                    <a:p>
                      <a:pPr lvl="0" algn="l"/>
                      <a:r>
                        <a:rPr lang="en-US" sz="2000" u="none" kern="1200" dirty="0">
                          <a:solidFill>
                            <a:schemeClr val="tx1"/>
                          </a:solidFill>
                          <a:latin typeface="+mn-lt"/>
                          <a:ea typeface="+mn-ea"/>
                          <a:cs typeface="+mn-cs"/>
                        </a:rPr>
                        <a:t>Customer</a:t>
                      </a:r>
                    </a:p>
                  </a:txBody>
                  <a:tcPr/>
                </a:tc>
                <a:tc>
                  <a:txBody>
                    <a:bodyPr/>
                    <a:lstStyle/>
                    <a:p>
                      <a:endParaRPr lang="en-US" dirty="0"/>
                    </a:p>
                  </a:txBody>
                  <a:tcPr/>
                </a:tc>
                <a:extLst>
                  <a:ext uri="{0D108BD9-81ED-4DB2-BD59-A6C34878D82A}">
                    <a16:rowId xmlns:a16="http://schemas.microsoft.com/office/drawing/2014/main" val="277006825"/>
                  </a:ext>
                </a:extLst>
              </a:tr>
              <a:tr h="1005840">
                <a:tc>
                  <a:txBody>
                    <a:bodyPr/>
                    <a:lstStyle/>
                    <a:p>
                      <a:pPr algn="l"/>
                      <a:r>
                        <a:rPr lang="en-US" sz="2000" u="none" kern="1200" dirty="0">
                          <a:solidFill>
                            <a:schemeClr val="tx1"/>
                          </a:solidFill>
                          <a:latin typeface="+mn-lt"/>
                          <a:ea typeface="+mn-ea"/>
                          <a:cs typeface="+mn-cs"/>
                        </a:rPr>
                        <a:t>Product</a:t>
                      </a:r>
                    </a:p>
                  </a:txBody>
                  <a:tcPr/>
                </a:tc>
                <a:tc>
                  <a:txBody>
                    <a:bodyPr/>
                    <a:lstStyle/>
                    <a:p>
                      <a:endParaRPr lang="en-US"/>
                    </a:p>
                  </a:txBody>
                  <a:tcPr/>
                </a:tc>
                <a:extLst>
                  <a:ext uri="{0D108BD9-81ED-4DB2-BD59-A6C34878D82A}">
                    <a16:rowId xmlns:a16="http://schemas.microsoft.com/office/drawing/2014/main" val="114974807"/>
                  </a:ext>
                </a:extLst>
              </a:tr>
              <a:tr h="1005840">
                <a:tc>
                  <a:txBody>
                    <a:bodyPr/>
                    <a:lstStyle/>
                    <a:p>
                      <a:pPr algn="l"/>
                      <a:r>
                        <a:rPr lang="en-US" sz="2000" u="none" kern="1200" dirty="0">
                          <a:solidFill>
                            <a:schemeClr val="tx1"/>
                          </a:solidFill>
                          <a:latin typeface="+mn-lt"/>
                          <a:ea typeface="+mn-ea"/>
                          <a:cs typeface="+mn-cs"/>
                        </a:rPr>
                        <a:t>Suppliers</a:t>
                      </a:r>
                    </a:p>
                  </a:txBody>
                  <a:tcPr/>
                </a:tc>
                <a:tc>
                  <a:txBody>
                    <a:bodyPr/>
                    <a:lstStyle/>
                    <a:p>
                      <a:endParaRPr lang="en-US"/>
                    </a:p>
                  </a:txBody>
                  <a:tcPr/>
                </a:tc>
                <a:extLst>
                  <a:ext uri="{0D108BD9-81ED-4DB2-BD59-A6C34878D82A}">
                    <a16:rowId xmlns:a16="http://schemas.microsoft.com/office/drawing/2014/main" val="4051009486"/>
                  </a:ext>
                </a:extLst>
              </a:tr>
              <a:tr h="1005840">
                <a:tc>
                  <a:txBody>
                    <a:bodyPr/>
                    <a:lstStyle/>
                    <a:p>
                      <a:pPr algn="l"/>
                      <a:r>
                        <a:rPr lang="en-US" sz="2000" u="none" kern="1200" dirty="0">
                          <a:solidFill>
                            <a:schemeClr val="tx1"/>
                          </a:solidFill>
                          <a:latin typeface="+mn-lt"/>
                          <a:ea typeface="+mn-ea"/>
                          <a:cs typeface="+mn-cs"/>
                        </a:rPr>
                        <a:t>Orders</a:t>
                      </a:r>
                    </a:p>
                  </a:txBody>
                  <a:tcPr/>
                </a:tc>
                <a:tc>
                  <a:txBody>
                    <a:bodyPr/>
                    <a:lstStyle/>
                    <a:p>
                      <a:endParaRPr lang="en-US" dirty="0"/>
                    </a:p>
                  </a:txBody>
                  <a:tcPr/>
                </a:tc>
                <a:extLst>
                  <a:ext uri="{0D108BD9-81ED-4DB2-BD59-A6C34878D82A}">
                    <a16:rowId xmlns:a16="http://schemas.microsoft.com/office/drawing/2014/main" val="1920324238"/>
                  </a:ext>
                </a:extLst>
              </a:tr>
            </a:tbl>
          </a:graphicData>
        </a:graphic>
      </p:graphicFrame>
    </p:spTree>
    <p:extLst>
      <p:ext uri="{BB962C8B-B14F-4D97-AF65-F5344CB8AC3E}">
        <p14:creationId xmlns:p14="http://schemas.microsoft.com/office/powerpoint/2010/main" val="1499413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10</a:t>
            </a:fld>
            <a:endParaRPr lang="en-US">
              <a:latin typeface="Arial"/>
            </a:endParaRPr>
          </a:p>
        </p:txBody>
      </p:sp>
      <p:sp>
        <p:nvSpPr>
          <p:cNvPr id="6" name="Title 1"/>
          <p:cNvSpPr txBox="1">
            <a:spLocks/>
          </p:cNvSpPr>
          <p:nvPr/>
        </p:nvSpPr>
        <p:spPr>
          <a:xfrm>
            <a:off x="457200" y="533400"/>
            <a:ext cx="4572000" cy="1600200"/>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dirty="0">
                <a:solidFill>
                  <a:srgbClr val="D2533C"/>
                </a:solidFill>
                <a:latin typeface="Arial"/>
              </a:rPr>
              <a:t>II. Find &amp; organize </a:t>
            </a:r>
            <a:r>
              <a:rPr lang="en-US" b="1" dirty="0">
                <a:solidFill>
                  <a:srgbClr val="D2533C"/>
                </a:solidFill>
                <a:latin typeface="Arial"/>
              </a:rPr>
              <a:t>information </a:t>
            </a:r>
            <a:r>
              <a:rPr lang="en-US" dirty="0">
                <a:solidFill>
                  <a:srgbClr val="D2533C"/>
                </a:solidFill>
                <a:latin typeface="Arial"/>
              </a:rPr>
              <a:t>required</a:t>
            </a:r>
          </a:p>
        </p:txBody>
      </p:sp>
      <p:sp>
        <p:nvSpPr>
          <p:cNvPr id="7" name="Content Placeholder 2"/>
          <p:cNvSpPr txBox="1">
            <a:spLocks/>
          </p:cNvSpPr>
          <p:nvPr/>
        </p:nvSpPr>
        <p:spPr>
          <a:xfrm>
            <a:off x="5281947" y="53340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8" name="Rectangle 7"/>
          <p:cNvSpPr/>
          <p:nvPr/>
        </p:nvSpPr>
        <p:spPr>
          <a:xfrm>
            <a:off x="5281947" y="894009"/>
            <a:ext cx="37719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p:cNvGraphicFramePr>
            <a:graphicFrameLocks noGrp="1"/>
          </p:cNvGraphicFramePr>
          <p:nvPr>
            <p:extLst>
              <p:ext uri="{D42A27DB-BD31-4B8C-83A1-F6EECF244321}">
                <p14:modId xmlns:p14="http://schemas.microsoft.com/office/powerpoint/2010/main" val="4152140056"/>
              </p:ext>
            </p:extLst>
          </p:nvPr>
        </p:nvGraphicFramePr>
        <p:xfrm>
          <a:off x="457200" y="2332495"/>
          <a:ext cx="8236576" cy="4419600"/>
        </p:xfrm>
        <a:graphic>
          <a:graphicData uri="http://schemas.openxmlformats.org/drawingml/2006/table">
            <a:tbl>
              <a:tblPr firstRow="1" bandRow="1">
                <a:tableStyleId>{5940675A-B579-460E-94D1-54222C63F5DA}</a:tableStyleId>
              </a:tblPr>
              <a:tblGrid>
                <a:gridCol w="2372396">
                  <a:extLst>
                    <a:ext uri="{9D8B030D-6E8A-4147-A177-3AD203B41FA5}">
                      <a16:colId xmlns:a16="http://schemas.microsoft.com/office/drawing/2014/main" val="3990910336"/>
                    </a:ext>
                  </a:extLst>
                </a:gridCol>
                <a:gridCol w="5864180">
                  <a:extLst>
                    <a:ext uri="{9D8B030D-6E8A-4147-A177-3AD203B41FA5}">
                      <a16:colId xmlns:a16="http://schemas.microsoft.com/office/drawing/2014/main" val="4049654639"/>
                    </a:ext>
                  </a:extLst>
                </a:gridCol>
              </a:tblGrid>
              <a:tr h="370840">
                <a:tc>
                  <a:txBody>
                    <a:bodyPr/>
                    <a:lstStyle/>
                    <a:p>
                      <a:r>
                        <a:rPr lang="en-US" sz="2000" b="1" u="none" dirty="0"/>
                        <a:t>Entity</a:t>
                      </a:r>
                    </a:p>
                  </a:txBody>
                  <a:tcPr/>
                </a:tc>
                <a:tc>
                  <a:txBody>
                    <a:bodyPr/>
                    <a:lstStyle/>
                    <a:p>
                      <a:r>
                        <a:rPr lang="en-US" sz="2000" b="1" u="none" dirty="0"/>
                        <a:t>Attributes</a:t>
                      </a:r>
                    </a:p>
                  </a:txBody>
                  <a:tcPr/>
                </a:tc>
                <a:extLst>
                  <a:ext uri="{0D108BD9-81ED-4DB2-BD59-A6C34878D82A}">
                    <a16:rowId xmlns:a16="http://schemas.microsoft.com/office/drawing/2014/main" val="3222782438"/>
                  </a:ext>
                </a:extLst>
              </a:tr>
              <a:tr h="1005840">
                <a:tc>
                  <a:txBody>
                    <a:bodyPr/>
                    <a:lstStyle/>
                    <a:p>
                      <a:pPr lvl="0" algn="l"/>
                      <a:r>
                        <a:rPr lang="en-US" sz="2000" u="none" kern="1200" dirty="0">
                          <a:solidFill>
                            <a:schemeClr val="tx1"/>
                          </a:solidFill>
                          <a:latin typeface="+mn-lt"/>
                          <a:ea typeface="+mn-ea"/>
                          <a:cs typeface="+mn-cs"/>
                        </a:rPr>
                        <a:t>Customer</a:t>
                      </a:r>
                    </a:p>
                  </a:txBody>
                  <a:tcPr/>
                </a:tc>
                <a:tc>
                  <a:txBody>
                    <a:bodyPr/>
                    <a:lstStyle/>
                    <a:p>
                      <a:pPr lvl="0" algn="l"/>
                      <a:r>
                        <a:rPr lang="en-US" sz="2000" u="none" kern="1200" dirty="0">
                          <a:solidFill>
                            <a:schemeClr val="tx1"/>
                          </a:solidFill>
                          <a:latin typeface="+mn-lt"/>
                          <a:ea typeface="+mn-ea"/>
                          <a:cs typeface="+mn-cs"/>
                        </a:rPr>
                        <a:t>name, salutation, address, phone #</a:t>
                      </a:r>
                    </a:p>
                  </a:txBody>
                  <a:tcPr/>
                </a:tc>
                <a:extLst>
                  <a:ext uri="{0D108BD9-81ED-4DB2-BD59-A6C34878D82A}">
                    <a16:rowId xmlns:a16="http://schemas.microsoft.com/office/drawing/2014/main" val="277006825"/>
                  </a:ext>
                </a:extLst>
              </a:tr>
              <a:tr h="1005840">
                <a:tc>
                  <a:txBody>
                    <a:bodyPr/>
                    <a:lstStyle/>
                    <a:p>
                      <a:pPr algn="l"/>
                      <a:r>
                        <a:rPr lang="en-US" sz="2000" u="none" kern="1200" dirty="0">
                          <a:solidFill>
                            <a:schemeClr val="tx1"/>
                          </a:solidFill>
                          <a:latin typeface="+mn-lt"/>
                          <a:ea typeface="+mn-ea"/>
                          <a:cs typeface="+mn-cs"/>
                        </a:rPr>
                        <a:t>Product</a:t>
                      </a:r>
                    </a:p>
                  </a:txBody>
                  <a:tcPr/>
                </a:tc>
                <a:tc>
                  <a:txBody>
                    <a:bodyPr/>
                    <a:lstStyle/>
                    <a:p>
                      <a:pPr algn="l"/>
                      <a:r>
                        <a:rPr lang="en-US" sz="2000" u="none" kern="1200" dirty="0">
                          <a:solidFill>
                            <a:schemeClr val="tx1"/>
                          </a:solidFill>
                          <a:latin typeface="+mn-lt"/>
                          <a:ea typeface="+mn-ea"/>
                          <a:cs typeface="+mn-cs"/>
                        </a:rPr>
                        <a:t>product name, price, units in stock, units on order</a:t>
                      </a:r>
                    </a:p>
                  </a:txBody>
                  <a:tcPr/>
                </a:tc>
                <a:extLst>
                  <a:ext uri="{0D108BD9-81ED-4DB2-BD59-A6C34878D82A}">
                    <a16:rowId xmlns:a16="http://schemas.microsoft.com/office/drawing/2014/main" val="114974807"/>
                  </a:ext>
                </a:extLst>
              </a:tr>
              <a:tr h="1005840">
                <a:tc>
                  <a:txBody>
                    <a:bodyPr/>
                    <a:lstStyle/>
                    <a:p>
                      <a:pPr algn="l"/>
                      <a:r>
                        <a:rPr lang="en-US" sz="2000" u="none" kern="1200" dirty="0">
                          <a:solidFill>
                            <a:schemeClr val="tx1"/>
                          </a:solidFill>
                          <a:latin typeface="+mn-lt"/>
                          <a:ea typeface="+mn-ea"/>
                          <a:cs typeface="+mn-cs"/>
                        </a:rPr>
                        <a:t>Suppliers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u="none" kern="1200" dirty="0">
                          <a:solidFill>
                            <a:schemeClr val="tx1"/>
                          </a:solidFill>
                          <a:latin typeface="+mn-lt"/>
                          <a:ea typeface="+mn-ea"/>
                          <a:cs typeface="+mn-cs"/>
                        </a:rPr>
                        <a:t>company name, contact name, address</a:t>
                      </a:r>
                    </a:p>
                    <a:p>
                      <a:pPr algn="l"/>
                      <a:endParaRPr lang="en-US" sz="2000" u="none" kern="1200" dirty="0">
                        <a:solidFill>
                          <a:schemeClr val="tx1"/>
                        </a:solidFill>
                        <a:latin typeface="+mn-lt"/>
                        <a:ea typeface="+mn-ea"/>
                        <a:cs typeface="+mn-cs"/>
                      </a:endParaRPr>
                    </a:p>
                  </a:txBody>
                  <a:tcPr/>
                </a:tc>
                <a:extLst>
                  <a:ext uri="{0D108BD9-81ED-4DB2-BD59-A6C34878D82A}">
                    <a16:rowId xmlns:a16="http://schemas.microsoft.com/office/drawing/2014/main" val="4051009486"/>
                  </a:ext>
                </a:extLst>
              </a:tr>
              <a:tr h="1005840">
                <a:tc>
                  <a:txBody>
                    <a:bodyPr/>
                    <a:lstStyle/>
                    <a:p>
                      <a:pPr algn="l"/>
                      <a:r>
                        <a:rPr lang="en-US" sz="2000" u="none" kern="1200" dirty="0">
                          <a:solidFill>
                            <a:schemeClr val="tx1"/>
                          </a:solidFill>
                          <a:latin typeface="+mn-lt"/>
                          <a:ea typeface="+mn-ea"/>
                          <a:cs typeface="+mn-cs"/>
                        </a:rPr>
                        <a:t>Orders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u="none" kern="1200" dirty="0">
                          <a:solidFill>
                            <a:schemeClr val="tx1"/>
                          </a:solidFill>
                          <a:latin typeface="+mn-lt"/>
                          <a:ea typeface="+mn-ea"/>
                          <a:cs typeface="+mn-cs"/>
                        </a:rPr>
                        <a:t>order ID, salesperson, date, product name, quantity, product price</a:t>
                      </a:r>
                    </a:p>
                    <a:p>
                      <a:pPr algn="l"/>
                      <a:endParaRPr lang="en-US" sz="2000" u="none" kern="1200" dirty="0">
                        <a:solidFill>
                          <a:schemeClr val="tx1"/>
                        </a:solidFill>
                        <a:latin typeface="+mn-lt"/>
                        <a:ea typeface="+mn-ea"/>
                        <a:cs typeface="+mn-cs"/>
                      </a:endParaRPr>
                    </a:p>
                  </a:txBody>
                  <a:tcPr/>
                </a:tc>
                <a:extLst>
                  <a:ext uri="{0D108BD9-81ED-4DB2-BD59-A6C34878D82A}">
                    <a16:rowId xmlns:a16="http://schemas.microsoft.com/office/drawing/2014/main" val="1920324238"/>
                  </a:ext>
                </a:extLst>
              </a:tr>
            </a:tbl>
          </a:graphicData>
        </a:graphic>
      </p:graphicFrame>
    </p:spTree>
    <p:extLst>
      <p:ext uri="{BB962C8B-B14F-4D97-AF65-F5344CB8AC3E}">
        <p14:creationId xmlns:p14="http://schemas.microsoft.com/office/powerpoint/2010/main" val="2045002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11</a:t>
            </a:fld>
            <a:endParaRPr lang="en-US">
              <a:latin typeface="Arial"/>
            </a:endParaRPr>
          </a:p>
        </p:txBody>
      </p:sp>
      <p:sp>
        <p:nvSpPr>
          <p:cNvPr id="7" name="Title 1"/>
          <p:cNvSpPr txBox="1">
            <a:spLocks/>
          </p:cNvSpPr>
          <p:nvPr/>
        </p:nvSpPr>
        <p:spPr>
          <a:xfrm>
            <a:off x="152400" y="399068"/>
            <a:ext cx="4610886" cy="1400988"/>
          </a:xfrm>
          <a:prstGeom prst="rect">
            <a:avLst/>
          </a:prstGeom>
        </p:spPr>
        <p:txBody>
          <a:bodyPr vert="horz" lIns="91440" tIns="45720" rIns="91440" bIns="45720" rtlCol="0" anchor="ctr">
            <a:normAutofit fontScale="90000" lnSpcReduction="2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600" dirty="0">
                <a:solidFill>
                  <a:srgbClr val="D2533C"/>
                </a:solidFill>
                <a:latin typeface="Arial"/>
              </a:rPr>
              <a:t>III.</a:t>
            </a:r>
            <a:r>
              <a:rPr lang="en-US" sz="3600" dirty="0"/>
              <a:t> Create </a:t>
            </a:r>
            <a:r>
              <a:rPr lang="en-US" sz="3600" b="1" dirty="0"/>
              <a:t>Entity-Relationship </a:t>
            </a:r>
            <a:r>
              <a:rPr lang="en-US" sz="3600" dirty="0"/>
              <a:t>(E-R) diagram</a:t>
            </a:r>
            <a:endParaRPr lang="en-US" sz="3600" dirty="0">
              <a:solidFill>
                <a:srgbClr val="D2533C"/>
              </a:solidFill>
              <a:latin typeface="Arial"/>
            </a:endParaRPr>
          </a:p>
        </p:txBody>
      </p:sp>
      <p:sp>
        <p:nvSpPr>
          <p:cNvPr id="8" name="Content Placeholder 2"/>
          <p:cNvSpPr txBox="1">
            <a:spLocks/>
          </p:cNvSpPr>
          <p:nvPr/>
        </p:nvSpPr>
        <p:spPr>
          <a:xfrm>
            <a:off x="4792550" y="53340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9" name="Rectangle 8"/>
          <p:cNvSpPr/>
          <p:nvPr/>
        </p:nvSpPr>
        <p:spPr>
          <a:xfrm>
            <a:off x="5281947" y="1225970"/>
            <a:ext cx="37719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305635" y="1735520"/>
            <a:ext cx="3995909" cy="646331"/>
          </a:xfrm>
          <a:prstGeom prst="rect">
            <a:avLst/>
          </a:prstGeom>
          <a:noFill/>
        </p:spPr>
        <p:txBody>
          <a:bodyPr wrap="square" rtlCol="0">
            <a:spAutoFit/>
          </a:bodyPr>
          <a:lstStyle/>
          <a:p>
            <a:r>
              <a:rPr lang="en-US" b="1" i="1" dirty="0"/>
              <a:t>When we’re done, it will look something like this:</a:t>
            </a:r>
          </a:p>
        </p:txBody>
      </p:sp>
      <p:pic>
        <p:nvPicPr>
          <p:cNvPr id="48" name="Picture 47"/>
          <p:cNvPicPr>
            <a:picLocks noChangeAspect="1"/>
          </p:cNvPicPr>
          <p:nvPr/>
        </p:nvPicPr>
        <p:blipFill rotWithShape="1">
          <a:blip r:embed="rId2"/>
          <a:srcRect t="1274"/>
          <a:stretch/>
        </p:blipFill>
        <p:spPr>
          <a:xfrm>
            <a:off x="573954" y="2624328"/>
            <a:ext cx="7947746" cy="3923242"/>
          </a:xfrm>
          <a:prstGeom prst="rect">
            <a:avLst/>
          </a:prstGeom>
        </p:spPr>
      </p:pic>
    </p:spTree>
    <p:extLst>
      <p:ext uri="{BB962C8B-B14F-4D97-AF65-F5344CB8AC3E}">
        <p14:creationId xmlns:p14="http://schemas.microsoft.com/office/powerpoint/2010/main" val="1236959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6C538-7519-4F37-B360-86593319CD7B}"/>
              </a:ext>
            </a:extLst>
          </p:cNvPr>
          <p:cNvSpPr>
            <a:spLocks noGrp="1"/>
          </p:cNvSpPr>
          <p:nvPr>
            <p:ph type="title"/>
          </p:nvPr>
        </p:nvSpPr>
        <p:spPr>
          <a:xfrm>
            <a:off x="152400" y="0"/>
            <a:ext cx="8362950" cy="1325563"/>
          </a:xfrm>
        </p:spPr>
        <p:txBody>
          <a:bodyPr/>
          <a:lstStyle/>
          <a:p>
            <a:pPr algn="ctr"/>
            <a:r>
              <a:rPr lang="en-US" dirty="0"/>
              <a:t>Background on ER Diagrams</a:t>
            </a:r>
          </a:p>
        </p:txBody>
      </p:sp>
      <p:sp>
        <p:nvSpPr>
          <p:cNvPr id="3" name="Content Placeholder 2">
            <a:extLst>
              <a:ext uri="{FF2B5EF4-FFF2-40B4-BE49-F238E27FC236}">
                <a16:creationId xmlns:a16="http://schemas.microsoft.com/office/drawing/2014/main" id="{AC3D384F-B67C-4431-9D6A-B8D75F56EED4}"/>
              </a:ext>
            </a:extLst>
          </p:cNvPr>
          <p:cNvSpPr>
            <a:spLocks noGrp="1"/>
          </p:cNvSpPr>
          <p:nvPr>
            <p:ph idx="1"/>
          </p:nvPr>
        </p:nvSpPr>
        <p:spPr>
          <a:xfrm>
            <a:off x="628650" y="1325562"/>
            <a:ext cx="7886700" cy="4465637"/>
          </a:xfrm>
        </p:spPr>
        <p:txBody>
          <a:bodyPr>
            <a:normAutofit fontScale="92500" lnSpcReduction="10000"/>
          </a:bodyPr>
          <a:lstStyle/>
          <a:p>
            <a:pPr>
              <a:lnSpc>
                <a:spcPct val="100000"/>
              </a:lnSpc>
            </a:pPr>
            <a:r>
              <a:rPr lang="en-US" dirty="0"/>
              <a:t>Entity-Relationship Diagrams were introduced by Peter Chen</a:t>
            </a:r>
            <a:r>
              <a:rPr lang="en-US" baseline="30000" dirty="0"/>
              <a:t>1</a:t>
            </a:r>
            <a:r>
              <a:rPr lang="en-US" dirty="0"/>
              <a:t> in 1976</a:t>
            </a:r>
          </a:p>
          <a:p>
            <a:pPr marL="0" indent="0">
              <a:lnSpc>
                <a:spcPct val="100000"/>
              </a:lnSpc>
              <a:buNone/>
            </a:pPr>
            <a:endParaRPr lang="en-US" dirty="0"/>
          </a:p>
          <a:p>
            <a:pPr>
              <a:lnSpc>
                <a:spcPct val="100000"/>
              </a:lnSpc>
            </a:pPr>
            <a:r>
              <a:rPr lang="en-US" dirty="0"/>
              <a:t>Introduced as a technique for modeling data with a specific application to databases</a:t>
            </a:r>
          </a:p>
          <a:p>
            <a:pPr marL="0" indent="0">
              <a:lnSpc>
                <a:spcPct val="100000"/>
              </a:lnSpc>
              <a:buNone/>
            </a:pPr>
            <a:endParaRPr lang="en-US" dirty="0"/>
          </a:p>
          <a:p>
            <a:pPr>
              <a:lnSpc>
                <a:spcPct val="100000"/>
              </a:lnSpc>
            </a:pPr>
            <a:r>
              <a:rPr lang="en-US" b="1" dirty="0"/>
              <a:t>Unified Modeling Language (UML) </a:t>
            </a:r>
            <a:r>
              <a:rPr lang="en-US" dirty="0"/>
              <a:t>was introduced as common design language for the development of computer applications</a:t>
            </a:r>
            <a:r>
              <a:rPr lang="en-US" baseline="30000" dirty="0"/>
              <a:t>2</a:t>
            </a:r>
            <a:r>
              <a:rPr lang="en-US" dirty="0"/>
              <a:t>.</a:t>
            </a:r>
          </a:p>
          <a:p>
            <a:pPr>
              <a:lnSpc>
                <a:spcPct val="100000"/>
              </a:lnSpc>
            </a:pPr>
            <a:endParaRPr lang="en-US" dirty="0"/>
          </a:p>
          <a:p>
            <a:pPr>
              <a:lnSpc>
                <a:spcPct val="100000"/>
              </a:lnSpc>
            </a:pPr>
            <a:r>
              <a:rPr lang="en-US" dirty="0"/>
              <a:t>In our introduction to databases </a:t>
            </a:r>
            <a:r>
              <a:rPr lang="en-US" b="1" dirty="0"/>
              <a:t>in this course, we will create E-R diagrams using UML</a:t>
            </a:r>
            <a:r>
              <a:rPr lang="en-US" dirty="0"/>
              <a:t> (see “Entity Relationship Modeling with UML” </a:t>
            </a:r>
            <a:r>
              <a:rPr lang="en-US" b="1" dirty="0"/>
              <a:t>article</a:t>
            </a:r>
            <a:r>
              <a:rPr lang="en-US" dirty="0"/>
              <a:t> posted in the course repo)</a:t>
            </a:r>
          </a:p>
          <a:p>
            <a:endParaRPr lang="en-US" dirty="0"/>
          </a:p>
        </p:txBody>
      </p:sp>
      <p:sp>
        <p:nvSpPr>
          <p:cNvPr id="5" name="Footer Placeholder 4">
            <a:extLst>
              <a:ext uri="{FF2B5EF4-FFF2-40B4-BE49-F238E27FC236}">
                <a16:creationId xmlns:a16="http://schemas.microsoft.com/office/drawing/2014/main" id="{35D41758-EE67-431E-AF5F-B928C286428B}"/>
              </a:ext>
            </a:extLst>
          </p:cNvPr>
          <p:cNvSpPr>
            <a:spLocks noGrp="1"/>
          </p:cNvSpPr>
          <p:nvPr>
            <p:ph type="ftr" sz="quarter" idx="11"/>
          </p:nvPr>
        </p:nvSpPr>
        <p:spPr>
          <a:xfrm>
            <a:off x="304800" y="5943599"/>
            <a:ext cx="8686800" cy="777877"/>
          </a:xfrm>
        </p:spPr>
        <p:txBody>
          <a:bodyPr/>
          <a:lstStyle/>
          <a:p>
            <a:pPr marL="228600" indent="-228600" algn="l">
              <a:buFontTx/>
              <a:buAutoNum type="arabicPeriod"/>
            </a:pPr>
            <a:r>
              <a:rPr lang="en-US" dirty="0">
                <a:solidFill>
                  <a:srgbClr val="292934"/>
                </a:solidFill>
                <a:latin typeface="Arial"/>
              </a:rPr>
              <a:t>Chen, Peter, “The Entity-Relationship Model- Toward a Unified View of Data.”</a:t>
            </a:r>
            <a:r>
              <a:rPr lang="en-US" i="1" dirty="0">
                <a:solidFill>
                  <a:srgbClr val="292934"/>
                </a:solidFill>
                <a:latin typeface="Arial"/>
              </a:rPr>
              <a:t> ACM Transactions on Database Systems</a:t>
            </a:r>
            <a:r>
              <a:rPr lang="en-US" dirty="0">
                <a:solidFill>
                  <a:srgbClr val="292934"/>
                </a:solidFill>
                <a:latin typeface="Arial"/>
              </a:rPr>
              <a:t>, Vol. 1, No. 1, March 1976: 9-36.</a:t>
            </a:r>
          </a:p>
          <a:p>
            <a:pPr marL="228600" indent="-228600" algn="l">
              <a:buFontTx/>
              <a:buAutoNum type="arabicPeriod"/>
            </a:pPr>
            <a:r>
              <a:rPr lang="en-US" dirty="0">
                <a:solidFill>
                  <a:srgbClr val="292934"/>
                </a:solidFill>
                <a:latin typeface="Arial"/>
              </a:rPr>
              <a:t>Bell, Donald, “UML Basics: An Introduction to the Unified Modeling Language.” IBM Developer Works.  June 15, 2003. &lt;https://www.ibm.com/developerworks/rational/library/769.html&gt;</a:t>
            </a:r>
          </a:p>
        </p:txBody>
      </p:sp>
    </p:spTree>
    <p:extLst>
      <p:ext uri="{BB962C8B-B14F-4D97-AF65-F5344CB8AC3E}">
        <p14:creationId xmlns:p14="http://schemas.microsoft.com/office/powerpoint/2010/main" val="423273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FBCDC-3CEC-4715-88EA-928A9F686680}"/>
              </a:ext>
            </a:extLst>
          </p:cNvPr>
          <p:cNvSpPr>
            <a:spLocks noGrp="1"/>
          </p:cNvSpPr>
          <p:nvPr>
            <p:ph type="title"/>
          </p:nvPr>
        </p:nvSpPr>
        <p:spPr/>
        <p:txBody>
          <a:bodyPr>
            <a:normAutofit fontScale="90000"/>
          </a:bodyPr>
          <a:lstStyle/>
          <a:p>
            <a:pPr algn="ctr"/>
            <a:r>
              <a:rPr lang="en-US" dirty="0"/>
              <a:t>ER Modeling with UML:</a:t>
            </a:r>
            <a:br>
              <a:rPr lang="en-US" dirty="0"/>
            </a:br>
            <a:r>
              <a:rPr lang="en-US" sz="2400" dirty="0"/>
              <a:t>Representing Entities with their Attributes</a:t>
            </a:r>
            <a:endParaRPr lang="en-US" dirty="0"/>
          </a:p>
        </p:txBody>
      </p:sp>
      <p:sp>
        <p:nvSpPr>
          <p:cNvPr id="4" name="Slide Number Placeholder 3">
            <a:extLst>
              <a:ext uri="{FF2B5EF4-FFF2-40B4-BE49-F238E27FC236}">
                <a16:creationId xmlns:a16="http://schemas.microsoft.com/office/drawing/2014/main" id="{2B1CE5BB-EC3E-457E-9554-BC69471D846F}"/>
              </a:ext>
            </a:extLst>
          </p:cNvPr>
          <p:cNvSpPr>
            <a:spLocks noGrp="1"/>
          </p:cNvSpPr>
          <p:nvPr>
            <p:ph type="sldNum" sz="quarter" idx="12"/>
          </p:nvPr>
        </p:nvSpPr>
        <p:spPr/>
        <p:txBody>
          <a:bodyPr/>
          <a:lstStyle/>
          <a:p>
            <a:fld id="{E345EAD5-4C19-43E8-92AC-D4AD00C5745A}" type="slidenum">
              <a:rPr lang="en-US" smtClean="0">
                <a:latin typeface="Arial"/>
              </a:rPr>
              <a:pPr/>
              <a:t>13</a:t>
            </a:fld>
            <a:endParaRPr lang="en-US">
              <a:latin typeface="Arial"/>
            </a:endParaRPr>
          </a:p>
        </p:txBody>
      </p:sp>
      <p:sp>
        <p:nvSpPr>
          <p:cNvPr id="5" name="Rectangle 4">
            <a:extLst>
              <a:ext uri="{FF2B5EF4-FFF2-40B4-BE49-F238E27FC236}">
                <a16:creationId xmlns:a16="http://schemas.microsoft.com/office/drawing/2014/main" id="{BFDE4CF8-E58E-4FD7-972E-46408F28853C}"/>
              </a:ext>
            </a:extLst>
          </p:cNvPr>
          <p:cNvSpPr/>
          <p:nvPr/>
        </p:nvSpPr>
        <p:spPr>
          <a:xfrm>
            <a:off x="1011621" y="2754908"/>
            <a:ext cx="1556916" cy="13996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6" name="TextBox 5">
            <a:extLst>
              <a:ext uri="{FF2B5EF4-FFF2-40B4-BE49-F238E27FC236}">
                <a16:creationId xmlns:a16="http://schemas.microsoft.com/office/drawing/2014/main" id="{DB875BFA-087F-47CD-B286-9C1C4FADCF80}"/>
              </a:ext>
            </a:extLst>
          </p:cNvPr>
          <p:cNvSpPr txBox="1"/>
          <p:nvPr/>
        </p:nvSpPr>
        <p:spPr>
          <a:xfrm>
            <a:off x="977861" y="2202418"/>
            <a:ext cx="1590676"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Student</a:t>
            </a:r>
          </a:p>
        </p:txBody>
      </p:sp>
      <p:sp>
        <p:nvSpPr>
          <p:cNvPr id="11" name="TextBox 10">
            <a:extLst>
              <a:ext uri="{FF2B5EF4-FFF2-40B4-BE49-F238E27FC236}">
                <a16:creationId xmlns:a16="http://schemas.microsoft.com/office/drawing/2014/main" id="{AF975A5D-6A86-4F79-AFCA-F1C1836538D0}"/>
              </a:ext>
            </a:extLst>
          </p:cNvPr>
          <p:cNvSpPr txBox="1"/>
          <p:nvPr/>
        </p:nvSpPr>
        <p:spPr>
          <a:xfrm>
            <a:off x="977862" y="2754908"/>
            <a:ext cx="1590675" cy="1323439"/>
          </a:xfrm>
          <a:prstGeom prst="rect">
            <a:avLst/>
          </a:prstGeom>
          <a:noFill/>
        </p:spPr>
        <p:txBody>
          <a:bodyPr wrap="square" rtlCol="0">
            <a:spAutoFit/>
          </a:bodyPr>
          <a:lstStyle/>
          <a:p>
            <a:pPr defTabSz="914400"/>
            <a:r>
              <a:rPr lang="en-US" sz="2000" dirty="0">
                <a:solidFill>
                  <a:srgbClr val="292934"/>
                </a:solidFill>
                <a:latin typeface="Arial"/>
              </a:rPr>
              <a:t>Last Name</a:t>
            </a:r>
          </a:p>
          <a:p>
            <a:pPr defTabSz="914400"/>
            <a:r>
              <a:rPr lang="en-US" sz="2000" dirty="0">
                <a:solidFill>
                  <a:srgbClr val="292934"/>
                </a:solidFill>
                <a:latin typeface="Arial"/>
              </a:rPr>
              <a:t>First Name</a:t>
            </a:r>
          </a:p>
          <a:p>
            <a:pPr defTabSz="914400"/>
            <a:r>
              <a:rPr lang="en-US" sz="2000" dirty="0">
                <a:solidFill>
                  <a:srgbClr val="292934"/>
                </a:solidFill>
                <a:latin typeface="Arial"/>
              </a:rPr>
              <a:t>ID</a:t>
            </a:r>
          </a:p>
          <a:p>
            <a:pPr defTabSz="914400"/>
            <a:r>
              <a:rPr lang="en-US" sz="2000" dirty="0">
                <a:solidFill>
                  <a:srgbClr val="292934"/>
                </a:solidFill>
                <a:latin typeface="Arial"/>
              </a:rPr>
              <a:t>Grad </a:t>
            </a:r>
            <a:r>
              <a:rPr lang="en-US" sz="2000" dirty="0" err="1">
                <a:solidFill>
                  <a:srgbClr val="292934"/>
                </a:solidFill>
                <a:latin typeface="Arial"/>
              </a:rPr>
              <a:t>Yr</a:t>
            </a:r>
            <a:endParaRPr lang="en-US" sz="2000" dirty="0">
              <a:solidFill>
                <a:srgbClr val="292934"/>
              </a:solidFill>
              <a:latin typeface="Arial"/>
            </a:endParaRPr>
          </a:p>
        </p:txBody>
      </p:sp>
      <p:sp>
        <p:nvSpPr>
          <p:cNvPr id="14" name="Oval 13">
            <a:extLst>
              <a:ext uri="{FF2B5EF4-FFF2-40B4-BE49-F238E27FC236}">
                <a16:creationId xmlns:a16="http://schemas.microsoft.com/office/drawing/2014/main" id="{E0866223-3222-4A78-A83C-B6DB6C367DAE}"/>
              </a:ext>
            </a:extLst>
          </p:cNvPr>
          <p:cNvSpPr/>
          <p:nvPr/>
        </p:nvSpPr>
        <p:spPr>
          <a:xfrm>
            <a:off x="3270649" y="1904208"/>
            <a:ext cx="2514599" cy="303355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a:solidFill>
                <a:srgbClr val="FFFFFF"/>
              </a:solidFill>
              <a:latin typeface="Arial"/>
            </a:endParaRPr>
          </a:p>
        </p:txBody>
      </p:sp>
      <p:cxnSp>
        <p:nvCxnSpPr>
          <p:cNvPr id="16" name="Straight Connector 15">
            <a:extLst>
              <a:ext uri="{FF2B5EF4-FFF2-40B4-BE49-F238E27FC236}">
                <a16:creationId xmlns:a16="http://schemas.microsoft.com/office/drawing/2014/main" id="{21AC5264-AB31-4F6D-8F3A-B0642A4FF56F}"/>
              </a:ext>
            </a:extLst>
          </p:cNvPr>
          <p:cNvCxnSpPr>
            <a:cxnSpLocks/>
            <a:stCxn id="14" idx="6"/>
          </p:cNvCxnSpPr>
          <p:nvPr/>
        </p:nvCxnSpPr>
        <p:spPr>
          <a:xfrm flipV="1">
            <a:off x="5785248" y="3166080"/>
            <a:ext cx="529591" cy="25490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2E45083-28B7-4F95-9DBB-A6C5A2193794}"/>
              </a:ext>
            </a:extLst>
          </p:cNvPr>
          <p:cNvSpPr txBox="1"/>
          <p:nvPr/>
        </p:nvSpPr>
        <p:spPr>
          <a:xfrm>
            <a:off x="6314839" y="2098488"/>
            <a:ext cx="1855706" cy="3170099"/>
          </a:xfrm>
          <a:prstGeom prst="rect">
            <a:avLst/>
          </a:prstGeom>
          <a:noFill/>
          <a:ln>
            <a:solidFill>
              <a:srgbClr val="FF0000"/>
            </a:solidFill>
          </a:ln>
        </p:spPr>
        <p:txBody>
          <a:bodyPr wrap="square" rtlCol="0">
            <a:spAutoFit/>
          </a:bodyPr>
          <a:lstStyle/>
          <a:p>
            <a:pPr defTabSz="914400"/>
            <a:r>
              <a:rPr lang="en-US" sz="2000" dirty="0">
                <a:solidFill>
                  <a:srgbClr val="292934"/>
                </a:solidFill>
                <a:latin typeface="Arial"/>
              </a:rPr>
              <a:t>This is an entity-type.</a:t>
            </a:r>
          </a:p>
          <a:p>
            <a:pPr defTabSz="914400"/>
            <a:endParaRPr lang="en-US" sz="2000" dirty="0">
              <a:solidFill>
                <a:srgbClr val="292934"/>
              </a:solidFill>
              <a:latin typeface="Arial"/>
            </a:endParaRPr>
          </a:p>
          <a:p>
            <a:pPr defTabSz="914400"/>
            <a:r>
              <a:rPr lang="en-US" sz="2000" dirty="0">
                <a:solidFill>
                  <a:srgbClr val="292934"/>
                </a:solidFill>
                <a:latin typeface="Arial"/>
              </a:rPr>
              <a:t>The header describes the entity-type, and the items listed are the attributes (fields)</a:t>
            </a:r>
          </a:p>
        </p:txBody>
      </p:sp>
      <p:sp>
        <p:nvSpPr>
          <p:cNvPr id="20" name="Rectangle 19">
            <a:extLst>
              <a:ext uri="{FF2B5EF4-FFF2-40B4-BE49-F238E27FC236}">
                <a16:creationId xmlns:a16="http://schemas.microsoft.com/office/drawing/2014/main" id="{BFDE4CF8-E58E-4FD7-972E-46408F28853C}"/>
              </a:ext>
            </a:extLst>
          </p:cNvPr>
          <p:cNvSpPr/>
          <p:nvPr/>
        </p:nvSpPr>
        <p:spPr>
          <a:xfrm>
            <a:off x="1495491" y="5227598"/>
            <a:ext cx="1787658" cy="10156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21" name="TextBox 20">
            <a:extLst>
              <a:ext uri="{FF2B5EF4-FFF2-40B4-BE49-F238E27FC236}">
                <a16:creationId xmlns:a16="http://schemas.microsoft.com/office/drawing/2014/main" id="{DB875BFA-087F-47CD-B286-9C1C4FADCF80}"/>
              </a:ext>
            </a:extLst>
          </p:cNvPr>
          <p:cNvSpPr txBox="1"/>
          <p:nvPr/>
        </p:nvSpPr>
        <p:spPr>
          <a:xfrm>
            <a:off x="1461731" y="4675108"/>
            <a:ext cx="1821418"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Course</a:t>
            </a:r>
          </a:p>
        </p:txBody>
      </p:sp>
      <p:sp>
        <p:nvSpPr>
          <p:cNvPr id="22" name="TextBox 21">
            <a:extLst>
              <a:ext uri="{FF2B5EF4-FFF2-40B4-BE49-F238E27FC236}">
                <a16:creationId xmlns:a16="http://schemas.microsoft.com/office/drawing/2014/main" id="{AF975A5D-6A86-4F79-AFCA-F1C1836538D0}"/>
              </a:ext>
            </a:extLst>
          </p:cNvPr>
          <p:cNvSpPr txBox="1"/>
          <p:nvPr/>
        </p:nvSpPr>
        <p:spPr>
          <a:xfrm>
            <a:off x="1461732" y="5227598"/>
            <a:ext cx="1981437" cy="1015663"/>
          </a:xfrm>
          <a:prstGeom prst="rect">
            <a:avLst/>
          </a:prstGeom>
          <a:noFill/>
        </p:spPr>
        <p:txBody>
          <a:bodyPr wrap="square" rtlCol="0">
            <a:spAutoFit/>
          </a:bodyPr>
          <a:lstStyle/>
          <a:p>
            <a:pPr defTabSz="914400"/>
            <a:r>
              <a:rPr lang="en-US" sz="2000" dirty="0">
                <a:solidFill>
                  <a:srgbClr val="292934"/>
                </a:solidFill>
                <a:latin typeface="Arial"/>
              </a:rPr>
              <a:t>Course Name</a:t>
            </a:r>
          </a:p>
          <a:p>
            <a:pPr defTabSz="914400"/>
            <a:r>
              <a:rPr lang="en-US" sz="2000" dirty="0">
                <a:solidFill>
                  <a:srgbClr val="292934"/>
                </a:solidFill>
                <a:latin typeface="Arial"/>
              </a:rPr>
              <a:t>Course #</a:t>
            </a:r>
          </a:p>
          <a:p>
            <a:pPr defTabSz="914400"/>
            <a:r>
              <a:rPr lang="en-US" sz="2000" dirty="0" err="1">
                <a:solidFill>
                  <a:srgbClr val="292934"/>
                </a:solidFill>
                <a:latin typeface="Arial"/>
              </a:rPr>
              <a:t>Dept</a:t>
            </a:r>
            <a:endParaRPr lang="en-US" sz="2000" dirty="0">
              <a:solidFill>
                <a:srgbClr val="292934"/>
              </a:solidFill>
              <a:latin typeface="Arial"/>
            </a:endParaRPr>
          </a:p>
        </p:txBody>
      </p:sp>
      <p:sp>
        <p:nvSpPr>
          <p:cNvPr id="23" name="Rectangle 22">
            <a:extLst>
              <a:ext uri="{FF2B5EF4-FFF2-40B4-BE49-F238E27FC236}">
                <a16:creationId xmlns:a16="http://schemas.microsoft.com/office/drawing/2014/main" id="{BFDE4CF8-E58E-4FD7-972E-46408F28853C}"/>
              </a:ext>
            </a:extLst>
          </p:cNvPr>
          <p:cNvSpPr/>
          <p:nvPr/>
        </p:nvSpPr>
        <p:spPr>
          <a:xfrm>
            <a:off x="3637548" y="3054606"/>
            <a:ext cx="1787658" cy="16205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24" name="TextBox 23">
            <a:extLst>
              <a:ext uri="{FF2B5EF4-FFF2-40B4-BE49-F238E27FC236}">
                <a16:creationId xmlns:a16="http://schemas.microsoft.com/office/drawing/2014/main" id="{DB875BFA-087F-47CD-B286-9C1C4FADCF80}"/>
              </a:ext>
            </a:extLst>
          </p:cNvPr>
          <p:cNvSpPr txBox="1"/>
          <p:nvPr/>
        </p:nvSpPr>
        <p:spPr>
          <a:xfrm>
            <a:off x="3603788" y="2502116"/>
            <a:ext cx="1821418"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Section</a:t>
            </a:r>
          </a:p>
        </p:txBody>
      </p:sp>
      <p:sp>
        <p:nvSpPr>
          <p:cNvPr id="26" name="TextBox 25">
            <a:extLst>
              <a:ext uri="{FF2B5EF4-FFF2-40B4-BE49-F238E27FC236}">
                <a16:creationId xmlns:a16="http://schemas.microsoft.com/office/drawing/2014/main" id="{AF975A5D-6A86-4F79-AFCA-F1C1836538D0}"/>
              </a:ext>
            </a:extLst>
          </p:cNvPr>
          <p:cNvSpPr txBox="1"/>
          <p:nvPr/>
        </p:nvSpPr>
        <p:spPr>
          <a:xfrm>
            <a:off x="3708564" y="3049249"/>
            <a:ext cx="1981437" cy="1631216"/>
          </a:xfrm>
          <a:prstGeom prst="rect">
            <a:avLst/>
          </a:prstGeom>
          <a:noFill/>
        </p:spPr>
        <p:txBody>
          <a:bodyPr wrap="square" rtlCol="0">
            <a:spAutoFit/>
          </a:bodyPr>
          <a:lstStyle/>
          <a:p>
            <a:pPr defTabSz="914400"/>
            <a:r>
              <a:rPr lang="en-US" sz="2000" dirty="0">
                <a:solidFill>
                  <a:srgbClr val="292934"/>
                </a:solidFill>
                <a:latin typeface="Arial"/>
              </a:rPr>
              <a:t>Section #</a:t>
            </a:r>
          </a:p>
          <a:p>
            <a:pPr defTabSz="914400"/>
            <a:r>
              <a:rPr lang="en-US" sz="2000" dirty="0">
                <a:solidFill>
                  <a:srgbClr val="292934"/>
                </a:solidFill>
                <a:latin typeface="Arial"/>
              </a:rPr>
              <a:t>Location</a:t>
            </a:r>
          </a:p>
          <a:p>
            <a:pPr defTabSz="914400"/>
            <a:r>
              <a:rPr lang="en-US" sz="2000" dirty="0">
                <a:solidFill>
                  <a:srgbClr val="292934"/>
                </a:solidFill>
                <a:latin typeface="Arial"/>
              </a:rPr>
              <a:t>Instructor</a:t>
            </a:r>
          </a:p>
          <a:p>
            <a:pPr defTabSz="914400"/>
            <a:r>
              <a:rPr lang="en-US" sz="2000" dirty="0">
                <a:solidFill>
                  <a:srgbClr val="292934"/>
                </a:solidFill>
                <a:latin typeface="Arial"/>
              </a:rPr>
              <a:t>Meeting Time</a:t>
            </a:r>
          </a:p>
          <a:p>
            <a:pPr defTabSz="914400"/>
            <a:r>
              <a:rPr lang="en-US" sz="2000" dirty="0">
                <a:solidFill>
                  <a:srgbClr val="292934"/>
                </a:solidFill>
                <a:latin typeface="Arial"/>
              </a:rPr>
              <a:t>Course</a:t>
            </a:r>
          </a:p>
        </p:txBody>
      </p:sp>
    </p:spTree>
    <p:extLst>
      <p:ext uri="{BB962C8B-B14F-4D97-AF65-F5344CB8AC3E}">
        <p14:creationId xmlns:p14="http://schemas.microsoft.com/office/powerpoint/2010/main" val="67236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117650-10D2-45F3-8AA5-FAF83335BF84}"/>
              </a:ext>
            </a:extLst>
          </p:cNvPr>
          <p:cNvSpPr>
            <a:spLocks noGrp="1"/>
          </p:cNvSpPr>
          <p:nvPr>
            <p:ph idx="1"/>
          </p:nvPr>
        </p:nvSpPr>
        <p:spPr>
          <a:xfrm>
            <a:off x="228599" y="1709928"/>
            <a:ext cx="8657823" cy="4999965"/>
          </a:xfrm>
        </p:spPr>
        <p:txBody>
          <a:bodyPr>
            <a:normAutofit fontScale="92500" lnSpcReduction="10000"/>
          </a:bodyPr>
          <a:lstStyle/>
          <a:p>
            <a:r>
              <a:rPr lang="en-US" sz="2800" b="1" dirty="0"/>
              <a:t>One-to-one: </a:t>
            </a:r>
          </a:p>
          <a:p>
            <a:pPr lvl="1"/>
            <a:r>
              <a:rPr lang="en-US" sz="2400" b="1" dirty="0"/>
              <a:t>Each</a:t>
            </a:r>
            <a:r>
              <a:rPr lang="en-US" sz="2400" dirty="0"/>
              <a:t> instance of Entity </a:t>
            </a:r>
            <a:r>
              <a:rPr lang="en-US" sz="2400" b="1" dirty="0"/>
              <a:t>A</a:t>
            </a:r>
            <a:r>
              <a:rPr lang="en-US" sz="2400" dirty="0"/>
              <a:t> related to </a:t>
            </a:r>
            <a:r>
              <a:rPr lang="en-US" sz="2400" b="1" dirty="0"/>
              <a:t>1</a:t>
            </a:r>
            <a:r>
              <a:rPr lang="en-US" sz="2400" dirty="0"/>
              <a:t> instance of Entity </a:t>
            </a:r>
            <a:r>
              <a:rPr lang="en-US" sz="2400" b="1" dirty="0"/>
              <a:t>B</a:t>
            </a:r>
          </a:p>
          <a:p>
            <a:pPr lvl="1"/>
            <a:r>
              <a:rPr lang="en-US" sz="2400" b="1" dirty="0"/>
              <a:t>Each</a:t>
            </a:r>
            <a:r>
              <a:rPr lang="en-US" sz="2400" dirty="0"/>
              <a:t> instance of Entity </a:t>
            </a:r>
            <a:r>
              <a:rPr lang="en-US" sz="2400" b="1" dirty="0"/>
              <a:t>B</a:t>
            </a:r>
            <a:r>
              <a:rPr lang="en-US" sz="2400" dirty="0"/>
              <a:t> related to </a:t>
            </a:r>
            <a:r>
              <a:rPr lang="en-US" sz="2400" b="1" dirty="0"/>
              <a:t>1</a:t>
            </a:r>
            <a:r>
              <a:rPr lang="en-US" sz="2400" dirty="0"/>
              <a:t> instance of Entity </a:t>
            </a:r>
            <a:r>
              <a:rPr lang="en-US" sz="2400" b="1" dirty="0"/>
              <a:t>A</a:t>
            </a:r>
          </a:p>
          <a:p>
            <a:pPr lvl="1"/>
            <a:r>
              <a:rPr lang="en-US" sz="2400" dirty="0"/>
              <a:t>Ex.  People : SSNs</a:t>
            </a:r>
          </a:p>
          <a:p>
            <a:r>
              <a:rPr lang="en-US" sz="2800" b="1" dirty="0"/>
              <a:t>One-to-many: </a:t>
            </a:r>
          </a:p>
          <a:p>
            <a:pPr lvl="1"/>
            <a:r>
              <a:rPr lang="en-US" sz="2400" b="1" dirty="0"/>
              <a:t>Each</a:t>
            </a:r>
            <a:r>
              <a:rPr lang="en-US" sz="2400" dirty="0"/>
              <a:t> instance of Entity </a:t>
            </a:r>
            <a:r>
              <a:rPr lang="en-US" sz="2400" b="1" dirty="0"/>
              <a:t>A</a:t>
            </a:r>
            <a:r>
              <a:rPr lang="en-US" sz="2400" dirty="0"/>
              <a:t> related to </a:t>
            </a:r>
            <a:r>
              <a:rPr lang="en-US" sz="2400" b="1" dirty="0"/>
              <a:t>many</a:t>
            </a:r>
            <a:r>
              <a:rPr lang="en-US" sz="2400" dirty="0"/>
              <a:t> instances of Entity </a:t>
            </a:r>
            <a:r>
              <a:rPr lang="en-US" sz="2400" b="1" dirty="0"/>
              <a:t>B</a:t>
            </a:r>
          </a:p>
          <a:p>
            <a:pPr lvl="1"/>
            <a:r>
              <a:rPr lang="en-US" sz="2400" b="1" dirty="0"/>
              <a:t>Each</a:t>
            </a:r>
            <a:r>
              <a:rPr lang="en-US" sz="2400" dirty="0"/>
              <a:t> instance of Entity </a:t>
            </a:r>
            <a:r>
              <a:rPr lang="en-US" sz="2400" b="1" dirty="0"/>
              <a:t>B</a:t>
            </a:r>
            <a:r>
              <a:rPr lang="en-US" sz="2400" dirty="0"/>
              <a:t> related to </a:t>
            </a:r>
            <a:r>
              <a:rPr lang="en-US" sz="2400" b="1" dirty="0"/>
              <a:t>1</a:t>
            </a:r>
            <a:r>
              <a:rPr lang="en-US" sz="2400" dirty="0"/>
              <a:t> instance of Entity </a:t>
            </a:r>
            <a:r>
              <a:rPr lang="en-US" sz="2400" b="1" dirty="0"/>
              <a:t>A</a:t>
            </a:r>
          </a:p>
          <a:p>
            <a:pPr lvl="1"/>
            <a:r>
              <a:rPr lang="en-US" sz="2400" dirty="0"/>
              <a:t>Ex.  Bus driver : passengers</a:t>
            </a:r>
            <a:endParaRPr lang="en-US" sz="2400" b="1" dirty="0"/>
          </a:p>
          <a:p>
            <a:r>
              <a:rPr lang="en-US" sz="2800" b="1" dirty="0"/>
              <a:t>Many-to-many: </a:t>
            </a:r>
          </a:p>
          <a:p>
            <a:pPr lvl="1"/>
            <a:r>
              <a:rPr lang="en-US" sz="2400" b="1" dirty="0"/>
              <a:t>Each</a:t>
            </a:r>
            <a:r>
              <a:rPr lang="en-US" sz="2400" dirty="0"/>
              <a:t> instance of Entity </a:t>
            </a:r>
            <a:r>
              <a:rPr lang="en-US" sz="2400" b="1" dirty="0"/>
              <a:t>A</a:t>
            </a:r>
            <a:r>
              <a:rPr lang="en-US" sz="2400" dirty="0"/>
              <a:t> related to </a:t>
            </a:r>
            <a:r>
              <a:rPr lang="en-US" sz="2400" b="1" dirty="0"/>
              <a:t>many</a:t>
            </a:r>
            <a:r>
              <a:rPr lang="en-US" sz="2400" dirty="0"/>
              <a:t> instances of Entity </a:t>
            </a:r>
            <a:r>
              <a:rPr lang="en-US" sz="2400" b="1" dirty="0"/>
              <a:t>B</a:t>
            </a:r>
          </a:p>
          <a:p>
            <a:pPr lvl="1"/>
            <a:r>
              <a:rPr lang="en-US" sz="2400" b="1" dirty="0"/>
              <a:t>Each</a:t>
            </a:r>
            <a:r>
              <a:rPr lang="en-US" sz="2400" dirty="0"/>
              <a:t> instance of Entity </a:t>
            </a:r>
            <a:r>
              <a:rPr lang="en-US" sz="2400" b="1" dirty="0"/>
              <a:t>B</a:t>
            </a:r>
            <a:r>
              <a:rPr lang="en-US" sz="2400" dirty="0"/>
              <a:t> related to </a:t>
            </a:r>
            <a:r>
              <a:rPr lang="en-US" sz="2400" b="1" dirty="0"/>
              <a:t>many</a:t>
            </a:r>
            <a:r>
              <a:rPr lang="en-US" sz="2400" dirty="0"/>
              <a:t> instances of Entity </a:t>
            </a:r>
            <a:r>
              <a:rPr lang="en-US" sz="2400" b="1" dirty="0"/>
              <a:t>A</a:t>
            </a:r>
          </a:p>
          <a:p>
            <a:pPr lvl="1"/>
            <a:r>
              <a:rPr lang="en-US" sz="2400" dirty="0"/>
              <a:t>Ex. Ingredients : recipes</a:t>
            </a:r>
            <a:endParaRPr lang="en-US" sz="2400" b="1" dirty="0"/>
          </a:p>
        </p:txBody>
      </p:sp>
      <p:sp>
        <p:nvSpPr>
          <p:cNvPr id="4" name="Slide Number Placeholder 3">
            <a:extLst>
              <a:ext uri="{FF2B5EF4-FFF2-40B4-BE49-F238E27FC236}">
                <a16:creationId xmlns:a16="http://schemas.microsoft.com/office/drawing/2014/main" id="{0EB92E4A-5512-407F-9483-99C72E02FF0E}"/>
              </a:ext>
            </a:extLst>
          </p:cNvPr>
          <p:cNvSpPr>
            <a:spLocks noGrp="1"/>
          </p:cNvSpPr>
          <p:nvPr>
            <p:ph type="sldNum" sz="quarter" idx="12"/>
          </p:nvPr>
        </p:nvSpPr>
        <p:spPr/>
        <p:txBody>
          <a:bodyPr/>
          <a:lstStyle/>
          <a:p>
            <a:fld id="{E345EAD5-4C19-43E8-92AC-D4AD00C5745A}" type="slidenum">
              <a:rPr lang="en-US" smtClean="0">
                <a:latin typeface="Arial"/>
              </a:rPr>
              <a:pPr/>
              <a:t>14</a:t>
            </a:fld>
            <a:endParaRPr lang="en-US">
              <a:latin typeface="Arial"/>
            </a:endParaRPr>
          </a:p>
        </p:txBody>
      </p:sp>
      <p:sp>
        <p:nvSpPr>
          <p:cNvPr id="5" name="Title 4"/>
          <p:cNvSpPr>
            <a:spLocks noGrp="1"/>
          </p:cNvSpPr>
          <p:nvPr>
            <p:ph type="title"/>
          </p:nvPr>
        </p:nvSpPr>
        <p:spPr/>
        <p:txBody>
          <a:bodyPr>
            <a:normAutofit fontScale="90000"/>
          </a:bodyPr>
          <a:lstStyle/>
          <a:p>
            <a:r>
              <a:rPr lang="en-US" dirty="0"/>
              <a:t>ER Diagrams (cont.)</a:t>
            </a:r>
            <a:br>
              <a:rPr lang="en-US" dirty="0"/>
            </a:br>
            <a:r>
              <a:rPr lang="en-US" dirty="0"/>
              <a:t>Recall: </a:t>
            </a:r>
            <a:r>
              <a:rPr lang="en-US" sz="3100" dirty="0"/>
              <a:t>Cardinality of Relationships 	between Entities</a:t>
            </a:r>
            <a:endParaRPr lang="en-US" dirty="0"/>
          </a:p>
        </p:txBody>
      </p:sp>
    </p:spTree>
    <p:extLst>
      <p:ext uri="{BB962C8B-B14F-4D97-AF65-F5344CB8AC3E}">
        <p14:creationId xmlns:p14="http://schemas.microsoft.com/office/powerpoint/2010/main" val="25179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1CE5BB-EC3E-457E-9554-BC69471D846F}"/>
              </a:ext>
            </a:extLst>
          </p:cNvPr>
          <p:cNvSpPr>
            <a:spLocks noGrp="1"/>
          </p:cNvSpPr>
          <p:nvPr>
            <p:ph type="sldNum" sz="quarter" idx="12"/>
          </p:nvPr>
        </p:nvSpPr>
        <p:spPr/>
        <p:txBody>
          <a:bodyPr/>
          <a:lstStyle/>
          <a:p>
            <a:fld id="{E345EAD5-4C19-43E8-92AC-D4AD00C5745A}" type="slidenum">
              <a:rPr lang="en-US" smtClean="0">
                <a:latin typeface="Arial"/>
              </a:rPr>
              <a:pPr/>
              <a:t>15</a:t>
            </a:fld>
            <a:endParaRPr lang="en-US">
              <a:latin typeface="Arial"/>
            </a:endParaRPr>
          </a:p>
        </p:txBody>
      </p:sp>
      <p:sp>
        <p:nvSpPr>
          <p:cNvPr id="5" name="Rectangle 4">
            <a:extLst>
              <a:ext uri="{FF2B5EF4-FFF2-40B4-BE49-F238E27FC236}">
                <a16:creationId xmlns:a16="http://schemas.microsoft.com/office/drawing/2014/main" id="{BFDE4CF8-E58E-4FD7-972E-46408F28853C}"/>
              </a:ext>
            </a:extLst>
          </p:cNvPr>
          <p:cNvSpPr/>
          <p:nvPr/>
        </p:nvSpPr>
        <p:spPr>
          <a:xfrm>
            <a:off x="1011621" y="2754908"/>
            <a:ext cx="1556916" cy="13996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6" name="TextBox 5">
            <a:extLst>
              <a:ext uri="{FF2B5EF4-FFF2-40B4-BE49-F238E27FC236}">
                <a16:creationId xmlns:a16="http://schemas.microsoft.com/office/drawing/2014/main" id="{DB875BFA-087F-47CD-B286-9C1C4FADCF80}"/>
              </a:ext>
            </a:extLst>
          </p:cNvPr>
          <p:cNvSpPr txBox="1"/>
          <p:nvPr/>
        </p:nvSpPr>
        <p:spPr>
          <a:xfrm>
            <a:off x="977861" y="2202418"/>
            <a:ext cx="1590676"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Student</a:t>
            </a:r>
          </a:p>
        </p:txBody>
      </p:sp>
      <p:sp>
        <p:nvSpPr>
          <p:cNvPr id="11" name="TextBox 10">
            <a:extLst>
              <a:ext uri="{FF2B5EF4-FFF2-40B4-BE49-F238E27FC236}">
                <a16:creationId xmlns:a16="http://schemas.microsoft.com/office/drawing/2014/main" id="{AF975A5D-6A86-4F79-AFCA-F1C1836538D0}"/>
              </a:ext>
            </a:extLst>
          </p:cNvPr>
          <p:cNvSpPr txBox="1"/>
          <p:nvPr/>
        </p:nvSpPr>
        <p:spPr>
          <a:xfrm>
            <a:off x="977862" y="2754908"/>
            <a:ext cx="1590675" cy="1323439"/>
          </a:xfrm>
          <a:prstGeom prst="rect">
            <a:avLst/>
          </a:prstGeom>
          <a:noFill/>
        </p:spPr>
        <p:txBody>
          <a:bodyPr wrap="square" rtlCol="0">
            <a:spAutoFit/>
          </a:bodyPr>
          <a:lstStyle/>
          <a:p>
            <a:pPr defTabSz="914400"/>
            <a:r>
              <a:rPr lang="en-US" sz="2000" dirty="0">
                <a:solidFill>
                  <a:srgbClr val="292934"/>
                </a:solidFill>
                <a:latin typeface="Arial"/>
              </a:rPr>
              <a:t>Last Name</a:t>
            </a:r>
          </a:p>
          <a:p>
            <a:pPr defTabSz="914400"/>
            <a:r>
              <a:rPr lang="en-US" sz="2000" dirty="0">
                <a:solidFill>
                  <a:srgbClr val="292934"/>
                </a:solidFill>
                <a:latin typeface="Arial"/>
              </a:rPr>
              <a:t>First Name</a:t>
            </a:r>
          </a:p>
          <a:p>
            <a:pPr defTabSz="914400"/>
            <a:r>
              <a:rPr lang="en-US" sz="2000" dirty="0">
                <a:solidFill>
                  <a:srgbClr val="292934"/>
                </a:solidFill>
                <a:latin typeface="Arial"/>
              </a:rPr>
              <a:t>ID</a:t>
            </a:r>
          </a:p>
          <a:p>
            <a:pPr defTabSz="914400"/>
            <a:r>
              <a:rPr lang="en-US" sz="2000" dirty="0">
                <a:solidFill>
                  <a:srgbClr val="292934"/>
                </a:solidFill>
                <a:latin typeface="Arial"/>
              </a:rPr>
              <a:t>Grad </a:t>
            </a:r>
            <a:r>
              <a:rPr lang="en-US" sz="2000" dirty="0" err="1">
                <a:solidFill>
                  <a:srgbClr val="292934"/>
                </a:solidFill>
                <a:latin typeface="Arial"/>
              </a:rPr>
              <a:t>Yr</a:t>
            </a:r>
            <a:endParaRPr lang="en-US" sz="2000" dirty="0">
              <a:solidFill>
                <a:srgbClr val="292934"/>
              </a:solidFill>
              <a:latin typeface="Arial"/>
            </a:endParaRPr>
          </a:p>
        </p:txBody>
      </p:sp>
      <p:sp>
        <p:nvSpPr>
          <p:cNvPr id="20" name="Rectangle 19">
            <a:extLst>
              <a:ext uri="{FF2B5EF4-FFF2-40B4-BE49-F238E27FC236}">
                <a16:creationId xmlns:a16="http://schemas.microsoft.com/office/drawing/2014/main" id="{BFDE4CF8-E58E-4FD7-972E-46408F28853C}"/>
              </a:ext>
            </a:extLst>
          </p:cNvPr>
          <p:cNvSpPr/>
          <p:nvPr/>
        </p:nvSpPr>
        <p:spPr>
          <a:xfrm>
            <a:off x="4090101" y="5056148"/>
            <a:ext cx="1787658" cy="10156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21" name="TextBox 20">
            <a:extLst>
              <a:ext uri="{FF2B5EF4-FFF2-40B4-BE49-F238E27FC236}">
                <a16:creationId xmlns:a16="http://schemas.microsoft.com/office/drawing/2014/main" id="{DB875BFA-087F-47CD-B286-9C1C4FADCF80}"/>
              </a:ext>
            </a:extLst>
          </p:cNvPr>
          <p:cNvSpPr txBox="1"/>
          <p:nvPr/>
        </p:nvSpPr>
        <p:spPr>
          <a:xfrm>
            <a:off x="4056341" y="4503658"/>
            <a:ext cx="1821418"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Course</a:t>
            </a:r>
          </a:p>
        </p:txBody>
      </p:sp>
      <p:sp>
        <p:nvSpPr>
          <p:cNvPr id="22" name="TextBox 21">
            <a:extLst>
              <a:ext uri="{FF2B5EF4-FFF2-40B4-BE49-F238E27FC236}">
                <a16:creationId xmlns:a16="http://schemas.microsoft.com/office/drawing/2014/main" id="{AF975A5D-6A86-4F79-AFCA-F1C1836538D0}"/>
              </a:ext>
            </a:extLst>
          </p:cNvPr>
          <p:cNvSpPr txBox="1"/>
          <p:nvPr/>
        </p:nvSpPr>
        <p:spPr>
          <a:xfrm>
            <a:off x="4056342" y="5056148"/>
            <a:ext cx="1981437" cy="1015663"/>
          </a:xfrm>
          <a:prstGeom prst="rect">
            <a:avLst/>
          </a:prstGeom>
          <a:noFill/>
        </p:spPr>
        <p:txBody>
          <a:bodyPr wrap="square" rtlCol="0">
            <a:spAutoFit/>
          </a:bodyPr>
          <a:lstStyle/>
          <a:p>
            <a:pPr defTabSz="914400"/>
            <a:r>
              <a:rPr lang="en-US" sz="2000" dirty="0">
                <a:solidFill>
                  <a:srgbClr val="292934"/>
                </a:solidFill>
                <a:latin typeface="Arial"/>
              </a:rPr>
              <a:t>Course Name</a:t>
            </a:r>
          </a:p>
          <a:p>
            <a:pPr defTabSz="914400"/>
            <a:r>
              <a:rPr lang="en-US" sz="2000" dirty="0">
                <a:solidFill>
                  <a:srgbClr val="292934"/>
                </a:solidFill>
                <a:latin typeface="Arial"/>
              </a:rPr>
              <a:t>Course #</a:t>
            </a:r>
          </a:p>
          <a:p>
            <a:pPr defTabSz="914400"/>
            <a:r>
              <a:rPr lang="en-US" sz="2000" dirty="0" err="1">
                <a:solidFill>
                  <a:srgbClr val="292934"/>
                </a:solidFill>
                <a:latin typeface="Arial"/>
              </a:rPr>
              <a:t>Dept</a:t>
            </a:r>
            <a:endParaRPr lang="en-US" sz="2000" dirty="0">
              <a:solidFill>
                <a:srgbClr val="292934"/>
              </a:solidFill>
              <a:latin typeface="Arial"/>
            </a:endParaRPr>
          </a:p>
        </p:txBody>
      </p:sp>
      <p:sp>
        <p:nvSpPr>
          <p:cNvPr id="23" name="Rectangle 22">
            <a:extLst>
              <a:ext uri="{FF2B5EF4-FFF2-40B4-BE49-F238E27FC236}">
                <a16:creationId xmlns:a16="http://schemas.microsoft.com/office/drawing/2014/main" id="{BFDE4CF8-E58E-4FD7-972E-46408F28853C}"/>
              </a:ext>
            </a:extLst>
          </p:cNvPr>
          <p:cNvSpPr/>
          <p:nvPr/>
        </p:nvSpPr>
        <p:spPr>
          <a:xfrm>
            <a:off x="6392178" y="1728574"/>
            <a:ext cx="1787658" cy="158680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24" name="TextBox 23">
            <a:extLst>
              <a:ext uri="{FF2B5EF4-FFF2-40B4-BE49-F238E27FC236}">
                <a16:creationId xmlns:a16="http://schemas.microsoft.com/office/drawing/2014/main" id="{DB875BFA-087F-47CD-B286-9C1C4FADCF80}"/>
              </a:ext>
            </a:extLst>
          </p:cNvPr>
          <p:cNvSpPr txBox="1"/>
          <p:nvPr/>
        </p:nvSpPr>
        <p:spPr>
          <a:xfrm>
            <a:off x="6392178" y="1164374"/>
            <a:ext cx="1821418"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Section</a:t>
            </a:r>
          </a:p>
        </p:txBody>
      </p:sp>
      <p:sp>
        <p:nvSpPr>
          <p:cNvPr id="19" name="Title 13"/>
          <p:cNvSpPr>
            <a:spLocks noGrp="1"/>
          </p:cNvSpPr>
          <p:nvPr>
            <p:ph type="title"/>
          </p:nvPr>
        </p:nvSpPr>
        <p:spPr>
          <a:xfrm>
            <a:off x="457200" y="533400"/>
            <a:ext cx="8229600" cy="990600"/>
          </a:xfrm>
        </p:spPr>
        <p:txBody>
          <a:bodyPr>
            <a:normAutofit fontScale="90000"/>
          </a:bodyPr>
          <a:lstStyle/>
          <a:p>
            <a:r>
              <a:rPr lang="en-US" dirty="0"/>
              <a:t>ER Diagram</a:t>
            </a:r>
            <a:br>
              <a:rPr lang="en-US" dirty="0"/>
            </a:br>
            <a:r>
              <a:rPr lang="en-US" sz="3100" dirty="0"/>
              <a:t>Now adding in Cardinality</a:t>
            </a:r>
            <a:endParaRPr lang="en-US" dirty="0"/>
          </a:p>
        </p:txBody>
      </p:sp>
      <p:cxnSp>
        <p:nvCxnSpPr>
          <p:cNvPr id="26" name="Straight Connector 25">
            <a:extLst>
              <a:ext uri="{FF2B5EF4-FFF2-40B4-BE49-F238E27FC236}">
                <a16:creationId xmlns:a16="http://schemas.microsoft.com/office/drawing/2014/main" id="{911C53A8-B362-4C9B-A863-40A35DDB03FD}"/>
              </a:ext>
            </a:extLst>
          </p:cNvPr>
          <p:cNvCxnSpPr/>
          <p:nvPr/>
        </p:nvCxnSpPr>
        <p:spPr>
          <a:xfrm flipV="1">
            <a:off x="2602296" y="2514157"/>
            <a:ext cx="3789882" cy="7244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5A6CC33-4012-4D70-BF1C-CC66739EDB1A}"/>
              </a:ext>
            </a:extLst>
          </p:cNvPr>
          <p:cNvCxnSpPr/>
          <p:nvPr/>
        </p:nvCxnSpPr>
        <p:spPr>
          <a:xfrm flipH="1">
            <a:off x="5877759" y="3339576"/>
            <a:ext cx="1526259" cy="145925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1944505-1EBC-4E82-A422-4A6531D8045E}"/>
                  </a:ext>
                </a:extLst>
              </p:cNvPr>
              <p:cNvSpPr txBox="1"/>
              <p:nvPr/>
            </p:nvSpPr>
            <p:spPr>
              <a:xfrm>
                <a:off x="2448588" y="2869297"/>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8" name="TextBox 27">
                <a:extLst>
                  <a:ext uri="{FF2B5EF4-FFF2-40B4-BE49-F238E27FC236}">
                    <a16:creationId xmlns:a16="http://schemas.microsoft.com/office/drawing/2014/main" id="{A1944505-1EBC-4E82-A422-4A6531D8045E}"/>
                  </a:ext>
                </a:extLst>
              </p:cNvPr>
              <p:cNvSpPr txBox="1">
                <a:spLocks noRot="1" noChangeAspect="1" noMove="1" noResize="1" noEditPoints="1" noAdjustHandles="1" noChangeArrowheads="1" noChangeShapeType="1" noTextEdit="1"/>
              </p:cNvSpPr>
              <p:nvPr/>
            </p:nvSpPr>
            <p:spPr>
              <a:xfrm>
                <a:off x="2448588" y="2869297"/>
                <a:ext cx="48410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1944505-1EBC-4E82-A422-4A6531D8045E}"/>
                  </a:ext>
                </a:extLst>
              </p:cNvPr>
              <p:cNvSpPr txBox="1"/>
              <p:nvPr/>
            </p:nvSpPr>
            <p:spPr>
              <a:xfrm>
                <a:off x="7349137" y="3298596"/>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9" name="TextBox 28">
                <a:extLst>
                  <a:ext uri="{FF2B5EF4-FFF2-40B4-BE49-F238E27FC236}">
                    <a16:creationId xmlns:a16="http://schemas.microsoft.com/office/drawing/2014/main" id="{A1944505-1EBC-4E82-A422-4A6531D8045E}"/>
                  </a:ext>
                </a:extLst>
              </p:cNvPr>
              <p:cNvSpPr txBox="1">
                <a:spLocks noRot="1" noChangeAspect="1" noMove="1" noResize="1" noEditPoints="1" noAdjustHandles="1" noChangeArrowheads="1" noChangeShapeType="1" noTextEdit="1"/>
              </p:cNvSpPr>
              <p:nvPr/>
            </p:nvSpPr>
            <p:spPr>
              <a:xfrm>
                <a:off x="7349137" y="3298596"/>
                <a:ext cx="484106" cy="369332"/>
              </a:xfrm>
              <a:prstGeom prst="rect">
                <a:avLst/>
              </a:prstGeom>
              <a:blipFill>
                <a:blip r:embed="rId4"/>
                <a:stretch>
                  <a:fillRect/>
                </a:stretch>
              </a:blipFill>
            </p:spPr>
            <p:txBody>
              <a:bodyPr/>
              <a:lstStyle/>
              <a:p>
                <a:r>
                  <a:rPr lang="en-US">
                    <a:noFill/>
                  </a:rPr>
                  <a:t> </a:t>
                </a:r>
              </a:p>
            </p:txBody>
          </p:sp>
        </mc:Fallback>
      </mc:AlternateContent>
      <p:sp>
        <p:nvSpPr>
          <p:cNvPr id="30" name="TextBox 29"/>
          <p:cNvSpPr txBox="1"/>
          <p:nvPr/>
        </p:nvSpPr>
        <p:spPr>
          <a:xfrm>
            <a:off x="5877759" y="4765268"/>
            <a:ext cx="313044" cy="369332"/>
          </a:xfrm>
          <a:prstGeom prst="rect">
            <a:avLst/>
          </a:prstGeom>
          <a:noFill/>
        </p:spPr>
        <p:txBody>
          <a:bodyPr wrap="none" rtlCol="0">
            <a:spAutoFit/>
          </a:bodyPr>
          <a:lstStyle/>
          <a:p>
            <a:r>
              <a:rPr lang="en-US" dirty="0"/>
              <a:t>1</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1944505-1EBC-4E82-A422-4A6531D8045E}"/>
                  </a:ext>
                </a:extLst>
              </p:cNvPr>
              <p:cNvSpPr txBox="1"/>
              <p:nvPr/>
            </p:nvSpPr>
            <p:spPr>
              <a:xfrm>
                <a:off x="5891193" y="2178387"/>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2" name="TextBox 31">
                <a:extLst>
                  <a:ext uri="{FF2B5EF4-FFF2-40B4-BE49-F238E27FC236}">
                    <a16:creationId xmlns:a16="http://schemas.microsoft.com/office/drawing/2014/main" id="{A1944505-1EBC-4E82-A422-4A6531D8045E}"/>
                  </a:ext>
                </a:extLst>
              </p:cNvPr>
              <p:cNvSpPr txBox="1">
                <a:spLocks noRot="1" noChangeAspect="1" noMove="1" noResize="1" noEditPoints="1" noAdjustHandles="1" noChangeArrowheads="1" noChangeShapeType="1" noTextEdit="1"/>
              </p:cNvSpPr>
              <p:nvPr/>
            </p:nvSpPr>
            <p:spPr>
              <a:xfrm>
                <a:off x="5891193" y="2178387"/>
                <a:ext cx="484106" cy="369332"/>
              </a:xfrm>
              <a:prstGeom prst="rect">
                <a:avLst/>
              </a:prstGeom>
              <a:blipFill>
                <a:blip r:embed="rId5"/>
                <a:stretch>
                  <a:fillRect/>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AF975A5D-6A86-4F79-AFCA-F1C1836538D0}"/>
              </a:ext>
            </a:extLst>
          </p:cNvPr>
          <p:cNvSpPr txBox="1"/>
          <p:nvPr/>
        </p:nvSpPr>
        <p:spPr>
          <a:xfrm>
            <a:off x="6430178" y="1736967"/>
            <a:ext cx="1981437" cy="1631216"/>
          </a:xfrm>
          <a:prstGeom prst="rect">
            <a:avLst/>
          </a:prstGeom>
          <a:noFill/>
        </p:spPr>
        <p:txBody>
          <a:bodyPr wrap="square" rtlCol="0">
            <a:spAutoFit/>
          </a:bodyPr>
          <a:lstStyle/>
          <a:p>
            <a:pPr defTabSz="914400"/>
            <a:r>
              <a:rPr lang="en-US" sz="2000" dirty="0">
                <a:solidFill>
                  <a:srgbClr val="292934"/>
                </a:solidFill>
                <a:latin typeface="Arial"/>
              </a:rPr>
              <a:t>Section #</a:t>
            </a:r>
          </a:p>
          <a:p>
            <a:pPr defTabSz="914400"/>
            <a:r>
              <a:rPr lang="en-US" sz="2000" dirty="0">
                <a:solidFill>
                  <a:srgbClr val="292934"/>
                </a:solidFill>
                <a:latin typeface="Arial"/>
              </a:rPr>
              <a:t>Location</a:t>
            </a:r>
          </a:p>
          <a:p>
            <a:pPr defTabSz="914400"/>
            <a:r>
              <a:rPr lang="en-US" sz="2000" dirty="0">
                <a:solidFill>
                  <a:srgbClr val="292934"/>
                </a:solidFill>
                <a:latin typeface="Arial"/>
              </a:rPr>
              <a:t>Instructor</a:t>
            </a:r>
          </a:p>
          <a:p>
            <a:pPr defTabSz="914400"/>
            <a:r>
              <a:rPr lang="en-US" sz="2000" dirty="0">
                <a:solidFill>
                  <a:srgbClr val="292934"/>
                </a:solidFill>
                <a:latin typeface="Arial"/>
              </a:rPr>
              <a:t>Meeting Time</a:t>
            </a:r>
          </a:p>
          <a:p>
            <a:pPr defTabSz="914400"/>
            <a:r>
              <a:rPr lang="en-US" sz="2000" dirty="0">
                <a:solidFill>
                  <a:srgbClr val="292934"/>
                </a:solidFill>
                <a:latin typeface="Arial"/>
              </a:rPr>
              <a:t>Course</a:t>
            </a:r>
          </a:p>
        </p:txBody>
      </p:sp>
      <p:sp>
        <p:nvSpPr>
          <p:cNvPr id="2" name="Rectangle 1"/>
          <p:cNvSpPr/>
          <p:nvPr/>
        </p:nvSpPr>
        <p:spPr>
          <a:xfrm>
            <a:off x="6375299" y="4166493"/>
            <a:ext cx="2705643" cy="646331"/>
          </a:xfrm>
          <a:prstGeom prst="rect">
            <a:avLst/>
          </a:prstGeom>
        </p:spPr>
        <p:txBody>
          <a:bodyPr wrap="square">
            <a:spAutoFit/>
          </a:bodyPr>
          <a:lstStyle/>
          <a:p>
            <a:r>
              <a:rPr lang="en-US" dirty="0">
                <a:solidFill>
                  <a:schemeClr val="accent2"/>
                </a:solidFill>
              </a:rPr>
              <a:t>recall this relationship is </a:t>
            </a:r>
            <a:r>
              <a:rPr lang="en-US" b="1" dirty="0">
                <a:solidFill>
                  <a:schemeClr val="accent2"/>
                </a:solidFill>
              </a:rPr>
              <a:t>one-to-many</a:t>
            </a:r>
            <a:endParaRPr lang="en-US" dirty="0"/>
          </a:p>
        </p:txBody>
      </p:sp>
      <p:sp>
        <p:nvSpPr>
          <p:cNvPr id="25" name="Rectangle 24"/>
          <p:cNvSpPr/>
          <p:nvPr/>
        </p:nvSpPr>
        <p:spPr>
          <a:xfrm>
            <a:off x="2997001" y="1873483"/>
            <a:ext cx="2542191" cy="646331"/>
          </a:xfrm>
          <a:prstGeom prst="rect">
            <a:avLst/>
          </a:prstGeom>
        </p:spPr>
        <p:txBody>
          <a:bodyPr wrap="square">
            <a:spAutoFit/>
          </a:bodyPr>
          <a:lstStyle/>
          <a:p>
            <a:r>
              <a:rPr lang="en-US" dirty="0">
                <a:solidFill>
                  <a:schemeClr val="accent2"/>
                </a:solidFill>
              </a:rPr>
              <a:t>recall this relationship is </a:t>
            </a:r>
            <a:r>
              <a:rPr lang="en-US" b="1" dirty="0">
                <a:solidFill>
                  <a:schemeClr val="accent2"/>
                </a:solidFill>
              </a:rPr>
              <a:t>many-to-many</a:t>
            </a:r>
            <a:endParaRPr lang="en-US" dirty="0"/>
          </a:p>
        </p:txBody>
      </p:sp>
      <mc:AlternateContent xmlns:mc="http://schemas.openxmlformats.org/markup-compatibility/2006" xmlns:a14="http://schemas.microsoft.com/office/drawing/2010/main">
        <mc:Choice Requires="a14">
          <p:sp>
            <p:nvSpPr>
              <p:cNvPr id="31" name="Rectangle 30"/>
              <p:cNvSpPr/>
              <p:nvPr/>
            </p:nvSpPr>
            <p:spPr>
              <a:xfrm>
                <a:off x="230740" y="5098638"/>
                <a:ext cx="2885947" cy="646331"/>
              </a:xfrm>
              <a:prstGeom prst="rect">
                <a:avLst/>
              </a:prstGeom>
            </p:spPr>
            <p:txBody>
              <a:bodyPr wrap="square">
                <a:spAutoFit/>
              </a:bodyPr>
              <a:lstStyle/>
              <a:p>
                <a:r>
                  <a:rPr lang="en-US" dirty="0">
                    <a:solidFill>
                      <a:schemeClr val="accent2"/>
                    </a:solidFill>
                  </a:rPr>
                  <a:t>We denote “many” with</a:t>
                </a:r>
                <a14:m>
                  <m:oMath xmlns:m="http://schemas.openxmlformats.org/officeDocument/2006/math">
                    <m:r>
                      <a:rPr lang="en-US" b="0" i="0" smtClean="0">
                        <a:latin typeface="Cambria Math" panose="02040503050406030204" pitchFamily="18" charset="0"/>
                        <a:ea typeface="Cambria Math" panose="02040503050406030204" pitchFamily="18" charset="0"/>
                      </a:rPr>
                      <m:t>  </m:t>
                    </m:r>
                    <m:r>
                      <a:rPr lang="en-US" b="0" i="0" smtClean="0">
                        <a:solidFill>
                          <a:schemeClr val="accent2"/>
                        </a:solidFill>
                        <a:latin typeface="Cambria Math" panose="02040503050406030204" pitchFamily="18" charset="0"/>
                        <a:ea typeface="Cambria Math" panose="02040503050406030204" pitchFamily="18" charset="0"/>
                      </a:rPr>
                      <m:t>"</m:t>
                    </m:r>
                    <m:r>
                      <a:rPr lang="en-US" i="1" smtClean="0">
                        <a:solidFill>
                          <a:schemeClr val="accent2"/>
                        </a:solidFill>
                        <a:latin typeface="Cambria Math" panose="02040503050406030204" pitchFamily="18" charset="0"/>
                        <a:ea typeface="Cambria Math" panose="02040503050406030204" pitchFamily="18" charset="0"/>
                      </a:rPr>
                      <m:t>∞</m:t>
                    </m:r>
                  </m:oMath>
                </a14:m>
                <a:r>
                  <a:rPr lang="en-US" dirty="0">
                    <a:solidFill>
                      <a:schemeClr val="accent2"/>
                    </a:solidFill>
                  </a:rPr>
                  <a:t> “ in ER diagrams</a:t>
                </a:r>
              </a:p>
            </p:txBody>
          </p:sp>
        </mc:Choice>
        <mc:Fallback xmlns="">
          <p:sp>
            <p:nvSpPr>
              <p:cNvPr id="31" name="Rectangle 30"/>
              <p:cNvSpPr>
                <a:spLocks noRot="1" noChangeAspect="1" noMove="1" noResize="1" noEditPoints="1" noAdjustHandles="1" noChangeArrowheads="1" noChangeShapeType="1" noTextEdit="1"/>
              </p:cNvSpPr>
              <p:nvPr/>
            </p:nvSpPr>
            <p:spPr>
              <a:xfrm>
                <a:off x="230740" y="5098638"/>
                <a:ext cx="2885947" cy="646331"/>
              </a:xfrm>
              <a:prstGeom prst="rect">
                <a:avLst/>
              </a:prstGeom>
              <a:blipFill>
                <a:blip r:embed="rId6"/>
                <a:stretch>
                  <a:fillRect l="-1903" t="-4717" b="-14151"/>
                </a:stretch>
              </a:blipFill>
            </p:spPr>
            <p:txBody>
              <a:bodyPr/>
              <a:lstStyle/>
              <a:p>
                <a:r>
                  <a:rPr lang="en-US">
                    <a:noFill/>
                  </a:rPr>
                  <a:t> </a:t>
                </a:r>
              </a:p>
            </p:txBody>
          </p:sp>
        </mc:Fallback>
      </mc:AlternateContent>
      <p:sp>
        <p:nvSpPr>
          <p:cNvPr id="3" name="Rectangle 2"/>
          <p:cNvSpPr/>
          <p:nvPr/>
        </p:nvSpPr>
        <p:spPr>
          <a:xfrm>
            <a:off x="230740" y="6287378"/>
            <a:ext cx="8017248" cy="461665"/>
          </a:xfrm>
          <a:prstGeom prst="rect">
            <a:avLst/>
          </a:prstGeom>
        </p:spPr>
        <p:txBody>
          <a:bodyPr wrap="square">
            <a:spAutoFit/>
          </a:bodyPr>
          <a:lstStyle/>
          <a:p>
            <a:r>
              <a:rPr lang="en-US" sz="2400" dirty="0"/>
              <a:t>Each </a:t>
            </a:r>
            <a:r>
              <a:rPr lang="en-US" sz="2400" b="1" dirty="0"/>
              <a:t>entity</a:t>
            </a:r>
            <a:r>
              <a:rPr lang="en-US" sz="2400" dirty="0"/>
              <a:t> becomes a </a:t>
            </a:r>
            <a:r>
              <a:rPr lang="en-US" sz="2400" b="1" dirty="0"/>
              <a:t>table</a:t>
            </a:r>
            <a:r>
              <a:rPr lang="en-US" sz="2400" dirty="0"/>
              <a:t> in the database.</a:t>
            </a:r>
          </a:p>
        </p:txBody>
      </p:sp>
    </p:spTree>
    <p:extLst>
      <p:ext uri="{BB962C8B-B14F-4D97-AF65-F5344CB8AC3E}">
        <p14:creationId xmlns:p14="http://schemas.microsoft.com/office/powerpoint/2010/main" val="222088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2" grpId="0"/>
      <p:bldP spid="2" grpId="0"/>
      <p:bldP spid="25" grpId="0"/>
      <p:bldP spid="31"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“Section” Table</a:t>
            </a:r>
          </a:p>
        </p:txBody>
      </p:sp>
      <p:sp>
        <p:nvSpPr>
          <p:cNvPr id="3" name="Content Placeholder 2"/>
          <p:cNvSpPr>
            <a:spLocks noGrp="1"/>
          </p:cNvSpPr>
          <p:nvPr>
            <p:ph idx="1"/>
          </p:nvPr>
        </p:nvSpPr>
        <p:spPr>
          <a:xfrm>
            <a:off x="0" y="1600199"/>
            <a:ext cx="3162300" cy="5134429"/>
          </a:xfrm>
        </p:spPr>
        <p:txBody>
          <a:bodyPr>
            <a:normAutofit lnSpcReduction="10000"/>
          </a:bodyPr>
          <a:lstStyle/>
          <a:p>
            <a:r>
              <a:rPr lang="en-US" dirty="0"/>
              <a:t>We can see the connection to Course – 1 course per section, many sections per course</a:t>
            </a:r>
          </a:p>
          <a:p>
            <a:r>
              <a:rPr lang="en-US" dirty="0"/>
              <a:t>How do we connect this table to the Student table?</a:t>
            </a:r>
          </a:p>
          <a:p>
            <a:pPr lvl="1"/>
            <a:r>
              <a:rPr lang="en-US" dirty="0"/>
              <a:t>Put all section students in the row?</a:t>
            </a:r>
          </a:p>
          <a:p>
            <a:pPr lvl="1"/>
            <a:r>
              <a:rPr lang="en-US" dirty="0"/>
              <a:t>What about the students’ other information (code, class year, …)?</a:t>
            </a:r>
          </a:p>
          <a:p>
            <a:r>
              <a:rPr lang="en-US" dirty="0"/>
              <a:t>Instead…</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16</a:t>
            </a:fld>
            <a:endParaRPr lang="en-US">
              <a:latin typeface="Arial"/>
            </a:endParaRPr>
          </a:p>
        </p:txBody>
      </p:sp>
      <p:pic>
        <p:nvPicPr>
          <p:cNvPr id="6" name="Picture 5"/>
          <p:cNvPicPr>
            <a:picLocks noChangeAspect="1"/>
          </p:cNvPicPr>
          <p:nvPr/>
        </p:nvPicPr>
        <p:blipFill>
          <a:blip r:embed="rId3"/>
          <a:stretch>
            <a:fillRect/>
          </a:stretch>
        </p:blipFill>
        <p:spPr>
          <a:xfrm>
            <a:off x="3162300" y="1524000"/>
            <a:ext cx="6330950" cy="4808100"/>
          </a:xfrm>
          <a:prstGeom prst="rect">
            <a:avLst/>
          </a:prstGeom>
        </p:spPr>
      </p:pic>
      <p:sp>
        <p:nvSpPr>
          <p:cNvPr id="7" name="Rectangle 6"/>
          <p:cNvSpPr/>
          <p:nvPr/>
        </p:nvSpPr>
        <p:spPr>
          <a:xfrm flipV="1">
            <a:off x="3746500" y="2501900"/>
            <a:ext cx="533400" cy="185928"/>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6253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1CE5BB-EC3E-457E-9554-BC69471D846F}"/>
              </a:ext>
            </a:extLst>
          </p:cNvPr>
          <p:cNvSpPr>
            <a:spLocks noGrp="1"/>
          </p:cNvSpPr>
          <p:nvPr>
            <p:ph type="sldNum" sz="quarter" idx="12"/>
          </p:nvPr>
        </p:nvSpPr>
        <p:spPr/>
        <p:txBody>
          <a:bodyPr/>
          <a:lstStyle/>
          <a:p>
            <a:fld id="{E345EAD5-4C19-43E8-92AC-D4AD00C5745A}" type="slidenum">
              <a:rPr lang="en-US" smtClean="0">
                <a:latin typeface="Arial"/>
              </a:rPr>
              <a:pPr/>
              <a:t>17</a:t>
            </a:fld>
            <a:endParaRPr lang="en-US">
              <a:latin typeface="Arial"/>
            </a:endParaRPr>
          </a:p>
        </p:txBody>
      </p:sp>
      <p:sp>
        <p:nvSpPr>
          <p:cNvPr id="5" name="Rectangle 4">
            <a:extLst>
              <a:ext uri="{FF2B5EF4-FFF2-40B4-BE49-F238E27FC236}">
                <a16:creationId xmlns:a16="http://schemas.microsoft.com/office/drawing/2014/main" id="{BFDE4CF8-E58E-4FD7-972E-46408F28853C}"/>
              </a:ext>
            </a:extLst>
          </p:cNvPr>
          <p:cNvSpPr/>
          <p:nvPr/>
        </p:nvSpPr>
        <p:spPr>
          <a:xfrm>
            <a:off x="713132" y="5200946"/>
            <a:ext cx="1556916" cy="13996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6" name="TextBox 5">
            <a:extLst>
              <a:ext uri="{FF2B5EF4-FFF2-40B4-BE49-F238E27FC236}">
                <a16:creationId xmlns:a16="http://schemas.microsoft.com/office/drawing/2014/main" id="{DB875BFA-087F-47CD-B286-9C1C4FADCF80}"/>
              </a:ext>
            </a:extLst>
          </p:cNvPr>
          <p:cNvSpPr txBox="1"/>
          <p:nvPr/>
        </p:nvSpPr>
        <p:spPr>
          <a:xfrm>
            <a:off x="679372" y="4604912"/>
            <a:ext cx="1590676"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Student</a:t>
            </a:r>
          </a:p>
        </p:txBody>
      </p:sp>
      <p:sp>
        <p:nvSpPr>
          <p:cNvPr id="11" name="TextBox 10">
            <a:extLst>
              <a:ext uri="{FF2B5EF4-FFF2-40B4-BE49-F238E27FC236}">
                <a16:creationId xmlns:a16="http://schemas.microsoft.com/office/drawing/2014/main" id="{AF975A5D-6A86-4F79-AFCA-F1C1836538D0}"/>
              </a:ext>
            </a:extLst>
          </p:cNvPr>
          <p:cNvSpPr txBox="1"/>
          <p:nvPr/>
        </p:nvSpPr>
        <p:spPr>
          <a:xfrm>
            <a:off x="679373" y="5186430"/>
            <a:ext cx="1590675" cy="1323439"/>
          </a:xfrm>
          <a:prstGeom prst="rect">
            <a:avLst/>
          </a:prstGeom>
          <a:noFill/>
        </p:spPr>
        <p:txBody>
          <a:bodyPr wrap="square" rtlCol="0">
            <a:spAutoFit/>
          </a:bodyPr>
          <a:lstStyle/>
          <a:p>
            <a:pPr defTabSz="914400"/>
            <a:r>
              <a:rPr lang="en-US" sz="2000" dirty="0">
                <a:solidFill>
                  <a:srgbClr val="292934"/>
                </a:solidFill>
                <a:latin typeface="Arial"/>
              </a:rPr>
              <a:t>Last Name</a:t>
            </a:r>
          </a:p>
          <a:p>
            <a:pPr defTabSz="914400"/>
            <a:r>
              <a:rPr lang="en-US" sz="2000" dirty="0">
                <a:solidFill>
                  <a:srgbClr val="292934"/>
                </a:solidFill>
                <a:latin typeface="Arial"/>
              </a:rPr>
              <a:t>First Name</a:t>
            </a:r>
          </a:p>
          <a:p>
            <a:pPr defTabSz="914400"/>
            <a:r>
              <a:rPr lang="en-US" sz="2000" dirty="0">
                <a:solidFill>
                  <a:srgbClr val="292934"/>
                </a:solidFill>
                <a:latin typeface="Arial"/>
              </a:rPr>
              <a:t>Student ID#</a:t>
            </a:r>
          </a:p>
          <a:p>
            <a:pPr defTabSz="914400"/>
            <a:r>
              <a:rPr lang="en-US" sz="2000" dirty="0">
                <a:solidFill>
                  <a:srgbClr val="292934"/>
                </a:solidFill>
                <a:latin typeface="Arial"/>
              </a:rPr>
              <a:t>Grad </a:t>
            </a:r>
            <a:r>
              <a:rPr lang="en-US" sz="2000" dirty="0" err="1">
                <a:solidFill>
                  <a:srgbClr val="292934"/>
                </a:solidFill>
                <a:latin typeface="Arial"/>
              </a:rPr>
              <a:t>Yr</a:t>
            </a:r>
            <a:endParaRPr lang="en-US" sz="2000" dirty="0">
              <a:solidFill>
                <a:srgbClr val="292934"/>
              </a:solidFill>
              <a:latin typeface="Arial"/>
            </a:endParaRPr>
          </a:p>
        </p:txBody>
      </p:sp>
      <p:sp>
        <p:nvSpPr>
          <p:cNvPr id="20" name="Rectangle 19">
            <a:extLst>
              <a:ext uri="{FF2B5EF4-FFF2-40B4-BE49-F238E27FC236}">
                <a16:creationId xmlns:a16="http://schemas.microsoft.com/office/drawing/2014/main" id="{BFDE4CF8-E58E-4FD7-972E-46408F28853C}"/>
              </a:ext>
            </a:extLst>
          </p:cNvPr>
          <p:cNvSpPr/>
          <p:nvPr/>
        </p:nvSpPr>
        <p:spPr>
          <a:xfrm>
            <a:off x="4090101" y="5767348"/>
            <a:ext cx="1787658" cy="10156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21" name="TextBox 20">
            <a:extLst>
              <a:ext uri="{FF2B5EF4-FFF2-40B4-BE49-F238E27FC236}">
                <a16:creationId xmlns:a16="http://schemas.microsoft.com/office/drawing/2014/main" id="{DB875BFA-087F-47CD-B286-9C1C4FADCF80}"/>
              </a:ext>
            </a:extLst>
          </p:cNvPr>
          <p:cNvSpPr txBox="1"/>
          <p:nvPr/>
        </p:nvSpPr>
        <p:spPr>
          <a:xfrm>
            <a:off x="4056341" y="5214858"/>
            <a:ext cx="1821418"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Course</a:t>
            </a:r>
          </a:p>
        </p:txBody>
      </p:sp>
      <p:sp>
        <p:nvSpPr>
          <p:cNvPr id="22" name="TextBox 21">
            <a:extLst>
              <a:ext uri="{FF2B5EF4-FFF2-40B4-BE49-F238E27FC236}">
                <a16:creationId xmlns:a16="http://schemas.microsoft.com/office/drawing/2014/main" id="{AF975A5D-6A86-4F79-AFCA-F1C1836538D0}"/>
              </a:ext>
            </a:extLst>
          </p:cNvPr>
          <p:cNvSpPr txBox="1"/>
          <p:nvPr/>
        </p:nvSpPr>
        <p:spPr>
          <a:xfrm>
            <a:off x="4056342" y="5767348"/>
            <a:ext cx="1981437" cy="1015663"/>
          </a:xfrm>
          <a:prstGeom prst="rect">
            <a:avLst/>
          </a:prstGeom>
          <a:noFill/>
        </p:spPr>
        <p:txBody>
          <a:bodyPr wrap="square" rtlCol="0">
            <a:spAutoFit/>
          </a:bodyPr>
          <a:lstStyle/>
          <a:p>
            <a:pPr defTabSz="914400"/>
            <a:r>
              <a:rPr lang="en-US" sz="2000" dirty="0">
                <a:solidFill>
                  <a:srgbClr val="292934"/>
                </a:solidFill>
                <a:latin typeface="Arial"/>
              </a:rPr>
              <a:t>Course Name</a:t>
            </a:r>
          </a:p>
          <a:p>
            <a:pPr defTabSz="914400"/>
            <a:r>
              <a:rPr lang="en-US" sz="2000" dirty="0">
                <a:solidFill>
                  <a:srgbClr val="292934"/>
                </a:solidFill>
                <a:latin typeface="Arial"/>
              </a:rPr>
              <a:t>Course #</a:t>
            </a:r>
          </a:p>
          <a:p>
            <a:pPr defTabSz="914400"/>
            <a:r>
              <a:rPr lang="en-US" sz="2000" dirty="0" err="1">
                <a:solidFill>
                  <a:srgbClr val="292934"/>
                </a:solidFill>
                <a:latin typeface="Arial"/>
              </a:rPr>
              <a:t>Dept</a:t>
            </a:r>
            <a:endParaRPr lang="en-US" sz="2000" dirty="0">
              <a:solidFill>
                <a:srgbClr val="292934"/>
              </a:solidFill>
              <a:latin typeface="Arial"/>
            </a:endParaRPr>
          </a:p>
        </p:txBody>
      </p:sp>
      <p:sp>
        <p:nvSpPr>
          <p:cNvPr id="23" name="Rectangle 22">
            <a:extLst>
              <a:ext uri="{FF2B5EF4-FFF2-40B4-BE49-F238E27FC236}">
                <a16:creationId xmlns:a16="http://schemas.microsoft.com/office/drawing/2014/main" id="{BFDE4CF8-E58E-4FD7-972E-46408F28853C}"/>
              </a:ext>
            </a:extLst>
          </p:cNvPr>
          <p:cNvSpPr/>
          <p:nvPr/>
        </p:nvSpPr>
        <p:spPr>
          <a:xfrm>
            <a:off x="6392178" y="2563260"/>
            <a:ext cx="1787658" cy="18766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24" name="TextBox 23">
            <a:extLst>
              <a:ext uri="{FF2B5EF4-FFF2-40B4-BE49-F238E27FC236}">
                <a16:creationId xmlns:a16="http://schemas.microsoft.com/office/drawing/2014/main" id="{DB875BFA-087F-47CD-B286-9C1C4FADCF80}"/>
              </a:ext>
            </a:extLst>
          </p:cNvPr>
          <p:cNvSpPr txBox="1"/>
          <p:nvPr/>
        </p:nvSpPr>
        <p:spPr>
          <a:xfrm>
            <a:off x="6409057" y="2012782"/>
            <a:ext cx="1821418"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Section</a:t>
            </a:r>
          </a:p>
        </p:txBody>
      </p:sp>
      <p:sp>
        <p:nvSpPr>
          <p:cNvPr id="25" name="TextBox 24">
            <a:extLst>
              <a:ext uri="{FF2B5EF4-FFF2-40B4-BE49-F238E27FC236}">
                <a16:creationId xmlns:a16="http://schemas.microsoft.com/office/drawing/2014/main" id="{AF975A5D-6A86-4F79-AFCA-F1C1836538D0}"/>
              </a:ext>
            </a:extLst>
          </p:cNvPr>
          <p:cNvSpPr txBox="1"/>
          <p:nvPr/>
        </p:nvSpPr>
        <p:spPr>
          <a:xfrm>
            <a:off x="6409057" y="2627408"/>
            <a:ext cx="1981437" cy="1631216"/>
          </a:xfrm>
          <a:prstGeom prst="rect">
            <a:avLst/>
          </a:prstGeom>
          <a:noFill/>
        </p:spPr>
        <p:txBody>
          <a:bodyPr wrap="square" rtlCol="0">
            <a:spAutoFit/>
          </a:bodyPr>
          <a:lstStyle/>
          <a:p>
            <a:pPr defTabSz="914400"/>
            <a:r>
              <a:rPr lang="en-US" sz="2000" dirty="0">
                <a:solidFill>
                  <a:srgbClr val="292934"/>
                </a:solidFill>
                <a:latin typeface="Arial"/>
              </a:rPr>
              <a:t>Section #</a:t>
            </a:r>
          </a:p>
          <a:p>
            <a:pPr defTabSz="914400"/>
            <a:r>
              <a:rPr lang="en-US" sz="2000" dirty="0">
                <a:solidFill>
                  <a:srgbClr val="292934"/>
                </a:solidFill>
                <a:latin typeface="Arial"/>
              </a:rPr>
              <a:t>Location</a:t>
            </a:r>
          </a:p>
          <a:p>
            <a:pPr defTabSz="914400"/>
            <a:r>
              <a:rPr lang="en-US" sz="2000" dirty="0">
                <a:solidFill>
                  <a:srgbClr val="292934"/>
                </a:solidFill>
                <a:latin typeface="Arial"/>
              </a:rPr>
              <a:t>Instructor</a:t>
            </a:r>
          </a:p>
          <a:p>
            <a:pPr defTabSz="914400"/>
            <a:r>
              <a:rPr lang="en-US" sz="2000" dirty="0">
                <a:solidFill>
                  <a:srgbClr val="292934"/>
                </a:solidFill>
                <a:latin typeface="Arial"/>
              </a:rPr>
              <a:t>Meeting Time</a:t>
            </a:r>
          </a:p>
          <a:p>
            <a:pPr defTabSz="914400"/>
            <a:r>
              <a:rPr lang="en-US" sz="2000" dirty="0">
                <a:solidFill>
                  <a:srgbClr val="292934"/>
                </a:solidFill>
                <a:latin typeface="Arial"/>
              </a:rPr>
              <a:t>Course</a:t>
            </a:r>
          </a:p>
        </p:txBody>
      </p:sp>
      <p:sp>
        <p:nvSpPr>
          <p:cNvPr id="19" name="Title 13"/>
          <p:cNvSpPr>
            <a:spLocks noGrp="1"/>
          </p:cNvSpPr>
          <p:nvPr>
            <p:ph type="title"/>
          </p:nvPr>
        </p:nvSpPr>
        <p:spPr>
          <a:xfrm>
            <a:off x="522112" y="358358"/>
            <a:ext cx="8229600" cy="990600"/>
          </a:xfrm>
        </p:spPr>
        <p:txBody>
          <a:bodyPr>
            <a:normAutofit fontScale="90000"/>
          </a:bodyPr>
          <a:lstStyle/>
          <a:p>
            <a:r>
              <a:rPr lang="en-US" dirty="0"/>
              <a:t>Create a new table between entities in a many-to-many relationship</a:t>
            </a:r>
          </a:p>
        </p:txBody>
      </p:sp>
      <p:cxnSp>
        <p:nvCxnSpPr>
          <p:cNvPr id="26" name="Straight Connector 25">
            <a:extLst>
              <a:ext uri="{FF2B5EF4-FFF2-40B4-BE49-F238E27FC236}">
                <a16:creationId xmlns:a16="http://schemas.microsoft.com/office/drawing/2014/main" id="{911C53A8-B362-4C9B-A863-40A35DDB03FD}"/>
              </a:ext>
            </a:extLst>
          </p:cNvPr>
          <p:cNvCxnSpPr/>
          <p:nvPr/>
        </p:nvCxnSpPr>
        <p:spPr>
          <a:xfrm flipV="1">
            <a:off x="2262733" y="3966472"/>
            <a:ext cx="4146324" cy="1737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5A6CC33-4012-4D70-BF1C-CC66739EDB1A}"/>
              </a:ext>
            </a:extLst>
          </p:cNvPr>
          <p:cNvCxnSpPr/>
          <p:nvPr/>
        </p:nvCxnSpPr>
        <p:spPr>
          <a:xfrm flipH="1">
            <a:off x="5877760" y="4439956"/>
            <a:ext cx="1365650" cy="107007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1944505-1EBC-4E82-A422-4A6531D8045E}"/>
                  </a:ext>
                </a:extLst>
              </p:cNvPr>
              <p:cNvSpPr txBox="1"/>
              <p:nvPr/>
            </p:nvSpPr>
            <p:spPr>
              <a:xfrm>
                <a:off x="2179127" y="5228250"/>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8" name="TextBox 27">
                <a:extLst>
                  <a:ext uri="{FF2B5EF4-FFF2-40B4-BE49-F238E27FC236}">
                    <a16:creationId xmlns:a16="http://schemas.microsoft.com/office/drawing/2014/main" id="{A1944505-1EBC-4E82-A422-4A6531D8045E}"/>
                  </a:ext>
                </a:extLst>
              </p:cNvPr>
              <p:cNvSpPr txBox="1">
                <a:spLocks noRot="1" noChangeAspect="1" noMove="1" noResize="1" noEditPoints="1" noAdjustHandles="1" noChangeArrowheads="1" noChangeShapeType="1" noTextEdit="1"/>
              </p:cNvSpPr>
              <p:nvPr/>
            </p:nvSpPr>
            <p:spPr>
              <a:xfrm>
                <a:off x="2179127" y="5228250"/>
                <a:ext cx="48410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1944505-1EBC-4E82-A422-4A6531D8045E}"/>
                  </a:ext>
                </a:extLst>
              </p:cNvPr>
              <p:cNvSpPr txBox="1"/>
              <p:nvPr/>
            </p:nvSpPr>
            <p:spPr>
              <a:xfrm>
                <a:off x="7098247" y="4439956"/>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9" name="TextBox 28">
                <a:extLst>
                  <a:ext uri="{FF2B5EF4-FFF2-40B4-BE49-F238E27FC236}">
                    <a16:creationId xmlns:a16="http://schemas.microsoft.com/office/drawing/2014/main" id="{A1944505-1EBC-4E82-A422-4A6531D8045E}"/>
                  </a:ext>
                </a:extLst>
              </p:cNvPr>
              <p:cNvSpPr txBox="1">
                <a:spLocks noRot="1" noChangeAspect="1" noMove="1" noResize="1" noEditPoints="1" noAdjustHandles="1" noChangeArrowheads="1" noChangeShapeType="1" noTextEdit="1"/>
              </p:cNvSpPr>
              <p:nvPr/>
            </p:nvSpPr>
            <p:spPr>
              <a:xfrm>
                <a:off x="7098247" y="4439956"/>
                <a:ext cx="484106" cy="369332"/>
              </a:xfrm>
              <a:prstGeom prst="rect">
                <a:avLst/>
              </a:prstGeom>
              <a:blipFill>
                <a:blip r:embed="rId4"/>
                <a:stretch>
                  <a:fillRect/>
                </a:stretch>
              </a:blipFill>
            </p:spPr>
            <p:txBody>
              <a:bodyPr/>
              <a:lstStyle/>
              <a:p>
                <a:r>
                  <a:rPr lang="en-US">
                    <a:noFill/>
                  </a:rPr>
                  <a:t> </a:t>
                </a:r>
              </a:p>
            </p:txBody>
          </p:sp>
        </mc:Fallback>
      </mc:AlternateContent>
      <p:sp>
        <p:nvSpPr>
          <p:cNvPr id="30" name="TextBox 29"/>
          <p:cNvSpPr txBox="1"/>
          <p:nvPr/>
        </p:nvSpPr>
        <p:spPr>
          <a:xfrm>
            <a:off x="5877759" y="5476468"/>
            <a:ext cx="313044" cy="369332"/>
          </a:xfrm>
          <a:prstGeom prst="rect">
            <a:avLst/>
          </a:prstGeom>
          <a:noFill/>
        </p:spPr>
        <p:txBody>
          <a:bodyPr wrap="none" rtlCol="0">
            <a:spAutoFit/>
          </a:bodyPr>
          <a:lstStyle/>
          <a:p>
            <a:r>
              <a:rPr lang="en-US" dirty="0"/>
              <a:t>1</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1944505-1EBC-4E82-A422-4A6531D8045E}"/>
                  </a:ext>
                </a:extLst>
              </p:cNvPr>
              <p:cNvSpPr txBox="1"/>
              <p:nvPr/>
            </p:nvSpPr>
            <p:spPr>
              <a:xfrm>
                <a:off x="5924951" y="3636662"/>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2" name="TextBox 31">
                <a:extLst>
                  <a:ext uri="{FF2B5EF4-FFF2-40B4-BE49-F238E27FC236}">
                    <a16:creationId xmlns:a16="http://schemas.microsoft.com/office/drawing/2014/main" id="{A1944505-1EBC-4E82-A422-4A6531D8045E}"/>
                  </a:ext>
                </a:extLst>
              </p:cNvPr>
              <p:cNvSpPr txBox="1">
                <a:spLocks noRot="1" noChangeAspect="1" noMove="1" noResize="1" noEditPoints="1" noAdjustHandles="1" noChangeArrowheads="1" noChangeShapeType="1" noTextEdit="1"/>
              </p:cNvSpPr>
              <p:nvPr/>
            </p:nvSpPr>
            <p:spPr>
              <a:xfrm>
                <a:off x="5924951" y="3636662"/>
                <a:ext cx="484106" cy="369332"/>
              </a:xfrm>
              <a:prstGeom prst="rect">
                <a:avLst/>
              </a:prstGeom>
              <a:blipFill>
                <a:blip r:embed="rId5"/>
                <a:stretch>
                  <a:fillRect/>
                </a:stretch>
              </a:blipFill>
            </p:spPr>
            <p:txBody>
              <a:bodyPr/>
              <a:lstStyle/>
              <a:p>
                <a:r>
                  <a:rPr lang="en-US">
                    <a:noFill/>
                  </a:rPr>
                  <a:t> </a:t>
                </a:r>
              </a:p>
            </p:txBody>
          </p:sp>
        </mc:Fallback>
      </mc:AlternateContent>
      <p:cxnSp>
        <p:nvCxnSpPr>
          <p:cNvPr id="7" name="Straight Connector 6"/>
          <p:cNvCxnSpPr/>
          <p:nvPr/>
        </p:nvCxnSpPr>
        <p:spPr>
          <a:xfrm flipV="1">
            <a:off x="4263390" y="3428140"/>
            <a:ext cx="0" cy="1381148"/>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B875BFA-087F-47CD-B286-9C1C4FADCF80}"/>
              </a:ext>
            </a:extLst>
          </p:cNvPr>
          <p:cNvSpPr txBox="1"/>
          <p:nvPr/>
        </p:nvSpPr>
        <p:spPr>
          <a:xfrm>
            <a:off x="3807629" y="1569920"/>
            <a:ext cx="1821418" cy="954107"/>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Student-Section</a:t>
            </a:r>
          </a:p>
        </p:txBody>
      </p:sp>
      <p:sp>
        <p:nvSpPr>
          <p:cNvPr id="35" name="TextBox 34">
            <a:extLst>
              <a:ext uri="{FF2B5EF4-FFF2-40B4-BE49-F238E27FC236}">
                <a16:creationId xmlns:a16="http://schemas.microsoft.com/office/drawing/2014/main" id="{AF975A5D-6A86-4F79-AFCA-F1C1836538D0}"/>
              </a:ext>
            </a:extLst>
          </p:cNvPr>
          <p:cNvSpPr txBox="1"/>
          <p:nvPr/>
        </p:nvSpPr>
        <p:spPr>
          <a:xfrm>
            <a:off x="3841919" y="2626810"/>
            <a:ext cx="1981437" cy="707886"/>
          </a:xfrm>
          <a:prstGeom prst="rect">
            <a:avLst/>
          </a:prstGeom>
          <a:noFill/>
        </p:spPr>
        <p:txBody>
          <a:bodyPr wrap="square" rtlCol="0">
            <a:spAutoFit/>
          </a:bodyPr>
          <a:lstStyle/>
          <a:p>
            <a:pPr defTabSz="914400"/>
            <a:r>
              <a:rPr lang="en-US" sz="2000" dirty="0">
                <a:solidFill>
                  <a:srgbClr val="292934"/>
                </a:solidFill>
                <a:latin typeface="Arial"/>
              </a:rPr>
              <a:t>Student ID #</a:t>
            </a:r>
          </a:p>
          <a:p>
            <a:pPr defTabSz="914400"/>
            <a:r>
              <a:rPr lang="en-US" sz="2000" dirty="0">
                <a:solidFill>
                  <a:srgbClr val="292934"/>
                </a:solidFill>
                <a:latin typeface="Arial"/>
              </a:rPr>
              <a:t>Section #</a:t>
            </a:r>
          </a:p>
        </p:txBody>
      </p:sp>
      <p:sp>
        <p:nvSpPr>
          <p:cNvPr id="40" name="Rectangle 39">
            <a:extLst>
              <a:ext uri="{FF2B5EF4-FFF2-40B4-BE49-F238E27FC236}">
                <a16:creationId xmlns:a16="http://schemas.microsoft.com/office/drawing/2014/main" id="{BFDE4CF8-E58E-4FD7-972E-46408F28853C}"/>
              </a:ext>
            </a:extLst>
          </p:cNvPr>
          <p:cNvSpPr/>
          <p:nvPr/>
        </p:nvSpPr>
        <p:spPr>
          <a:xfrm>
            <a:off x="3841389" y="2526080"/>
            <a:ext cx="1787658" cy="90934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3" name="Rectangle 2"/>
          <p:cNvSpPr/>
          <p:nvPr/>
        </p:nvSpPr>
        <p:spPr>
          <a:xfrm>
            <a:off x="188067" y="1458393"/>
            <a:ext cx="3386443" cy="3139321"/>
          </a:xfrm>
          <a:prstGeom prst="rect">
            <a:avLst/>
          </a:prstGeom>
        </p:spPr>
        <p:txBody>
          <a:bodyPr wrap="square">
            <a:spAutoFit/>
          </a:bodyPr>
          <a:lstStyle/>
          <a:p>
            <a:r>
              <a:rPr lang="en-US" dirty="0"/>
              <a:t>The new table contains the primary keys from each of the original tables (linking it to each of those tables)</a:t>
            </a:r>
          </a:p>
          <a:p>
            <a:endParaRPr lang="en-US" dirty="0"/>
          </a:p>
          <a:p>
            <a:r>
              <a:rPr lang="en-US" dirty="0"/>
              <a:t>These keys are called “</a:t>
            </a:r>
            <a:r>
              <a:rPr lang="en-US" b="1" dirty="0"/>
              <a:t>foreign keys”</a:t>
            </a:r>
            <a:r>
              <a:rPr lang="en-US" dirty="0"/>
              <a:t> since they are (primary) keys from a “foreign” table</a:t>
            </a:r>
          </a:p>
          <a:p>
            <a:endParaRPr lang="en-US" dirty="0"/>
          </a:p>
          <a:p>
            <a:r>
              <a:rPr lang="en-US" dirty="0"/>
              <a:t>Additional fields can be added as needed/desired</a:t>
            </a:r>
          </a:p>
        </p:txBody>
      </p:sp>
    </p:spTree>
    <p:extLst>
      <p:ext uri="{BB962C8B-B14F-4D97-AF65-F5344CB8AC3E}">
        <p14:creationId xmlns:p14="http://schemas.microsoft.com/office/powerpoint/2010/main" val="1920375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40" grpId="0" animBg="1"/>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1CE5BB-EC3E-457E-9554-BC69471D846F}"/>
              </a:ext>
            </a:extLst>
          </p:cNvPr>
          <p:cNvSpPr>
            <a:spLocks noGrp="1"/>
          </p:cNvSpPr>
          <p:nvPr>
            <p:ph type="sldNum" sz="quarter" idx="12"/>
          </p:nvPr>
        </p:nvSpPr>
        <p:spPr/>
        <p:txBody>
          <a:bodyPr/>
          <a:lstStyle/>
          <a:p>
            <a:fld id="{E345EAD5-4C19-43E8-92AC-D4AD00C5745A}" type="slidenum">
              <a:rPr lang="en-US" smtClean="0">
                <a:latin typeface="Arial"/>
              </a:rPr>
              <a:pPr/>
              <a:t>18</a:t>
            </a:fld>
            <a:endParaRPr lang="en-US">
              <a:latin typeface="Arial"/>
            </a:endParaRPr>
          </a:p>
        </p:txBody>
      </p:sp>
      <p:sp>
        <p:nvSpPr>
          <p:cNvPr id="5" name="Rectangle 4">
            <a:extLst>
              <a:ext uri="{FF2B5EF4-FFF2-40B4-BE49-F238E27FC236}">
                <a16:creationId xmlns:a16="http://schemas.microsoft.com/office/drawing/2014/main" id="{BFDE4CF8-E58E-4FD7-972E-46408F28853C}"/>
              </a:ext>
            </a:extLst>
          </p:cNvPr>
          <p:cNvSpPr/>
          <p:nvPr/>
        </p:nvSpPr>
        <p:spPr>
          <a:xfrm>
            <a:off x="713132" y="5200946"/>
            <a:ext cx="1556916" cy="13996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6" name="TextBox 5">
            <a:extLst>
              <a:ext uri="{FF2B5EF4-FFF2-40B4-BE49-F238E27FC236}">
                <a16:creationId xmlns:a16="http://schemas.microsoft.com/office/drawing/2014/main" id="{DB875BFA-087F-47CD-B286-9C1C4FADCF80}"/>
              </a:ext>
            </a:extLst>
          </p:cNvPr>
          <p:cNvSpPr txBox="1"/>
          <p:nvPr/>
        </p:nvSpPr>
        <p:spPr>
          <a:xfrm>
            <a:off x="679372" y="4604912"/>
            <a:ext cx="1590676"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Student</a:t>
            </a:r>
          </a:p>
        </p:txBody>
      </p:sp>
      <p:sp>
        <p:nvSpPr>
          <p:cNvPr id="11" name="TextBox 10">
            <a:extLst>
              <a:ext uri="{FF2B5EF4-FFF2-40B4-BE49-F238E27FC236}">
                <a16:creationId xmlns:a16="http://schemas.microsoft.com/office/drawing/2014/main" id="{AF975A5D-6A86-4F79-AFCA-F1C1836538D0}"/>
              </a:ext>
            </a:extLst>
          </p:cNvPr>
          <p:cNvSpPr txBox="1"/>
          <p:nvPr/>
        </p:nvSpPr>
        <p:spPr>
          <a:xfrm>
            <a:off x="679373" y="5186430"/>
            <a:ext cx="1590675" cy="1323439"/>
          </a:xfrm>
          <a:prstGeom prst="rect">
            <a:avLst/>
          </a:prstGeom>
          <a:noFill/>
        </p:spPr>
        <p:txBody>
          <a:bodyPr wrap="square" rtlCol="0">
            <a:spAutoFit/>
          </a:bodyPr>
          <a:lstStyle/>
          <a:p>
            <a:pPr defTabSz="914400"/>
            <a:r>
              <a:rPr lang="en-US" sz="2000" dirty="0">
                <a:solidFill>
                  <a:srgbClr val="292934"/>
                </a:solidFill>
                <a:latin typeface="Arial"/>
              </a:rPr>
              <a:t>Last Name</a:t>
            </a:r>
          </a:p>
          <a:p>
            <a:pPr defTabSz="914400"/>
            <a:r>
              <a:rPr lang="en-US" sz="2000" dirty="0">
                <a:solidFill>
                  <a:srgbClr val="292934"/>
                </a:solidFill>
                <a:latin typeface="Arial"/>
              </a:rPr>
              <a:t>First Name</a:t>
            </a:r>
          </a:p>
          <a:p>
            <a:pPr defTabSz="914400"/>
            <a:r>
              <a:rPr lang="en-US" sz="2000" dirty="0">
                <a:solidFill>
                  <a:srgbClr val="292934"/>
                </a:solidFill>
                <a:latin typeface="Arial"/>
              </a:rPr>
              <a:t>Student ID#</a:t>
            </a:r>
          </a:p>
          <a:p>
            <a:pPr defTabSz="914400"/>
            <a:r>
              <a:rPr lang="en-US" sz="2000" dirty="0">
                <a:solidFill>
                  <a:srgbClr val="292934"/>
                </a:solidFill>
                <a:latin typeface="Arial"/>
              </a:rPr>
              <a:t>Grad </a:t>
            </a:r>
            <a:r>
              <a:rPr lang="en-US" sz="2000" dirty="0" err="1">
                <a:solidFill>
                  <a:srgbClr val="292934"/>
                </a:solidFill>
                <a:latin typeface="Arial"/>
              </a:rPr>
              <a:t>Yr</a:t>
            </a:r>
            <a:endParaRPr lang="en-US" sz="2000" dirty="0">
              <a:solidFill>
                <a:srgbClr val="292934"/>
              </a:solidFill>
              <a:latin typeface="Arial"/>
            </a:endParaRPr>
          </a:p>
        </p:txBody>
      </p:sp>
      <p:sp>
        <p:nvSpPr>
          <p:cNvPr id="20" name="Rectangle 19">
            <a:extLst>
              <a:ext uri="{FF2B5EF4-FFF2-40B4-BE49-F238E27FC236}">
                <a16:creationId xmlns:a16="http://schemas.microsoft.com/office/drawing/2014/main" id="{BFDE4CF8-E58E-4FD7-972E-46408F28853C}"/>
              </a:ext>
            </a:extLst>
          </p:cNvPr>
          <p:cNvSpPr/>
          <p:nvPr/>
        </p:nvSpPr>
        <p:spPr>
          <a:xfrm>
            <a:off x="4090101" y="5767348"/>
            <a:ext cx="1787658" cy="10156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21" name="TextBox 20">
            <a:extLst>
              <a:ext uri="{FF2B5EF4-FFF2-40B4-BE49-F238E27FC236}">
                <a16:creationId xmlns:a16="http://schemas.microsoft.com/office/drawing/2014/main" id="{DB875BFA-087F-47CD-B286-9C1C4FADCF80}"/>
              </a:ext>
            </a:extLst>
          </p:cNvPr>
          <p:cNvSpPr txBox="1"/>
          <p:nvPr/>
        </p:nvSpPr>
        <p:spPr>
          <a:xfrm>
            <a:off x="4056341" y="5214858"/>
            <a:ext cx="1821418"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Course</a:t>
            </a:r>
          </a:p>
        </p:txBody>
      </p:sp>
      <p:sp>
        <p:nvSpPr>
          <p:cNvPr id="22" name="TextBox 21">
            <a:extLst>
              <a:ext uri="{FF2B5EF4-FFF2-40B4-BE49-F238E27FC236}">
                <a16:creationId xmlns:a16="http://schemas.microsoft.com/office/drawing/2014/main" id="{AF975A5D-6A86-4F79-AFCA-F1C1836538D0}"/>
              </a:ext>
            </a:extLst>
          </p:cNvPr>
          <p:cNvSpPr txBox="1"/>
          <p:nvPr/>
        </p:nvSpPr>
        <p:spPr>
          <a:xfrm>
            <a:off x="4056342" y="5767348"/>
            <a:ext cx="1981437" cy="1015663"/>
          </a:xfrm>
          <a:prstGeom prst="rect">
            <a:avLst/>
          </a:prstGeom>
          <a:noFill/>
        </p:spPr>
        <p:txBody>
          <a:bodyPr wrap="square" rtlCol="0">
            <a:spAutoFit/>
          </a:bodyPr>
          <a:lstStyle/>
          <a:p>
            <a:pPr defTabSz="914400"/>
            <a:r>
              <a:rPr lang="en-US" sz="2000" dirty="0">
                <a:solidFill>
                  <a:srgbClr val="292934"/>
                </a:solidFill>
                <a:latin typeface="Arial"/>
              </a:rPr>
              <a:t>Course Name</a:t>
            </a:r>
          </a:p>
          <a:p>
            <a:pPr defTabSz="914400"/>
            <a:r>
              <a:rPr lang="en-US" sz="2000" dirty="0">
                <a:solidFill>
                  <a:srgbClr val="292934"/>
                </a:solidFill>
                <a:latin typeface="Arial"/>
              </a:rPr>
              <a:t>Course #</a:t>
            </a:r>
          </a:p>
          <a:p>
            <a:pPr defTabSz="914400"/>
            <a:r>
              <a:rPr lang="en-US" sz="2000" dirty="0" err="1">
                <a:solidFill>
                  <a:srgbClr val="292934"/>
                </a:solidFill>
                <a:latin typeface="Arial"/>
              </a:rPr>
              <a:t>Dept</a:t>
            </a:r>
            <a:endParaRPr lang="en-US" sz="2000" dirty="0">
              <a:solidFill>
                <a:srgbClr val="292934"/>
              </a:solidFill>
              <a:latin typeface="Arial"/>
            </a:endParaRPr>
          </a:p>
        </p:txBody>
      </p:sp>
      <p:sp>
        <p:nvSpPr>
          <p:cNvPr id="23" name="Rectangle 22">
            <a:extLst>
              <a:ext uri="{FF2B5EF4-FFF2-40B4-BE49-F238E27FC236}">
                <a16:creationId xmlns:a16="http://schemas.microsoft.com/office/drawing/2014/main" id="{BFDE4CF8-E58E-4FD7-972E-46408F28853C}"/>
              </a:ext>
            </a:extLst>
          </p:cNvPr>
          <p:cNvSpPr/>
          <p:nvPr/>
        </p:nvSpPr>
        <p:spPr>
          <a:xfrm>
            <a:off x="6392178" y="2563260"/>
            <a:ext cx="1787658" cy="18766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sp>
        <p:nvSpPr>
          <p:cNvPr id="24" name="TextBox 23">
            <a:extLst>
              <a:ext uri="{FF2B5EF4-FFF2-40B4-BE49-F238E27FC236}">
                <a16:creationId xmlns:a16="http://schemas.microsoft.com/office/drawing/2014/main" id="{DB875BFA-087F-47CD-B286-9C1C4FADCF80}"/>
              </a:ext>
            </a:extLst>
          </p:cNvPr>
          <p:cNvSpPr txBox="1"/>
          <p:nvPr/>
        </p:nvSpPr>
        <p:spPr>
          <a:xfrm>
            <a:off x="6409057" y="2012782"/>
            <a:ext cx="1821418" cy="523220"/>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Section</a:t>
            </a:r>
          </a:p>
        </p:txBody>
      </p:sp>
      <p:sp>
        <p:nvSpPr>
          <p:cNvPr id="25" name="TextBox 24">
            <a:extLst>
              <a:ext uri="{FF2B5EF4-FFF2-40B4-BE49-F238E27FC236}">
                <a16:creationId xmlns:a16="http://schemas.microsoft.com/office/drawing/2014/main" id="{AF975A5D-6A86-4F79-AFCA-F1C1836538D0}"/>
              </a:ext>
            </a:extLst>
          </p:cNvPr>
          <p:cNvSpPr txBox="1"/>
          <p:nvPr/>
        </p:nvSpPr>
        <p:spPr>
          <a:xfrm>
            <a:off x="6409057" y="2627408"/>
            <a:ext cx="1981437" cy="1631216"/>
          </a:xfrm>
          <a:prstGeom prst="rect">
            <a:avLst/>
          </a:prstGeom>
          <a:noFill/>
        </p:spPr>
        <p:txBody>
          <a:bodyPr wrap="square" rtlCol="0">
            <a:spAutoFit/>
          </a:bodyPr>
          <a:lstStyle/>
          <a:p>
            <a:pPr defTabSz="914400"/>
            <a:r>
              <a:rPr lang="en-US" sz="2000" dirty="0">
                <a:solidFill>
                  <a:srgbClr val="292934"/>
                </a:solidFill>
                <a:latin typeface="Arial"/>
              </a:rPr>
              <a:t>Section #</a:t>
            </a:r>
          </a:p>
          <a:p>
            <a:pPr defTabSz="914400"/>
            <a:r>
              <a:rPr lang="en-US" sz="2000" dirty="0">
                <a:solidFill>
                  <a:srgbClr val="292934"/>
                </a:solidFill>
                <a:latin typeface="Arial"/>
              </a:rPr>
              <a:t>Location</a:t>
            </a:r>
          </a:p>
          <a:p>
            <a:pPr defTabSz="914400"/>
            <a:r>
              <a:rPr lang="en-US" sz="2000" dirty="0">
                <a:solidFill>
                  <a:srgbClr val="292934"/>
                </a:solidFill>
                <a:latin typeface="Arial"/>
              </a:rPr>
              <a:t>Instructor</a:t>
            </a:r>
          </a:p>
          <a:p>
            <a:pPr defTabSz="914400"/>
            <a:r>
              <a:rPr lang="en-US" sz="2000" dirty="0">
                <a:solidFill>
                  <a:srgbClr val="292934"/>
                </a:solidFill>
                <a:latin typeface="Arial"/>
              </a:rPr>
              <a:t>Meeting Time</a:t>
            </a:r>
          </a:p>
          <a:p>
            <a:pPr defTabSz="914400"/>
            <a:r>
              <a:rPr lang="en-US" sz="2000" dirty="0">
                <a:solidFill>
                  <a:srgbClr val="292934"/>
                </a:solidFill>
                <a:latin typeface="Arial"/>
              </a:rPr>
              <a:t>Course</a:t>
            </a:r>
          </a:p>
        </p:txBody>
      </p:sp>
      <p:sp>
        <p:nvSpPr>
          <p:cNvPr id="19" name="Title 13"/>
          <p:cNvSpPr>
            <a:spLocks noGrp="1"/>
          </p:cNvSpPr>
          <p:nvPr>
            <p:ph type="title"/>
          </p:nvPr>
        </p:nvSpPr>
        <p:spPr>
          <a:xfrm>
            <a:off x="522112" y="358358"/>
            <a:ext cx="8229600" cy="990600"/>
          </a:xfrm>
        </p:spPr>
        <p:txBody>
          <a:bodyPr>
            <a:normAutofit fontScale="90000"/>
          </a:bodyPr>
          <a:lstStyle/>
          <a:p>
            <a:r>
              <a:rPr lang="en-US" dirty="0"/>
              <a:t>Create a new table between entities in a many-to-many relationship</a:t>
            </a:r>
          </a:p>
        </p:txBody>
      </p:sp>
      <p:cxnSp>
        <p:nvCxnSpPr>
          <p:cNvPr id="26" name="Straight Connector 25">
            <a:extLst>
              <a:ext uri="{FF2B5EF4-FFF2-40B4-BE49-F238E27FC236}">
                <a16:creationId xmlns:a16="http://schemas.microsoft.com/office/drawing/2014/main" id="{911C53A8-B362-4C9B-A863-40A35DDB03FD}"/>
              </a:ext>
            </a:extLst>
          </p:cNvPr>
          <p:cNvCxnSpPr/>
          <p:nvPr/>
        </p:nvCxnSpPr>
        <p:spPr>
          <a:xfrm flipV="1">
            <a:off x="2262733" y="3966472"/>
            <a:ext cx="4146324" cy="1737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5A6CC33-4012-4D70-BF1C-CC66739EDB1A}"/>
              </a:ext>
            </a:extLst>
          </p:cNvPr>
          <p:cNvCxnSpPr/>
          <p:nvPr/>
        </p:nvCxnSpPr>
        <p:spPr>
          <a:xfrm flipH="1">
            <a:off x="5877760" y="4439956"/>
            <a:ext cx="1365650" cy="107007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1944505-1EBC-4E82-A422-4A6531D8045E}"/>
                  </a:ext>
                </a:extLst>
              </p:cNvPr>
              <p:cNvSpPr txBox="1"/>
              <p:nvPr/>
            </p:nvSpPr>
            <p:spPr>
              <a:xfrm>
                <a:off x="2179127" y="5228250"/>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8" name="TextBox 27">
                <a:extLst>
                  <a:ext uri="{FF2B5EF4-FFF2-40B4-BE49-F238E27FC236}">
                    <a16:creationId xmlns:a16="http://schemas.microsoft.com/office/drawing/2014/main" id="{A1944505-1EBC-4E82-A422-4A6531D8045E}"/>
                  </a:ext>
                </a:extLst>
              </p:cNvPr>
              <p:cNvSpPr txBox="1">
                <a:spLocks noRot="1" noChangeAspect="1" noMove="1" noResize="1" noEditPoints="1" noAdjustHandles="1" noChangeArrowheads="1" noChangeShapeType="1" noTextEdit="1"/>
              </p:cNvSpPr>
              <p:nvPr/>
            </p:nvSpPr>
            <p:spPr>
              <a:xfrm>
                <a:off x="2179127" y="5228250"/>
                <a:ext cx="48410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1944505-1EBC-4E82-A422-4A6531D8045E}"/>
                  </a:ext>
                </a:extLst>
              </p:cNvPr>
              <p:cNvSpPr txBox="1"/>
              <p:nvPr/>
            </p:nvSpPr>
            <p:spPr>
              <a:xfrm>
                <a:off x="7098247" y="4439956"/>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9" name="TextBox 28">
                <a:extLst>
                  <a:ext uri="{FF2B5EF4-FFF2-40B4-BE49-F238E27FC236}">
                    <a16:creationId xmlns:a16="http://schemas.microsoft.com/office/drawing/2014/main" id="{A1944505-1EBC-4E82-A422-4A6531D8045E}"/>
                  </a:ext>
                </a:extLst>
              </p:cNvPr>
              <p:cNvSpPr txBox="1">
                <a:spLocks noRot="1" noChangeAspect="1" noMove="1" noResize="1" noEditPoints="1" noAdjustHandles="1" noChangeArrowheads="1" noChangeShapeType="1" noTextEdit="1"/>
              </p:cNvSpPr>
              <p:nvPr/>
            </p:nvSpPr>
            <p:spPr>
              <a:xfrm>
                <a:off x="7098247" y="4439956"/>
                <a:ext cx="484106" cy="369332"/>
              </a:xfrm>
              <a:prstGeom prst="rect">
                <a:avLst/>
              </a:prstGeom>
              <a:blipFill>
                <a:blip r:embed="rId4"/>
                <a:stretch>
                  <a:fillRect/>
                </a:stretch>
              </a:blipFill>
            </p:spPr>
            <p:txBody>
              <a:bodyPr/>
              <a:lstStyle/>
              <a:p>
                <a:r>
                  <a:rPr lang="en-US">
                    <a:noFill/>
                  </a:rPr>
                  <a:t> </a:t>
                </a:r>
              </a:p>
            </p:txBody>
          </p:sp>
        </mc:Fallback>
      </mc:AlternateContent>
      <p:sp>
        <p:nvSpPr>
          <p:cNvPr id="30" name="TextBox 29"/>
          <p:cNvSpPr txBox="1"/>
          <p:nvPr/>
        </p:nvSpPr>
        <p:spPr>
          <a:xfrm>
            <a:off x="5877759" y="5476468"/>
            <a:ext cx="313044" cy="369332"/>
          </a:xfrm>
          <a:prstGeom prst="rect">
            <a:avLst/>
          </a:prstGeom>
          <a:noFill/>
        </p:spPr>
        <p:txBody>
          <a:bodyPr wrap="none" rtlCol="0">
            <a:spAutoFit/>
          </a:bodyPr>
          <a:lstStyle/>
          <a:p>
            <a:r>
              <a:rPr lang="en-US" dirty="0"/>
              <a:t>1</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1944505-1EBC-4E82-A422-4A6531D8045E}"/>
                  </a:ext>
                </a:extLst>
              </p:cNvPr>
              <p:cNvSpPr txBox="1"/>
              <p:nvPr/>
            </p:nvSpPr>
            <p:spPr>
              <a:xfrm>
                <a:off x="5924951" y="3636662"/>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2" name="TextBox 31">
                <a:extLst>
                  <a:ext uri="{FF2B5EF4-FFF2-40B4-BE49-F238E27FC236}">
                    <a16:creationId xmlns:a16="http://schemas.microsoft.com/office/drawing/2014/main" id="{A1944505-1EBC-4E82-A422-4A6531D8045E}"/>
                  </a:ext>
                </a:extLst>
              </p:cNvPr>
              <p:cNvSpPr txBox="1">
                <a:spLocks noRot="1" noChangeAspect="1" noMove="1" noResize="1" noEditPoints="1" noAdjustHandles="1" noChangeArrowheads="1" noChangeShapeType="1" noTextEdit="1"/>
              </p:cNvSpPr>
              <p:nvPr/>
            </p:nvSpPr>
            <p:spPr>
              <a:xfrm>
                <a:off x="5924951" y="3636662"/>
                <a:ext cx="484106" cy="369332"/>
              </a:xfrm>
              <a:prstGeom prst="rect">
                <a:avLst/>
              </a:prstGeom>
              <a:blipFill>
                <a:blip r:embed="rId5"/>
                <a:stretch>
                  <a:fillRect/>
                </a:stretch>
              </a:blipFill>
            </p:spPr>
            <p:txBody>
              <a:bodyPr/>
              <a:lstStyle/>
              <a:p>
                <a:r>
                  <a:rPr lang="en-US">
                    <a:noFill/>
                  </a:rPr>
                  <a:t> </a:t>
                </a:r>
              </a:p>
            </p:txBody>
          </p:sp>
        </mc:Fallback>
      </mc:AlternateContent>
      <p:cxnSp>
        <p:nvCxnSpPr>
          <p:cNvPr id="7" name="Straight Connector 6"/>
          <p:cNvCxnSpPr/>
          <p:nvPr/>
        </p:nvCxnSpPr>
        <p:spPr>
          <a:xfrm flipV="1">
            <a:off x="4263390" y="3428140"/>
            <a:ext cx="0" cy="1381148"/>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B875BFA-087F-47CD-B286-9C1C4FADCF80}"/>
              </a:ext>
            </a:extLst>
          </p:cNvPr>
          <p:cNvSpPr txBox="1"/>
          <p:nvPr/>
        </p:nvSpPr>
        <p:spPr>
          <a:xfrm>
            <a:off x="3807629" y="1569920"/>
            <a:ext cx="1821418" cy="954107"/>
          </a:xfrm>
          <a:prstGeom prst="rect">
            <a:avLst/>
          </a:prstGeom>
          <a:noFill/>
          <a:ln>
            <a:solidFill>
              <a:schemeClr val="tx1"/>
            </a:solidFill>
          </a:ln>
        </p:spPr>
        <p:txBody>
          <a:bodyPr wrap="square" rtlCol="0">
            <a:spAutoFit/>
          </a:bodyPr>
          <a:lstStyle/>
          <a:p>
            <a:pPr defTabSz="914400"/>
            <a:r>
              <a:rPr lang="en-US" sz="2800" b="1" dirty="0">
                <a:solidFill>
                  <a:srgbClr val="292934"/>
                </a:solidFill>
                <a:latin typeface="Arial"/>
              </a:rPr>
              <a:t>Student-Section</a:t>
            </a:r>
          </a:p>
        </p:txBody>
      </p:sp>
      <p:sp>
        <p:nvSpPr>
          <p:cNvPr id="35" name="TextBox 34">
            <a:extLst>
              <a:ext uri="{FF2B5EF4-FFF2-40B4-BE49-F238E27FC236}">
                <a16:creationId xmlns:a16="http://schemas.microsoft.com/office/drawing/2014/main" id="{AF975A5D-6A86-4F79-AFCA-F1C1836538D0}"/>
              </a:ext>
            </a:extLst>
          </p:cNvPr>
          <p:cNvSpPr txBox="1"/>
          <p:nvPr/>
        </p:nvSpPr>
        <p:spPr>
          <a:xfrm>
            <a:off x="3841919" y="2626810"/>
            <a:ext cx="1981437" cy="707886"/>
          </a:xfrm>
          <a:prstGeom prst="rect">
            <a:avLst/>
          </a:prstGeom>
          <a:noFill/>
        </p:spPr>
        <p:txBody>
          <a:bodyPr wrap="square" rtlCol="0">
            <a:spAutoFit/>
          </a:bodyPr>
          <a:lstStyle/>
          <a:p>
            <a:pPr defTabSz="914400"/>
            <a:r>
              <a:rPr lang="en-US" sz="2000" dirty="0">
                <a:solidFill>
                  <a:srgbClr val="292934"/>
                </a:solidFill>
                <a:latin typeface="Arial"/>
              </a:rPr>
              <a:t>Student ID #</a:t>
            </a:r>
          </a:p>
          <a:p>
            <a:pPr defTabSz="914400"/>
            <a:r>
              <a:rPr lang="en-US" sz="2000" dirty="0">
                <a:solidFill>
                  <a:srgbClr val="292934"/>
                </a:solidFill>
                <a:latin typeface="Arial"/>
              </a:rPr>
              <a:t>Section #</a:t>
            </a:r>
          </a:p>
        </p:txBody>
      </p:sp>
      <p:sp>
        <p:nvSpPr>
          <p:cNvPr id="40" name="Rectangle 39">
            <a:extLst>
              <a:ext uri="{FF2B5EF4-FFF2-40B4-BE49-F238E27FC236}">
                <a16:creationId xmlns:a16="http://schemas.microsoft.com/office/drawing/2014/main" id="{BFDE4CF8-E58E-4FD7-972E-46408F28853C}"/>
              </a:ext>
            </a:extLst>
          </p:cNvPr>
          <p:cNvSpPr/>
          <p:nvPr/>
        </p:nvSpPr>
        <p:spPr>
          <a:xfrm>
            <a:off x="3841389" y="2526080"/>
            <a:ext cx="1787658" cy="90934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3600" b="1">
              <a:solidFill>
                <a:srgbClr val="FFFFFF"/>
              </a:solidFill>
              <a:latin typeface="Arial"/>
            </a:endParaRPr>
          </a:p>
        </p:txBody>
      </p:sp>
      <p:graphicFrame>
        <p:nvGraphicFramePr>
          <p:cNvPr id="2" name="Table 7">
            <a:extLst>
              <a:ext uri="{FF2B5EF4-FFF2-40B4-BE49-F238E27FC236}">
                <a16:creationId xmlns:a16="http://schemas.microsoft.com/office/drawing/2014/main" id="{423DF899-C579-1FBB-C405-FFD0C667352F}"/>
              </a:ext>
            </a:extLst>
          </p:cNvPr>
          <p:cNvGraphicFramePr>
            <a:graphicFrameLocks noGrp="1"/>
          </p:cNvGraphicFramePr>
          <p:nvPr>
            <p:extLst>
              <p:ext uri="{D42A27DB-BD31-4B8C-83A1-F6EECF244321}">
                <p14:modId xmlns:p14="http://schemas.microsoft.com/office/powerpoint/2010/main" val="864565964"/>
              </p:ext>
            </p:extLst>
          </p:nvPr>
        </p:nvGraphicFramePr>
        <p:xfrm>
          <a:off x="233716" y="1456236"/>
          <a:ext cx="3461367" cy="2996940"/>
        </p:xfrm>
        <a:graphic>
          <a:graphicData uri="http://schemas.openxmlformats.org/drawingml/2006/table">
            <a:tbl>
              <a:tblPr firstRow="1" bandRow="1">
                <a:tableStyleId>{2D5ABB26-0587-4C30-8999-92F81FD0307C}</a:tableStyleId>
              </a:tblPr>
              <a:tblGrid>
                <a:gridCol w="1010651">
                  <a:extLst>
                    <a:ext uri="{9D8B030D-6E8A-4147-A177-3AD203B41FA5}">
                      <a16:colId xmlns:a16="http://schemas.microsoft.com/office/drawing/2014/main" val="2356752348"/>
                    </a:ext>
                  </a:extLst>
                </a:gridCol>
                <a:gridCol w="1299411">
                  <a:extLst>
                    <a:ext uri="{9D8B030D-6E8A-4147-A177-3AD203B41FA5}">
                      <a16:colId xmlns:a16="http://schemas.microsoft.com/office/drawing/2014/main" val="1793495513"/>
                    </a:ext>
                  </a:extLst>
                </a:gridCol>
                <a:gridCol w="1151305">
                  <a:extLst>
                    <a:ext uri="{9D8B030D-6E8A-4147-A177-3AD203B41FA5}">
                      <a16:colId xmlns:a16="http://schemas.microsoft.com/office/drawing/2014/main" val="2734781056"/>
                    </a:ext>
                  </a:extLst>
                </a:gridCol>
              </a:tblGrid>
              <a:tr h="413130">
                <a:tc>
                  <a:txBody>
                    <a:bodyPr/>
                    <a:lstStyle/>
                    <a:p>
                      <a:r>
                        <a:rPr lang="en-US" b="1" dirty="0"/>
                        <a:t>Stu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Sec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i="1" dirty="0"/>
                        <a:t>more fields…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6623265"/>
                  </a:ext>
                </a:extLst>
              </a:tr>
              <a:tr h="413130">
                <a:tc>
                  <a:txBody>
                    <a:bodyPr/>
                    <a:lstStyle/>
                    <a:p>
                      <a:r>
                        <a:rPr lang="en-US" dirty="0"/>
                        <a:t>131057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3336-101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9688768"/>
                  </a:ext>
                </a:extLst>
              </a:tr>
              <a:tr h="413130">
                <a:tc>
                  <a:txBody>
                    <a:bodyPr/>
                    <a:lstStyle/>
                    <a:p>
                      <a:r>
                        <a:rPr lang="en-US" dirty="0"/>
                        <a:t>131057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3411-101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094989"/>
                  </a:ext>
                </a:extLst>
              </a:tr>
              <a:tr h="413130">
                <a:tc>
                  <a:txBody>
                    <a:bodyPr/>
                    <a:lstStyle/>
                    <a:p>
                      <a:r>
                        <a:rPr lang="en-US" dirty="0"/>
                        <a:t>131057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2239-102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3433130"/>
                  </a:ext>
                </a:extLst>
              </a:tr>
              <a:tr h="413130">
                <a:tc>
                  <a:txBody>
                    <a:bodyPr/>
                    <a:lstStyle/>
                    <a:p>
                      <a:r>
                        <a:rPr lang="en-US" dirty="0"/>
                        <a:t>131982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3336-101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0243749"/>
                  </a:ext>
                </a:extLst>
              </a:tr>
              <a:tr h="413130">
                <a:tc>
                  <a:txBody>
                    <a:bodyPr/>
                    <a:lstStyle/>
                    <a:p>
                      <a:r>
                        <a:rPr lang="en-US" dirty="0"/>
                        <a:t>131982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4144-105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1496409"/>
                  </a:ext>
                </a:extLst>
              </a:tr>
              <a:tr h="413130">
                <a:tc>
                  <a:txBody>
                    <a:bodyPr/>
                    <a:lstStyle/>
                    <a:p>
                      <a:r>
                        <a:rPr lang="en-US" dirty="0"/>
                        <a:t>132527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3336-101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5037917"/>
                  </a:ext>
                </a:extLst>
              </a:tr>
            </a:tbl>
          </a:graphicData>
        </a:graphic>
      </p:graphicFrame>
      <p:sp>
        <p:nvSpPr>
          <p:cNvPr id="8" name="TextBox 7">
            <a:extLst>
              <a:ext uri="{FF2B5EF4-FFF2-40B4-BE49-F238E27FC236}">
                <a16:creationId xmlns:a16="http://schemas.microsoft.com/office/drawing/2014/main" id="{97FBECC7-970F-8E7C-C0AC-7E0739DC919F}"/>
              </a:ext>
            </a:extLst>
          </p:cNvPr>
          <p:cNvSpPr txBox="1"/>
          <p:nvPr/>
        </p:nvSpPr>
        <p:spPr>
          <a:xfrm>
            <a:off x="3382379" y="3563998"/>
            <a:ext cx="1762021" cy="646331"/>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dirty="0"/>
              <a:t>Something like </a:t>
            </a:r>
          </a:p>
          <a:p>
            <a:r>
              <a:rPr lang="en-US" dirty="0">
                <a:sym typeface="Wingdings" panose="05000000000000000000" pitchFamily="2" charset="2"/>
              </a:rPr>
              <a:t>  </a:t>
            </a:r>
            <a:r>
              <a:rPr lang="en-US" dirty="0"/>
              <a:t>this</a:t>
            </a:r>
          </a:p>
        </p:txBody>
      </p:sp>
      <p:sp>
        <p:nvSpPr>
          <p:cNvPr id="9" name="TextBox 8">
            <a:extLst>
              <a:ext uri="{FF2B5EF4-FFF2-40B4-BE49-F238E27FC236}">
                <a16:creationId xmlns:a16="http://schemas.microsoft.com/office/drawing/2014/main" id="{8CBC9E0F-4B6F-12D8-2BAB-069A1068B0F0}"/>
              </a:ext>
            </a:extLst>
          </p:cNvPr>
          <p:cNvSpPr txBox="1"/>
          <p:nvPr/>
        </p:nvSpPr>
        <p:spPr>
          <a:xfrm>
            <a:off x="324853" y="4604912"/>
            <a:ext cx="5763116" cy="203132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solidFill>
                  <a:srgbClr val="0070C0"/>
                </a:solidFill>
              </a:rPr>
              <a:t>Note:</a:t>
            </a:r>
            <a:endParaRPr lang="en-US" dirty="0">
              <a:solidFill>
                <a:srgbClr val="0070C0"/>
              </a:solidFill>
            </a:endParaRPr>
          </a:p>
          <a:p>
            <a:endParaRPr lang="en-US" b="1" dirty="0">
              <a:solidFill>
                <a:srgbClr val="0070C0"/>
              </a:solidFill>
            </a:endParaRPr>
          </a:p>
          <a:p>
            <a:r>
              <a:rPr lang="en-US" b="1" dirty="0">
                <a:solidFill>
                  <a:srgbClr val="0070C0"/>
                </a:solidFill>
              </a:rPr>
              <a:t>Neither field can be a primary key (why not?)</a:t>
            </a:r>
          </a:p>
          <a:p>
            <a:endParaRPr lang="en-US" b="1" dirty="0">
              <a:solidFill>
                <a:srgbClr val="0070C0"/>
              </a:solidFill>
            </a:endParaRPr>
          </a:p>
          <a:p>
            <a:r>
              <a:rPr lang="en-US" b="1" dirty="0">
                <a:solidFill>
                  <a:srgbClr val="0070C0"/>
                </a:solidFill>
              </a:rPr>
              <a:t>But they can be used together as a compound key </a:t>
            </a:r>
          </a:p>
          <a:p>
            <a:endParaRPr lang="en-US" b="1" dirty="0">
              <a:solidFill>
                <a:srgbClr val="0070C0"/>
              </a:solidFill>
            </a:endParaRPr>
          </a:p>
          <a:p>
            <a:r>
              <a:rPr lang="en-US" b="1" dirty="0">
                <a:solidFill>
                  <a:srgbClr val="0070C0"/>
                </a:solidFill>
              </a:rPr>
              <a:t>(e.g. 131057/3336-101) (why?)</a:t>
            </a:r>
          </a:p>
        </p:txBody>
      </p:sp>
    </p:spTree>
    <p:extLst>
      <p:ext uri="{BB962C8B-B14F-4D97-AF65-F5344CB8AC3E}">
        <p14:creationId xmlns:p14="http://schemas.microsoft.com/office/powerpoint/2010/main" val="273165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117650-10D2-45F3-8AA5-FAF83335BF84}"/>
              </a:ext>
            </a:extLst>
          </p:cNvPr>
          <p:cNvSpPr>
            <a:spLocks noGrp="1"/>
          </p:cNvSpPr>
          <p:nvPr>
            <p:ph idx="1"/>
          </p:nvPr>
        </p:nvSpPr>
        <p:spPr>
          <a:xfrm>
            <a:off x="495300" y="1892300"/>
            <a:ext cx="8191500" cy="4533899"/>
          </a:xfrm>
        </p:spPr>
        <p:txBody>
          <a:bodyPr>
            <a:normAutofit/>
          </a:bodyPr>
          <a:lstStyle/>
          <a:p>
            <a:pPr lvl="1"/>
            <a:r>
              <a:rPr lang="en-US" sz="2800" b="1" dirty="0"/>
              <a:t>Many-to-many relationship</a:t>
            </a:r>
          </a:p>
          <a:p>
            <a:pPr lvl="2"/>
            <a:r>
              <a:rPr lang="en-US" sz="2000" dirty="0"/>
              <a:t>A third table must be created consisting of the primary keys from each individual table (results in one-to-many relationship)</a:t>
            </a:r>
          </a:p>
          <a:p>
            <a:pPr lvl="1"/>
            <a:endParaRPr lang="en-US" sz="2800" b="1" dirty="0"/>
          </a:p>
          <a:p>
            <a:pPr lvl="1"/>
            <a:r>
              <a:rPr lang="en-US" sz="2800" b="1" dirty="0"/>
              <a:t>One-to-many relationship</a:t>
            </a:r>
          </a:p>
          <a:p>
            <a:pPr lvl="2"/>
            <a:r>
              <a:rPr lang="en-US" sz="2000" dirty="0"/>
              <a:t>Primary key of the “one” is inserted as a foreign key into the “many”</a:t>
            </a:r>
          </a:p>
          <a:p>
            <a:pPr lvl="1"/>
            <a:endParaRPr lang="en-US" sz="2800" dirty="0"/>
          </a:p>
          <a:p>
            <a:pPr lvl="1"/>
            <a:r>
              <a:rPr lang="en-US" sz="2800" b="1" dirty="0"/>
              <a:t>One-to-one relationship</a:t>
            </a:r>
          </a:p>
          <a:p>
            <a:pPr lvl="2"/>
            <a:r>
              <a:rPr lang="en-US" sz="2000" dirty="0"/>
              <a:t>Can the tables be combined?</a:t>
            </a:r>
          </a:p>
          <a:p>
            <a:pPr marL="342900" lvl="1" indent="0">
              <a:buNone/>
            </a:pPr>
            <a:endParaRPr lang="en-US" sz="2400" dirty="0"/>
          </a:p>
        </p:txBody>
      </p:sp>
      <p:sp>
        <p:nvSpPr>
          <p:cNvPr id="4" name="Slide Number Placeholder 3">
            <a:extLst>
              <a:ext uri="{FF2B5EF4-FFF2-40B4-BE49-F238E27FC236}">
                <a16:creationId xmlns:a16="http://schemas.microsoft.com/office/drawing/2014/main" id="{0EB92E4A-5512-407F-9483-99C72E02FF0E}"/>
              </a:ext>
            </a:extLst>
          </p:cNvPr>
          <p:cNvSpPr>
            <a:spLocks noGrp="1"/>
          </p:cNvSpPr>
          <p:nvPr>
            <p:ph type="sldNum" sz="quarter" idx="12"/>
          </p:nvPr>
        </p:nvSpPr>
        <p:spPr/>
        <p:txBody>
          <a:bodyPr/>
          <a:lstStyle/>
          <a:p>
            <a:fld id="{E345EAD5-4C19-43E8-92AC-D4AD00C5745A}" type="slidenum">
              <a:rPr lang="en-US" smtClean="0">
                <a:latin typeface="Arial"/>
              </a:rPr>
              <a:pPr/>
              <a:t>19</a:t>
            </a:fld>
            <a:endParaRPr lang="en-US">
              <a:latin typeface="Arial"/>
            </a:endParaRPr>
          </a:p>
        </p:txBody>
      </p:sp>
      <p:sp>
        <p:nvSpPr>
          <p:cNvPr id="5" name="Title 4"/>
          <p:cNvSpPr>
            <a:spLocks noGrp="1"/>
          </p:cNvSpPr>
          <p:nvPr>
            <p:ph type="title"/>
          </p:nvPr>
        </p:nvSpPr>
        <p:spPr/>
        <p:txBody>
          <a:bodyPr>
            <a:normAutofit fontScale="90000"/>
          </a:bodyPr>
          <a:lstStyle/>
          <a:p>
            <a:r>
              <a:rPr lang="en-US" dirty="0"/>
              <a:t>Database Design Considerations </a:t>
            </a:r>
            <a:br>
              <a:rPr lang="en-US" dirty="0"/>
            </a:br>
            <a:r>
              <a:rPr lang="en-US" dirty="0"/>
              <a:t>	due to Cardinality</a:t>
            </a:r>
          </a:p>
        </p:txBody>
      </p:sp>
    </p:spTree>
    <p:extLst>
      <p:ext uri="{BB962C8B-B14F-4D97-AF65-F5344CB8AC3E}">
        <p14:creationId xmlns:p14="http://schemas.microsoft.com/office/powerpoint/2010/main" val="745457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20</a:t>
            </a:fld>
            <a:endParaRPr lang="en-US">
              <a:latin typeface="Arial"/>
            </a:endParaRPr>
          </a:p>
        </p:txBody>
      </p:sp>
      <p:sp>
        <p:nvSpPr>
          <p:cNvPr id="13" name="TextBox 12"/>
          <p:cNvSpPr txBox="1"/>
          <p:nvPr/>
        </p:nvSpPr>
        <p:spPr>
          <a:xfrm>
            <a:off x="127002" y="5775413"/>
            <a:ext cx="8458200" cy="830997"/>
          </a:xfrm>
          <a:prstGeom prst="rect">
            <a:avLst/>
          </a:prstGeom>
          <a:noFill/>
        </p:spPr>
        <p:txBody>
          <a:bodyPr wrap="square" rtlCol="0">
            <a:spAutoFit/>
          </a:bodyPr>
          <a:lstStyle/>
          <a:p>
            <a:pPr defTabSz="914400"/>
            <a:r>
              <a:rPr lang="en-US" sz="2400" dirty="0">
                <a:solidFill>
                  <a:srgbClr val="292934"/>
                </a:solidFill>
                <a:latin typeface="Arial"/>
              </a:rPr>
              <a:t>What are the cardinalities between the entities?</a:t>
            </a:r>
          </a:p>
          <a:p>
            <a:pPr defTabSz="914400"/>
            <a:r>
              <a:rPr lang="en-US" sz="2400" dirty="0">
                <a:solidFill>
                  <a:srgbClr val="292934"/>
                </a:solidFill>
                <a:latin typeface="Arial"/>
              </a:rPr>
              <a:t>Do we need to add any entities?</a:t>
            </a:r>
          </a:p>
        </p:txBody>
      </p:sp>
      <p:sp>
        <p:nvSpPr>
          <p:cNvPr id="16" name="Title 1"/>
          <p:cNvSpPr txBox="1">
            <a:spLocks/>
          </p:cNvSpPr>
          <p:nvPr/>
        </p:nvSpPr>
        <p:spPr>
          <a:xfrm>
            <a:off x="108093" y="2110470"/>
            <a:ext cx="8220193" cy="1600200"/>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dirty="0">
                <a:solidFill>
                  <a:schemeClr val="accent6">
                    <a:lumMod val="50000"/>
                  </a:schemeClr>
                </a:solidFill>
                <a:latin typeface="Arial"/>
              </a:rPr>
              <a:t>Back to the orders database example</a:t>
            </a:r>
          </a:p>
          <a:p>
            <a:r>
              <a:rPr lang="en-US" sz="3100" dirty="0">
                <a:solidFill>
                  <a:srgbClr val="0070C0"/>
                </a:solidFill>
                <a:latin typeface="Arial"/>
              </a:rPr>
              <a:t>Draw entities with attributes</a:t>
            </a:r>
            <a:endParaRPr lang="en-US" dirty="0">
              <a:solidFill>
                <a:srgbClr val="0070C0"/>
              </a:solidFill>
              <a:latin typeface="Arial"/>
            </a:endParaRPr>
          </a:p>
        </p:txBody>
      </p:sp>
      <p:sp>
        <p:nvSpPr>
          <p:cNvPr id="15" name="TextBox 14"/>
          <p:cNvSpPr txBox="1"/>
          <p:nvPr/>
        </p:nvSpPr>
        <p:spPr>
          <a:xfrm>
            <a:off x="831997" y="3847876"/>
            <a:ext cx="1710068" cy="461665"/>
          </a:xfrm>
          <a:prstGeom prst="rect">
            <a:avLst/>
          </a:prstGeom>
          <a:noFill/>
          <a:ln>
            <a:solidFill>
              <a:schemeClr val="tx1"/>
            </a:solidFill>
          </a:ln>
        </p:spPr>
        <p:txBody>
          <a:bodyPr wrap="square" rtlCol="0">
            <a:spAutoFit/>
          </a:bodyPr>
          <a:lstStyle/>
          <a:p>
            <a:pPr defTabSz="914400"/>
            <a:r>
              <a:rPr lang="en-US" sz="2400" dirty="0">
                <a:solidFill>
                  <a:srgbClr val="292934"/>
                </a:solidFill>
                <a:latin typeface="Arial"/>
              </a:rPr>
              <a:t>Customer</a:t>
            </a:r>
          </a:p>
        </p:txBody>
      </p:sp>
      <p:sp>
        <p:nvSpPr>
          <p:cNvPr id="20" name="TextBox 19">
            <a:extLst>
              <a:ext uri="{FF2B5EF4-FFF2-40B4-BE49-F238E27FC236}">
                <a16:creationId xmlns:a16="http://schemas.microsoft.com/office/drawing/2014/main" id="{40B45056-9451-4586-BCFB-5D6D89883422}"/>
              </a:ext>
            </a:extLst>
          </p:cNvPr>
          <p:cNvSpPr txBox="1"/>
          <p:nvPr/>
        </p:nvSpPr>
        <p:spPr>
          <a:xfrm>
            <a:off x="831995" y="4325211"/>
            <a:ext cx="1710070" cy="1323439"/>
          </a:xfrm>
          <a:prstGeom prst="rect">
            <a:avLst/>
          </a:prstGeom>
          <a:noFill/>
        </p:spPr>
        <p:txBody>
          <a:bodyPr wrap="square" rtlCol="0">
            <a:spAutoFit/>
          </a:bodyPr>
          <a:lstStyle/>
          <a:p>
            <a:pPr defTabSz="914400"/>
            <a:r>
              <a:rPr lang="en-US" sz="1600" dirty="0">
                <a:solidFill>
                  <a:srgbClr val="292934"/>
                </a:solidFill>
                <a:latin typeface="Arial"/>
              </a:rPr>
              <a:t>Name</a:t>
            </a:r>
          </a:p>
          <a:p>
            <a:pPr defTabSz="914400"/>
            <a:r>
              <a:rPr lang="en-US" sz="1600" dirty="0">
                <a:solidFill>
                  <a:srgbClr val="292934"/>
                </a:solidFill>
                <a:latin typeface="Arial"/>
              </a:rPr>
              <a:t>Salutation</a:t>
            </a:r>
          </a:p>
          <a:p>
            <a:pPr defTabSz="914400"/>
            <a:r>
              <a:rPr lang="en-US" sz="1600" dirty="0">
                <a:solidFill>
                  <a:srgbClr val="292934"/>
                </a:solidFill>
                <a:latin typeface="Arial"/>
              </a:rPr>
              <a:t>Address</a:t>
            </a:r>
          </a:p>
          <a:p>
            <a:pPr defTabSz="914400"/>
            <a:r>
              <a:rPr lang="en-US" sz="1600" dirty="0">
                <a:solidFill>
                  <a:srgbClr val="292934"/>
                </a:solidFill>
                <a:latin typeface="Arial"/>
              </a:rPr>
              <a:t>Phone number</a:t>
            </a:r>
          </a:p>
          <a:p>
            <a:pPr defTabSz="914400"/>
            <a:endParaRPr lang="en-US" sz="1600" dirty="0">
              <a:solidFill>
                <a:srgbClr val="292934"/>
              </a:solidFill>
              <a:latin typeface="Arial"/>
            </a:endParaRPr>
          </a:p>
        </p:txBody>
      </p:sp>
      <p:sp>
        <p:nvSpPr>
          <p:cNvPr id="24" name="Rectangle 23"/>
          <p:cNvSpPr/>
          <p:nvPr/>
        </p:nvSpPr>
        <p:spPr>
          <a:xfrm>
            <a:off x="831996" y="3832206"/>
            <a:ext cx="1710069" cy="1637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28" name="TextBox 27"/>
          <p:cNvSpPr txBox="1"/>
          <p:nvPr/>
        </p:nvSpPr>
        <p:spPr>
          <a:xfrm>
            <a:off x="2827375" y="3852004"/>
            <a:ext cx="1710068" cy="461665"/>
          </a:xfrm>
          <a:prstGeom prst="rect">
            <a:avLst/>
          </a:prstGeom>
          <a:noFill/>
          <a:ln>
            <a:solidFill>
              <a:schemeClr val="tx1"/>
            </a:solidFill>
          </a:ln>
        </p:spPr>
        <p:txBody>
          <a:bodyPr wrap="square" rtlCol="0">
            <a:spAutoFit/>
          </a:bodyPr>
          <a:lstStyle/>
          <a:p>
            <a:pPr defTabSz="914400"/>
            <a:r>
              <a:rPr lang="en-US" sz="2400" dirty="0">
                <a:solidFill>
                  <a:srgbClr val="292934"/>
                </a:solidFill>
                <a:latin typeface="Arial"/>
              </a:rPr>
              <a:t>Product</a:t>
            </a:r>
          </a:p>
        </p:txBody>
      </p:sp>
      <p:sp>
        <p:nvSpPr>
          <p:cNvPr id="29" name="Rectangle 28"/>
          <p:cNvSpPr/>
          <p:nvPr/>
        </p:nvSpPr>
        <p:spPr>
          <a:xfrm>
            <a:off x="2827374" y="3836334"/>
            <a:ext cx="1710069" cy="1637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30" name="TextBox 29">
            <a:extLst>
              <a:ext uri="{FF2B5EF4-FFF2-40B4-BE49-F238E27FC236}">
                <a16:creationId xmlns:a16="http://schemas.microsoft.com/office/drawing/2014/main" id="{18F1BF3A-1428-419D-ADA7-67384DB16D5D}"/>
              </a:ext>
            </a:extLst>
          </p:cNvPr>
          <p:cNvSpPr txBox="1"/>
          <p:nvPr/>
        </p:nvSpPr>
        <p:spPr>
          <a:xfrm>
            <a:off x="2827373" y="4336914"/>
            <a:ext cx="1710070" cy="1323439"/>
          </a:xfrm>
          <a:prstGeom prst="rect">
            <a:avLst/>
          </a:prstGeom>
          <a:noFill/>
        </p:spPr>
        <p:txBody>
          <a:bodyPr wrap="square" rtlCol="0">
            <a:spAutoFit/>
          </a:bodyPr>
          <a:lstStyle/>
          <a:p>
            <a:pPr defTabSz="914400"/>
            <a:r>
              <a:rPr lang="en-US" sz="1600" dirty="0">
                <a:solidFill>
                  <a:srgbClr val="292934"/>
                </a:solidFill>
                <a:latin typeface="Arial"/>
              </a:rPr>
              <a:t>Product name</a:t>
            </a:r>
          </a:p>
          <a:p>
            <a:pPr defTabSz="914400"/>
            <a:r>
              <a:rPr lang="en-US" sz="1600" dirty="0">
                <a:solidFill>
                  <a:srgbClr val="292934"/>
                </a:solidFill>
                <a:latin typeface="Arial"/>
              </a:rPr>
              <a:t>Price</a:t>
            </a:r>
          </a:p>
          <a:p>
            <a:pPr defTabSz="914400"/>
            <a:r>
              <a:rPr lang="en-US" sz="1600" dirty="0">
                <a:solidFill>
                  <a:srgbClr val="292934"/>
                </a:solidFill>
                <a:latin typeface="Arial"/>
              </a:rPr>
              <a:t>Units in stock</a:t>
            </a:r>
          </a:p>
          <a:p>
            <a:pPr defTabSz="914400"/>
            <a:r>
              <a:rPr lang="en-US" sz="1600" dirty="0">
                <a:solidFill>
                  <a:srgbClr val="292934"/>
                </a:solidFill>
                <a:latin typeface="Arial"/>
              </a:rPr>
              <a:t>Units on order</a:t>
            </a:r>
          </a:p>
          <a:p>
            <a:pPr defTabSz="914400"/>
            <a:endParaRPr lang="en-US" sz="1600" dirty="0">
              <a:solidFill>
                <a:srgbClr val="292934"/>
              </a:solidFill>
              <a:latin typeface="Arial"/>
            </a:endParaRPr>
          </a:p>
        </p:txBody>
      </p:sp>
      <p:sp>
        <p:nvSpPr>
          <p:cNvPr id="31" name="TextBox 30"/>
          <p:cNvSpPr txBox="1"/>
          <p:nvPr/>
        </p:nvSpPr>
        <p:spPr>
          <a:xfrm>
            <a:off x="4808575" y="3863546"/>
            <a:ext cx="1710068" cy="461665"/>
          </a:xfrm>
          <a:prstGeom prst="rect">
            <a:avLst/>
          </a:prstGeom>
          <a:noFill/>
          <a:ln>
            <a:solidFill>
              <a:schemeClr val="tx1"/>
            </a:solidFill>
          </a:ln>
        </p:spPr>
        <p:txBody>
          <a:bodyPr wrap="square" rtlCol="0">
            <a:spAutoFit/>
          </a:bodyPr>
          <a:lstStyle/>
          <a:p>
            <a:pPr defTabSz="914400"/>
            <a:r>
              <a:rPr lang="en-US" sz="2400" dirty="0">
                <a:solidFill>
                  <a:srgbClr val="292934"/>
                </a:solidFill>
                <a:latin typeface="Arial"/>
              </a:rPr>
              <a:t>Suppliers</a:t>
            </a:r>
          </a:p>
        </p:txBody>
      </p:sp>
      <p:sp>
        <p:nvSpPr>
          <p:cNvPr id="32" name="Rectangle 31"/>
          <p:cNvSpPr/>
          <p:nvPr/>
        </p:nvSpPr>
        <p:spPr>
          <a:xfrm>
            <a:off x="4808574" y="3847876"/>
            <a:ext cx="1710069" cy="1637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33" name="TextBox 32">
            <a:extLst>
              <a:ext uri="{FF2B5EF4-FFF2-40B4-BE49-F238E27FC236}">
                <a16:creationId xmlns:a16="http://schemas.microsoft.com/office/drawing/2014/main" id="{F582C484-1256-408A-BBF8-329FE8E00AA0}"/>
              </a:ext>
            </a:extLst>
          </p:cNvPr>
          <p:cNvSpPr txBox="1"/>
          <p:nvPr/>
        </p:nvSpPr>
        <p:spPr>
          <a:xfrm>
            <a:off x="4822751" y="4344002"/>
            <a:ext cx="1695892" cy="1077218"/>
          </a:xfrm>
          <a:prstGeom prst="rect">
            <a:avLst/>
          </a:prstGeom>
          <a:noFill/>
        </p:spPr>
        <p:txBody>
          <a:bodyPr wrap="square" rtlCol="0">
            <a:spAutoFit/>
          </a:bodyPr>
          <a:lstStyle/>
          <a:p>
            <a:pPr defTabSz="914400"/>
            <a:r>
              <a:rPr lang="en-US" sz="1600" dirty="0">
                <a:solidFill>
                  <a:srgbClr val="292934"/>
                </a:solidFill>
                <a:latin typeface="Arial"/>
              </a:rPr>
              <a:t>Company name</a:t>
            </a:r>
          </a:p>
          <a:p>
            <a:pPr defTabSz="914400"/>
            <a:r>
              <a:rPr lang="en-US" sz="1600" dirty="0">
                <a:solidFill>
                  <a:srgbClr val="292934"/>
                </a:solidFill>
                <a:latin typeface="Arial"/>
              </a:rPr>
              <a:t>Contact name</a:t>
            </a:r>
          </a:p>
          <a:p>
            <a:pPr defTabSz="914400"/>
            <a:r>
              <a:rPr lang="en-US" sz="1600" dirty="0">
                <a:solidFill>
                  <a:srgbClr val="292934"/>
                </a:solidFill>
                <a:latin typeface="Arial"/>
              </a:rPr>
              <a:t>Address</a:t>
            </a:r>
          </a:p>
          <a:p>
            <a:pPr defTabSz="914400"/>
            <a:endParaRPr lang="en-US" sz="1600" dirty="0">
              <a:solidFill>
                <a:srgbClr val="292934"/>
              </a:solidFill>
              <a:latin typeface="Arial"/>
            </a:endParaRPr>
          </a:p>
        </p:txBody>
      </p:sp>
      <p:sp>
        <p:nvSpPr>
          <p:cNvPr id="34" name="TextBox 33"/>
          <p:cNvSpPr txBox="1"/>
          <p:nvPr/>
        </p:nvSpPr>
        <p:spPr>
          <a:xfrm>
            <a:off x="6764966" y="3863546"/>
            <a:ext cx="1710068" cy="461665"/>
          </a:xfrm>
          <a:prstGeom prst="rect">
            <a:avLst/>
          </a:prstGeom>
          <a:noFill/>
          <a:ln>
            <a:solidFill>
              <a:schemeClr val="tx1"/>
            </a:solidFill>
          </a:ln>
        </p:spPr>
        <p:txBody>
          <a:bodyPr wrap="square" rtlCol="0">
            <a:spAutoFit/>
          </a:bodyPr>
          <a:lstStyle/>
          <a:p>
            <a:pPr defTabSz="914400"/>
            <a:r>
              <a:rPr lang="en-US" sz="2400" dirty="0">
                <a:solidFill>
                  <a:srgbClr val="292934"/>
                </a:solidFill>
                <a:latin typeface="Arial"/>
              </a:rPr>
              <a:t>Orders</a:t>
            </a:r>
          </a:p>
        </p:txBody>
      </p:sp>
      <p:sp>
        <p:nvSpPr>
          <p:cNvPr id="35" name="Rectangle 34"/>
          <p:cNvSpPr/>
          <p:nvPr/>
        </p:nvSpPr>
        <p:spPr>
          <a:xfrm>
            <a:off x="6764965" y="3847876"/>
            <a:ext cx="1710069" cy="2083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37" name="TextBox 36">
            <a:extLst>
              <a:ext uri="{FF2B5EF4-FFF2-40B4-BE49-F238E27FC236}">
                <a16:creationId xmlns:a16="http://schemas.microsoft.com/office/drawing/2014/main" id="{5FEBA28A-E8AF-46CE-8E6D-FEAC0D1DD535}"/>
              </a:ext>
            </a:extLst>
          </p:cNvPr>
          <p:cNvSpPr txBox="1"/>
          <p:nvPr/>
        </p:nvSpPr>
        <p:spPr>
          <a:xfrm>
            <a:off x="6763235" y="4257920"/>
            <a:ext cx="1681164" cy="1815882"/>
          </a:xfrm>
          <a:prstGeom prst="rect">
            <a:avLst/>
          </a:prstGeom>
          <a:noFill/>
        </p:spPr>
        <p:txBody>
          <a:bodyPr wrap="square" rtlCol="0">
            <a:spAutoFit/>
          </a:bodyPr>
          <a:lstStyle/>
          <a:p>
            <a:pPr defTabSz="914400"/>
            <a:r>
              <a:rPr lang="en-US" sz="1600" dirty="0">
                <a:solidFill>
                  <a:srgbClr val="292934"/>
                </a:solidFill>
                <a:latin typeface="Arial"/>
              </a:rPr>
              <a:t>Order ID</a:t>
            </a:r>
          </a:p>
          <a:p>
            <a:pPr defTabSz="914400"/>
            <a:r>
              <a:rPr lang="en-US" sz="1600" dirty="0">
                <a:solidFill>
                  <a:srgbClr val="292934"/>
                </a:solidFill>
                <a:latin typeface="Arial"/>
              </a:rPr>
              <a:t>Salesperson</a:t>
            </a:r>
          </a:p>
          <a:p>
            <a:pPr defTabSz="914400"/>
            <a:r>
              <a:rPr lang="en-US" sz="1600" dirty="0">
                <a:solidFill>
                  <a:srgbClr val="292934"/>
                </a:solidFill>
                <a:latin typeface="Arial"/>
              </a:rPr>
              <a:t>Date </a:t>
            </a:r>
          </a:p>
          <a:p>
            <a:pPr defTabSz="914400"/>
            <a:r>
              <a:rPr lang="en-US" sz="1600" dirty="0">
                <a:solidFill>
                  <a:srgbClr val="292934"/>
                </a:solidFill>
                <a:latin typeface="Arial"/>
              </a:rPr>
              <a:t>Product </a:t>
            </a:r>
          </a:p>
          <a:p>
            <a:pPr defTabSz="914400"/>
            <a:r>
              <a:rPr lang="en-US" sz="1600" dirty="0">
                <a:solidFill>
                  <a:srgbClr val="292934"/>
                </a:solidFill>
                <a:latin typeface="Arial"/>
              </a:rPr>
              <a:t>Quantity</a:t>
            </a:r>
          </a:p>
          <a:p>
            <a:pPr defTabSz="914400"/>
            <a:r>
              <a:rPr lang="en-US" sz="1600" dirty="0">
                <a:solidFill>
                  <a:srgbClr val="292934"/>
                </a:solidFill>
                <a:latin typeface="Arial"/>
              </a:rPr>
              <a:t>Total</a:t>
            </a:r>
          </a:p>
          <a:p>
            <a:pPr defTabSz="914400"/>
            <a:endParaRPr lang="en-US" sz="1600" dirty="0">
              <a:solidFill>
                <a:srgbClr val="292934"/>
              </a:solidFill>
              <a:latin typeface="Arial"/>
            </a:endParaRPr>
          </a:p>
        </p:txBody>
      </p:sp>
      <p:sp>
        <p:nvSpPr>
          <p:cNvPr id="18" name="Title 1"/>
          <p:cNvSpPr txBox="1">
            <a:spLocks/>
          </p:cNvSpPr>
          <p:nvPr/>
        </p:nvSpPr>
        <p:spPr>
          <a:xfrm>
            <a:off x="404089" y="440396"/>
            <a:ext cx="4610886" cy="1400988"/>
          </a:xfrm>
          <a:prstGeom prst="rect">
            <a:avLst/>
          </a:prstGeom>
        </p:spPr>
        <p:txBody>
          <a:bodyPr vert="horz" lIns="91440" tIns="45720" rIns="91440" bIns="45720" rtlCol="0" anchor="ctr">
            <a:normAutofit fontScale="90000" lnSpcReduction="2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600" dirty="0">
                <a:solidFill>
                  <a:srgbClr val="D2533C"/>
                </a:solidFill>
                <a:latin typeface="Arial"/>
              </a:rPr>
              <a:t>III.</a:t>
            </a:r>
            <a:r>
              <a:rPr lang="en-US" sz="3600" dirty="0"/>
              <a:t> Create </a:t>
            </a:r>
            <a:r>
              <a:rPr lang="en-US" sz="3600" b="1" dirty="0"/>
              <a:t>Entity-Relationship </a:t>
            </a:r>
            <a:r>
              <a:rPr lang="en-US" sz="3600" dirty="0"/>
              <a:t>(E-R) diagram</a:t>
            </a:r>
            <a:endParaRPr lang="en-US" sz="3600" dirty="0">
              <a:solidFill>
                <a:srgbClr val="D2533C"/>
              </a:solidFill>
              <a:latin typeface="Arial"/>
            </a:endParaRPr>
          </a:p>
        </p:txBody>
      </p:sp>
      <p:sp>
        <p:nvSpPr>
          <p:cNvPr id="19" name="Content Placeholder 2"/>
          <p:cNvSpPr txBox="1">
            <a:spLocks/>
          </p:cNvSpPr>
          <p:nvPr/>
        </p:nvSpPr>
        <p:spPr>
          <a:xfrm>
            <a:off x="4690731" y="474789"/>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21" name="Rectangle 20"/>
          <p:cNvSpPr/>
          <p:nvPr/>
        </p:nvSpPr>
        <p:spPr>
          <a:xfrm>
            <a:off x="5228369" y="1166011"/>
            <a:ext cx="37719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300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21</a:t>
            </a:fld>
            <a:endParaRPr lang="en-US">
              <a:latin typeface="Arial"/>
            </a:endParaRPr>
          </a:p>
        </p:txBody>
      </p:sp>
      <p:sp>
        <p:nvSpPr>
          <p:cNvPr id="7" name="Rectangle 6"/>
          <p:cNvSpPr/>
          <p:nvPr/>
        </p:nvSpPr>
        <p:spPr>
          <a:xfrm>
            <a:off x="305635" y="4353115"/>
            <a:ext cx="1219200" cy="1146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8" name="TextBox 7"/>
          <p:cNvSpPr txBox="1"/>
          <p:nvPr/>
        </p:nvSpPr>
        <p:spPr>
          <a:xfrm>
            <a:off x="308777" y="4361805"/>
            <a:ext cx="1219200" cy="369332"/>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Product</a:t>
            </a:r>
          </a:p>
        </p:txBody>
      </p:sp>
      <p:sp>
        <p:nvSpPr>
          <p:cNvPr id="9" name="Rectangle 8"/>
          <p:cNvSpPr/>
          <p:nvPr/>
        </p:nvSpPr>
        <p:spPr>
          <a:xfrm>
            <a:off x="152400" y="1981200"/>
            <a:ext cx="1219200" cy="1146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10" name="TextBox 9"/>
          <p:cNvSpPr txBox="1"/>
          <p:nvPr/>
        </p:nvSpPr>
        <p:spPr>
          <a:xfrm>
            <a:off x="152400" y="1981200"/>
            <a:ext cx="1219200" cy="369332"/>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Suppliers</a:t>
            </a:r>
          </a:p>
        </p:txBody>
      </p:sp>
      <p:sp>
        <p:nvSpPr>
          <p:cNvPr id="11" name="Rectangle 10"/>
          <p:cNvSpPr/>
          <p:nvPr/>
        </p:nvSpPr>
        <p:spPr>
          <a:xfrm>
            <a:off x="4618828" y="2569824"/>
            <a:ext cx="1219200" cy="1146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12" name="TextBox 11"/>
          <p:cNvSpPr txBox="1"/>
          <p:nvPr/>
        </p:nvSpPr>
        <p:spPr>
          <a:xfrm>
            <a:off x="4618828" y="2569824"/>
            <a:ext cx="1219200" cy="369332"/>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Orders</a:t>
            </a:r>
          </a:p>
        </p:txBody>
      </p:sp>
      <p:cxnSp>
        <p:nvCxnSpPr>
          <p:cNvPr id="17" name="Straight Connector 16">
            <a:extLst>
              <a:ext uri="{FF2B5EF4-FFF2-40B4-BE49-F238E27FC236}">
                <a16:creationId xmlns:a16="http://schemas.microsoft.com/office/drawing/2014/main" id="{8C3D8258-2D93-4D2A-A545-0D3087BAFF2C}"/>
              </a:ext>
            </a:extLst>
          </p:cNvPr>
          <p:cNvCxnSpPr>
            <a:cxnSpLocks/>
            <a:endCxn id="8" idx="0"/>
          </p:cNvCxnSpPr>
          <p:nvPr/>
        </p:nvCxnSpPr>
        <p:spPr>
          <a:xfrm>
            <a:off x="609600" y="3124200"/>
            <a:ext cx="308777" cy="1237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EC24287-9BAE-4A46-A905-C4B3472AF0C8}"/>
              </a:ext>
            </a:extLst>
          </p:cNvPr>
          <p:cNvCxnSpPr>
            <a:stCxn id="7" idx="3"/>
            <a:endCxn id="11" idx="1"/>
          </p:cNvCxnSpPr>
          <p:nvPr/>
        </p:nvCxnSpPr>
        <p:spPr>
          <a:xfrm flipV="1">
            <a:off x="1524835" y="3142912"/>
            <a:ext cx="3093993" cy="1783291"/>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08CB7D44-C16F-45D4-9125-AFE08D5DA531}"/>
              </a:ext>
            </a:extLst>
          </p:cNvPr>
          <p:cNvSpPr/>
          <p:nvPr/>
        </p:nvSpPr>
        <p:spPr>
          <a:xfrm>
            <a:off x="7337466" y="3971011"/>
            <a:ext cx="1501734" cy="1146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25" name="TextBox 24">
            <a:extLst>
              <a:ext uri="{FF2B5EF4-FFF2-40B4-BE49-F238E27FC236}">
                <a16:creationId xmlns:a16="http://schemas.microsoft.com/office/drawing/2014/main" id="{E1C8336E-4EE5-44FF-A9EE-35080D8420FD}"/>
              </a:ext>
            </a:extLst>
          </p:cNvPr>
          <p:cNvSpPr txBox="1"/>
          <p:nvPr/>
        </p:nvSpPr>
        <p:spPr>
          <a:xfrm>
            <a:off x="7337466" y="3976512"/>
            <a:ext cx="1501734" cy="369332"/>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Salesperson</a:t>
            </a:r>
          </a:p>
        </p:txBody>
      </p:sp>
      <p:cxnSp>
        <p:nvCxnSpPr>
          <p:cNvPr id="27" name="Straight Connector 26">
            <a:extLst>
              <a:ext uri="{FF2B5EF4-FFF2-40B4-BE49-F238E27FC236}">
                <a16:creationId xmlns:a16="http://schemas.microsoft.com/office/drawing/2014/main" id="{357E815E-74B5-47F6-8C73-A7C8520F75D0}"/>
              </a:ext>
            </a:extLst>
          </p:cNvPr>
          <p:cNvCxnSpPr>
            <a:cxnSpLocks/>
            <a:stCxn id="11" idx="3"/>
            <a:endCxn id="25" idx="0"/>
          </p:cNvCxnSpPr>
          <p:nvPr/>
        </p:nvCxnSpPr>
        <p:spPr>
          <a:xfrm>
            <a:off x="5838028" y="3142912"/>
            <a:ext cx="2250305" cy="833600"/>
          </a:xfrm>
          <a:prstGeom prst="line">
            <a:avLst/>
          </a:prstGeom>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2174B65-7125-4932-93E2-07289AED0C8A}"/>
              </a:ext>
            </a:extLst>
          </p:cNvPr>
          <p:cNvSpPr/>
          <p:nvPr/>
        </p:nvSpPr>
        <p:spPr>
          <a:xfrm>
            <a:off x="4763286" y="4848241"/>
            <a:ext cx="1219200" cy="1146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29" name="TextBox 28">
            <a:extLst>
              <a:ext uri="{FF2B5EF4-FFF2-40B4-BE49-F238E27FC236}">
                <a16:creationId xmlns:a16="http://schemas.microsoft.com/office/drawing/2014/main" id="{8B5143A6-967C-44D2-8064-A5F485AA507A}"/>
              </a:ext>
            </a:extLst>
          </p:cNvPr>
          <p:cNvSpPr txBox="1"/>
          <p:nvPr/>
        </p:nvSpPr>
        <p:spPr>
          <a:xfrm>
            <a:off x="4763286" y="4848241"/>
            <a:ext cx="1219200" cy="369332"/>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customer</a:t>
            </a:r>
          </a:p>
        </p:txBody>
      </p:sp>
      <p:cxnSp>
        <p:nvCxnSpPr>
          <p:cNvPr id="36" name="Straight Connector 35">
            <a:extLst>
              <a:ext uri="{FF2B5EF4-FFF2-40B4-BE49-F238E27FC236}">
                <a16:creationId xmlns:a16="http://schemas.microsoft.com/office/drawing/2014/main" id="{3EFF548A-7DE5-4DB2-B541-D4D5D1FCA103}"/>
              </a:ext>
            </a:extLst>
          </p:cNvPr>
          <p:cNvCxnSpPr>
            <a:stCxn id="29" idx="0"/>
            <a:endCxn id="11" idx="2"/>
          </p:cNvCxnSpPr>
          <p:nvPr/>
        </p:nvCxnSpPr>
        <p:spPr>
          <a:xfrm flipH="1" flipV="1">
            <a:off x="5228428" y="3715999"/>
            <a:ext cx="144458" cy="113224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14677AF-25BC-4D82-AE74-1DAC02DE9589}"/>
                  </a:ext>
                </a:extLst>
              </p:cNvPr>
              <p:cNvSpPr txBox="1"/>
              <p:nvPr/>
            </p:nvSpPr>
            <p:spPr>
              <a:xfrm>
                <a:off x="7848600" y="3657600"/>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42" name="TextBox 41">
                <a:extLst>
                  <a:ext uri="{FF2B5EF4-FFF2-40B4-BE49-F238E27FC236}">
                    <a16:creationId xmlns:a16="http://schemas.microsoft.com/office/drawing/2014/main" xmlns:a14="http://schemas.microsoft.com/office/drawing/2010/main" xmlns="" id="{714677AF-25BC-4D82-AE74-1DAC02DE9589}"/>
                  </a:ext>
                </a:extLst>
              </p:cNvPr>
              <p:cNvSpPr txBox="1">
                <a:spLocks noRot="1" noChangeAspect="1" noMove="1" noResize="1" noEditPoints="1" noAdjustHandles="1" noChangeArrowheads="1" noChangeShapeType="1" noTextEdit="1"/>
              </p:cNvSpPr>
              <p:nvPr/>
            </p:nvSpPr>
            <p:spPr>
              <a:xfrm>
                <a:off x="7848600" y="3657600"/>
                <a:ext cx="484106" cy="369332"/>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1E19E96-8416-4B37-B53B-389EE36997C4}"/>
                  </a:ext>
                </a:extLst>
              </p:cNvPr>
              <p:cNvSpPr txBox="1"/>
              <p:nvPr/>
            </p:nvSpPr>
            <p:spPr>
              <a:xfrm>
                <a:off x="5778619" y="2798264"/>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43" name="TextBox 42">
                <a:extLst>
                  <a:ext uri="{FF2B5EF4-FFF2-40B4-BE49-F238E27FC236}">
                    <a16:creationId xmlns:a16="http://schemas.microsoft.com/office/drawing/2014/main" id="{11E19E96-8416-4B37-B53B-389EE36997C4}"/>
                  </a:ext>
                </a:extLst>
              </p:cNvPr>
              <p:cNvSpPr txBox="1">
                <a:spLocks noRot="1" noChangeAspect="1" noMove="1" noResize="1" noEditPoints="1" noAdjustHandles="1" noChangeArrowheads="1" noChangeShapeType="1" noTextEdit="1"/>
              </p:cNvSpPr>
              <p:nvPr/>
            </p:nvSpPr>
            <p:spPr>
              <a:xfrm>
                <a:off x="5778619" y="2798264"/>
                <a:ext cx="48410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96DA81A-0435-4C01-911E-21788F368B8E}"/>
                  </a:ext>
                </a:extLst>
              </p:cNvPr>
              <p:cNvSpPr txBox="1"/>
              <p:nvPr/>
            </p:nvSpPr>
            <p:spPr>
              <a:xfrm>
                <a:off x="5157044" y="3679871"/>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49" name="TextBox 48">
                <a:extLst>
                  <a:ext uri="{FF2B5EF4-FFF2-40B4-BE49-F238E27FC236}">
                    <a16:creationId xmlns:a16="http://schemas.microsoft.com/office/drawing/2014/main" id="{696DA81A-0435-4C01-911E-21788F368B8E}"/>
                  </a:ext>
                </a:extLst>
              </p:cNvPr>
              <p:cNvSpPr txBox="1">
                <a:spLocks noRot="1" noChangeAspect="1" noMove="1" noResize="1" noEditPoints="1" noAdjustHandles="1" noChangeArrowheads="1" noChangeShapeType="1" noTextEdit="1"/>
              </p:cNvSpPr>
              <p:nvPr/>
            </p:nvSpPr>
            <p:spPr>
              <a:xfrm>
                <a:off x="5157044" y="3679871"/>
                <a:ext cx="4841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F18AE93-A567-4346-8045-BAF9C556CD3F}"/>
                  </a:ext>
                </a:extLst>
              </p:cNvPr>
              <p:cNvSpPr txBox="1"/>
              <p:nvPr/>
            </p:nvSpPr>
            <p:spPr>
              <a:xfrm>
                <a:off x="5334000" y="4495800"/>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50" name="TextBox 49">
                <a:extLst>
                  <a:ext uri="{FF2B5EF4-FFF2-40B4-BE49-F238E27FC236}">
                    <a16:creationId xmlns:a16="http://schemas.microsoft.com/office/drawing/2014/main" xmlns:a14="http://schemas.microsoft.com/office/drawing/2010/main" xmlns="" id="{DF18AE93-A567-4346-8045-BAF9C556CD3F}"/>
                  </a:ext>
                </a:extLst>
              </p:cNvPr>
              <p:cNvSpPr txBox="1">
                <a:spLocks noRot="1" noChangeAspect="1" noMove="1" noResize="1" noEditPoints="1" noAdjustHandles="1" noChangeArrowheads="1" noChangeShapeType="1" noTextEdit="1"/>
              </p:cNvSpPr>
              <p:nvPr/>
            </p:nvSpPr>
            <p:spPr>
              <a:xfrm>
                <a:off x="5334000" y="4495800"/>
                <a:ext cx="484106" cy="369332"/>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BF3FBEF-D7D4-4435-A11C-40FD8538A289}"/>
                  </a:ext>
                </a:extLst>
              </p:cNvPr>
              <p:cNvSpPr txBox="1"/>
              <p:nvPr/>
            </p:nvSpPr>
            <p:spPr>
              <a:xfrm>
                <a:off x="797105" y="4009821"/>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55" name="TextBox 54">
                <a:extLst>
                  <a:ext uri="{FF2B5EF4-FFF2-40B4-BE49-F238E27FC236}">
                    <a16:creationId xmlns:a16="http://schemas.microsoft.com/office/drawing/2014/main" id="{4BF3FBEF-D7D4-4435-A11C-40FD8538A289}"/>
                  </a:ext>
                </a:extLst>
              </p:cNvPr>
              <p:cNvSpPr txBox="1">
                <a:spLocks noRot="1" noChangeAspect="1" noMove="1" noResize="1" noEditPoints="1" noAdjustHandles="1" noChangeArrowheads="1" noChangeShapeType="1" noTextEdit="1"/>
              </p:cNvSpPr>
              <p:nvPr/>
            </p:nvSpPr>
            <p:spPr>
              <a:xfrm>
                <a:off x="797105" y="4009821"/>
                <a:ext cx="48410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A1944505-1EBC-4E82-A422-4A6531D8045E}"/>
                  </a:ext>
                </a:extLst>
              </p:cNvPr>
              <p:cNvSpPr txBox="1"/>
              <p:nvPr/>
            </p:nvSpPr>
            <p:spPr>
              <a:xfrm>
                <a:off x="152400" y="3200400"/>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56" name="TextBox 55">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152400" y="3200400"/>
                <a:ext cx="484106" cy="369332"/>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74C2F05-339A-4B47-B224-2E47524FB38F}"/>
                  </a:ext>
                </a:extLst>
              </p:cNvPr>
              <p:cNvSpPr txBox="1"/>
              <p:nvPr/>
            </p:nvSpPr>
            <p:spPr>
              <a:xfrm>
                <a:off x="4073546" y="2911409"/>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57" name="TextBox 56">
                <a:extLst>
                  <a:ext uri="{FF2B5EF4-FFF2-40B4-BE49-F238E27FC236}">
                    <a16:creationId xmlns:a16="http://schemas.microsoft.com/office/drawing/2014/main" id="{574C2F05-339A-4B47-B224-2E47524FB38F}"/>
                  </a:ext>
                </a:extLst>
              </p:cNvPr>
              <p:cNvSpPr txBox="1">
                <a:spLocks noRot="1" noChangeAspect="1" noMove="1" noResize="1" noEditPoints="1" noAdjustHandles="1" noChangeArrowheads="1" noChangeShapeType="1" noTextEdit="1"/>
              </p:cNvSpPr>
              <p:nvPr/>
            </p:nvSpPr>
            <p:spPr>
              <a:xfrm>
                <a:off x="4073546" y="2911409"/>
                <a:ext cx="48410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60CEF14-3311-4B0B-9D5A-933CF9C6588C}"/>
                  </a:ext>
                </a:extLst>
              </p:cNvPr>
              <p:cNvSpPr txBox="1"/>
              <p:nvPr/>
            </p:nvSpPr>
            <p:spPr>
              <a:xfrm>
                <a:off x="1496260" y="4832629"/>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58" name="TextBox 57">
                <a:extLst>
                  <a:ext uri="{FF2B5EF4-FFF2-40B4-BE49-F238E27FC236}">
                    <a16:creationId xmlns:a16="http://schemas.microsoft.com/office/drawing/2014/main" id="{A60CEF14-3311-4B0B-9D5A-933CF9C6588C}"/>
                  </a:ext>
                </a:extLst>
              </p:cNvPr>
              <p:cNvSpPr txBox="1">
                <a:spLocks noRot="1" noChangeAspect="1" noMove="1" noResize="1" noEditPoints="1" noAdjustHandles="1" noChangeArrowheads="1" noChangeShapeType="1" noTextEdit="1"/>
              </p:cNvSpPr>
              <p:nvPr/>
            </p:nvSpPr>
            <p:spPr>
              <a:xfrm>
                <a:off x="1496260" y="4832629"/>
                <a:ext cx="484106" cy="369332"/>
              </a:xfrm>
              <a:prstGeom prst="rect">
                <a:avLst/>
              </a:prstGeom>
              <a:blipFill>
                <a:blip r:embed="rId10"/>
                <a:stretch>
                  <a:fillRect/>
                </a:stretch>
              </a:blipFill>
            </p:spPr>
            <p:txBody>
              <a:bodyPr/>
              <a:lstStyle/>
              <a:p>
                <a:r>
                  <a:rPr lang="en-US">
                    <a:noFill/>
                  </a:rPr>
                  <a:t> </a:t>
                </a:r>
              </a:p>
            </p:txBody>
          </p:sp>
        </mc:Fallback>
      </mc:AlternateContent>
      <p:sp>
        <p:nvSpPr>
          <p:cNvPr id="38" name="Title 1"/>
          <p:cNvSpPr txBox="1">
            <a:spLocks/>
          </p:cNvSpPr>
          <p:nvPr/>
        </p:nvSpPr>
        <p:spPr>
          <a:xfrm>
            <a:off x="457200" y="381000"/>
            <a:ext cx="4572000" cy="1600200"/>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endParaRPr lang="en-US" dirty="0">
              <a:solidFill>
                <a:srgbClr val="D2533C"/>
              </a:solidFill>
              <a:latin typeface="Arial"/>
            </a:endParaRPr>
          </a:p>
        </p:txBody>
      </p:sp>
      <p:sp>
        <p:nvSpPr>
          <p:cNvPr id="2" name="Rectangle 1"/>
          <p:cNvSpPr/>
          <p:nvPr/>
        </p:nvSpPr>
        <p:spPr>
          <a:xfrm>
            <a:off x="5372886" y="4463297"/>
            <a:ext cx="313044" cy="369332"/>
          </a:xfrm>
          <a:prstGeom prst="rect">
            <a:avLst/>
          </a:prstGeom>
        </p:spPr>
        <p:txBody>
          <a:bodyPr wrap="none">
            <a:spAutoFit/>
          </a:bodyPr>
          <a:lstStyle/>
          <a:p>
            <a:r>
              <a:rPr lang="en-US" dirty="0"/>
              <a:t>1</a:t>
            </a:r>
          </a:p>
        </p:txBody>
      </p:sp>
      <p:sp>
        <p:nvSpPr>
          <p:cNvPr id="3" name="Rectangle 2"/>
          <p:cNvSpPr/>
          <p:nvPr/>
        </p:nvSpPr>
        <p:spPr>
          <a:xfrm>
            <a:off x="7950376" y="3569732"/>
            <a:ext cx="313044" cy="369332"/>
          </a:xfrm>
          <a:prstGeom prst="rect">
            <a:avLst/>
          </a:prstGeom>
        </p:spPr>
        <p:txBody>
          <a:bodyPr wrap="none">
            <a:spAutoFit/>
          </a:bodyPr>
          <a:lstStyle/>
          <a:p>
            <a:r>
              <a:rPr lang="en-US" dirty="0"/>
              <a:t>1</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1944505-1EBC-4E82-A422-4A6531D8045E}"/>
                  </a:ext>
                </a:extLst>
              </p:cNvPr>
              <p:cNvSpPr txBox="1"/>
              <p:nvPr/>
            </p:nvSpPr>
            <p:spPr>
              <a:xfrm>
                <a:off x="1496260" y="5032907"/>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9" name="TextBox 38">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1496260" y="5032907"/>
                <a:ext cx="484106" cy="369332"/>
              </a:xfrm>
              <a:prstGeom prst="rect">
                <a:avLst/>
              </a:prstGeom>
              <a:blipFill rotWithShape="1">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1944505-1EBC-4E82-A422-4A6531D8045E}"/>
                  </a:ext>
                </a:extLst>
              </p:cNvPr>
              <p:cNvSpPr txBox="1"/>
              <p:nvPr/>
            </p:nvSpPr>
            <p:spPr>
              <a:xfrm>
                <a:off x="63582" y="3167596"/>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0" name="TextBox 39">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63582" y="3167596"/>
                <a:ext cx="484106" cy="369332"/>
              </a:xfrm>
              <a:prstGeom prst="rect">
                <a:avLst/>
              </a:prstGeom>
              <a:blipFill rotWithShape="1">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1944505-1EBC-4E82-A422-4A6531D8045E}"/>
                  </a:ext>
                </a:extLst>
              </p:cNvPr>
              <p:cNvSpPr txBox="1"/>
              <p:nvPr/>
            </p:nvSpPr>
            <p:spPr>
              <a:xfrm>
                <a:off x="4134722" y="2773580"/>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1" name="TextBox 40">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4134722" y="2773580"/>
                <a:ext cx="484106" cy="369332"/>
              </a:xfrm>
              <a:prstGeom prst="rect">
                <a:avLst/>
              </a:prstGeom>
              <a:blipFill rotWithShape="1">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1944505-1EBC-4E82-A422-4A6531D8045E}"/>
                  </a:ext>
                </a:extLst>
              </p:cNvPr>
              <p:cNvSpPr txBox="1"/>
              <p:nvPr/>
            </p:nvSpPr>
            <p:spPr>
              <a:xfrm>
                <a:off x="367547" y="3978831"/>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4" name="TextBox 43">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367547" y="3978831"/>
                <a:ext cx="484106" cy="369332"/>
              </a:xfrm>
              <a:prstGeom prst="rect">
                <a:avLst/>
              </a:prstGeom>
              <a:blipFill rotWithShape="1">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1944505-1EBC-4E82-A422-4A6531D8045E}"/>
                  </a:ext>
                </a:extLst>
              </p:cNvPr>
              <p:cNvSpPr txBox="1"/>
              <p:nvPr/>
            </p:nvSpPr>
            <p:spPr>
              <a:xfrm>
                <a:off x="5838028" y="2798264"/>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6" name="TextBox 45">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5838028" y="2798264"/>
                <a:ext cx="484106" cy="369332"/>
              </a:xfrm>
              <a:prstGeom prst="rect">
                <a:avLst/>
              </a:prstGeom>
              <a:blipFill rotWithShape="1">
                <a:blip r:embed="rId17"/>
                <a:stretch>
                  <a:fillRect/>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A8F29AA3-8406-40FC-98D1-8C1CA7D206A1}"/>
              </a:ext>
            </a:extLst>
          </p:cNvPr>
          <p:cNvSpPr txBox="1"/>
          <p:nvPr/>
        </p:nvSpPr>
        <p:spPr>
          <a:xfrm>
            <a:off x="161925" y="2369621"/>
            <a:ext cx="1219200" cy="507831"/>
          </a:xfrm>
          <a:prstGeom prst="rect">
            <a:avLst/>
          </a:prstGeom>
          <a:noFill/>
        </p:spPr>
        <p:txBody>
          <a:bodyPr wrap="square" rtlCol="0">
            <a:spAutoFit/>
          </a:bodyPr>
          <a:lstStyle/>
          <a:p>
            <a:pPr defTabSz="914400"/>
            <a:r>
              <a:rPr lang="en-US" sz="900" dirty="0">
                <a:solidFill>
                  <a:srgbClr val="292934"/>
                </a:solidFill>
                <a:latin typeface="Arial"/>
              </a:rPr>
              <a:t>Supplier ID</a:t>
            </a:r>
          </a:p>
          <a:p>
            <a:pPr defTabSz="914400"/>
            <a:r>
              <a:rPr lang="en-US" sz="900" dirty="0">
                <a:solidFill>
                  <a:srgbClr val="292934"/>
                </a:solidFill>
                <a:latin typeface="Arial"/>
              </a:rPr>
              <a:t>Supplier Name</a:t>
            </a:r>
          </a:p>
          <a:p>
            <a:pPr defTabSz="914400"/>
            <a:r>
              <a:rPr lang="en-US" sz="900" dirty="0">
                <a:solidFill>
                  <a:srgbClr val="292934"/>
                </a:solidFill>
                <a:latin typeface="Arial"/>
              </a:rPr>
              <a:t>…</a:t>
            </a:r>
          </a:p>
        </p:txBody>
      </p:sp>
      <p:sp>
        <p:nvSpPr>
          <p:cNvPr id="47" name="TextBox 46">
            <a:extLst>
              <a:ext uri="{FF2B5EF4-FFF2-40B4-BE49-F238E27FC236}">
                <a16:creationId xmlns:a16="http://schemas.microsoft.com/office/drawing/2014/main" id="{A8F29AA3-8406-40FC-98D1-8C1CA7D206A1}"/>
              </a:ext>
            </a:extLst>
          </p:cNvPr>
          <p:cNvSpPr txBox="1"/>
          <p:nvPr/>
        </p:nvSpPr>
        <p:spPr>
          <a:xfrm>
            <a:off x="322253" y="4731137"/>
            <a:ext cx="1219200" cy="507831"/>
          </a:xfrm>
          <a:prstGeom prst="rect">
            <a:avLst/>
          </a:prstGeom>
          <a:noFill/>
        </p:spPr>
        <p:txBody>
          <a:bodyPr wrap="square" rtlCol="0">
            <a:spAutoFit/>
          </a:bodyPr>
          <a:lstStyle/>
          <a:p>
            <a:pPr defTabSz="914400"/>
            <a:r>
              <a:rPr lang="en-US" sz="900" dirty="0">
                <a:solidFill>
                  <a:srgbClr val="292934"/>
                </a:solidFill>
                <a:latin typeface="Arial"/>
              </a:rPr>
              <a:t>Product ID</a:t>
            </a:r>
          </a:p>
          <a:p>
            <a:pPr defTabSz="914400"/>
            <a:r>
              <a:rPr lang="en-US" sz="900" dirty="0">
                <a:solidFill>
                  <a:srgbClr val="292934"/>
                </a:solidFill>
                <a:latin typeface="Arial"/>
              </a:rPr>
              <a:t>Product Name</a:t>
            </a:r>
          </a:p>
          <a:p>
            <a:pPr defTabSz="914400"/>
            <a:r>
              <a:rPr lang="en-US" sz="900" dirty="0">
                <a:solidFill>
                  <a:srgbClr val="292934"/>
                </a:solidFill>
                <a:latin typeface="Arial"/>
              </a:rPr>
              <a:t>…</a:t>
            </a:r>
          </a:p>
        </p:txBody>
      </p:sp>
      <p:sp>
        <p:nvSpPr>
          <p:cNvPr id="48" name="TextBox 47">
            <a:extLst>
              <a:ext uri="{FF2B5EF4-FFF2-40B4-BE49-F238E27FC236}">
                <a16:creationId xmlns:a16="http://schemas.microsoft.com/office/drawing/2014/main" id="{A8F29AA3-8406-40FC-98D1-8C1CA7D206A1}"/>
              </a:ext>
            </a:extLst>
          </p:cNvPr>
          <p:cNvSpPr txBox="1"/>
          <p:nvPr/>
        </p:nvSpPr>
        <p:spPr>
          <a:xfrm>
            <a:off x="4606407" y="2913014"/>
            <a:ext cx="1219200" cy="507831"/>
          </a:xfrm>
          <a:prstGeom prst="rect">
            <a:avLst/>
          </a:prstGeom>
          <a:noFill/>
        </p:spPr>
        <p:txBody>
          <a:bodyPr wrap="square" rtlCol="0">
            <a:spAutoFit/>
          </a:bodyPr>
          <a:lstStyle/>
          <a:p>
            <a:pPr defTabSz="914400"/>
            <a:r>
              <a:rPr lang="en-US" sz="900" dirty="0">
                <a:solidFill>
                  <a:srgbClr val="292934"/>
                </a:solidFill>
                <a:latin typeface="Arial"/>
              </a:rPr>
              <a:t>Order ID</a:t>
            </a:r>
          </a:p>
          <a:p>
            <a:pPr defTabSz="914400"/>
            <a:r>
              <a:rPr lang="en-US" sz="900" dirty="0">
                <a:solidFill>
                  <a:srgbClr val="292934"/>
                </a:solidFill>
                <a:latin typeface="Arial"/>
              </a:rPr>
              <a:t>Order Date</a:t>
            </a:r>
          </a:p>
          <a:p>
            <a:pPr defTabSz="914400"/>
            <a:r>
              <a:rPr lang="en-US" sz="900" dirty="0">
                <a:solidFill>
                  <a:srgbClr val="292934"/>
                </a:solidFill>
                <a:latin typeface="Arial"/>
              </a:rPr>
              <a:t>…</a:t>
            </a:r>
          </a:p>
        </p:txBody>
      </p:sp>
      <p:sp>
        <p:nvSpPr>
          <p:cNvPr id="51" name="TextBox 50">
            <a:extLst>
              <a:ext uri="{FF2B5EF4-FFF2-40B4-BE49-F238E27FC236}">
                <a16:creationId xmlns:a16="http://schemas.microsoft.com/office/drawing/2014/main" id="{A8F29AA3-8406-40FC-98D1-8C1CA7D206A1}"/>
              </a:ext>
            </a:extLst>
          </p:cNvPr>
          <p:cNvSpPr txBox="1"/>
          <p:nvPr/>
        </p:nvSpPr>
        <p:spPr>
          <a:xfrm>
            <a:off x="4752977" y="5230244"/>
            <a:ext cx="1219200" cy="369332"/>
          </a:xfrm>
          <a:prstGeom prst="rect">
            <a:avLst/>
          </a:prstGeom>
          <a:noFill/>
        </p:spPr>
        <p:txBody>
          <a:bodyPr wrap="square" rtlCol="0">
            <a:spAutoFit/>
          </a:bodyPr>
          <a:lstStyle/>
          <a:p>
            <a:pPr defTabSz="914400"/>
            <a:r>
              <a:rPr lang="en-US" sz="900" dirty="0">
                <a:solidFill>
                  <a:srgbClr val="292934"/>
                </a:solidFill>
                <a:latin typeface="Arial"/>
              </a:rPr>
              <a:t>Customer ID</a:t>
            </a:r>
          </a:p>
          <a:p>
            <a:pPr defTabSz="914400"/>
            <a:r>
              <a:rPr lang="en-US" sz="900" dirty="0">
                <a:solidFill>
                  <a:srgbClr val="292934"/>
                </a:solidFill>
                <a:latin typeface="Arial"/>
              </a:rPr>
              <a:t>…</a:t>
            </a:r>
          </a:p>
        </p:txBody>
      </p:sp>
      <p:sp>
        <p:nvSpPr>
          <p:cNvPr id="52" name="TextBox 51">
            <a:extLst>
              <a:ext uri="{FF2B5EF4-FFF2-40B4-BE49-F238E27FC236}">
                <a16:creationId xmlns:a16="http://schemas.microsoft.com/office/drawing/2014/main" id="{A8F29AA3-8406-40FC-98D1-8C1CA7D206A1}"/>
              </a:ext>
            </a:extLst>
          </p:cNvPr>
          <p:cNvSpPr txBox="1"/>
          <p:nvPr/>
        </p:nvSpPr>
        <p:spPr>
          <a:xfrm>
            <a:off x="7382246" y="4373722"/>
            <a:ext cx="1219200" cy="369332"/>
          </a:xfrm>
          <a:prstGeom prst="rect">
            <a:avLst/>
          </a:prstGeom>
          <a:noFill/>
        </p:spPr>
        <p:txBody>
          <a:bodyPr wrap="square" rtlCol="0">
            <a:spAutoFit/>
          </a:bodyPr>
          <a:lstStyle/>
          <a:p>
            <a:pPr defTabSz="914400"/>
            <a:r>
              <a:rPr lang="en-US" sz="900" dirty="0">
                <a:solidFill>
                  <a:srgbClr val="292934"/>
                </a:solidFill>
                <a:latin typeface="Arial"/>
              </a:rPr>
              <a:t>Salesperson ID</a:t>
            </a:r>
          </a:p>
          <a:p>
            <a:pPr defTabSz="914400"/>
            <a:r>
              <a:rPr lang="en-US" sz="900" dirty="0">
                <a:solidFill>
                  <a:srgbClr val="292934"/>
                </a:solidFill>
                <a:latin typeface="Arial"/>
              </a:rPr>
              <a:t>…</a:t>
            </a:r>
          </a:p>
        </p:txBody>
      </p:sp>
      <p:sp>
        <p:nvSpPr>
          <p:cNvPr id="53" name="Title 1"/>
          <p:cNvSpPr txBox="1">
            <a:spLocks/>
          </p:cNvSpPr>
          <p:nvPr/>
        </p:nvSpPr>
        <p:spPr>
          <a:xfrm>
            <a:off x="152400" y="466955"/>
            <a:ext cx="4610886" cy="1400988"/>
          </a:xfrm>
          <a:prstGeom prst="rect">
            <a:avLst/>
          </a:prstGeom>
        </p:spPr>
        <p:txBody>
          <a:bodyPr vert="horz" lIns="91440" tIns="45720" rIns="91440" bIns="45720" rtlCol="0" anchor="ctr">
            <a:normAutofit fontScale="90000" lnSpcReduction="2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600" dirty="0">
                <a:solidFill>
                  <a:srgbClr val="D2533C"/>
                </a:solidFill>
                <a:latin typeface="Arial"/>
              </a:rPr>
              <a:t>III.</a:t>
            </a:r>
            <a:r>
              <a:rPr lang="en-US" sz="3600" dirty="0"/>
              <a:t> </a:t>
            </a:r>
            <a:r>
              <a:rPr lang="en-US" sz="3600" dirty="0">
                <a:solidFill>
                  <a:srgbClr val="D2533C"/>
                </a:solidFill>
              </a:rPr>
              <a:t>Create ER Diagram</a:t>
            </a:r>
          </a:p>
          <a:p>
            <a:r>
              <a:rPr lang="en-US" sz="3600" dirty="0">
                <a:solidFill>
                  <a:srgbClr val="D2533C"/>
                </a:solidFill>
              </a:rPr>
              <a:t>Represent relationships &amp; indicate cardinality</a:t>
            </a:r>
          </a:p>
        </p:txBody>
      </p:sp>
      <p:sp>
        <p:nvSpPr>
          <p:cNvPr id="54" name="Content Placeholder 2"/>
          <p:cNvSpPr txBox="1">
            <a:spLocks/>
          </p:cNvSpPr>
          <p:nvPr/>
        </p:nvSpPr>
        <p:spPr>
          <a:xfrm>
            <a:off x="4696196" y="37535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59" name="Rectangle 58"/>
          <p:cNvSpPr/>
          <p:nvPr/>
        </p:nvSpPr>
        <p:spPr>
          <a:xfrm>
            <a:off x="5233834" y="1066572"/>
            <a:ext cx="37719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859BFB5-CF8F-3235-400C-DE139CE1F659}"/>
                  </a:ext>
                </a:extLst>
              </p:cNvPr>
              <p:cNvSpPr txBox="1"/>
              <p:nvPr/>
            </p:nvSpPr>
            <p:spPr>
              <a:xfrm>
                <a:off x="5303034" y="3720968"/>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E859BFB5-CF8F-3235-400C-DE139CE1F659}"/>
                  </a:ext>
                </a:extLst>
              </p:cNvPr>
              <p:cNvSpPr txBox="1">
                <a:spLocks noRot="1" noChangeAspect="1" noMove="1" noResize="1" noEditPoints="1" noAdjustHandles="1" noChangeArrowheads="1" noChangeShapeType="1" noTextEdit="1"/>
              </p:cNvSpPr>
              <p:nvPr/>
            </p:nvSpPr>
            <p:spPr>
              <a:xfrm>
                <a:off x="5303034" y="3720968"/>
                <a:ext cx="484106" cy="369332"/>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68719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22</a:t>
            </a:fld>
            <a:endParaRPr lang="en-US">
              <a:latin typeface="Arial"/>
            </a:endParaRPr>
          </a:p>
        </p:txBody>
      </p:sp>
      <p:sp>
        <p:nvSpPr>
          <p:cNvPr id="7" name="Rectangle 6"/>
          <p:cNvSpPr/>
          <p:nvPr/>
        </p:nvSpPr>
        <p:spPr>
          <a:xfrm>
            <a:off x="305635" y="4353115"/>
            <a:ext cx="1219200" cy="1146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8" name="TextBox 7"/>
          <p:cNvSpPr txBox="1"/>
          <p:nvPr/>
        </p:nvSpPr>
        <p:spPr>
          <a:xfrm>
            <a:off x="308777" y="4361805"/>
            <a:ext cx="1219200" cy="369332"/>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Product</a:t>
            </a:r>
          </a:p>
        </p:txBody>
      </p:sp>
      <p:sp>
        <p:nvSpPr>
          <p:cNvPr id="9" name="Rectangle 8"/>
          <p:cNvSpPr/>
          <p:nvPr/>
        </p:nvSpPr>
        <p:spPr>
          <a:xfrm>
            <a:off x="152400" y="1981200"/>
            <a:ext cx="1219200" cy="1146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10" name="TextBox 9"/>
          <p:cNvSpPr txBox="1"/>
          <p:nvPr/>
        </p:nvSpPr>
        <p:spPr>
          <a:xfrm>
            <a:off x="152400" y="1981200"/>
            <a:ext cx="1219200" cy="369332"/>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Suppliers</a:t>
            </a:r>
          </a:p>
        </p:txBody>
      </p:sp>
      <p:sp>
        <p:nvSpPr>
          <p:cNvPr id="11" name="Rectangle 10"/>
          <p:cNvSpPr/>
          <p:nvPr/>
        </p:nvSpPr>
        <p:spPr>
          <a:xfrm>
            <a:off x="4618828" y="2569824"/>
            <a:ext cx="1219200" cy="1146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12" name="TextBox 11"/>
          <p:cNvSpPr txBox="1"/>
          <p:nvPr/>
        </p:nvSpPr>
        <p:spPr>
          <a:xfrm>
            <a:off x="4618828" y="2569824"/>
            <a:ext cx="1219200" cy="369332"/>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Orders</a:t>
            </a:r>
          </a:p>
        </p:txBody>
      </p:sp>
      <p:cxnSp>
        <p:nvCxnSpPr>
          <p:cNvPr id="17" name="Straight Connector 16">
            <a:extLst>
              <a:ext uri="{FF2B5EF4-FFF2-40B4-BE49-F238E27FC236}">
                <a16:creationId xmlns:a16="http://schemas.microsoft.com/office/drawing/2014/main" id="{8C3D8258-2D93-4D2A-A545-0D3087BAFF2C}"/>
              </a:ext>
            </a:extLst>
          </p:cNvPr>
          <p:cNvCxnSpPr>
            <a:cxnSpLocks/>
            <a:endCxn id="8" idx="0"/>
          </p:cNvCxnSpPr>
          <p:nvPr/>
        </p:nvCxnSpPr>
        <p:spPr>
          <a:xfrm>
            <a:off x="609600" y="3124200"/>
            <a:ext cx="308777" cy="1237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EC24287-9BAE-4A46-A905-C4B3472AF0C8}"/>
              </a:ext>
            </a:extLst>
          </p:cNvPr>
          <p:cNvCxnSpPr>
            <a:stCxn id="7" idx="3"/>
            <a:endCxn id="11" idx="1"/>
          </p:cNvCxnSpPr>
          <p:nvPr/>
        </p:nvCxnSpPr>
        <p:spPr>
          <a:xfrm flipV="1">
            <a:off x="1524835" y="3142912"/>
            <a:ext cx="3093993" cy="1783291"/>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08CB7D44-C16F-45D4-9125-AFE08D5DA531}"/>
              </a:ext>
            </a:extLst>
          </p:cNvPr>
          <p:cNvSpPr/>
          <p:nvPr/>
        </p:nvSpPr>
        <p:spPr>
          <a:xfrm>
            <a:off x="7337466" y="3971011"/>
            <a:ext cx="1501734" cy="1146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25" name="TextBox 24">
            <a:extLst>
              <a:ext uri="{FF2B5EF4-FFF2-40B4-BE49-F238E27FC236}">
                <a16:creationId xmlns:a16="http://schemas.microsoft.com/office/drawing/2014/main" id="{E1C8336E-4EE5-44FF-A9EE-35080D8420FD}"/>
              </a:ext>
            </a:extLst>
          </p:cNvPr>
          <p:cNvSpPr txBox="1"/>
          <p:nvPr/>
        </p:nvSpPr>
        <p:spPr>
          <a:xfrm>
            <a:off x="7337466" y="3976512"/>
            <a:ext cx="1501734" cy="369332"/>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Salesperson</a:t>
            </a:r>
          </a:p>
        </p:txBody>
      </p:sp>
      <p:cxnSp>
        <p:nvCxnSpPr>
          <p:cNvPr id="27" name="Straight Connector 26">
            <a:extLst>
              <a:ext uri="{FF2B5EF4-FFF2-40B4-BE49-F238E27FC236}">
                <a16:creationId xmlns:a16="http://schemas.microsoft.com/office/drawing/2014/main" id="{357E815E-74B5-47F6-8C73-A7C8520F75D0}"/>
              </a:ext>
            </a:extLst>
          </p:cNvPr>
          <p:cNvCxnSpPr>
            <a:cxnSpLocks/>
            <a:stCxn id="11" idx="3"/>
            <a:endCxn id="25" idx="0"/>
          </p:cNvCxnSpPr>
          <p:nvPr/>
        </p:nvCxnSpPr>
        <p:spPr>
          <a:xfrm>
            <a:off x="5838028" y="3142912"/>
            <a:ext cx="2250305" cy="833600"/>
          </a:xfrm>
          <a:prstGeom prst="line">
            <a:avLst/>
          </a:prstGeom>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2174B65-7125-4932-93E2-07289AED0C8A}"/>
              </a:ext>
            </a:extLst>
          </p:cNvPr>
          <p:cNvSpPr/>
          <p:nvPr/>
        </p:nvSpPr>
        <p:spPr>
          <a:xfrm>
            <a:off x="4763286" y="4848241"/>
            <a:ext cx="1219200" cy="1146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29" name="TextBox 28">
            <a:extLst>
              <a:ext uri="{FF2B5EF4-FFF2-40B4-BE49-F238E27FC236}">
                <a16:creationId xmlns:a16="http://schemas.microsoft.com/office/drawing/2014/main" id="{8B5143A6-967C-44D2-8064-A5F485AA507A}"/>
              </a:ext>
            </a:extLst>
          </p:cNvPr>
          <p:cNvSpPr txBox="1"/>
          <p:nvPr/>
        </p:nvSpPr>
        <p:spPr>
          <a:xfrm>
            <a:off x="4763286" y="4848241"/>
            <a:ext cx="1219200" cy="369332"/>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customer</a:t>
            </a:r>
          </a:p>
        </p:txBody>
      </p:sp>
      <p:cxnSp>
        <p:nvCxnSpPr>
          <p:cNvPr id="36" name="Straight Connector 35">
            <a:extLst>
              <a:ext uri="{FF2B5EF4-FFF2-40B4-BE49-F238E27FC236}">
                <a16:creationId xmlns:a16="http://schemas.microsoft.com/office/drawing/2014/main" id="{3EFF548A-7DE5-4DB2-B541-D4D5D1FCA103}"/>
              </a:ext>
            </a:extLst>
          </p:cNvPr>
          <p:cNvCxnSpPr>
            <a:stCxn id="29" idx="0"/>
            <a:endCxn id="11" idx="2"/>
          </p:cNvCxnSpPr>
          <p:nvPr/>
        </p:nvCxnSpPr>
        <p:spPr>
          <a:xfrm flipH="1" flipV="1">
            <a:off x="5228428" y="3715999"/>
            <a:ext cx="144458" cy="113224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14677AF-25BC-4D82-AE74-1DAC02DE9589}"/>
                  </a:ext>
                </a:extLst>
              </p:cNvPr>
              <p:cNvSpPr txBox="1"/>
              <p:nvPr/>
            </p:nvSpPr>
            <p:spPr>
              <a:xfrm>
                <a:off x="7848600" y="3657600"/>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42" name="TextBox 41">
                <a:extLst>
                  <a:ext uri="{FF2B5EF4-FFF2-40B4-BE49-F238E27FC236}">
                    <a16:creationId xmlns:a16="http://schemas.microsoft.com/office/drawing/2014/main" xmlns:a14="http://schemas.microsoft.com/office/drawing/2010/main" xmlns="" id="{714677AF-25BC-4D82-AE74-1DAC02DE9589}"/>
                  </a:ext>
                </a:extLst>
              </p:cNvPr>
              <p:cNvSpPr txBox="1">
                <a:spLocks noRot="1" noChangeAspect="1" noMove="1" noResize="1" noEditPoints="1" noAdjustHandles="1" noChangeArrowheads="1" noChangeShapeType="1" noTextEdit="1"/>
              </p:cNvSpPr>
              <p:nvPr/>
            </p:nvSpPr>
            <p:spPr>
              <a:xfrm>
                <a:off x="7848600" y="3657600"/>
                <a:ext cx="484106" cy="369332"/>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1E19E96-8416-4B37-B53B-389EE36997C4}"/>
                  </a:ext>
                </a:extLst>
              </p:cNvPr>
              <p:cNvSpPr txBox="1"/>
              <p:nvPr/>
            </p:nvSpPr>
            <p:spPr>
              <a:xfrm>
                <a:off x="5778619" y="2798264"/>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43" name="TextBox 42">
                <a:extLst>
                  <a:ext uri="{FF2B5EF4-FFF2-40B4-BE49-F238E27FC236}">
                    <a16:creationId xmlns:a16="http://schemas.microsoft.com/office/drawing/2014/main" id="{11E19E96-8416-4B37-B53B-389EE36997C4}"/>
                  </a:ext>
                </a:extLst>
              </p:cNvPr>
              <p:cNvSpPr txBox="1">
                <a:spLocks noRot="1" noChangeAspect="1" noMove="1" noResize="1" noEditPoints="1" noAdjustHandles="1" noChangeArrowheads="1" noChangeShapeType="1" noTextEdit="1"/>
              </p:cNvSpPr>
              <p:nvPr/>
            </p:nvSpPr>
            <p:spPr>
              <a:xfrm>
                <a:off x="5778619" y="2798264"/>
                <a:ext cx="4841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96DA81A-0435-4C01-911E-21788F368B8E}"/>
                  </a:ext>
                </a:extLst>
              </p:cNvPr>
              <p:cNvSpPr txBox="1"/>
              <p:nvPr/>
            </p:nvSpPr>
            <p:spPr>
              <a:xfrm>
                <a:off x="5157044" y="3679871"/>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49" name="TextBox 48">
                <a:extLst>
                  <a:ext uri="{FF2B5EF4-FFF2-40B4-BE49-F238E27FC236}">
                    <a16:creationId xmlns:a16="http://schemas.microsoft.com/office/drawing/2014/main" id="{696DA81A-0435-4C01-911E-21788F368B8E}"/>
                  </a:ext>
                </a:extLst>
              </p:cNvPr>
              <p:cNvSpPr txBox="1">
                <a:spLocks noRot="1" noChangeAspect="1" noMove="1" noResize="1" noEditPoints="1" noAdjustHandles="1" noChangeArrowheads="1" noChangeShapeType="1" noTextEdit="1"/>
              </p:cNvSpPr>
              <p:nvPr/>
            </p:nvSpPr>
            <p:spPr>
              <a:xfrm>
                <a:off x="5157044" y="3679871"/>
                <a:ext cx="48410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F18AE93-A567-4346-8045-BAF9C556CD3F}"/>
                  </a:ext>
                </a:extLst>
              </p:cNvPr>
              <p:cNvSpPr txBox="1"/>
              <p:nvPr/>
            </p:nvSpPr>
            <p:spPr>
              <a:xfrm>
                <a:off x="5334000" y="4495800"/>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50" name="TextBox 49">
                <a:extLst>
                  <a:ext uri="{FF2B5EF4-FFF2-40B4-BE49-F238E27FC236}">
                    <a16:creationId xmlns:a16="http://schemas.microsoft.com/office/drawing/2014/main" xmlns:a14="http://schemas.microsoft.com/office/drawing/2010/main" xmlns="" id="{DF18AE93-A567-4346-8045-BAF9C556CD3F}"/>
                  </a:ext>
                </a:extLst>
              </p:cNvPr>
              <p:cNvSpPr txBox="1">
                <a:spLocks noRot="1" noChangeAspect="1" noMove="1" noResize="1" noEditPoints="1" noAdjustHandles="1" noChangeArrowheads="1" noChangeShapeType="1" noTextEdit="1"/>
              </p:cNvSpPr>
              <p:nvPr/>
            </p:nvSpPr>
            <p:spPr>
              <a:xfrm>
                <a:off x="5334000" y="4495800"/>
                <a:ext cx="484106" cy="369332"/>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BF3FBEF-D7D4-4435-A11C-40FD8538A289}"/>
                  </a:ext>
                </a:extLst>
              </p:cNvPr>
              <p:cNvSpPr txBox="1"/>
              <p:nvPr/>
            </p:nvSpPr>
            <p:spPr>
              <a:xfrm>
                <a:off x="797105" y="4009821"/>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55" name="TextBox 54">
                <a:extLst>
                  <a:ext uri="{FF2B5EF4-FFF2-40B4-BE49-F238E27FC236}">
                    <a16:creationId xmlns:a16="http://schemas.microsoft.com/office/drawing/2014/main" id="{4BF3FBEF-D7D4-4435-A11C-40FD8538A289}"/>
                  </a:ext>
                </a:extLst>
              </p:cNvPr>
              <p:cNvSpPr txBox="1">
                <a:spLocks noRot="1" noChangeAspect="1" noMove="1" noResize="1" noEditPoints="1" noAdjustHandles="1" noChangeArrowheads="1" noChangeShapeType="1" noTextEdit="1"/>
              </p:cNvSpPr>
              <p:nvPr/>
            </p:nvSpPr>
            <p:spPr>
              <a:xfrm>
                <a:off x="797105" y="4009821"/>
                <a:ext cx="48410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A1944505-1EBC-4E82-A422-4A6531D8045E}"/>
                  </a:ext>
                </a:extLst>
              </p:cNvPr>
              <p:cNvSpPr txBox="1"/>
              <p:nvPr/>
            </p:nvSpPr>
            <p:spPr>
              <a:xfrm>
                <a:off x="152400" y="3200400"/>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56" name="TextBox 55">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152400" y="3200400"/>
                <a:ext cx="484106" cy="369332"/>
              </a:xfrm>
              <a:prstGeom prst="rect">
                <a:avLst/>
              </a:prstGeom>
              <a:blipFill rotWithShape="1">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74C2F05-339A-4B47-B224-2E47524FB38F}"/>
                  </a:ext>
                </a:extLst>
              </p:cNvPr>
              <p:cNvSpPr txBox="1"/>
              <p:nvPr/>
            </p:nvSpPr>
            <p:spPr>
              <a:xfrm>
                <a:off x="4073546" y="2911409"/>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57" name="TextBox 56">
                <a:extLst>
                  <a:ext uri="{FF2B5EF4-FFF2-40B4-BE49-F238E27FC236}">
                    <a16:creationId xmlns:a16="http://schemas.microsoft.com/office/drawing/2014/main" id="{574C2F05-339A-4B47-B224-2E47524FB38F}"/>
                  </a:ext>
                </a:extLst>
              </p:cNvPr>
              <p:cNvSpPr txBox="1">
                <a:spLocks noRot="1" noChangeAspect="1" noMove="1" noResize="1" noEditPoints="1" noAdjustHandles="1" noChangeArrowheads="1" noChangeShapeType="1" noTextEdit="1"/>
              </p:cNvSpPr>
              <p:nvPr/>
            </p:nvSpPr>
            <p:spPr>
              <a:xfrm>
                <a:off x="4073546" y="2911409"/>
                <a:ext cx="48410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60CEF14-3311-4B0B-9D5A-933CF9C6588C}"/>
                  </a:ext>
                </a:extLst>
              </p:cNvPr>
              <p:cNvSpPr txBox="1"/>
              <p:nvPr/>
            </p:nvSpPr>
            <p:spPr>
              <a:xfrm>
                <a:off x="1496260" y="4832629"/>
                <a:ext cx="484106" cy="369332"/>
              </a:xfrm>
              <a:prstGeom prst="rect">
                <a:avLst/>
              </a:prstGeom>
              <a:noFill/>
            </p:spPr>
            <p:txBody>
              <a:bodyPr wrap="square" rtlCol="0">
                <a:spAutoFit/>
              </a:bodyPr>
              <a:lstStyle/>
              <a:p>
                <a:pPr defTabSz="914400"/>
                <a:endParaRPr lang="en-US" dirty="0">
                  <a:solidFill>
                    <a:srgbClr val="292934"/>
                  </a:solidFill>
                  <a:latin typeface="Arial"/>
                </a:endParaRPr>
              </a:p>
            </p:txBody>
          </p:sp>
        </mc:Choice>
        <mc:Fallback xmlns="">
          <p:sp>
            <p:nvSpPr>
              <p:cNvPr id="58" name="TextBox 57">
                <a:extLst>
                  <a:ext uri="{FF2B5EF4-FFF2-40B4-BE49-F238E27FC236}">
                    <a16:creationId xmlns:a16="http://schemas.microsoft.com/office/drawing/2014/main" id="{A60CEF14-3311-4B0B-9D5A-933CF9C6588C}"/>
                  </a:ext>
                </a:extLst>
              </p:cNvPr>
              <p:cNvSpPr txBox="1">
                <a:spLocks noRot="1" noChangeAspect="1" noMove="1" noResize="1" noEditPoints="1" noAdjustHandles="1" noChangeArrowheads="1" noChangeShapeType="1" noTextEdit="1"/>
              </p:cNvSpPr>
              <p:nvPr/>
            </p:nvSpPr>
            <p:spPr>
              <a:xfrm>
                <a:off x="1496260" y="4832629"/>
                <a:ext cx="484106" cy="369332"/>
              </a:xfrm>
              <a:prstGeom prst="rect">
                <a:avLst/>
              </a:prstGeom>
              <a:blipFill>
                <a:blip r:embed="rId10"/>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D52BCADC-8489-4C9F-951E-266A739D16AA}"/>
              </a:ext>
            </a:extLst>
          </p:cNvPr>
          <p:cNvCxnSpPr>
            <a:cxnSpLocks/>
            <a:endCxn id="61" idx="1"/>
          </p:cNvCxnSpPr>
          <p:nvPr/>
        </p:nvCxnSpPr>
        <p:spPr>
          <a:xfrm flipV="1">
            <a:off x="838200" y="2722949"/>
            <a:ext cx="958809" cy="108705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1D1FA0D8-1B14-44B5-9D89-E29622534B89}"/>
              </a:ext>
            </a:extLst>
          </p:cNvPr>
          <p:cNvSpPr/>
          <p:nvPr/>
        </p:nvSpPr>
        <p:spPr>
          <a:xfrm>
            <a:off x="1797009" y="2101826"/>
            <a:ext cx="1219200" cy="12422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62" name="TextBox 61">
            <a:extLst>
              <a:ext uri="{FF2B5EF4-FFF2-40B4-BE49-F238E27FC236}">
                <a16:creationId xmlns:a16="http://schemas.microsoft.com/office/drawing/2014/main" id="{4E7FE578-9240-448C-866D-73AC5776E183}"/>
              </a:ext>
            </a:extLst>
          </p:cNvPr>
          <p:cNvSpPr txBox="1"/>
          <p:nvPr/>
        </p:nvSpPr>
        <p:spPr>
          <a:xfrm>
            <a:off x="1806534" y="2108159"/>
            <a:ext cx="1219200" cy="646331"/>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Supplier-Product</a:t>
            </a:r>
          </a:p>
        </p:txBody>
      </p:sp>
      <p:sp>
        <p:nvSpPr>
          <p:cNvPr id="63" name="TextBox 62">
            <a:extLst>
              <a:ext uri="{FF2B5EF4-FFF2-40B4-BE49-F238E27FC236}">
                <a16:creationId xmlns:a16="http://schemas.microsoft.com/office/drawing/2014/main" id="{A8F29AA3-8406-40FC-98D1-8C1CA7D206A1}"/>
              </a:ext>
            </a:extLst>
          </p:cNvPr>
          <p:cNvSpPr txBox="1"/>
          <p:nvPr/>
        </p:nvSpPr>
        <p:spPr>
          <a:xfrm>
            <a:off x="1797009" y="2809465"/>
            <a:ext cx="1219200" cy="369332"/>
          </a:xfrm>
          <a:prstGeom prst="rect">
            <a:avLst/>
          </a:prstGeom>
          <a:noFill/>
        </p:spPr>
        <p:txBody>
          <a:bodyPr wrap="square" rtlCol="0">
            <a:spAutoFit/>
          </a:bodyPr>
          <a:lstStyle/>
          <a:p>
            <a:pPr defTabSz="914400"/>
            <a:r>
              <a:rPr lang="en-US" sz="900" dirty="0">
                <a:solidFill>
                  <a:srgbClr val="292934"/>
                </a:solidFill>
                <a:latin typeface="Arial"/>
              </a:rPr>
              <a:t>Supplier ID</a:t>
            </a:r>
          </a:p>
          <a:p>
            <a:pPr defTabSz="914400"/>
            <a:r>
              <a:rPr lang="en-US" sz="900" dirty="0">
                <a:solidFill>
                  <a:srgbClr val="292934"/>
                </a:solidFill>
                <a:latin typeface="Arial"/>
              </a:rPr>
              <a:t>Product ID</a:t>
            </a:r>
          </a:p>
        </p:txBody>
      </p:sp>
      <p:cxnSp>
        <p:nvCxnSpPr>
          <p:cNvPr id="71" name="Straight Connector 70">
            <a:extLst>
              <a:ext uri="{FF2B5EF4-FFF2-40B4-BE49-F238E27FC236}">
                <a16:creationId xmlns:a16="http://schemas.microsoft.com/office/drawing/2014/main" id="{2BB6FE49-6512-49BA-9000-55221BC454D5}"/>
              </a:ext>
            </a:extLst>
          </p:cNvPr>
          <p:cNvCxnSpPr>
            <a:cxnSpLocks/>
            <a:stCxn id="75" idx="0"/>
          </p:cNvCxnSpPr>
          <p:nvPr/>
        </p:nvCxnSpPr>
        <p:spPr>
          <a:xfrm flipV="1">
            <a:off x="3241650" y="3971012"/>
            <a:ext cx="10309" cy="1051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782984A7-348D-4DC8-B3EC-2195EE2A0D30}"/>
              </a:ext>
            </a:extLst>
          </p:cNvPr>
          <p:cNvSpPr/>
          <p:nvPr/>
        </p:nvSpPr>
        <p:spPr>
          <a:xfrm>
            <a:off x="2642359" y="5022944"/>
            <a:ext cx="1219200" cy="12422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Arial"/>
            </a:endParaRPr>
          </a:p>
        </p:txBody>
      </p:sp>
      <p:sp>
        <p:nvSpPr>
          <p:cNvPr id="75" name="TextBox 74">
            <a:extLst>
              <a:ext uri="{FF2B5EF4-FFF2-40B4-BE49-F238E27FC236}">
                <a16:creationId xmlns:a16="http://schemas.microsoft.com/office/drawing/2014/main" id="{F299B50E-6DC0-4153-8ED7-92526551EF17}"/>
              </a:ext>
            </a:extLst>
          </p:cNvPr>
          <p:cNvSpPr txBox="1"/>
          <p:nvPr/>
        </p:nvSpPr>
        <p:spPr>
          <a:xfrm>
            <a:off x="2632050" y="5023000"/>
            <a:ext cx="1219200" cy="646331"/>
          </a:xfrm>
          <a:prstGeom prst="rect">
            <a:avLst/>
          </a:prstGeom>
          <a:noFill/>
          <a:ln>
            <a:solidFill>
              <a:schemeClr val="tx1"/>
            </a:solidFill>
          </a:ln>
        </p:spPr>
        <p:txBody>
          <a:bodyPr wrap="square" rtlCol="0">
            <a:spAutoFit/>
          </a:bodyPr>
          <a:lstStyle/>
          <a:p>
            <a:pPr defTabSz="914400"/>
            <a:r>
              <a:rPr lang="en-US" dirty="0">
                <a:solidFill>
                  <a:srgbClr val="292934"/>
                </a:solidFill>
                <a:latin typeface="Arial"/>
              </a:rPr>
              <a:t>Order-Product</a:t>
            </a:r>
          </a:p>
        </p:txBody>
      </p:sp>
      <p:sp>
        <p:nvSpPr>
          <p:cNvPr id="76" name="TextBox 75">
            <a:extLst>
              <a:ext uri="{FF2B5EF4-FFF2-40B4-BE49-F238E27FC236}">
                <a16:creationId xmlns:a16="http://schemas.microsoft.com/office/drawing/2014/main" id="{0BDE4A65-276A-4CF5-87A1-AE67560CBE28}"/>
              </a:ext>
            </a:extLst>
          </p:cNvPr>
          <p:cNvSpPr txBox="1"/>
          <p:nvPr/>
        </p:nvSpPr>
        <p:spPr>
          <a:xfrm>
            <a:off x="2622525" y="5724306"/>
            <a:ext cx="1219200" cy="369332"/>
          </a:xfrm>
          <a:prstGeom prst="rect">
            <a:avLst/>
          </a:prstGeom>
          <a:noFill/>
        </p:spPr>
        <p:txBody>
          <a:bodyPr wrap="square" rtlCol="0">
            <a:spAutoFit/>
          </a:bodyPr>
          <a:lstStyle/>
          <a:p>
            <a:pPr defTabSz="914400"/>
            <a:r>
              <a:rPr lang="en-US" sz="900" dirty="0">
                <a:solidFill>
                  <a:srgbClr val="292934"/>
                </a:solidFill>
                <a:latin typeface="Arial"/>
              </a:rPr>
              <a:t>Order ID</a:t>
            </a:r>
          </a:p>
          <a:p>
            <a:pPr defTabSz="914400"/>
            <a:r>
              <a:rPr lang="en-US" sz="900" dirty="0">
                <a:solidFill>
                  <a:srgbClr val="292934"/>
                </a:solidFill>
                <a:latin typeface="Arial"/>
              </a:rPr>
              <a:t>Product ID</a:t>
            </a:r>
          </a:p>
        </p:txBody>
      </p:sp>
      <p:sp>
        <p:nvSpPr>
          <p:cNvPr id="2" name="Rectangle 1"/>
          <p:cNvSpPr/>
          <p:nvPr/>
        </p:nvSpPr>
        <p:spPr>
          <a:xfrm>
            <a:off x="5372886" y="4463297"/>
            <a:ext cx="313044" cy="369332"/>
          </a:xfrm>
          <a:prstGeom prst="rect">
            <a:avLst/>
          </a:prstGeom>
        </p:spPr>
        <p:txBody>
          <a:bodyPr wrap="none">
            <a:spAutoFit/>
          </a:bodyPr>
          <a:lstStyle/>
          <a:p>
            <a:r>
              <a:rPr lang="en-US" dirty="0"/>
              <a:t>1</a:t>
            </a:r>
          </a:p>
        </p:txBody>
      </p:sp>
      <p:sp>
        <p:nvSpPr>
          <p:cNvPr id="3" name="Rectangle 2"/>
          <p:cNvSpPr/>
          <p:nvPr/>
        </p:nvSpPr>
        <p:spPr>
          <a:xfrm>
            <a:off x="7950376" y="3569732"/>
            <a:ext cx="313044" cy="369332"/>
          </a:xfrm>
          <a:prstGeom prst="rect">
            <a:avLst/>
          </a:prstGeom>
        </p:spPr>
        <p:txBody>
          <a:bodyPr wrap="none">
            <a:spAutoFit/>
          </a:bodyPr>
          <a:lstStyle/>
          <a:p>
            <a:r>
              <a:rPr lang="en-US" dirty="0"/>
              <a:t>1</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1944505-1EBC-4E82-A422-4A6531D8045E}"/>
                  </a:ext>
                </a:extLst>
              </p:cNvPr>
              <p:cNvSpPr txBox="1"/>
              <p:nvPr/>
            </p:nvSpPr>
            <p:spPr>
              <a:xfrm>
                <a:off x="1496260" y="5032907"/>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9" name="TextBox 38">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1496260" y="5032907"/>
                <a:ext cx="484106" cy="369332"/>
              </a:xfrm>
              <a:prstGeom prst="rect">
                <a:avLst/>
              </a:prstGeom>
              <a:blipFill rotWithShape="1">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1944505-1EBC-4E82-A422-4A6531D8045E}"/>
                  </a:ext>
                </a:extLst>
              </p:cNvPr>
              <p:cNvSpPr txBox="1"/>
              <p:nvPr/>
            </p:nvSpPr>
            <p:spPr>
              <a:xfrm>
                <a:off x="63582" y="3167596"/>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0" name="TextBox 39">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63582" y="3167596"/>
                <a:ext cx="484106" cy="369332"/>
              </a:xfrm>
              <a:prstGeom prst="rect">
                <a:avLst/>
              </a:prstGeom>
              <a:blipFill rotWithShape="1">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1944505-1EBC-4E82-A422-4A6531D8045E}"/>
                  </a:ext>
                </a:extLst>
              </p:cNvPr>
              <p:cNvSpPr txBox="1"/>
              <p:nvPr/>
            </p:nvSpPr>
            <p:spPr>
              <a:xfrm>
                <a:off x="4134722" y="2773580"/>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1" name="TextBox 40">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4134722" y="2773580"/>
                <a:ext cx="484106" cy="369332"/>
              </a:xfrm>
              <a:prstGeom prst="rect">
                <a:avLst/>
              </a:prstGeom>
              <a:blipFill rotWithShape="1">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1944505-1EBC-4E82-A422-4A6531D8045E}"/>
                  </a:ext>
                </a:extLst>
              </p:cNvPr>
              <p:cNvSpPr txBox="1"/>
              <p:nvPr/>
            </p:nvSpPr>
            <p:spPr>
              <a:xfrm>
                <a:off x="367547" y="3978831"/>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4" name="TextBox 43">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367547" y="3978831"/>
                <a:ext cx="484106" cy="369332"/>
              </a:xfrm>
              <a:prstGeom prst="rect">
                <a:avLst/>
              </a:prstGeom>
              <a:blipFill rotWithShape="1">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1944505-1EBC-4E82-A422-4A6531D8045E}"/>
                  </a:ext>
                </a:extLst>
              </p:cNvPr>
              <p:cNvSpPr txBox="1"/>
              <p:nvPr/>
            </p:nvSpPr>
            <p:spPr>
              <a:xfrm>
                <a:off x="5838028" y="2798264"/>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6" name="TextBox 45">
                <a:extLst>
                  <a:ext uri="{FF2B5EF4-FFF2-40B4-BE49-F238E27FC236}">
                    <a16:creationId xmlns:a16="http://schemas.microsoft.com/office/drawing/2014/main" xmlns:a14="http://schemas.microsoft.com/office/drawing/2010/main" xmlns="" id="{A1944505-1EBC-4E82-A422-4A6531D8045E}"/>
                  </a:ext>
                </a:extLst>
              </p:cNvPr>
              <p:cNvSpPr txBox="1">
                <a:spLocks noRot="1" noChangeAspect="1" noMove="1" noResize="1" noEditPoints="1" noAdjustHandles="1" noChangeArrowheads="1" noChangeShapeType="1" noTextEdit="1"/>
              </p:cNvSpPr>
              <p:nvPr/>
            </p:nvSpPr>
            <p:spPr>
              <a:xfrm>
                <a:off x="5838028" y="2798264"/>
                <a:ext cx="484106" cy="369332"/>
              </a:xfrm>
              <a:prstGeom prst="rect">
                <a:avLst/>
              </a:prstGeom>
              <a:blipFill rotWithShape="1">
                <a:blip r:embed="rId17"/>
                <a:stretch>
                  <a:fillRect/>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A8F29AA3-8406-40FC-98D1-8C1CA7D206A1}"/>
              </a:ext>
            </a:extLst>
          </p:cNvPr>
          <p:cNvSpPr txBox="1"/>
          <p:nvPr/>
        </p:nvSpPr>
        <p:spPr>
          <a:xfrm>
            <a:off x="161925" y="2369621"/>
            <a:ext cx="1219200" cy="507831"/>
          </a:xfrm>
          <a:prstGeom prst="rect">
            <a:avLst/>
          </a:prstGeom>
          <a:noFill/>
        </p:spPr>
        <p:txBody>
          <a:bodyPr wrap="square" rtlCol="0">
            <a:spAutoFit/>
          </a:bodyPr>
          <a:lstStyle/>
          <a:p>
            <a:pPr defTabSz="914400"/>
            <a:r>
              <a:rPr lang="en-US" sz="900" dirty="0">
                <a:solidFill>
                  <a:srgbClr val="292934"/>
                </a:solidFill>
                <a:latin typeface="Arial"/>
              </a:rPr>
              <a:t>Supplier ID</a:t>
            </a:r>
          </a:p>
          <a:p>
            <a:pPr defTabSz="914400"/>
            <a:r>
              <a:rPr lang="en-US" sz="900" dirty="0">
                <a:solidFill>
                  <a:srgbClr val="292934"/>
                </a:solidFill>
                <a:latin typeface="Arial"/>
              </a:rPr>
              <a:t>Supplier Name</a:t>
            </a:r>
          </a:p>
          <a:p>
            <a:pPr defTabSz="914400"/>
            <a:r>
              <a:rPr lang="en-US" sz="900" dirty="0">
                <a:solidFill>
                  <a:srgbClr val="292934"/>
                </a:solidFill>
                <a:latin typeface="Arial"/>
              </a:rPr>
              <a:t>…</a:t>
            </a:r>
          </a:p>
        </p:txBody>
      </p:sp>
      <p:sp>
        <p:nvSpPr>
          <p:cNvPr id="47" name="TextBox 46">
            <a:extLst>
              <a:ext uri="{FF2B5EF4-FFF2-40B4-BE49-F238E27FC236}">
                <a16:creationId xmlns:a16="http://schemas.microsoft.com/office/drawing/2014/main" id="{A8F29AA3-8406-40FC-98D1-8C1CA7D206A1}"/>
              </a:ext>
            </a:extLst>
          </p:cNvPr>
          <p:cNvSpPr txBox="1"/>
          <p:nvPr/>
        </p:nvSpPr>
        <p:spPr>
          <a:xfrm>
            <a:off x="322253" y="4731137"/>
            <a:ext cx="1219200" cy="507831"/>
          </a:xfrm>
          <a:prstGeom prst="rect">
            <a:avLst/>
          </a:prstGeom>
          <a:noFill/>
        </p:spPr>
        <p:txBody>
          <a:bodyPr wrap="square" rtlCol="0">
            <a:spAutoFit/>
          </a:bodyPr>
          <a:lstStyle/>
          <a:p>
            <a:pPr defTabSz="914400"/>
            <a:r>
              <a:rPr lang="en-US" sz="900" dirty="0">
                <a:solidFill>
                  <a:srgbClr val="292934"/>
                </a:solidFill>
                <a:latin typeface="Arial"/>
              </a:rPr>
              <a:t>Product ID</a:t>
            </a:r>
          </a:p>
          <a:p>
            <a:pPr defTabSz="914400"/>
            <a:r>
              <a:rPr lang="en-US" sz="900" dirty="0">
                <a:solidFill>
                  <a:srgbClr val="292934"/>
                </a:solidFill>
                <a:latin typeface="Arial"/>
              </a:rPr>
              <a:t>Product Name</a:t>
            </a:r>
          </a:p>
          <a:p>
            <a:pPr defTabSz="914400"/>
            <a:r>
              <a:rPr lang="en-US" sz="900" dirty="0">
                <a:solidFill>
                  <a:srgbClr val="292934"/>
                </a:solidFill>
                <a:latin typeface="Arial"/>
              </a:rPr>
              <a:t>…</a:t>
            </a:r>
          </a:p>
        </p:txBody>
      </p:sp>
      <p:sp>
        <p:nvSpPr>
          <p:cNvPr id="48" name="TextBox 47">
            <a:extLst>
              <a:ext uri="{FF2B5EF4-FFF2-40B4-BE49-F238E27FC236}">
                <a16:creationId xmlns:a16="http://schemas.microsoft.com/office/drawing/2014/main" id="{A8F29AA3-8406-40FC-98D1-8C1CA7D206A1}"/>
              </a:ext>
            </a:extLst>
          </p:cNvPr>
          <p:cNvSpPr txBox="1"/>
          <p:nvPr/>
        </p:nvSpPr>
        <p:spPr>
          <a:xfrm>
            <a:off x="4606407" y="2913014"/>
            <a:ext cx="1219200" cy="507831"/>
          </a:xfrm>
          <a:prstGeom prst="rect">
            <a:avLst/>
          </a:prstGeom>
          <a:noFill/>
        </p:spPr>
        <p:txBody>
          <a:bodyPr wrap="square" rtlCol="0">
            <a:spAutoFit/>
          </a:bodyPr>
          <a:lstStyle/>
          <a:p>
            <a:pPr defTabSz="914400"/>
            <a:r>
              <a:rPr lang="en-US" sz="900" dirty="0">
                <a:solidFill>
                  <a:srgbClr val="292934"/>
                </a:solidFill>
                <a:latin typeface="Arial"/>
              </a:rPr>
              <a:t>Order ID</a:t>
            </a:r>
          </a:p>
          <a:p>
            <a:pPr defTabSz="914400"/>
            <a:r>
              <a:rPr lang="en-US" sz="900" dirty="0">
                <a:solidFill>
                  <a:srgbClr val="292934"/>
                </a:solidFill>
                <a:latin typeface="Arial"/>
              </a:rPr>
              <a:t>Order Date</a:t>
            </a:r>
          </a:p>
          <a:p>
            <a:pPr defTabSz="914400"/>
            <a:r>
              <a:rPr lang="en-US" sz="900" dirty="0">
                <a:solidFill>
                  <a:srgbClr val="292934"/>
                </a:solidFill>
                <a:latin typeface="Arial"/>
              </a:rPr>
              <a:t>…</a:t>
            </a:r>
          </a:p>
        </p:txBody>
      </p:sp>
      <p:sp>
        <p:nvSpPr>
          <p:cNvPr id="51" name="TextBox 50">
            <a:extLst>
              <a:ext uri="{FF2B5EF4-FFF2-40B4-BE49-F238E27FC236}">
                <a16:creationId xmlns:a16="http://schemas.microsoft.com/office/drawing/2014/main" id="{A8F29AA3-8406-40FC-98D1-8C1CA7D206A1}"/>
              </a:ext>
            </a:extLst>
          </p:cNvPr>
          <p:cNvSpPr txBox="1"/>
          <p:nvPr/>
        </p:nvSpPr>
        <p:spPr>
          <a:xfrm>
            <a:off x="4752977" y="5230244"/>
            <a:ext cx="1219200" cy="369332"/>
          </a:xfrm>
          <a:prstGeom prst="rect">
            <a:avLst/>
          </a:prstGeom>
          <a:noFill/>
        </p:spPr>
        <p:txBody>
          <a:bodyPr wrap="square" rtlCol="0">
            <a:spAutoFit/>
          </a:bodyPr>
          <a:lstStyle/>
          <a:p>
            <a:pPr defTabSz="914400"/>
            <a:r>
              <a:rPr lang="en-US" sz="900" dirty="0">
                <a:solidFill>
                  <a:srgbClr val="292934"/>
                </a:solidFill>
                <a:latin typeface="Arial"/>
              </a:rPr>
              <a:t>Customer ID</a:t>
            </a:r>
          </a:p>
          <a:p>
            <a:pPr defTabSz="914400"/>
            <a:r>
              <a:rPr lang="en-US" sz="900" dirty="0">
                <a:solidFill>
                  <a:srgbClr val="292934"/>
                </a:solidFill>
                <a:latin typeface="Arial"/>
              </a:rPr>
              <a:t>…</a:t>
            </a:r>
          </a:p>
        </p:txBody>
      </p:sp>
      <p:sp>
        <p:nvSpPr>
          <p:cNvPr id="52" name="TextBox 51">
            <a:extLst>
              <a:ext uri="{FF2B5EF4-FFF2-40B4-BE49-F238E27FC236}">
                <a16:creationId xmlns:a16="http://schemas.microsoft.com/office/drawing/2014/main" id="{A8F29AA3-8406-40FC-98D1-8C1CA7D206A1}"/>
              </a:ext>
            </a:extLst>
          </p:cNvPr>
          <p:cNvSpPr txBox="1"/>
          <p:nvPr/>
        </p:nvSpPr>
        <p:spPr>
          <a:xfrm>
            <a:off x="7382246" y="4373722"/>
            <a:ext cx="1219200" cy="369332"/>
          </a:xfrm>
          <a:prstGeom prst="rect">
            <a:avLst/>
          </a:prstGeom>
          <a:noFill/>
        </p:spPr>
        <p:txBody>
          <a:bodyPr wrap="square" rtlCol="0">
            <a:spAutoFit/>
          </a:bodyPr>
          <a:lstStyle/>
          <a:p>
            <a:pPr defTabSz="914400"/>
            <a:r>
              <a:rPr lang="en-US" sz="900" dirty="0">
                <a:solidFill>
                  <a:srgbClr val="292934"/>
                </a:solidFill>
                <a:latin typeface="Arial"/>
              </a:rPr>
              <a:t>Salesperson ID</a:t>
            </a:r>
          </a:p>
          <a:p>
            <a:pPr defTabSz="914400"/>
            <a:r>
              <a:rPr lang="en-US" sz="900" dirty="0">
                <a:solidFill>
                  <a:srgbClr val="292934"/>
                </a:solidFill>
                <a:latin typeface="Arial"/>
              </a:rPr>
              <a:t>…</a:t>
            </a:r>
          </a:p>
        </p:txBody>
      </p:sp>
      <p:sp>
        <p:nvSpPr>
          <p:cNvPr id="53" name="Title 1"/>
          <p:cNvSpPr txBox="1">
            <a:spLocks/>
          </p:cNvSpPr>
          <p:nvPr/>
        </p:nvSpPr>
        <p:spPr>
          <a:xfrm>
            <a:off x="152400" y="466955"/>
            <a:ext cx="4610886" cy="1400988"/>
          </a:xfrm>
          <a:prstGeom prst="rect">
            <a:avLst/>
          </a:prstGeom>
        </p:spPr>
        <p:txBody>
          <a:bodyPr vert="horz" lIns="91440" tIns="45720" rIns="91440" bIns="45720" rtlCol="0" anchor="ctr">
            <a:normAutofit fontScale="90000" lnSpcReduction="2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600" dirty="0">
                <a:solidFill>
                  <a:srgbClr val="D2533C"/>
                </a:solidFill>
                <a:latin typeface="Arial"/>
              </a:rPr>
              <a:t>III.</a:t>
            </a:r>
            <a:r>
              <a:rPr lang="en-US" sz="3600" dirty="0"/>
              <a:t> </a:t>
            </a:r>
            <a:r>
              <a:rPr lang="en-US" sz="3600" dirty="0">
                <a:solidFill>
                  <a:srgbClr val="D2533C"/>
                </a:solidFill>
              </a:rPr>
              <a:t>Create ER Diagram</a:t>
            </a:r>
          </a:p>
          <a:p>
            <a:r>
              <a:rPr lang="en-US" sz="3600" dirty="0">
                <a:solidFill>
                  <a:srgbClr val="D2533C"/>
                </a:solidFill>
              </a:rPr>
              <a:t>Represent relationships &amp; indicate cardinality</a:t>
            </a:r>
          </a:p>
        </p:txBody>
      </p:sp>
      <p:sp>
        <p:nvSpPr>
          <p:cNvPr id="54" name="Content Placeholder 2"/>
          <p:cNvSpPr txBox="1">
            <a:spLocks/>
          </p:cNvSpPr>
          <p:nvPr/>
        </p:nvSpPr>
        <p:spPr>
          <a:xfrm>
            <a:off x="4696196" y="37535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59" name="Rectangle 58"/>
          <p:cNvSpPr/>
          <p:nvPr/>
        </p:nvSpPr>
        <p:spPr>
          <a:xfrm>
            <a:off x="5233834" y="1066572"/>
            <a:ext cx="37719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ADB309B-B061-2F7F-6067-4C2C23D2933B}"/>
                  </a:ext>
                </a:extLst>
              </p:cNvPr>
              <p:cNvSpPr txBox="1"/>
              <p:nvPr/>
            </p:nvSpPr>
            <p:spPr>
              <a:xfrm>
                <a:off x="5303034" y="3682168"/>
                <a:ext cx="484106" cy="369332"/>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8ADB309B-B061-2F7F-6067-4C2C23D2933B}"/>
                  </a:ext>
                </a:extLst>
              </p:cNvPr>
              <p:cNvSpPr txBox="1">
                <a:spLocks noRot="1" noChangeAspect="1" noMove="1" noResize="1" noEditPoints="1" noAdjustHandles="1" noChangeArrowheads="1" noChangeShapeType="1" noTextEdit="1"/>
              </p:cNvSpPr>
              <p:nvPr/>
            </p:nvSpPr>
            <p:spPr>
              <a:xfrm>
                <a:off x="5303034" y="3682168"/>
                <a:ext cx="484106" cy="369332"/>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3375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63" grpId="0"/>
      <p:bldP spid="74" grpId="0" animBg="1"/>
      <p:bldP spid="75" grpId="0" animBg="1"/>
      <p:bldP spid="7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23</a:t>
            </a:fld>
            <a:endParaRPr lang="en-US">
              <a:latin typeface="Arial"/>
            </a:endParaRPr>
          </a:p>
        </p:txBody>
      </p:sp>
      <p:sp>
        <p:nvSpPr>
          <p:cNvPr id="12" name="Title 1"/>
          <p:cNvSpPr txBox="1">
            <a:spLocks/>
          </p:cNvSpPr>
          <p:nvPr/>
        </p:nvSpPr>
        <p:spPr>
          <a:xfrm>
            <a:off x="457200" y="533400"/>
            <a:ext cx="4572000" cy="1600200"/>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100" dirty="0">
                <a:solidFill>
                  <a:srgbClr val="D2533C"/>
                </a:solidFill>
                <a:latin typeface="Arial"/>
              </a:rPr>
              <a:t>Create tables based off of ER Diagram</a:t>
            </a:r>
            <a:endParaRPr lang="en-US" dirty="0">
              <a:solidFill>
                <a:srgbClr val="D2533C"/>
              </a:solidFill>
              <a:latin typeface="Arial"/>
            </a:endParaRPr>
          </a:p>
        </p:txBody>
      </p:sp>
      <p:graphicFrame>
        <p:nvGraphicFramePr>
          <p:cNvPr id="13" name="Object 12"/>
          <p:cNvGraphicFramePr>
            <a:graphicFrameLocks noChangeAspect="1"/>
          </p:cNvGraphicFramePr>
          <p:nvPr>
            <p:extLst>
              <p:ext uri="{D42A27DB-BD31-4B8C-83A1-F6EECF244321}">
                <p14:modId xmlns:p14="http://schemas.microsoft.com/office/powerpoint/2010/main" val="2088587346"/>
              </p:ext>
            </p:extLst>
          </p:nvPr>
        </p:nvGraphicFramePr>
        <p:xfrm>
          <a:off x="3886200" y="2369016"/>
          <a:ext cx="3489325" cy="723900"/>
        </p:xfrm>
        <a:graphic>
          <a:graphicData uri="http://schemas.openxmlformats.org/presentationml/2006/ole">
            <mc:AlternateContent xmlns:mc="http://schemas.openxmlformats.org/markup-compatibility/2006">
              <mc:Choice xmlns:v="urn:schemas-microsoft-com:vml" Requires="v">
                <p:oleObj name="Worksheet" r:id="rId2" imgW="3490031" imgH="724034" progId="Excel.Sheet.12">
                  <p:embed/>
                </p:oleObj>
              </mc:Choice>
              <mc:Fallback>
                <p:oleObj name="Worksheet" r:id="rId2" imgW="3490031" imgH="724034" progId="Excel.Sheet.12">
                  <p:embed/>
                  <p:pic>
                    <p:nvPicPr>
                      <p:cNvPr id="13" name="Object 12"/>
                      <p:cNvPicPr/>
                      <p:nvPr/>
                    </p:nvPicPr>
                    <p:blipFill>
                      <a:blip r:embed="rId3"/>
                      <a:stretch>
                        <a:fillRect/>
                      </a:stretch>
                    </p:blipFill>
                    <p:spPr>
                      <a:xfrm>
                        <a:off x="3886200" y="2369016"/>
                        <a:ext cx="3489325" cy="723900"/>
                      </a:xfrm>
                      <a:prstGeom prst="rect">
                        <a:avLst/>
                      </a:prstGeom>
                    </p:spPr>
                  </p:pic>
                </p:oleObj>
              </mc:Fallback>
            </mc:AlternateContent>
          </a:graphicData>
        </a:graphic>
      </p:graphicFrame>
      <p:pic>
        <p:nvPicPr>
          <p:cNvPr id="14" name="Picture 13"/>
          <p:cNvPicPr>
            <a:picLocks noChangeAspect="1"/>
          </p:cNvPicPr>
          <p:nvPr/>
        </p:nvPicPr>
        <p:blipFill>
          <a:blip r:embed="rId4"/>
          <a:stretch>
            <a:fillRect/>
          </a:stretch>
        </p:blipFill>
        <p:spPr>
          <a:xfrm>
            <a:off x="794994" y="3574829"/>
            <a:ext cx="2024406" cy="670777"/>
          </a:xfrm>
          <a:prstGeom prst="rect">
            <a:avLst/>
          </a:prstGeom>
        </p:spPr>
      </p:pic>
      <p:pic>
        <p:nvPicPr>
          <p:cNvPr id="15" name="Picture 14"/>
          <p:cNvPicPr>
            <a:picLocks noChangeAspect="1"/>
          </p:cNvPicPr>
          <p:nvPr/>
        </p:nvPicPr>
        <p:blipFill>
          <a:blip r:embed="rId5"/>
          <a:stretch>
            <a:fillRect/>
          </a:stretch>
        </p:blipFill>
        <p:spPr>
          <a:xfrm>
            <a:off x="933450" y="4578816"/>
            <a:ext cx="1367400" cy="643333"/>
          </a:xfrm>
          <a:prstGeom prst="rect">
            <a:avLst/>
          </a:prstGeom>
        </p:spPr>
      </p:pic>
      <p:pic>
        <p:nvPicPr>
          <p:cNvPr id="16" name="Picture 15"/>
          <p:cNvPicPr>
            <a:picLocks noChangeAspect="1"/>
          </p:cNvPicPr>
          <p:nvPr/>
        </p:nvPicPr>
        <p:blipFill>
          <a:blip r:embed="rId6"/>
          <a:stretch>
            <a:fillRect/>
          </a:stretch>
        </p:blipFill>
        <p:spPr>
          <a:xfrm>
            <a:off x="923925" y="5645616"/>
            <a:ext cx="2276850" cy="643333"/>
          </a:xfrm>
          <a:prstGeom prst="rect">
            <a:avLst/>
          </a:prstGeom>
        </p:spPr>
      </p:pic>
      <p:pic>
        <p:nvPicPr>
          <p:cNvPr id="17" name="Picture 16">
            <a:extLst>
              <a:ext uri="{FF2B5EF4-FFF2-40B4-BE49-F238E27FC236}">
                <a16:creationId xmlns:a16="http://schemas.microsoft.com/office/drawing/2014/main" id="{3B98C300-0AE5-4112-8001-9B60C5253F1B}"/>
              </a:ext>
            </a:extLst>
          </p:cNvPr>
          <p:cNvPicPr>
            <a:picLocks noChangeAspect="1"/>
          </p:cNvPicPr>
          <p:nvPr/>
        </p:nvPicPr>
        <p:blipFill>
          <a:blip r:embed="rId7"/>
          <a:stretch>
            <a:fillRect/>
          </a:stretch>
        </p:blipFill>
        <p:spPr>
          <a:xfrm>
            <a:off x="794993" y="2492932"/>
            <a:ext cx="2603541" cy="561884"/>
          </a:xfrm>
          <a:prstGeom prst="rect">
            <a:avLst/>
          </a:prstGeom>
        </p:spPr>
      </p:pic>
      <p:pic>
        <p:nvPicPr>
          <p:cNvPr id="18" name="Picture 17">
            <a:extLst>
              <a:ext uri="{FF2B5EF4-FFF2-40B4-BE49-F238E27FC236}">
                <a16:creationId xmlns:a16="http://schemas.microsoft.com/office/drawing/2014/main" id="{9CD3509A-E21E-48A3-8E32-8B4B15C50CA2}"/>
              </a:ext>
            </a:extLst>
          </p:cNvPr>
          <p:cNvPicPr>
            <a:picLocks noChangeAspect="1"/>
          </p:cNvPicPr>
          <p:nvPr/>
        </p:nvPicPr>
        <p:blipFill>
          <a:blip r:embed="rId8"/>
          <a:stretch>
            <a:fillRect/>
          </a:stretch>
        </p:blipFill>
        <p:spPr>
          <a:xfrm>
            <a:off x="3886200" y="3657600"/>
            <a:ext cx="2312600" cy="590624"/>
          </a:xfrm>
          <a:prstGeom prst="rect">
            <a:avLst/>
          </a:prstGeom>
        </p:spPr>
      </p:pic>
      <p:pic>
        <p:nvPicPr>
          <p:cNvPr id="19" name="Picture 18">
            <a:extLst>
              <a:ext uri="{FF2B5EF4-FFF2-40B4-BE49-F238E27FC236}">
                <a16:creationId xmlns:a16="http://schemas.microsoft.com/office/drawing/2014/main" id="{647614B0-2132-4D2A-9EDE-56CB31000265}"/>
              </a:ext>
            </a:extLst>
          </p:cNvPr>
          <p:cNvPicPr>
            <a:picLocks noChangeAspect="1"/>
          </p:cNvPicPr>
          <p:nvPr/>
        </p:nvPicPr>
        <p:blipFill>
          <a:blip r:embed="rId9"/>
          <a:stretch>
            <a:fillRect/>
          </a:stretch>
        </p:blipFill>
        <p:spPr>
          <a:xfrm>
            <a:off x="3886200" y="4687020"/>
            <a:ext cx="1676399" cy="592024"/>
          </a:xfrm>
          <a:prstGeom prst="rect">
            <a:avLst/>
          </a:prstGeom>
        </p:spPr>
      </p:pic>
      <p:sp>
        <p:nvSpPr>
          <p:cNvPr id="20" name="Right Brace 19">
            <a:extLst>
              <a:ext uri="{FF2B5EF4-FFF2-40B4-BE49-F238E27FC236}">
                <a16:creationId xmlns:a16="http://schemas.microsoft.com/office/drawing/2014/main" id="{A1346814-866D-4212-A768-B65329E7CAF5}"/>
              </a:ext>
            </a:extLst>
          </p:cNvPr>
          <p:cNvSpPr/>
          <p:nvPr/>
        </p:nvSpPr>
        <p:spPr>
          <a:xfrm>
            <a:off x="6477000" y="3512016"/>
            <a:ext cx="457202" cy="2133600"/>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400"/>
            <a:endParaRPr lang="en-US">
              <a:solidFill>
                <a:srgbClr val="292934"/>
              </a:solidFill>
              <a:latin typeface="Arial"/>
            </a:endParaRPr>
          </a:p>
        </p:txBody>
      </p:sp>
      <p:sp>
        <p:nvSpPr>
          <p:cNvPr id="21" name="TextBox 20">
            <a:extLst>
              <a:ext uri="{FF2B5EF4-FFF2-40B4-BE49-F238E27FC236}">
                <a16:creationId xmlns:a16="http://schemas.microsoft.com/office/drawing/2014/main" id="{4113CCF5-AF65-4B5C-A868-9483258E51A1}"/>
              </a:ext>
            </a:extLst>
          </p:cNvPr>
          <p:cNvSpPr txBox="1"/>
          <p:nvPr/>
        </p:nvSpPr>
        <p:spPr>
          <a:xfrm>
            <a:off x="6997171" y="4033311"/>
            <a:ext cx="1841653" cy="923330"/>
          </a:xfrm>
          <a:prstGeom prst="rect">
            <a:avLst/>
          </a:prstGeom>
          <a:noFill/>
        </p:spPr>
        <p:txBody>
          <a:bodyPr wrap="square" rtlCol="0">
            <a:spAutoFit/>
          </a:bodyPr>
          <a:lstStyle/>
          <a:p>
            <a:pPr defTabSz="914400"/>
            <a:r>
              <a:rPr lang="en-US" dirty="0">
                <a:solidFill>
                  <a:srgbClr val="292934"/>
                </a:solidFill>
                <a:latin typeface="Arial"/>
              </a:rPr>
              <a:t>Created because of many-to-many relationship</a:t>
            </a:r>
          </a:p>
        </p:txBody>
      </p:sp>
      <p:pic>
        <p:nvPicPr>
          <p:cNvPr id="2" name="Picture 1"/>
          <p:cNvPicPr>
            <a:picLocks noChangeAspect="1"/>
          </p:cNvPicPr>
          <p:nvPr/>
        </p:nvPicPr>
        <p:blipFill>
          <a:blip r:embed="rId10"/>
          <a:stretch>
            <a:fillRect/>
          </a:stretch>
        </p:blipFill>
        <p:spPr>
          <a:xfrm>
            <a:off x="5562599" y="496020"/>
            <a:ext cx="3317156" cy="1658578"/>
          </a:xfrm>
          <a:prstGeom prst="rect">
            <a:avLst/>
          </a:prstGeom>
        </p:spPr>
      </p:pic>
    </p:spTree>
    <p:extLst>
      <p:ext uri="{BB962C8B-B14F-4D97-AF65-F5344CB8AC3E}">
        <p14:creationId xmlns:p14="http://schemas.microsoft.com/office/powerpoint/2010/main" val="2263716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4137" y="1820917"/>
            <a:ext cx="8229600" cy="4419600"/>
          </a:xfrm>
        </p:spPr>
        <p:txBody>
          <a:bodyPr>
            <a:noAutofit/>
          </a:bodyPr>
          <a:lstStyle/>
          <a:p>
            <a:r>
              <a:rPr lang="en-US" sz="2800" dirty="0"/>
              <a:t>Is/are there any:</a:t>
            </a:r>
          </a:p>
          <a:p>
            <a:pPr lvl="1"/>
            <a:r>
              <a:rPr lang="en-US" sz="2400" dirty="0"/>
              <a:t>columns you forgot?</a:t>
            </a:r>
          </a:p>
          <a:p>
            <a:pPr lvl="1"/>
            <a:r>
              <a:rPr lang="en-US" sz="2400" dirty="0"/>
              <a:t>unnecessary columns?</a:t>
            </a:r>
          </a:p>
          <a:p>
            <a:pPr lvl="1"/>
            <a:r>
              <a:rPr lang="en-US" sz="2400" dirty="0"/>
              <a:t>duplicate or redundant information?</a:t>
            </a:r>
          </a:p>
          <a:p>
            <a:pPr lvl="1"/>
            <a:r>
              <a:rPr lang="en-US" sz="2400" dirty="0"/>
              <a:t>tables with many empty fields?</a:t>
            </a:r>
          </a:p>
          <a:p>
            <a:endParaRPr lang="en-US" sz="2800" dirty="0"/>
          </a:p>
          <a:p>
            <a:r>
              <a:rPr lang="en-US" sz="2800" dirty="0"/>
              <a:t>Is information divided into smallest useful parts?</a:t>
            </a:r>
          </a:p>
          <a:p>
            <a:endParaRPr lang="en-US" sz="2800" dirty="0"/>
          </a:p>
          <a:p>
            <a:r>
              <a:rPr lang="en-US" sz="2800" dirty="0"/>
              <a:t>Does each column contain a fact about the table’s subject?</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24</a:t>
            </a:fld>
            <a:endParaRPr lang="en-US">
              <a:latin typeface="Arial"/>
            </a:endParaRPr>
          </a:p>
        </p:txBody>
      </p:sp>
      <p:sp>
        <p:nvSpPr>
          <p:cNvPr id="6" name="Title 1"/>
          <p:cNvSpPr>
            <a:spLocks noGrp="1"/>
          </p:cNvSpPr>
          <p:nvPr>
            <p:ph type="title"/>
          </p:nvPr>
        </p:nvSpPr>
        <p:spPr>
          <a:xfrm>
            <a:off x="196850" y="558800"/>
            <a:ext cx="4737100" cy="1371600"/>
          </a:xfrm>
        </p:spPr>
        <p:txBody>
          <a:bodyPr>
            <a:noAutofit/>
          </a:bodyPr>
          <a:lstStyle/>
          <a:p>
            <a:r>
              <a:rPr lang="en-US" sz="3600" dirty="0">
                <a:solidFill>
                  <a:srgbClr val="D2533C"/>
                </a:solidFill>
              </a:rPr>
              <a:t>IV.</a:t>
            </a:r>
            <a:r>
              <a:rPr lang="en-US" sz="3600" dirty="0"/>
              <a:t> </a:t>
            </a:r>
            <a:r>
              <a:rPr lang="en-US" sz="3600" dirty="0">
                <a:solidFill>
                  <a:srgbClr val="D2533C"/>
                </a:solidFill>
              </a:rPr>
              <a:t>Refine your design</a:t>
            </a:r>
            <a:br>
              <a:rPr lang="en-US" sz="2800" dirty="0">
                <a:solidFill>
                  <a:srgbClr val="D2533C"/>
                </a:solidFill>
              </a:rPr>
            </a:br>
            <a:br>
              <a:rPr lang="en-US" sz="2800" dirty="0">
                <a:solidFill>
                  <a:srgbClr val="D2533C"/>
                </a:solidFill>
              </a:rPr>
            </a:br>
            <a:endParaRPr lang="en-US" sz="2800" dirty="0">
              <a:solidFill>
                <a:srgbClr val="D2533C"/>
              </a:solidFill>
            </a:endParaRPr>
          </a:p>
        </p:txBody>
      </p:sp>
      <p:sp>
        <p:nvSpPr>
          <p:cNvPr id="7" name="Content Placeholder 2"/>
          <p:cNvSpPr txBox="1">
            <a:spLocks/>
          </p:cNvSpPr>
          <p:nvPr/>
        </p:nvSpPr>
        <p:spPr>
          <a:xfrm>
            <a:off x="4933950" y="55880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8" name="Rectangle 7"/>
          <p:cNvSpPr/>
          <p:nvPr/>
        </p:nvSpPr>
        <p:spPr>
          <a:xfrm>
            <a:off x="4933950" y="1587500"/>
            <a:ext cx="4083050" cy="34290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514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Minimize redundant data</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25</a:t>
            </a:fld>
            <a:endParaRPr lang="en-US">
              <a:latin typeface="Arial"/>
            </a:endParaRPr>
          </a:p>
        </p:txBody>
      </p:sp>
      <p:pic>
        <p:nvPicPr>
          <p:cNvPr id="6" name="Content Placeholder 5" descr="Screen Shot 2018-02-18 at 8.04.43 AM.png"/>
          <p:cNvPicPr>
            <a:picLocks noGrp="1" noChangeAspect="1"/>
          </p:cNvPicPr>
          <p:nvPr>
            <p:ph idx="1"/>
          </p:nvPr>
        </p:nvPicPr>
        <p:blipFill>
          <a:blip r:embed="rId3">
            <a:extLst>
              <a:ext uri="{28A0092B-C50C-407E-A947-70E740481C1C}">
                <a14:useLocalDpi xmlns:a14="http://schemas.microsoft.com/office/drawing/2010/main" val="0"/>
              </a:ext>
            </a:extLst>
          </a:blip>
          <a:srcRect t="-84585" b="-84585"/>
          <a:stretch>
            <a:fillRect/>
          </a:stretch>
        </p:blipFill>
        <p:spPr>
          <a:xfrm>
            <a:off x="457200" y="1498602"/>
            <a:ext cx="8229600" cy="4876800"/>
          </a:xfrm>
        </p:spPr>
      </p:pic>
      <p:sp>
        <p:nvSpPr>
          <p:cNvPr id="5" name="TextBox 4"/>
          <p:cNvSpPr txBox="1"/>
          <p:nvPr/>
        </p:nvSpPr>
        <p:spPr>
          <a:xfrm>
            <a:off x="316398" y="1988458"/>
            <a:ext cx="6139822" cy="3785652"/>
          </a:xfrm>
          <a:prstGeom prst="rect">
            <a:avLst/>
          </a:prstGeom>
          <a:noFill/>
        </p:spPr>
        <p:txBody>
          <a:bodyPr wrap="none" rtlCol="0">
            <a:spAutoFit/>
          </a:bodyPr>
          <a:lstStyle/>
          <a:p>
            <a:r>
              <a:rPr lang="en-US" sz="2400" b="1" dirty="0"/>
              <a:t>Example:</a:t>
            </a:r>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en-US" sz="2400" dirty="0"/>
              <a:t>   What is wrong with using a table like this?</a:t>
            </a:r>
          </a:p>
        </p:txBody>
      </p:sp>
      <p:sp>
        <p:nvSpPr>
          <p:cNvPr id="7" name="Rectangle 6"/>
          <p:cNvSpPr/>
          <p:nvPr/>
        </p:nvSpPr>
        <p:spPr>
          <a:xfrm>
            <a:off x="488949" y="4393762"/>
            <a:ext cx="8087491" cy="34290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673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another example</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26</a:t>
            </a:fld>
            <a:endParaRPr lang="en-US">
              <a:latin typeface="Arial"/>
            </a:endParaRPr>
          </a:p>
        </p:txBody>
      </p:sp>
      <p:pic>
        <p:nvPicPr>
          <p:cNvPr id="5" name="Content Placeholder 4" descr="Screen Shot 2018-02-18 at 8.09.31 AM.png"/>
          <p:cNvPicPr>
            <a:picLocks noGrp="1" noChangeAspect="1"/>
          </p:cNvPicPr>
          <p:nvPr>
            <p:ph idx="1"/>
          </p:nvPr>
        </p:nvPicPr>
        <p:blipFill>
          <a:blip r:embed="rId3">
            <a:extLst>
              <a:ext uri="{28A0092B-C50C-407E-A947-70E740481C1C}">
                <a14:useLocalDpi xmlns:a14="http://schemas.microsoft.com/office/drawing/2010/main" val="0"/>
              </a:ext>
            </a:extLst>
          </a:blip>
          <a:srcRect t="-42260" b="-42260"/>
          <a:stretch>
            <a:fillRect/>
          </a:stretch>
        </p:blipFill>
        <p:spPr>
          <a:xfrm>
            <a:off x="457200" y="1524000"/>
            <a:ext cx="8229600" cy="4876800"/>
          </a:xfrm>
        </p:spPr>
      </p:pic>
      <p:sp>
        <p:nvSpPr>
          <p:cNvPr id="6" name="Rectangle 5"/>
          <p:cNvSpPr/>
          <p:nvPr/>
        </p:nvSpPr>
        <p:spPr>
          <a:xfrm>
            <a:off x="3885543" y="3447832"/>
            <a:ext cx="2263009" cy="242153"/>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885542" y="4025047"/>
            <a:ext cx="2263009" cy="242153"/>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85541" y="4608820"/>
            <a:ext cx="2263009" cy="242153"/>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61979" y="5604411"/>
            <a:ext cx="5884944" cy="461665"/>
          </a:xfrm>
          <a:prstGeom prst="rect">
            <a:avLst/>
          </a:prstGeom>
        </p:spPr>
        <p:txBody>
          <a:bodyPr wrap="none">
            <a:spAutoFit/>
          </a:bodyPr>
          <a:lstStyle/>
          <a:p>
            <a:r>
              <a:rPr lang="en-US" sz="2400" dirty="0"/>
              <a:t>What is wrong with using a table like this?</a:t>
            </a:r>
          </a:p>
        </p:txBody>
      </p:sp>
    </p:spTree>
    <p:extLst>
      <p:ext uri="{BB962C8B-B14F-4D97-AF65-F5344CB8AC3E}">
        <p14:creationId xmlns:p14="http://schemas.microsoft.com/office/powerpoint/2010/main" val="263057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Divide information into its smallest usable components</a:t>
            </a:r>
          </a:p>
        </p:txBody>
      </p:sp>
      <p:pic>
        <p:nvPicPr>
          <p:cNvPr id="5" name="Content Placeholder 4" descr="Screen Shot 2018-02-18 at 8.04.04 AM.png"/>
          <p:cNvPicPr>
            <a:picLocks noGrp="1" noChangeAspect="1"/>
          </p:cNvPicPr>
          <p:nvPr>
            <p:ph idx="1"/>
          </p:nvPr>
        </p:nvPicPr>
        <p:blipFill>
          <a:blip r:embed="rId3">
            <a:extLst>
              <a:ext uri="{28A0092B-C50C-407E-A947-70E740481C1C}">
                <a14:useLocalDpi xmlns:a14="http://schemas.microsoft.com/office/drawing/2010/main" val="0"/>
              </a:ext>
            </a:extLst>
          </a:blip>
          <a:srcRect t="-54509" b="-54509"/>
          <a:stretch>
            <a:fillRect/>
          </a:stretch>
        </p:blipFill>
        <p:spPr>
          <a:xfrm>
            <a:off x="457200" y="1498602"/>
            <a:ext cx="8229600" cy="4876800"/>
          </a:xfrm>
        </p:spPr>
      </p:pic>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27</a:t>
            </a:fld>
            <a:endParaRPr lang="en-US">
              <a:latin typeface="Arial"/>
            </a:endParaRPr>
          </a:p>
        </p:txBody>
      </p:sp>
      <p:sp>
        <p:nvSpPr>
          <p:cNvPr id="3" name="TextBox 2"/>
          <p:cNvSpPr txBox="1"/>
          <p:nvPr/>
        </p:nvSpPr>
        <p:spPr>
          <a:xfrm>
            <a:off x="316398" y="1988458"/>
            <a:ext cx="7303602" cy="3785652"/>
          </a:xfrm>
          <a:prstGeom prst="rect">
            <a:avLst/>
          </a:prstGeom>
          <a:noFill/>
        </p:spPr>
        <p:txBody>
          <a:bodyPr wrap="none" rtlCol="0">
            <a:spAutoFit/>
          </a:bodyPr>
          <a:lstStyle/>
          <a:p>
            <a:r>
              <a:rPr lang="en-US" sz="2400" b="1" dirty="0"/>
              <a:t>Example:</a:t>
            </a:r>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en-US" sz="2400" dirty="0"/>
              <a:t>   What are the problems with using a table like this?</a:t>
            </a:r>
          </a:p>
        </p:txBody>
      </p:sp>
    </p:spTree>
    <p:extLst>
      <p:ext uri="{BB962C8B-B14F-4D97-AF65-F5344CB8AC3E}">
        <p14:creationId xmlns:p14="http://schemas.microsoft.com/office/powerpoint/2010/main" val="19774939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8706"/>
            <a:ext cx="8229600" cy="3728594"/>
          </a:xfrm>
        </p:spPr>
        <p:txBody>
          <a:bodyPr>
            <a:normAutofit/>
          </a:bodyPr>
          <a:lstStyle/>
          <a:p>
            <a:pPr marL="0" indent="0">
              <a:buNone/>
            </a:pPr>
            <a:r>
              <a:rPr lang="en-US" b="1" dirty="0"/>
              <a:t>Goals of Normalization:</a:t>
            </a:r>
          </a:p>
          <a:p>
            <a:r>
              <a:rPr lang="en-US" dirty="0"/>
              <a:t>information retrieved from the database is accurate and reliable</a:t>
            </a:r>
          </a:p>
          <a:p>
            <a:r>
              <a:rPr lang="en-US" dirty="0"/>
              <a:t>database can be efficiently updated and managed</a:t>
            </a:r>
          </a:p>
          <a:p>
            <a:pPr marL="0" indent="0">
              <a:buNone/>
            </a:pPr>
            <a:endParaRPr lang="en-US" b="1" dirty="0"/>
          </a:p>
          <a:p>
            <a:pPr marL="0" indent="0">
              <a:buNone/>
            </a:pPr>
            <a:r>
              <a:rPr lang="en-US" b="1" dirty="0"/>
              <a:t>Normalization achieves this through:</a:t>
            </a:r>
          </a:p>
          <a:p>
            <a:r>
              <a:rPr lang="en-US" dirty="0"/>
              <a:t>Imposing efficient database structure using rules</a:t>
            </a:r>
          </a:p>
          <a:p>
            <a:pPr lvl="1"/>
            <a:r>
              <a:rPr lang="en-US" dirty="0"/>
              <a:t>e.g. Minimizing amount of redundant data, and other approaches</a:t>
            </a:r>
          </a:p>
          <a:p>
            <a:endParaRPr lang="en-US" dirty="0"/>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28</a:t>
            </a:fld>
            <a:endParaRPr lang="en-US">
              <a:latin typeface="Arial"/>
            </a:endParaRPr>
          </a:p>
        </p:txBody>
      </p:sp>
      <p:sp>
        <p:nvSpPr>
          <p:cNvPr id="7" name="Title 1"/>
          <p:cNvSpPr txBox="1">
            <a:spLocks/>
          </p:cNvSpPr>
          <p:nvPr/>
        </p:nvSpPr>
        <p:spPr>
          <a:xfrm>
            <a:off x="139700" y="440395"/>
            <a:ext cx="4419600" cy="1744003"/>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600" dirty="0">
                <a:solidFill>
                  <a:srgbClr val="D2533C"/>
                </a:solidFill>
              </a:rPr>
              <a:t>V. Apply normalization </a:t>
            </a:r>
          </a:p>
          <a:p>
            <a:r>
              <a:rPr lang="en-US" sz="3600" dirty="0">
                <a:solidFill>
                  <a:srgbClr val="D2533C"/>
                </a:solidFill>
              </a:rPr>
              <a:t>  rules</a:t>
            </a:r>
          </a:p>
        </p:txBody>
      </p:sp>
      <p:sp>
        <p:nvSpPr>
          <p:cNvPr id="8" name="Content Placeholder 2"/>
          <p:cNvSpPr txBox="1">
            <a:spLocks/>
          </p:cNvSpPr>
          <p:nvPr/>
        </p:nvSpPr>
        <p:spPr>
          <a:xfrm>
            <a:off x="4944731" y="474789"/>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5" name="Rectangle 4">
            <a:extLst>
              <a:ext uri="{FF2B5EF4-FFF2-40B4-BE49-F238E27FC236}">
                <a16:creationId xmlns:a16="http://schemas.microsoft.com/office/drawing/2014/main" id="{84C52F80-4932-E264-ADDE-27CEBA6F7C6C}"/>
              </a:ext>
            </a:extLst>
          </p:cNvPr>
          <p:cNvSpPr/>
          <p:nvPr/>
        </p:nvSpPr>
        <p:spPr>
          <a:xfrm>
            <a:off x="4944731" y="1871932"/>
            <a:ext cx="4207938" cy="312467"/>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6434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84398"/>
            <a:ext cx="8229600" cy="4292602"/>
          </a:xfrm>
        </p:spPr>
        <p:txBody>
          <a:bodyPr>
            <a:normAutofit fontScale="92500" lnSpcReduction="20000"/>
          </a:bodyPr>
          <a:lstStyle/>
          <a:p>
            <a:pPr marL="0" indent="0">
              <a:buNone/>
            </a:pPr>
            <a:r>
              <a:rPr lang="en-US" b="1" dirty="0"/>
              <a:t>Process of Normalization</a:t>
            </a:r>
          </a:p>
          <a:p>
            <a:pPr marL="0" indent="0">
              <a:buNone/>
            </a:pPr>
            <a:r>
              <a:rPr lang="en-US" dirty="0"/>
              <a:t>Begin by ensuring:</a:t>
            </a:r>
          </a:p>
          <a:p>
            <a:pPr marL="731520" lvl="1" indent="-457200">
              <a:buFont typeface="+mj-lt"/>
              <a:buAutoNum type="arabicPeriod"/>
            </a:pPr>
            <a:r>
              <a:rPr lang="en-US" dirty="0"/>
              <a:t>Each table has a primary key</a:t>
            </a:r>
          </a:p>
          <a:p>
            <a:pPr marL="731520" lvl="1" indent="-457200">
              <a:buFont typeface="+mj-lt"/>
              <a:buAutoNum type="arabicPeriod"/>
            </a:pPr>
            <a:r>
              <a:rPr lang="en-US" dirty="0"/>
              <a:t>Tables do not contain repeating groups of data</a:t>
            </a:r>
          </a:p>
          <a:p>
            <a:pPr marL="0" indent="0">
              <a:buNone/>
            </a:pPr>
            <a:endParaRPr lang="en-US" b="1" dirty="0"/>
          </a:p>
          <a:p>
            <a:pPr marL="0" indent="0">
              <a:buNone/>
            </a:pPr>
            <a:r>
              <a:rPr lang="en-US" b="1" dirty="0"/>
              <a:t>Next ensure the Normal Forms are followed:</a:t>
            </a:r>
          </a:p>
          <a:p>
            <a:pPr marL="457200" indent="-457200">
              <a:buFont typeface="+mj-lt"/>
              <a:buAutoNum type="arabicPeriod"/>
            </a:pPr>
            <a:r>
              <a:rPr lang="en-US" b="1" dirty="0"/>
              <a:t>First Normal Form (1NF)</a:t>
            </a:r>
          </a:p>
          <a:p>
            <a:pPr lvl="1"/>
            <a:r>
              <a:rPr lang="en-US" dirty="0"/>
              <a:t>At every column and row intersection in a table, there is only one, single value (no lists).</a:t>
            </a:r>
          </a:p>
          <a:p>
            <a:pPr marL="457200" indent="-457200">
              <a:buFont typeface="+mj-lt"/>
              <a:buAutoNum type="arabicPeriod"/>
            </a:pPr>
            <a:r>
              <a:rPr lang="en-US" b="1" dirty="0"/>
              <a:t>Second Normal Form (2NF)</a:t>
            </a:r>
          </a:p>
          <a:p>
            <a:pPr lvl="1"/>
            <a:r>
              <a:rPr lang="en-US" dirty="0"/>
              <a:t>In 1NF plus each non-key column is fully dependent on the entire primary key, not just part of it. </a:t>
            </a:r>
          </a:p>
          <a:p>
            <a:pPr marL="457200" indent="-457200">
              <a:buFont typeface="+mj-lt"/>
              <a:buAutoNum type="arabicPeriod"/>
            </a:pPr>
            <a:r>
              <a:rPr lang="en-US" b="1" dirty="0"/>
              <a:t>Third Normal Form (3NF)</a:t>
            </a:r>
          </a:p>
          <a:p>
            <a:pPr lvl="1"/>
            <a:r>
              <a:rPr lang="en-US" dirty="0"/>
              <a:t>In 2NF plus all non-key columns must be independent of each other.</a:t>
            </a:r>
            <a:endParaRPr lang="en-US" u="sng" dirty="0"/>
          </a:p>
          <a:p>
            <a:pPr marL="0" indent="0">
              <a:buNone/>
            </a:pPr>
            <a:endParaRPr lang="en-US" dirty="0"/>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29</a:t>
            </a:fld>
            <a:endParaRPr lang="en-US">
              <a:latin typeface="Arial"/>
            </a:endParaRPr>
          </a:p>
        </p:txBody>
      </p:sp>
      <p:sp>
        <p:nvSpPr>
          <p:cNvPr id="10" name="Title 1"/>
          <p:cNvSpPr txBox="1">
            <a:spLocks/>
          </p:cNvSpPr>
          <p:nvPr/>
        </p:nvSpPr>
        <p:spPr>
          <a:xfrm>
            <a:off x="139700" y="440395"/>
            <a:ext cx="4419600" cy="1744003"/>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600" dirty="0">
                <a:solidFill>
                  <a:srgbClr val="D2533C"/>
                </a:solidFill>
              </a:rPr>
              <a:t>V. Apply normalization </a:t>
            </a:r>
          </a:p>
          <a:p>
            <a:r>
              <a:rPr lang="en-US" sz="3600" dirty="0">
                <a:solidFill>
                  <a:srgbClr val="D2533C"/>
                </a:solidFill>
              </a:rPr>
              <a:t>  rules</a:t>
            </a:r>
          </a:p>
        </p:txBody>
      </p:sp>
      <p:sp>
        <p:nvSpPr>
          <p:cNvPr id="11" name="Content Placeholder 2"/>
          <p:cNvSpPr txBox="1">
            <a:spLocks/>
          </p:cNvSpPr>
          <p:nvPr/>
        </p:nvSpPr>
        <p:spPr>
          <a:xfrm>
            <a:off x="4944731" y="474789"/>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12" name="Rectangle 11"/>
          <p:cNvSpPr/>
          <p:nvPr/>
        </p:nvSpPr>
        <p:spPr>
          <a:xfrm>
            <a:off x="4944731" y="1905000"/>
            <a:ext cx="4207938" cy="279399"/>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0320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101" y="256196"/>
            <a:ext cx="4572000" cy="990600"/>
          </a:xfrm>
        </p:spPr>
        <p:txBody>
          <a:bodyPr>
            <a:normAutofit/>
          </a:bodyPr>
          <a:lstStyle/>
          <a:p>
            <a:r>
              <a:rPr lang="en-US" dirty="0"/>
              <a:t>First Normal Form</a:t>
            </a:r>
          </a:p>
        </p:txBody>
      </p:sp>
      <p:sp>
        <p:nvSpPr>
          <p:cNvPr id="3" name="Content Placeholder 2"/>
          <p:cNvSpPr>
            <a:spLocks noGrp="1"/>
          </p:cNvSpPr>
          <p:nvPr>
            <p:ph idx="1"/>
          </p:nvPr>
        </p:nvSpPr>
        <p:spPr>
          <a:xfrm>
            <a:off x="0" y="1246797"/>
            <a:ext cx="6356350" cy="1102728"/>
          </a:xfrm>
        </p:spPr>
        <p:txBody>
          <a:bodyPr>
            <a:normAutofit/>
          </a:bodyPr>
          <a:lstStyle/>
          <a:p>
            <a:pPr marL="0" indent="0">
              <a:buNone/>
            </a:pPr>
            <a:r>
              <a:rPr lang="en-US" dirty="0"/>
              <a:t>At every column and row intersection in a table, there is only one, single value (no lists)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30</a:t>
            </a:fld>
            <a:endParaRPr lang="en-US">
              <a:latin typeface="Arial"/>
            </a:endParaRPr>
          </a:p>
        </p:txBody>
      </p:sp>
      <p:cxnSp>
        <p:nvCxnSpPr>
          <p:cNvPr id="11" name="Straight Arrow Connector 10"/>
          <p:cNvCxnSpPr>
            <a:cxnSpLocks/>
          </p:cNvCxnSpPr>
          <p:nvPr/>
        </p:nvCxnSpPr>
        <p:spPr>
          <a:xfrm>
            <a:off x="3472214" y="3098800"/>
            <a:ext cx="582367" cy="7689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635481" y="3190719"/>
            <a:ext cx="838200" cy="369332"/>
          </a:xfrm>
          <a:prstGeom prst="rect">
            <a:avLst/>
          </a:prstGeom>
          <a:noFill/>
        </p:spPr>
        <p:txBody>
          <a:bodyPr wrap="square" rtlCol="0">
            <a:spAutoFit/>
          </a:bodyPr>
          <a:lstStyle/>
          <a:p>
            <a:r>
              <a:rPr lang="en-US" dirty="0"/>
              <a:t>1NF</a:t>
            </a:r>
          </a:p>
        </p:txBody>
      </p:sp>
      <p:sp>
        <p:nvSpPr>
          <p:cNvPr id="15" name="Rectangle 14"/>
          <p:cNvSpPr/>
          <p:nvPr/>
        </p:nvSpPr>
        <p:spPr>
          <a:xfrm>
            <a:off x="4972936" y="3512739"/>
            <a:ext cx="3848100" cy="369332"/>
          </a:xfrm>
          <a:prstGeom prst="rect">
            <a:avLst/>
          </a:prstGeom>
        </p:spPr>
        <p:txBody>
          <a:bodyPr wrap="square">
            <a:spAutoFit/>
          </a:bodyPr>
          <a:lstStyle/>
          <a:p>
            <a:r>
              <a:rPr lang="en-US" dirty="0"/>
              <a:t>now </a:t>
            </a:r>
            <a:r>
              <a:rPr lang="en-US" b="1" dirty="0"/>
              <a:t>First Normal Form </a:t>
            </a:r>
            <a:r>
              <a:rPr lang="en-US" dirty="0"/>
              <a:t>is satisfied</a:t>
            </a:r>
          </a:p>
        </p:txBody>
      </p:sp>
      <p:sp>
        <p:nvSpPr>
          <p:cNvPr id="16" name="Content Placeholder 2"/>
          <p:cNvSpPr txBox="1">
            <a:spLocks/>
          </p:cNvSpPr>
          <p:nvPr/>
        </p:nvSpPr>
        <p:spPr>
          <a:xfrm>
            <a:off x="6356350" y="231406"/>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17" name="Rectangle 16"/>
          <p:cNvSpPr/>
          <p:nvPr/>
        </p:nvSpPr>
        <p:spPr>
          <a:xfrm>
            <a:off x="6260214" y="1644033"/>
            <a:ext cx="4207938" cy="279399"/>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159101" y="2374627"/>
            <a:ext cx="3313113" cy="2181443"/>
          </a:xfrm>
          <a:prstGeom prst="rect">
            <a:avLst/>
          </a:prstGeom>
        </p:spPr>
      </p:pic>
      <p:sp>
        <p:nvSpPr>
          <p:cNvPr id="18" name="Rectangle 17"/>
          <p:cNvSpPr/>
          <p:nvPr/>
        </p:nvSpPr>
        <p:spPr>
          <a:xfrm>
            <a:off x="406700" y="4556070"/>
            <a:ext cx="2817914" cy="646331"/>
          </a:xfrm>
          <a:prstGeom prst="rect">
            <a:avLst/>
          </a:prstGeom>
        </p:spPr>
        <p:txBody>
          <a:bodyPr wrap="square">
            <a:spAutoFit/>
          </a:bodyPr>
          <a:lstStyle/>
          <a:p>
            <a:r>
              <a:rPr lang="en-US" dirty="0"/>
              <a:t>not in </a:t>
            </a:r>
            <a:r>
              <a:rPr lang="en-US" b="1" dirty="0"/>
              <a:t>First Normal Form</a:t>
            </a:r>
          </a:p>
          <a:p>
            <a:r>
              <a:rPr lang="en-US" dirty="0"/>
              <a:t>color has multiple values</a:t>
            </a:r>
          </a:p>
        </p:txBody>
      </p:sp>
      <p:pic>
        <p:nvPicPr>
          <p:cNvPr id="8" name="Picture 7"/>
          <p:cNvPicPr>
            <a:picLocks noChangeAspect="1"/>
          </p:cNvPicPr>
          <p:nvPr/>
        </p:nvPicPr>
        <p:blipFill>
          <a:blip r:embed="rId4"/>
          <a:stretch>
            <a:fillRect/>
          </a:stretch>
        </p:blipFill>
        <p:spPr>
          <a:xfrm>
            <a:off x="4213681" y="3987791"/>
            <a:ext cx="4928529" cy="2772762"/>
          </a:xfrm>
          <a:prstGeom prst="rect">
            <a:avLst/>
          </a:prstGeom>
          <a:ln>
            <a:solidFill>
              <a:schemeClr val="accent6"/>
            </a:solidFill>
          </a:ln>
        </p:spPr>
      </p:pic>
    </p:spTree>
    <p:extLst>
      <p:ext uri="{BB962C8B-B14F-4D97-AF65-F5344CB8AC3E}">
        <p14:creationId xmlns:p14="http://schemas.microsoft.com/office/powerpoint/2010/main" val="30198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300" y="241300"/>
            <a:ext cx="4572000" cy="990600"/>
          </a:xfrm>
        </p:spPr>
        <p:txBody>
          <a:bodyPr>
            <a:normAutofit fontScale="90000"/>
          </a:bodyPr>
          <a:lstStyle/>
          <a:p>
            <a:r>
              <a:rPr lang="en-US" dirty="0"/>
              <a:t>Second Normal Form</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31</a:t>
            </a:fld>
            <a:endParaRPr lang="en-US">
              <a:latin typeface="Arial"/>
            </a:endParaRPr>
          </a:p>
        </p:txBody>
      </p:sp>
      <p:sp>
        <p:nvSpPr>
          <p:cNvPr id="12" name="Content Placeholder 2"/>
          <p:cNvSpPr>
            <a:spLocks noGrp="1"/>
          </p:cNvSpPr>
          <p:nvPr>
            <p:ph idx="1"/>
          </p:nvPr>
        </p:nvSpPr>
        <p:spPr>
          <a:xfrm>
            <a:off x="88900" y="1117600"/>
            <a:ext cx="5943600" cy="1088693"/>
          </a:xfrm>
        </p:spPr>
        <p:txBody>
          <a:bodyPr>
            <a:normAutofit/>
          </a:bodyPr>
          <a:lstStyle/>
          <a:p>
            <a:pPr marL="0" indent="0">
              <a:buNone/>
            </a:pPr>
            <a:r>
              <a:rPr lang="en-US" dirty="0"/>
              <a:t>Each non-key column is fully dependent on the entire primary key, not just part of it </a:t>
            </a:r>
          </a:p>
          <a:p>
            <a:pPr marL="0" indent="0">
              <a:buNone/>
            </a:pPr>
            <a:endParaRPr lang="en-US" dirty="0"/>
          </a:p>
        </p:txBody>
      </p:sp>
      <p:sp>
        <p:nvSpPr>
          <p:cNvPr id="3" name="Rectangle 2"/>
          <p:cNvSpPr/>
          <p:nvPr/>
        </p:nvSpPr>
        <p:spPr>
          <a:xfrm>
            <a:off x="6110471" y="2981870"/>
            <a:ext cx="3632191" cy="1200329"/>
          </a:xfrm>
          <a:prstGeom prst="rect">
            <a:avLst/>
          </a:prstGeom>
        </p:spPr>
        <p:txBody>
          <a:bodyPr wrap="square">
            <a:spAutoFit/>
          </a:bodyPr>
          <a:lstStyle/>
          <a:p>
            <a:r>
              <a:rPr lang="en-US" dirty="0"/>
              <a:t>Now non-key columns fully dependent on primary key,</a:t>
            </a:r>
          </a:p>
          <a:p>
            <a:r>
              <a:rPr lang="en-US" b="1" dirty="0"/>
              <a:t>Second Normal Form</a:t>
            </a:r>
            <a:r>
              <a:rPr lang="en-US" dirty="0"/>
              <a:t> is satisfied.</a:t>
            </a:r>
            <a:endParaRPr lang="en-US" b="1" dirty="0"/>
          </a:p>
        </p:txBody>
      </p:sp>
      <p:cxnSp>
        <p:nvCxnSpPr>
          <p:cNvPr id="9" name="Straight Arrow Connector 8"/>
          <p:cNvCxnSpPr>
            <a:cxnSpLocks/>
          </p:cNvCxnSpPr>
          <p:nvPr/>
        </p:nvCxnSpPr>
        <p:spPr>
          <a:xfrm>
            <a:off x="4813300" y="3467100"/>
            <a:ext cx="1219200" cy="937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422900" y="3605459"/>
            <a:ext cx="838200" cy="369332"/>
          </a:xfrm>
          <a:prstGeom prst="rect">
            <a:avLst/>
          </a:prstGeom>
          <a:noFill/>
        </p:spPr>
        <p:txBody>
          <a:bodyPr wrap="square" rtlCol="0">
            <a:spAutoFit/>
          </a:bodyPr>
          <a:lstStyle/>
          <a:p>
            <a:r>
              <a:rPr lang="en-US" dirty="0"/>
              <a:t>2NF</a:t>
            </a:r>
          </a:p>
        </p:txBody>
      </p:sp>
      <p:sp>
        <p:nvSpPr>
          <p:cNvPr id="13" name="Content Placeholder 2"/>
          <p:cNvSpPr txBox="1">
            <a:spLocks/>
          </p:cNvSpPr>
          <p:nvPr/>
        </p:nvSpPr>
        <p:spPr>
          <a:xfrm>
            <a:off x="6443331" y="474789"/>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14" name="Rectangle 13"/>
          <p:cNvSpPr/>
          <p:nvPr/>
        </p:nvSpPr>
        <p:spPr>
          <a:xfrm>
            <a:off x="6392531" y="1905000"/>
            <a:ext cx="4207938" cy="279399"/>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241300" y="1994845"/>
            <a:ext cx="4494029" cy="2183455"/>
          </a:xfrm>
          <a:prstGeom prst="rect">
            <a:avLst/>
          </a:prstGeom>
        </p:spPr>
      </p:pic>
      <p:pic>
        <p:nvPicPr>
          <p:cNvPr id="7" name="Picture 6"/>
          <p:cNvPicPr>
            <a:picLocks noChangeAspect="1"/>
          </p:cNvPicPr>
          <p:nvPr/>
        </p:nvPicPr>
        <p:blipFill>
          <a:blip r:embed="rId4"/>
          <a:stretch>
            <a:fillRect/>
          </a:stretch>
        </p:blipFill>
        <p:spPr>
          <a:xfrm>
            <a:off x="4025900" y="4433929"/>
            <a:ext cx="5295900" cy="2424071"/>
          </a:xfrm>
          <a:prstGeom prst="rect">
            <a:avLst/>
          </a:prstGeom>
          <a:ln>
            <a:solidFill>
              <a:schemeClr val="accent6"/>
            </a:solidFill>
          </a:ln>
        </p:spPr>
      </p:pic>
      <p:sp>
        <p:nvSpPr>
          <p:cNvPr id="16" name="Rectangle 15"/>
          <p:cNvSpPr/>
          <p:nvPr/>
        </p:nvSpPr>
        <p:spPr>
          <a:xfrm>
            <a:off x="0" y="4207302"/>
            <a:ext cx="4025900" cy="2308324"/>
          </a:xfrm>
          <a:prstGeom prst="rect">
            <a:avLst/>
          </a:prstGeom>
        </p:spPr>
        <p:txBody>
          <a:bodyPr wrap="square">
            <a:spAutoFit/>
          </a:bodyPr>
          <a:lstStyle/>
          <a:p>
            <a:pPr marL="285750" indent="-285750">
              <a:buFont typeface="Arial" panose="020B0604020202020204" pitchFamily="34" charset="0"/>
              <a:buChar char="•"/>
            </a:pPr>
            <a:r>
              <a:rPr lang="en-US" dirty="0"/>
              <a:t>Primary key is [</a:t>
            </a:r>
            <a:r>
              <a:rPr lang="en-US" dirty="0" err="1"/>
              <a:t>Cust</a:t>
            </a:r>
            <a:r>
              <a:rPr lang="en-US" dirty="0"/>
              <a:t>. ID, Store ID], e.g. [1,1] or [3,2].</a:t>
            </a:r>
          </a:p>
          <a:p>
            <a:pPr marL="285750" indent="-285750">
              <a:buFont typeface="Arial" panose="020B0604020202020204" pitchFamily="34" charset="0"/>
              <a:buChar char="•"/>
            </a:pPr>
            <a:r>
              <a:rPr lang="en-US" dirty="0"/>
              <a:t>Location does not depend on one of those keys – </a:t>
            </a:r>
            <a:r>
              <a:rPr lang="en-US" dirty="0" err="1"/>
              <a:t>Cust</a:t>
            </a:r>
            <a:r>
              <a:rPr lang="en-US" dirty="0"/>
              <a:t>. ID.</a:t>
            </a:r>
          </a:p>
          <a:p>
            <a:pPr marL="285750" indent="-285750">
              <a:buFont typeface="Arial" panose="020B0604020202020204" pitchFamily="34" charset="0"/>
              <a:buChar char="•"/>
            </a:pPr>
            <a:r>
              <a:rPr lang="en-US" dirty="0"/>
              <a:t>Table does not satisfy </a:t>
            </a:r>
            <a:r>
              <a:rPr lang="en-US" b="1" dirty="0"/>
              <a:t>Second Normal Form</a:t>
            </a:r>
          </a:p>
          <a:p>
            <a:pPr marL="285750" indent="-285750">
              <a:buFont typeface="Arial" panose="020B0604020202020204" pitchFamily="34" charset="0"/>
              <a:buChar char="•"/>
            </a:pPr>
            <a:r>
              <a:rPr lang="en-US" dirty="0"/>
              <a:t>Break into 2 tables…</a:t>
            </a:r>
          </a:p>
          <a:p>
            <a:endParaRPr lang="en-US" dirty="0"/>
          </a:p>
        </p:txBody>
      </p:sp>
    </p:spTree>
    <p:extLst>
      <p:ext uri="{BB962C8B-B14F-4D97-AF65-F5344CB8AC3E}">
        <p14:creationId xmlns:p14="http://schemas.microsoft.com/office/powerpoint/2010/main" val="1416137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4572000" cy="990600"/>
          </a:xfrm>
        </p:spPr>
        <p:txBody>
          <a:bodyPr>
            <a:normAutofit/>
          </a:bodyPr>
          <a:lstStyle/>
          <a:p>
            <a:r>
              <a:rPr lang="en-US" dirty="0"/>
              <a:t>Third Normal Form</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32</a:t>
            </a:fld>
            <a:endParaRPr lang="en-US">
              <a:latin typeface="Arial"/>
            </a:endParaRPr>
          </a:p>
        </p:txBody>
      </p:sp>
      <p:sp>
        <p:nvSpPr>
          <p:cNvPr id="12" name="Content Placeholder 2"/>
          <p:cNvSpPr>
            <a:spLocks noGrp="1"/>
          </p:cNvSpPr>
          <p:nvPr>
            <p:ph idx="1"/>
          </p:nvPr>
        </p:nvSpPr>
        <p:spPr>
          <a:xfrm>
            <a:off x="457200" y="1371600"/>
            <a:ext cx="5486400" cy="1088693"/>
          </a:xfrm>
        </p:spPr>
        <p:txBody>
          <a:bodyPr>
            <a:normAutofit/>
          </a:bodyPr>
          <a:lstStyle/>
          <a:p>
            <a:pPr marL="0" indent="0">
              <a:buNone/>
            </a:pPr>
            <a:r>
              <a:rPr lang="en-US" dirty="0"/>
              <a:t>All non-key columns must be independent of each other	</a:t>
            </a:r>
            <a:endParaRPr lang="en-US" u="sng" dirty="0"/>
          </a:p>
        </p:txBody>
      </p:sp>
      <p:pic>
        <p:nvPicPr>
          <p:cNvPr id="13" name="Picture 12"/>
          <p:cNvPicPr>
            <a:picLocks noChangeAspect="1"/>
          </p:cNvPicPr>
          <p:nvPr/>
        </p:nvPicPr>
        <p:blipFill>
          <a:blip r:embed="rId3"/>
          <a:stretch>
            <a:fillRect/>
          </a:stretch>
        </p:blipFill>
        <p:spPr>
          <a:xfrm>
            <a:off x="2743200" y="4605085"/>
            <a:ext cx="6558800" cy="2055210"/>
          </a:xfrm>
          <a:prstGeom prst="rect">
            <a:avLst/>
          </a:prstGeom>
        </p:spPr>
      </p:pic>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781" y="2274031"/>
            <a:ext cx="5964066" cy="2209672"/>
          </a:xfrm>
          <a:prstGeom prst="rect">
            <a:avLst/>
          </a:prstGeom>
        </p:spPr>
      </p:pic>
      <p:cxnSp>
        <p:nvCxnSpPr>
          <p:cNvPr id="19" name="Straight Arrow Connector 18"/>
          <p:cNvCxnSpPr/>
          <p:nvPr/>
        </p:nvCxnSpPr>
        <p:spPr>
          <a:xfrm>
            <a:off x="1252266" y="4396647"/>
            <a:ext cx="1521316" cy="1527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275303" y="5049068"/>
            <a:ext cx="685800" cy="369332"/>
          </a:xfrm>
          <a:prstGeom prst="rect">
            <a:avLst/>
          </a:prstGeom>
          <a:noFill/>
        </p:spPr>
        <p:txBody>
          <a:bodyPr wrap="square" rtlCol="0">
            <a:spAutoFit/>
          </a:bodyPr>
          <a:lstStyle/>
          <a:p>
            <a:r>
              <a:rPr lang="en-US" dirty="0"/>
              <a:t>3NF</a:t>
            </a:r>
          </a:p>
        </p:txBody>
      </p:sp>
      <p:sp>
        <p:nvSpPr>
          <p:cNvPr id="21" name="TextBox 20">
            <a:extLst>
              <a:ext uri="{FF2B5EF4-FFF2-40B4-BE49-F238E27FC236}">
                <a16:creationId xmlns:a16="http://schemas.microsoft.com/office/drawing/2014/main" id="{D567A1D0-9F97-47D9-80B4-B7A77C7D74E3}"/>
              </a:ext>
            </a:extLst>
          </p:cNvPr>
          <p:cNvSpPr txBox="1"/>
          <p:nvPr/>
        </p:nvSpPr>
        <p:spPr>
          <a:xfrm>
            <a:off x="5955288" y="2640203"/>
            <a:ext cx="3114675" cy="1477328"/>
          </a:xfrm>
          <a:prstGeom prst="rect">
            <a:avLst/>
          </a:prstGeom>
          <a:noFill/>
        </p:spPr>
        <p:txBody>
          <a:bodyPr wrap="square" rtlCol="0">
            <a:spAutoFit/>
          </a:bodyPr>
          <a:lstStyle/>
          <a:p>
            <a:r>
              <a:rPr lang="en-US" dirty="0"/>
              <a:t>‘Tournament’ and ‘Year’ are the compound primary key.</a:t>
            </a:r>
          </a:p>
          <a:p>
            <a:endParaRPr lang="en-US" dirty="0"/>
          </a:p>
          <a:p>
            <a:r>
              <a:rPr lang="en-US" dirty="0"/>
              <a:t>‘Winner’ and ‘winner DOB’ are not independent of each other.</a:t>
            </a:r>
          </a:p>
        </p:txBody>
      </p:sp>
      <p:sp>
        <p:nvSpPr>
          <p:cNvPr id="11" name="Content Placeholder 2"/>
          <p:cNvSpPr txBox="1">
            <a:spLocks/>
          </p:cNvSpPr>
          <p:nvPr/>
        </p:nvSpPr>
        <p:spPr>
          <a:xfrm>
            <a:off x="4944731" y="474789"/>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14" name="Rectangle 13"/>
          <p:cNvSpPr/>
          <p:nvPr/>
        </p:nvSpPr>
        <p:spPr>
          <a:xfrm>
            <a:off x="4944731" y="1905000"/>
            <a:ext cx="4207938" cy="279399"/>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155700" y="6045490"/>
            <a:ext cx="2276074" cy="646331"/>
          </a:xfrm>
          <a:prstGeom prst="rect">
            <a:avLst/>
          </a:prstGeom>
        </p:spPr>
        <p:txBody>
          <a:bodyPr wrap="square">
            <a:spAutoFit/>
          </a:bodyPr>
          <a:lstStyle/>
          <a:p>
            <a:r>
              <a:rPr lang="en-US" dirty="0"/>
              <a:t>Now in </a:t>
            </a:r>
            <a:r>
              <a:rPr lang="en-US" b="1" dirty="0"/>
              <a:t>Third Normal Form</a:t>
            </a:r>
          </a:p>
        </p:txBody>
      </p:sp>
    </p:spTree>
    <p:extLst>
      <p:ext uri="{BB962C8B-B14F-4D97-AF65-F5344CB8AC3E}">
        <p14:creationId xmlns:p14="http://schemas.microsoft.com/office/powerpoint/2010/main" val="1568643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a Database: </a:t>
            </a:r>
            <a:br>
              <a:rPr lang="en-US" dirty="0"/>
            </a:br>
            <a:r>
              <a:rPr lang="en-US" dirty="0"/>
              <a:t> Feline Novelties Example</a:t>
            </a:r>
            <a:br>
              <a:rPr lang="en-US" dirty="0"/>
            </a:br>
            <a:r>
              <a:rPr lang="en-US" sz="2700" dirty="0"/>
              <a:t>Variation of Case 1 from textbook</a:t>
            </a:r>
            <a:endParaRPr lang="en-US" dirty="0"/>
          </a:p>
        </p:txBody>
      </p:sp>
      <p:sp>
        <p:nvSpPr>
          <p:cNvPr id="3" name="Content Placeholder 2"/>
          <p:cNvSpPr>
            <a:spLocks noGrp="1"/>
          </p:cNvSpPr>
          <p:nvPr>
            <p:ph idx="1"/>
          </p:nvPr>
        </p:nvSpPr>
        <p:spPr>
          <a:xfrm>
            <a:off x="457200" y="1917700"/>
            <a:ext cx="8229600" cy="4559300"/>
          </a:xfrm>
        </p:spPr>
        <p:txBody>
          <a:bodyPr>
            <a:normAutofit/>
          </a:bodyPr>
          <a:lstStyle/>
          <a:p>
            <a:pPr marL="0" indent="0">
              <a:buNone/>
            </a:pPr>
            <a:r>
              <a:rPr lang="en-US" dirty="0"/>
              <a:t>We’ll follow this example for each step in the design process.  </a:t>
            </a:r>
          </a:p>
          <a:p>
            <a:pPr marL="0" indent="0">
              <a:buNone/>
            </a:pPr>
            <a:endParaRPr lang="en-US" dirty="0"/>
          </a:p>
          <a:p>
            <a:pPr marL="0" indent="0">
              <a:buNone/>
            </a:pPr>
            <a:r>
              <a:rPr lang="en-US" b="1" dirty="0"/>
              <a:t>Background</a:t>
            </a:r>
            <a:r>
              <a:rPr lang="en-US" dirty="0"/>
              <a:t>:  Your friend, Michelle, has approached you about a start-up business she has created.  Michelle has always been a cat lover and knows that many of her friends share her love of felines.  She has always wanted to be her own boss and has begun to sell specialty cat toys and treats on a monthly basis to her friends locally.  The initial reaction to her business has been strong, and she has enlisted your help to computerize her ordering system.</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33</a:t>
            </a:fld>
            <a:endParaRPr lang="en-US">
              <a:latin typeface="Arial"/>
            </a:endParaRPr>
          </a:p>
        </p:txBody>
      </p:sp>
    </p:spTree>
    <p:extLst>
      <p:ext uri="{BB962C8B-B14F-4D97-AF65-F5344CB8AC3E}">
        <p14:creationId xmlns:p14="http://schemas.microsoft.com/office/powerpoint/2010/main" val="7637023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Feline Novelties Example</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How the business works:</a:t>
            </a:r>
            <a:r>
              <a:rPr lang="en-US" dirty="0"/>
              <a:t>  </a:t>
            </a:r>
          </a:p>
          <a:p>
            <a:r>
              <a:rPr lang="en-US" dirty="0"/>
              <a:t>Customers can sign up for monthly boxes to contain cat toys, treats, and other goodies geared towards cats.  </a:t>
            </a:r>
          </a:p>
          <a:p>
            <a:r>
              <a:rPr lang="en-US" dirty="0"/>
              <a:t>Customers pay a monthly fee that is debited to their credit cards and automatically receive a box of goodies.  </a:t>
            </a:r>
          </a:p>
          <a:p>
            <a:r>
              <a:rPr lang="en-US" dirty="0"/>
              <a:t>Cats have fickle natures, so the new toys and treats are a delight to them and hence to their owners.  </a:t>
            </a:r>
          </a:p>
          <a:p>
            <a:r>
              <a:rPr lang="en-US" dirty="0"/>
              <a:t>Currently, Michelle uses a third party that takes care of credit card payments.  </a:t>
            </a:r>
          </a:p>
          <a:p>
            <a:r>
              <a:rPr lang="en-US" dirty="0"/>
              <a:t>She wants you to concentrate on the ordering side of the business.  </a:t>
            </a:r>
          </a:p>
          <a:p>
            <a:r>
              <a:rPr lang="en-US" dirty="0"/>
              <a:t>You suggest creating an Access database to track and record all orders for her small business.  You have experience using the program from your IS coursework.</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34</a:t>
            </a:fld>
            <a:endParaRPr lang="en-US">
              <a:latin typeface="Arial"/>
            </a:endParaRPr>
          </a:p>
        </p:txBody>
      </p:sp>
      <p:pic>
        <p:nvPicPr>
          <p:cNvPr id="3074" name="Picture 2" descr="Image result for grumpy c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5566" y="533400"/>
            <a:ext cx="1508838" cy="150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314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Feline Novelties Example</a:t>
            </a:r>
          </a:p>
        </p:txBody>
      </p:sp>
      <p:sp>
        <p:nvSpPr>
          <p:cNvPr id="3" name="Content Placeholder 2"/>
          <p:cNvSpPr>
            <a:spLocks noGrp="1"/>
          </p:cNvSpPr>
          <p:nvPr>
            <p:ph idx="1"/>
          </p:nvPr>
        </p:nvSpPr>
        <p:spPr/>
        <p:txBody>
          <a:bodyPr>
            <a:normAutofit lnSpcReduction="10000"/>
          </a:bodyPr>
          <a:lstStyle/>
          <a:p>
            <a:pPr marL="0" indent="0">
              <a:buNone/>
            </a:pPr>
            <a:r>
              <a:rPr lang="en-US" b="1" dirty="0"/>
              <a:t>Later, address these questions Michelle has</a:t>
            </a:r>
            <a:r>
              <a:rPr lang="en-US" dirty="0"/>
              <a:t>:</a:t>
            </a:r>
          </a:p>
          <a:p>
            <a:pPr marL="0" indent="0">
              <a:buNone/>
            </a:pPr>
            <a:endParaRPr lang="en-US" dirty="0"/>
          </a:p>
          <a:p>
            <a:r>
              <a:rPr lang="en-US" dirty="0"/>
              <a:t>Michelle knows that some of the cats’ toys are geared towards female owners.  </a:t>
            </a:r>
            <a:r>
              <a:rPr lang="en-US" b="1" dirty="0"/>
              <a:t>She is curious to know the gender of her customers</a:t>
            </a:r>
            <a:r>
              <a:rPr lang="en-US" dirty="0"/>
              <a:t>, so she can buy appropriate items to fill the monthly boxes.</a:t>
            </a:r>
          </a:p>
          <a:p>
            <a:pPr marL="0" indent="0">
              <a:buNone/>
            </a:pPr>
            <a:endParaRPr lang="en-US" dirty="0"/>
          </a:p>
          <a:p>
            <a:r>
              <a:rPr lang="en-US" dirty="0"/>
              <a:t>Michelle began the business with the idea of selling only boxes of toys and treats, but now she is expanding to sell other items.  </a:t>
            </a:r>
            <a:r>
              <a:rPr lang="en-US" b="1" dirty="0"/>
              <a:t>She would like to know how many monthly items have been purchased so far </a:t>
            </a:r>
            <a:r>
              <a:rPr lang="en-US" dirty="0"/>
              <a:t>because she suspects these items are still the bulk of her business.</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35</a:t>
            </a:fld>
            <a:endParaRPr lang="en-US">
              <a:latin typeface="Arial"/>
            </a:endParaRPr>
          </a:p>
        </p:txBody>
      </p:sp>
      <p:pic>
        <p:nvPicPr>
          <p:cNvPr id="5" name="Picture 2" descr="Image result for grumpy ca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5566" y="533400"/>
            <a:ext cx="1508838" cy="150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0261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457200" y="261937"/>
            <a:ext cx="7886700" cy="1325563"/>
          </a:xfrm>
        </p:spPr>
        <p:txBody>
          <a:bodyPr/>
          <a:lstStyle/>
          <a:p>
            <a:r>
              <a:rPr lang="en-US" dirty="0"/>
              <a:t>Designing a Relational Database: </a:t>
            </a:r>
            <a:br>
              <a:rPr lang="en-US" dirty="0"/>
            </a:br>
            <a:r>
              <a:rPr lang="en-US" dirty="0"/>
              <a:t>  Overview</a:t>
            </a:r>
            <a:endParaRPr lang="en-US" b="1" dirty="0"/>
          </a:p>
        </p:txBody>
      </p:sp>
      <p:pic>
        <p:nvPicPr>
          <p:cNvPr id="4" name="Picture 2" descr="Image result for grumpy cat meme mat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6954" y="4203843"/>
            <a:ext cx="3168898" cy="2547794"/>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p:cNvSpPr>
            <a:spLocks noGrp="1"/>
          </p:cNvSpPr>
          <p:nvPr>
            <p:ph idx="1"/>
          </p:nvPr>
        </p:nvSpPr>
        <p:spPr>
          <a:xfrm>
            <a:off x="457200" y="1600200"/>
            <a:ext cx="8229600" cy="4876800"/>
          </a:xfrm>
        </p:spPr>
        <p:txBody>
          <a:bodyPr>
            <a:normAutofit/>
          </a:body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Tree>
    <p:extLst>
      <p:ext uri="{BB962C8B-B14F-4D97-AF65-F5344CB8AC3E}">
        <p14:creationId xmlns:p14="http://schemas.microsoft.com/office/powerpoint/2010/main" val="40884654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 Determine Purpose</a:t>
            </a:r>
          </a:p>
        </p:txBody>
      </p:sp>
      <p:sp>
        <p:nvSpPr>
          <p:cNvPr id="3" name="Content Placeholder 2"/>
          <p:cNvSpPr>
            <a:spLocks noGrp="1"/>
          </p:cNvSpPr>
          <p:nvPr>
            <p:ph idx="1"/>
          </p:nvPr>
        </p:nvSpPr>
        <p:spPr>
          <a:xfrm>
            <a:off x="457200" y="2624328"/>
            <a:ext cx="8229600" cy="3852672"/>
          </a:xfrm>
        </p:spPr>
        <p:txBody>
          <a:bodyPr/>
          <a:lstStyle/>
          <a:p>
            <a:pPr marL="0" indent="0">
              <a:buNone/>
            </a:pPr>
            <a:r>
              <a:rPr lang="en-US" dirty="0"/>
              <a:t>What is the purpose of the Feline Novelties Database?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i="1" dirty="0"/>
              <a:t>Do this, next few slides on white board / notes.</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37</a:t>
            </a:fld>
            <a:endParaRPr lang="en-US">
              <a:latin typeface="Arial"/>
            </a:endParaRPr>
          </a:p>
        </p:txBody>
      </p:sp>
      <p:sp>
        <p:nvSpPr>
          <p:cNvPr id="5" name="Content Placeholder 2"/>
          <p:cNvSpPr txBox="1">
            <a:spLocks/>
          </p:cNvSpPr>
          <p:nvPr/>
        </p:nvSpPr>
        <p:spPr>
          <a:xfrm>
            <a:off x="5372100" y="53340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6" name="Rectangle 5"/>
          <p:cNvSpPr/>
          <p:nvPr/>
        </p:nvSpPr>
        <p:spPr>
          <a:xfrm>
            <a:off x="5372100" y="533400"/>
            <a:ext cx="34671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9647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20750"/>
            <a:ext cx="4914900" cy="1238250"/>
          </a:xfrm>
        </p:spPr>
        <p:txBody>
          <a:bodyPr>
            <a:normAutofit fontScale="90000"/>
          </a:bodyPr>
          <a:lstStyle/>
          <a:p>
            <a:pPr>
              <a:lnSpc>
                <a:spcPct val="150000"/>
              </a:lnSpc>
            </a:pPr>
            <a:r>
              <a:rPr lang="en-US" dirty="0"/>
              <a:t>II. Find &amp; organize </a:t>
            </a:r>
            <a:r>
              <a:rPr lang="en-US" b="1" dirty="0"/>
              <a:t>information </a:t>
            </a:r>
            <a:r>
              <a:rPr lang="en-US" dirty="0"/>
              <a:t>required</a:t>
            </a:r>
          </a:p>
        </p:txBody>
      </p:sp>
      <p:sp>
        <p:nvSpPr>
          <p:cNvPr id="3" name="Content Placeholder 2"/>
          <p:cNvSpPr>
            <a:spLocks noGrp="1"/>
          </p:cNvSpPr>
          <p:nvPr>
            <p:ph idx="1"/>
          </p:nvPr>
        </p:nvSpPr>
        <p:spPr>
          <a:xfrm>
            <a:off x="457200" y="2624328"/>
            <a:ext cx="8229600" cy="3852672"/>
          </a:xfrm>
        </p:spPr>
        <p:txBody>
          <a:bodyPr>
            <a:normAutofit/>
          </a:bodyPr>
          <a:lstStyle/>
          <a:p>
            <a:pPr marL="0" indent="0">
              <a:buNone/>
            </a:pPr>
            <a:r>
              <a:rPr lang="en-US" sz="3200" dirty="0"/>
              <a:t>What are the entities?</a:t>
            </a:r>
          </a:p>
          <a:p>
            <a:pPr marL="0" indent="0">
              <a:buNone/>
            </a:pPr>
            <a:endParaRPr lang="en-US" sz="3200" dirty="0"/>
          </a:p>
          <a:p>
            <a:pPr marL="0" indent="0">
              <a:buNone/>
            </a:pPr>
            <a:r>
              <a:rPr lang="en-US" sz="3200" dirty="0"/>
              <a:t>What are their attributes?</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38</a:t>
            </a:fld>
            <a:endParaRPr lang="en-US">
              <a:latin typeface="Arial"/>
            </a:endParaRPr>
          </a:p>
        </p:txBody>
      </p:sp>
      <p:sp>
        <p:nvSpPr>
          <p:cNvPr id="5" name="Content Placeholder 2"/>
          <p:cNvSpPr txBox="1">
            <a:spLocks/>
          </p:cNvSpPr>
          <p:nvPr/>
        </p:nvSpPr>
        <p:spPr>
          <a:xfrm>
            <a:off x="5372100" y="53340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6" name="Rectangle 5"/>
          <p:cNvSpPr/>
          <p:nvPr/>
        </p:nvSpPr>
        <p:spPr>
          <a:xfrm>
            <a:off x="5372100" y="920750"/>
            <a:ext cx="386080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73348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850" y="558800"/>
            <a:ext cx="4737100" cy="1371600"/>
          </a:xfrm>
        </p:spPr>
        <p:txBody>
          <a:bodyPr>
            <a:noAutofit/>
          </a:bodyPr>
          <a:lstStyle/>
          <a:p>
            <a:pPr>
              <a:lnSpc>
                <a:spcPct val="150000"/>
              </a:lnSpc>
            </a:pPr>
            <a:r>
              <a:rPr lang="en-US" sz="2800" dirty="0"/>
              <a:t>III. Create </a:t>
            </a:r>
            <a:r>
              <a:rPr lang="en-US" sz="2800" b="1" dirty="0"/>
              <a:t>Entity-Relationship </a:t>
            </a:r>
            <a:r>
              <a:rPr lang="en-US" sz="2800" dirty="0"/>
              <a:t>(E-R) diagram</a:t>
            </a:r>
          </a:p>
        </p:txBody>
      </p:sp>
      <p:sp>
        <p:nvSpPr>
          <p:cNvPr id="3" name="Content Placeholder 2"/>
          <p:cNvSpPr>
            <a:spLocks noGrp="1"/>
          </p:cNvSpPr>
          <p:nvPr>
            <p:ph idx="1"/>
          </p:nvPr>
        </p:nvSpPr>
        <p:spPr>
          <a:xfrm>
            <a:off x="457200" y="2624328"/>
            <a:ext cx="8229600" cy="3852672"/>
          </a:xfrm>
        </p:spPr>
        <p:txBody>
          <a:bodyPr/>
          <a:lstStyle/>
          <a:p>
            <a:pPr marL="0" indent="0">
              <a:buNone/>
            </a:pPr>
            <a:r>
              <a:rPr lang="en-US" dirty="0"/>
              <a:t>Determine relationships between entities</a:t>
            </a:r>
          </a:p>
          <a:p>
            <a:pPr marL="0" indent="0">
              <a:buNone/>
            </a:pPr>
            <a:endParaRPr lang="en-US" dirty="0"/>
          </a:p>
          <a:p>
            <a:pPr marL="0" indent="0">
              <a:buNone/>
            </a:pPr>
            <a:r>
              <a:rPr lang="en-US" dirty="0"/>
              <a:t>Determine cardinalities of relationships</a:t>
            </a:r>
          </a:p>
          <a:p>
            <a:pPr marL="0" indent="0">
              <a:buNone/>
            </a:pPr>
            <a:endParaRPr lang="en-US" dirty="0"/>
          </a:p>
          <a:p>
            <a:pPr marL="0" indent="0">
              <a:buNone/>
            </a:pPr>
            <a:r>
              <a:rPr lang="en-US" dirty="0"/>
              <a:t>Apply adjustments based on cardinalities:</a:t>
            </a:r>
          </a:p>
          <a:p>
            <a:pPr marL="0" indent="0">
              <a:buNone/>
            </a:pPr>
            <a:r>
              <a:rPr lang="en-US" dirty="0"/>
              <a:t>- for example, many-to-many requires new table</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39</a:t>
            </a:fld>
            <a:endParaRPr lang="en-US">
              <a:latin typeface="Arial"/>
            </a:endParaRPr>
          </a:p>
        </p:txBody>
      </p:sp>
      <p:sp>
        <p:nvSpPr>
          <p:cNvPr id="5" name="Content Placeholder 2"/>
          <p:cNvSpPr txBox="1">
            <a:spLocks/>
          </p:cNvSpPr>
          <p:nvPr/>
        </p:nvSpPr>
        <p:spPr>
          <a:xfrm>
            <a:off x="4933950" y="55880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6" name="Rectangle 5"/>
          <p:cNvSpPr/>
          <p:nvPr/>
        </p:nvSpPr>
        <p:spPr>
          <a:xfrm>
            <a:off x="4933950" y="1244600"/>
            <a:ext cx="4210050" cy="38735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2337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441700"/>
            <a:ext cx="8229600" cy="3035300"/>
          </a:xfrm>
        </p:spPr>
        <p:txBody>
          <a:bodyPr/>
          <a:lstStyle/>
          <a:p>
            <a:pPr marL="0" indent="0">
              <a:buNone/>
            </a:pPr>
            <a:r>
              <a:rPr lang="en-US" dirty="0"/>
              <a:t>  For now, let’s mainly focus on ensuring that the </a:t>
            </a:r>
            <a:r>
              <a:rPr lang="en-US" b="1" dirty="0"/>
              <a:t>three normal forms </a:t>
            </a:r>
            <a:r>
              <a:rPr lang="en-US" dirty="0"/>
              <a:t>are being followed.</a:t>
            </a:r>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40</a:t>
            </a:fld>
            <a:endParaRPr lang="en-US">
              <a:latin typeface="Arial"/>
            </a:endParaRPr>
          </a:p>
        </p:txBody>
      </p:sp>
      <p:sp>
        <p:nvSpPr>
          <p:cNvPr id="8" name="Title 1"/>
          <p:cNvSpPr>
            <a:spLocks noGrp="1"/>
          </p:cNvSpPr>
          <p:nvPr>
            <p:ph type="title"/>
          </p:nvPr>
        </p:nvSpPr>
        <p:spPr>
          <a:xfrm>
            <a:off x="196850" y="558800"/>
            <a:ext cx="4737100" cy="1371600"/>
          </a:xfrm>
        </p:spPr>
        <p:txBody>
          <a:bodyPr>
            <a:noAutofit/>
          </a:bodyPr>
          <a:lstStyle/>
          <a:p>
            <a:r>
              <a:rPr lang="en-US" sz="2800" dirty="0">
                <a:solidFill>
                  <a:srgbClr val="D2533C"/>
                </a:solidFill>
              </a:rPr>
              <a:t>IV.</a:t>
            </a:r>
            <a:r>
              <a:rPr lang="en-US" sz="2800" dirty="0"/>
              <a:t> </a:t>
            </a:r>
            <a:r>
              <a:rPr lang="en-US" sz="2800" dirty="0">
                <a:solidFill>
                  <a:srgbClr val="D2533C"/>
                </a:solidFill>
              </a:rPr>
              <a:t>Refine your design</a:t>
            </a:r>
            <a:br>
              <a:rPr lang="en-US" sz="2800" dirty="0">
                <a:solidFill>
                  <a:srgbClr val="D2533C"/>
                </a:solidFill>
              </a:rPr>
            </a:br>
            <a:br>
              <a:rPr lang="en-US" sz="2800" dirty="0">
                <a:solidFill>
                  <a:srgbClr val="D2533C"/>
                </a:solidFill>
              </a:rPr>
            </a:br>
            <a:r>
              <a:rPr lang="en-US" sz="2800" dirty="0">
                <a:solidFill>
                  <a:srgbClr val="D2533C"/>
                </a:solidFill>
              </a:rPr>
              <a:t>V. Apply normalization rules</a:t>
            </a:r>
          </a:p>
        </p:txBody>
      </p:sp>
      <p:sp>
        <p:nvSpPr>
          <p:cNvPr id="9" name="Content Placeholder 2"/>
          <p:cNvSpPr txBox="1">
            <a:spLocks/>
          </p:cNvSpPr>
          <p:nvPr/>
        </p:nvSpPr>
        <p:spPr>
          <a:xfrm>
            <a:off x="4933950" y="558800"/>
            <a:ext cx="5372100" cy="1905000"/>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lnSpc>
                <a:spcPct val="150000"/>
              </a:lnSpc>
              <a:buFont typeface="+mj-lt"/>
              <a:buAutoNum type="romanUcPeriod"/>
            </a:pPr>
            <a:r>
              <a:rPr lang="en-US" sz="2800" dirty="0"/>
              <a:t>Determine </a:t>
            </a:r>
            <a:r>
              <a:rPr lang="en-US" sz="2800" b="1" dirty="0"/>
              <a:t>purpose </a:t>
            </a:r>
            <a:r>
              <a:rPr lang="en-US" sz="2800" dirty="0"/>
              <a:t>of database</a:t>
            </a:r>
          </a:p>
          <a:p>
            <a:pPr marL="514350" indent="-514350">
              <a:lnSpc>
                <a:spcPct val="150000"/>
              </a:lnSpc>
              <a:buFont typeface="+mj-lt"/>
              <a:buAutoNum type="romanUcPeriod"/>
            </a:pPr>
            <a:r>
              <a:rPr lang="en-US" sz="2800" dirty="0"/>
              <a:t>Find &amp; organize </a:t>
            </a:r>
            <a:r>
              <a:rPr lang="en-US" sz="2800" b="1" dirty="0"/>
              <a:t>information </a:t>
            </a:r>
            <a:r>
              <a:rPr lang="en-US" sz="2800" dirty="0"/>
              <a:t>required</a:t>
            </a:r>
          </a:p>
          <a:p>
            <a:pPr marL="514350" indent="-514350">
              <a:lnSpc>
                <a:spcPct val="150000"/>
              </a:lnSpc>
              <a:buFont typeface="+mj-lt"/>
              <a:buAutoNum type="romanUcPeriod"/>
            </a:pPr>
            <a:r>
              <a:rPr lang="en-US" sz="2800" dirty="0"/>
              <a:t>Create </a:t>
            </a:r>
            <a:r>
              <a:rPr lang="en-US" sz="2800" b="1" dirty="0"/>
              <a:t>Entity-Relationship </a:t>
            </a:r>
            <a:r>
              <a:rPr lang="en-US" sz="2800" dirty="0"/>
              <a:t>(E-R) diagram</a:t>
            </a:r>
          </a:p>
          <a:p>
            <a:pPr marL="514350" indent="-514350">
              <a:lnSpc>
                <a:spcPct val="150000"/>
              </a:lnSpc>
              <a:buFont typeface="+mj-lt"/>
              <a:buAutoNum type="romanUcPeriod"/>
            </a:pPr>
            <a:r>
              <a:rPr lang="en-US" sz="2800" b="1" dirty="0"/>
              <a:t>Refine </a:t>
            </a:r>
            <a:r>
              <a:rPr lang="en-US" sz="2800" dirty="0"/>
              <a:t>design</a:t>
            </a:r>
          </a:p>
          <a:p>
            <a:pPr marL="514350" indent="-514350">
              <a:lnSpc>
                <a:spcPct val="150000"/>
              </a:lnSpc>
              <a:buFont typeface="+mj-lt"/>
              <a:buAutoNum type="romanUcPeriod"/>
            </a:pPr>
            <a:r>
              <a:rPr lang="en-US" sz="2800" dirty="0"/>
              <a:t>Apply </a:t>
            </a:r>
            <a:r>
              <a:rPr lang="en-US" sz="2800" b="1" dirty="0"/>
              <a:t>normalization </a:t>
            </a:r>
            <a:r>
              <a:rPr lang="en-US" sz="2800" dirty="0"/>
              <a:t>rules</a:t>
            </a:r>
          </a:p>
        </p:txBody>
      </p:sp>
      <p:sp>
        <p:nvSpPr>
          <p:cNvPr id="10" name="Rectangle 9"/>
          <p:cNvSpPr/>
          <p:nvPr/>
        </p:nvSpPr>
        <p:spPr>
          <a:xfrm>
            <a:off x="4933950" y="1587500"/>
            <a:ext cx="4083050" cy="876300"/>
          </a:xfrm>
          <a:prstGeom prst="rect">
            <a:avLst/>
          </a:prstGeom>
          <a:solidFill>
            <a:srgbClr val="FFFF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7196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F58F2-5FC2-7962-1707-9824743F302A}"/>
              </a:ext>
            </a:extLst>
          </p:cNvPr>
          <p:cNvSpPr>
            <a:spLocks noGrp="1"/>
          </p:cNvSpPr>
          <p:nvPr>
            <p:ph type="title"/>
          </p:nvPr>
        </p:nvSpPr>
        <p:spPr/>
        <p:txBody>
          <a:bodyPr/>
          <a:lstStyle/>
          <a:p>
            <a:r>
              <a:rPr lang="en-US" dirty="0"/>
              <a:t>Feline Novelties Example</a:t>
            </a:r>
          </a:p>
        </p:txBody>
      </p:sp>
      <p:sp>
        <p:nvSpPr>
          <p:cNvPr id="3" name="Content Placeholder 2">
            <a:extLst>
              <a:ext uri="{FF2B5EF4-FFF2-40B4-BE49-F238E27FC236}">
                <a16:creationId xmlns:a16="http://schemas.microsoft.com/office/drawing/2014/main" id="{54F74308-7247-2B5B-0181-75B75F9F1592}"/>
              </a:ext>
            </a:extLst>
          </p:cNvPr>
          <p:cNvSpPr>
            <a:spLocks noGrp="1"/>
          </p:cNvSpPr>
          <p:nvPr>
            <p:ph idx="1"/>
          </p:nvPr>
        </p:nvSpPr>
        <p:spPr>
          <a:xfrm>
            <a:off x="457200" y="1600200"/>
            <a:ext cx="8229600" cy="1045090"/>
          </a:xfrm>
        </p:spPr>
        <p:txBody>
          <a:bodyPr/>
          <a:lstStyle/>
          <a:p>
            <a:r>
              <a:rPr lang="en-US" dirty="0"/>
              <a:t>Build in Access – </a:t>
            </a:r>
          </a:p>
          <a:p>
            <a:r>
              <a:rPr lang="en-US" dirty="0"/>
              <a:t>  see feline-blank.accdb, feline_data.xlsx, etc.</a:t>
            </a:r>
          </a:p>
        </p:txBody>
      </p:sp>
      <p:sp>
        <p:nvSpPr>
          <p:cNvPr id="4" name="Slide Number Placeholder 3">
            <a:extLst>
              <a:ext uri="{FF2B5EF4-FFF2-40B4-BE49-F238E27FC236}">
                <a16:creationId xmlns:a16="http://schemas.microsoft.com/office/drawing/2014/main" id="{9AF9EE57-1A1E-4917-C899-5B5112C012C3}"/>
              </a:ext>
            </a:extLst>
          </p:cNvPr>
          <p:cNvSpPr>
            <a:spLocks noGrp="1"/>
          </p:cNvSpPr>
          <p:nvPr>
            <p:ph type="sldNum" sz="quarter" idx="12"/>
          </p:nvPr>
        </p:nvSpPr>
        <p:spPr/>
        <p:txBody>
          <a:bodyPr/>
          <a:lstStyle/>
          <a:p>
            <a:fld id="{E345EAD5-4C19-43E8-92AC-D4AD00C5745A}" type="slidenum">
              <a:rPr lang="en-US" smtClean="0">
                <a:latin typeface="Arial"/>
              </a:rPr>
              <a:pPr/>
              <a:t>41</a:t>
            </a:fld>
            <a:endParaRPr lang="en-US">
              <a:latin typeface="Arial"/>
            </a:endParaRPr>
          </a:p>
        </p:txBody>
      </p:sp>
      <p:pic>
        <p:nvPicPr>
          <p:cNvPr id="6" name="Picture 2" descr="Image result for grumpy cat">
            <a:extLst>
              <a:ext uri="{FF2B5EF4-FFF2-40B4-BE49-F238E27FC236}">
                <a16:creationId xmlns:a16="http://schemas.microsoft.com/office/drawing/2014/main" id="{D3AFD333-2840-C627-1A0A-9C9720FFC9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5566" y="533400"/>
            <a:ext cx="1508838" cy="15088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6061E42-F6E8-2F9D-EE6E-E5DBC13FDD7B}"/>
              </a:ext>
            </a:extLst>
          </p:cNvPr>
          <p:cNvPicPr>
            <a:picLocks noChangeAspect="1"/>
          </p:cNvPicPr>
          <p:nvPr/>
        </p:nvPicPr>
        <p:blipFill>
          <a:blip r:embed="rId3"/>
          <a:stretch>
            <a:fillRect/>
          </a:stretch>
        </p:blipFill>
        <p:spPr>
          <a:xfrm>
            <a:off x="4848045" y="3487306"/>
            <a:ext cx="4161571" cy="2421170"/>
          </a:xfrm>
          <a:prstGeom prst="rect">
            <a:avLst/>
          </a:prstGeom>
        </p:spPr>
      </p:pic>
      <p:sp>
        <p:nvSpPr>
          <p:cNvPr id="8" name="Content Placeholder 2">
            <a:extLst>
              <a:ext uri="{FF2B5EF4-FFF2-40B4-BE49-F238E27FC236}">
                <a16:creationId xmlns:a16="http://schemas.microsoft.com/office/drawing/2014/main" id="{CADD2F10-FA97-9DAD-652B-9AE781B21A7D}"/>
              </a:ext>
            </a:extLst>
          </p:cNvPr>
          <p:cNvSpPr txBox="1">
            <a:spLocks/>
          </p:cNvSpPr>
          <p:nvPr/>
        </p:nvSpPr>
        <p:spPr>
          <a:xfrm>
            <a:off x="253774" y="2763162"/>
            <a:ext cx="4594271" cy="3723902"/>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Try to build simple queries:</a:t>
            </a:r>
          </a:p>
          <a:p>
            <a:pPr lvl="1"/>
            <a:r>
              <a:rPr lang="en-US" dirty="0"/>
              <a:t>List of customer names (requires one table)</a:t>
            </a:r>
          </a:p>
          <a:p>
            <a:pPr lvl="1"/>
            <a:r>
              <a:rPr lang="en-US" dirty="0"/>
              <a:t>List of customer names who are female (requires one table with one criterion)</a:t>
            </a:r>
          </a:p>
          <a:p>
            <a:pPr lvl="1"/>
            <a:r>
              <a:rPr lang="en-US" dirty="0"/>
              <a:t>List of customer names and items they have ordered (requires more than one table)</a:t>
            </a:r>
          </a:p>
          <a:p>
            <a:r>
              <a:rPr lang="en-US" dirty="0"/>
              <a:t>Select desired fields from desired tables</a:t>
            </a:r>
          </a:p>
          <a:p>
            <a:r>
              <a:rPr lang="en-US" dirty="0"/>
              <a:t>Add criteria as necessary, e.g. Gender is ‘M’</a:t>
            </a:r>
          </a:p>
          <a:p>
            <a:pPr lvl="1"/>
            <a:endParaRPr lang="en-US" dirty="0"/>
          </a:p>
        </p:txBody>
      </p:sp>
      <p:sp>
        <p:nvSpPr>
          <p:cNvPr id="10" name="TextBox 9">
            <a:extLst>
              <a:ext uri="{FF2B5EF4-FFF2-40B4-BE49-F238E27FC236}">
                <a16:creationId xmlns:a16="http://schemas.microsoft.com/office/drawing/2014/main" id="{3D92904E-C31A-76F4-04CA-CE6C1D63E92F}"/>
              </a:ext>
            </a:extLst>
          </p:cNvPr>
          <p:cNvSpPr txBox="1"/>
          <p:nvPr/>
        </p:nvSpPr>
        <p:spPr>
          <a:xfrm>
            <a:off x="5334000" y="2884254"/>
            <a:ext cx="4572000" cy="369332"/>
          </a:xfrm>
          <a:prstGeom prst="rect">
            <a:avLst/>
          </a:prstGeom>
          <a:noFill/>
        </p:spPr>
        <p:txBody>
          <a:bodyPr wrap="square">
            <a:spAutoFit/>
          </a:bodyPr>
          <a:lstStyle/>
          <a:p>
            <a:r>
              <a:rPr lang="en-US" sz="1800" dirty="0"/>
              <a:t>Choose </a:t>
            </a:r>
            <a:r>
              <a:rPr lang="en-US" sz="1800" b="1" dirty="0"/>
              <a:t>Create : Query Design</a:t>
            </a:r>
          </a:p>
        </p:txBody>
      </p:sp>
    </p:spTree>
    <p:extLst>
      <p:ext uri="{BB962C8B-B14F-4D97-AF65-F5344CB8AC3E}">
        <p14:creationId xmlns:p14="http://schemas.microsoft.com/office/powerpoint/2010/main" val="21608234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a:t>
            </a:r>
          </a:p>
        </p:txBody>
      </p:sp>
      <p:sp>
        <p:nvSpPr>
          <p:cNvPr id="3" name="Content Placeholder 2"/>
          <p:cNvSpPr>
            <a:spLocks noGrp="1"/>
          </p:cNvSpPr>
          <p:nvPr>
            <p:ph idx="1"/>
          </p:nvPr>
        </p:nvSpPr>
        <p:spPr/>
        <p:txBody>
          <a:bodyPr/>
          <a:lstStyle/>
          <a:p>
            <a:endParaRPr lang="en-US" dirty="0"/>
          </a:p>
          <a:p>
            <a:r>
              <a:rPr lang="en-US" dirty="0"/>
              <a:t>iterative process</a:t>
            </a:r>
          </a:p>
          <a:p>
            <a:endParaRPr lang="en-US" dirty="0"/>
          </a:p>
          <a:p>
            <a:r>
              <a:rPr lang="en-US" dirty="0"/>
              <a:t>create it, populate it, evaluate it, improve it</a:t>
            </a:r>
          </a:p>
          <a:p>
            <a:pPr marL="0" indent="0">
              <a:buNone/>
            </a:pPr>
            <a:endParaRPr lang="en-US" dirty="0"/>
          </a:p>
          <a:p>
            <a:r>
              <a:rPr lang="en-US" dirty="0"/>
              <a:t>Some examples in slides from and more information available at:  </a:t>
            </a:r>
            <a:r>
              <a:rPr lang="en-US" dirty="0">
                <a:hlinkClick r:id="rId2"/>
              </a:rPr>
              <a:t>https://www.1keydata.com/database-normalization/</a:t>
            </a:r>
            <a:endParaRPr lang="en-US" dirty="0"/>
          </a:p>
          <a:p>
            <a:endParaRPr lang="en-US" dirty="0"/>
          </a:p>
        </p:txBody>
      </p:sp>
      <p:sp>
        <p:nvSpPr>
          <p:cNvPr id="4" name="Slide Number Placeholder 3"/>
          <p:cNvSpPr>
            <a:spLocks noGrp="1"/>
          </p:cNvSpPr>
          <p:nvPr>
            <p:ph type="sldNum" sz="quarter" idx="12"/>
          </p:nvPr>
        </p:nvSpPr>
        <p:spPr/>
        <p:txBody>
          <a:bodyPr/>
          <a:lstStyle/>
          <a:p>
            <a:fld id="{E345EAD5-4C19-43E8-92AC-D4AD00C5745A}" type="slidenum">
              <a:rPr lang="en-US" smtClean="0">
                <a:latin typeface="Arial"/>
              </a:rPr>
              <a:pPr/>
              <a:t>42</a:t>
            </a:fld>
            <a:endParaRPr lang="en-US">
              <a:latin typeface="Arial"/>
            </a:endParaRPr>
          </a:p>
        </p:txBody>
      </p:sp>
    </p:spTree>
    <p:extLst>
      <p:ext uri="{BB962C8B-B14F-4D97-AF65-F5344CB8AC3E}">
        <p14:creationId xmlns:p14="http://schemas.microsoft.com/office/powerpoint/2010/main" val="850102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1759</TotalTime>
  <Words>3590</Words>
  <Application>Microsoft Office PowerPoint</Application>
  <PresentationFormat>On-screen Show (4:3)</PresentationFormat>
  <Paragraphs>692</Paragraphs>
  <Slides>42</Slides>
  <Notes>26</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8" baseType="lpstr">
      <vt:lpstr>Arial</vt:lpstr>
      <vt:lpstr>Calibri</vt:lpstr>
      <vt:lpstr>Cambria Math</vt:lpstr>
      <vt:lpstr>Wingdings</vt:lpstr>
      <vt:lpstr>Clarity</vt:lpstr>
      <vt:lpstr>Worksheet</vt:lpstr>
      <vt:lpstr>Relational Database Design </vt:lpstr>
      <vt:lpstr>Designing a Relational Database: Overview</vt:lpstr>
      <vt:lpstr>PowerPoint Presentation</vt:lpstr>
      <vt:lpstr>Designing a Relational Database: Overview</vt:lpstr>
      <vt:lpstr>Example: Order tracking in a single spreadsheet</vt:lpstr>
      <vt:lpstr>I. Determine purpose of the database</vt:lpstr>
      <vt:lpstr>PowerPoint Presentation</vt:lpstr>
      <vt:lpstr>PowerPoint Presentation</vt:lpstr>
      <vt:lpstr>PowerPoint Presentation</vt:lpstr>
      <vt:lpstr>PowerPoint Presentation</vt:lpstr>
      <vt:lpstr>PowerPoint Presentation</vt:lpstr>
      <vt:lpstr>Background on ER Diagrams</vt:lpstr>
      <vt:lpstr>ER Modeling with UML: Representing Entities with their Attributes</vt:lpstr>
      <vt:lpstr>ER Diagrams (cont.) Recall: Cardinality of Relationships  between Entities</vt:lpstr>
      <vt:lpstr>ER Diagram Now adding in Cardinality</vt:lpstr>
      <vt:lpstr>The “Section” Table</vt:lpstr>
      <vt:lpstr>Create a new table between entities in a many-to-many relationship</vt:lpstr>
      <vt:lpstr>Create a new table between entities in a many-to-many relationship</vt:lpstr>
      <vt:lpstr>Database Design Considerations   due to Cardinality</vt:lpstr>
      <vt:lpstr>PowerPoint Presentation</vt:lpstr>
      <vt:lpstr>PowerPoint Presentation</vt:lpstr>
      <vt:lpstr>PowerPoint Presentation</vt:lpstr>
      <vt:lpstr>PowerPoint Presentation</vt:lpstr>
      <vt:lpstr>IV. Refine your design  </vt:lpstr>
      <vt:lpstr>Minimize redundant data</vt:lpstr>
      <vt:lpstr>another example</vt:lpstr>
      <vt:lpstr>Divide information into its smallest usable components</vt:lpstr>
      <vt:lpstr>PowerPoint Presentation</vt:lpstr>
      <vt:lpstr>PowerPoint Presentation</vt:lpstr>
      <vt:lpstr>First Normal Form</vt:lpstr>
      <vt:lpstr>Second Normal Form</vt:lpstr>
      <vt:lpstr>Third Normal Form</vt:lpstr>
      <vt:lpstr>Design a Database:   Feline Novelties Example Variation of Case 1 from textbook</vt:lpstr>
      <vt:lpstr>Feline Novelties Example</vt:lpstr>
      <vt:lpstr>Feline Novelties Example</vt:lpstr>
      <vt:lpstr>Designing a Relational Database:    Overview</vt:lpstr>
      <vt:lpstr>I. Determine Purpose</vt:lpstr>
      <vt:lpstr>II. Find &amp; organize information required</vt:lpstr>
      <vt:lpstr>III. Create Entity-Relationship (E-R) diagram</vt:lpstr>
      <vt:lpstr>IV. Refine your design  V. Apply normalization rules</vt:lpstr>
      <vt:lpstr>Feline Novelties Example</vt:lpstr>
      <vt:lpstr>Database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Dana Tomc</dc:creator>
  <cp:lastModifiedBy>Frommer, Ian Dr. (EDU)</cp:lastModifiedBy>
  <cp:revision>75</cp:revision>
  <cp:lastPrinted>2020-09-17T18:16:12Z</cp:lastPrinted>
  <dcterms:created xsi:type="dcterms:W3CDTF">2018-02-19T17:56:15Z</dcterms:created>
  <dcterms:modified xsi:type="dcterms:W3CDTF">2026-09-23T17:27:58Z</dcterms:modified>
</cp:coreProperties>
</file>