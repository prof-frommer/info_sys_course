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81" r:id="rId1"/>
  </p:sldMasterIdLst>
  <p:notesMasterIdLst>
    <p:notesMasterId r:id="rId49"/>
  </p:notesMasterIdLst>
  <p:handoutMasterIdLst>
    <p:handoutMasterId r:id="rId50"/>
  </p:handoutMasterIdLst>
  <p:sldIdLst>
    <p:sldId id="256" r:id="rId2"/>
    <p:sldId id="377" r:id="rId3"/>
    <p:sldId id="316" r:id="rId4"/>
    <p:sldId id="259" r:id="rId5"/>
    <p:sldId id="342" r:id="rId6"/>
    <p:sldId id="371" r:id="rId7"/>
    <p:sldId id="372" r:id="rId8"/>
    <p:sldId id="344" r:id="rId9"/>
    <p:sldId id="345" r:id="rId10"/>
    <p:sldId id="347" r:id="rId11"/>
    <p:sldId id="318" r:id="rId12"/>
    <p:sldId id="361" r:id="rId13"/>
    <p:sldId id="362" r:id="rId14"/>
    <p:sldId id="319" r:id="rId15"/>
    <p:sldId id="320" r:id="rId16"/>
    <p:sldId id="321" r:id="rId17"/>
    <p:sldId id="349" r:id="rId18"/>
    <p:sldId id="322" r:id="rId19"/>
    <p:sldId id="323" r:id="rId20"/>
    <p:sldId id="324" r:id="rId21"/>
    <p:sldId id="363" r:id="rId22"/>
    <p:sldId id="364" r:id="rId23"/>
    <p:sldId id="373" r:id="rId24"/>
    <p:sldId id="317" r:id="rId25"/>
    <p:sldId id="366" r:id="rId26"/>
    <p:sldId id="367" r:id="rId27"/>
    <p:sldId id="368" r:id="rId28"/>
    <p:sldId id="369" r:id="rId29"/>
    <p:sldId id="340" r:id="rId30"/>
    <p:sldId id="270" r:id="rId31"/>
    <p:sldId id="357" r:id="rId32"/>
    <p:sldId id="358" r:id="rId33"/>
    <p:sldId id="355" r:id="rId34"/>
    <p:sldId id="370" r:id="rId35"/>
    <p:sldId id="374" r:id="rId36"/>
    <p:sldId id="375" r:id="rId37"/>
    <p:sldId id="376" r:id="rId38"/>
    <p:sldId id="330" r:id="rId39"/>
    <p:sldId id="331" r:id="rId40"/>
    <p:sldId id="332" r:id="rId41"/>
    <p:sldId id="338" r:id="rId42"/>
    <p:sldId id="350" r:id="rId43"/>
    <p:sldId id="351" r:id="rId44"/>
    <p:sldId id="352" r:id="rId45"/>
    <p:sldId id="353" r:id="rId46"/>
    <p:sldId id="354" r:id="rId47"/>
    <p:sldId id="292" r:id="rId48"/>
  </p:sldIdLst>
  <p:sldSz cx="9144000" cy="6858000" type="screen4x3"/>
  <p:notesSz cx="9144000" cy="6858000"/>
  <p:defaultTextStyle>
    <a:defPPr>
      <a:defRPr lang="en-US"/>
    </a:defPPr>
    <a:lvl1pPr algn="l" rtl="0" eaLnBrk="0" fontAlgn="base" hangingPunct="0">
      <a:spcBef>
        <a:spcPct val="0"/>
      </a:spcBef>
      <a:spcAft>
        <a:spcPct val="0"/>
      </a:spcAft>
      <a:defRPr kern="1200">
        <a:solidFill>
          <a:schemeClr val="tx1"/>
        </a:solidFill>
        <a:latin typeface="Verdana" pitchFamily="34" charset="0"/>
        <a:ea typeface="+mn-ea"/>
        <a:cs typeface="+mn-cs"/>
      </a:defRPr>
    </a:lvl1pPr>
    <a:lvl2pPr marL="457200" algn="l" rtl="0" eaLnBrk="0" fontAlgn="base" hangingPunct="0">
      <a:spcBef>
        <a:spcPct val="0"/>
      </a:spcBef>
      <a:spcAft>
        <a:spcPct val="0"/>
      </a:spcAft>
      <a:defRPr kern="1200">
        <a:solidFill>
          <a:schemeClr val="tx1"/>
        </a:solidFill>
        <a:latin typeface="Verdana" pitchFamily="34" charset="0"/>
        <a:ea typeface="+mn-ea"/>
        <a:cs typeface="+mn-cs"/>
      </a:defRPr>
    </a:lvl2pPr>
    <a:lvl3pPr marL="914400" algn="l" rtl="0" eaLnBrk="0" fontAlgn="base" hangingPunct="0">
      <a:spcBef>
        <a:spcPct val="0"/>
      </a:spcBef>
      <a:spcAft>
        <a:spcPct val="0"/>
      </a:spcAft>
      <a:defRPr kern="1200">
        <a:solidFill>
          <a:schemeClr val="tx1"/>
        </a:solidFill>
        <a:latin typeface="Verdana" pitchFamily="34" charset="0"/>
        <a:ea typeface="+mn-ea"/>
        <a:cs typeface="+mn-cs"/>
      </a:defRPr>
    </a:lvl3pPr>
    <a:lvl4pPr marL="1371600" algn="l" rtl="0" eaLnBrk="0" fontAlgn="base" hangingPunct="0">
      <a:spcBef>
        <a:spcPct val="0"/>
      </a:spcBef>
      <a:spcAft>
        <a:spcPct val="0"/>
      </a:spcAft>
      <a:defRPr kern="1200">
        <a:solidFill>
          <a:schemeClr val="tx1"/>
        </a:solidFill>
        <a:latin typeface="Verdana" pitchFamily="34" charset="0"/>
        <a:ea typeface="+mn-ea"/>
        <a:cs typeface="+mn-cs"/>
      </a:defRPr>
    </a:lvl4pPr>
    <a:lvl5pPr marL="1828800" algn="l" rtl="0" eaLnBrk="0" fontAlgn="base" hangingPunct="0">
      <a:spcBef>
        <a:spcPct val="0"/>
      </a:spcBef>
      <a:spcAft>
        <a:spcPct val="0"/>
      </a:spcAft>
      <a:defRPr kern="1200">
        <a:solidFill>
          <a:schemeClr val="tx1"/>
        </a:solidFill>
        <a:latin typeface="Verdana" pitchFamily="34" charset="0"/>
        <a:ea typeface="+mn-ea"/>
        <a:cs typeface="+mn-cs"/>
      </a:defRPr>
    </a:lvl5pPr>
    <a:lvl6pPr marL="2286000" algn="l" defTabSz="914400" rtl="0" eaLnBrk="1" latinLnBrk="0" hangingPunct="1">
      <a:defRPr kern="1200">
        <a:solidFill>
          <a:schemeClr val="tx1"/>
        </a:solidFill>
        <a:latin typeface="Verdana" pitchFamily="34" charset="0"/>
        <a:ea typeface="+mn-ea"/>
        <a:cs typeface="+mn-cs"/>
      </a:defRPr>
    </a:lvl6pPr>
    <a:lvl7pPr marL="2743200" algn="l" defTabSz="914400" rtl="0" eaLnBrk="1" latinLnBrk="0" hangingPunct="1">
      <a:defRPr kern="1200">
        <a:solidFill>
          <a:schemeClr val="tx1"/>
        </a:solidFill>
        <a:latin typeface="Verdana" pitchFamily="34" charset="0"/>
        <a:ea typeface="+mn-ea"/>
        <a:cs typeface="+mn-cs"/>
      </a:defRPr>
    </a:lvl7pPr>
    <a:lvl8pPr marL="3200400" algn="l" defTabSz="914400" rtl="0" eaLnBrk="1" latinLnBrk="0" hangingPunct="1">
      <a:defRPr kern="1200">
        <a:solidFill>
          <a:schemeClr val="tx1"/>
        </a:solidFill>
        <a:latin typeface="Verdana" pitchFamily="34" charset="0"/>
        <a:ea typeface="+mn-ea"/>
        <a:cs typeface="+mn-cs"/>
      </a:defRPr>
    </a:lvl8pPr>
    <a:lvl9pPr marL="3657600" algn="l" defTabSz="914400" rtl="0" eaLnBrk="1" latinLnBrk="0" hangingPunct="1">
      <a:defRPr kern="1200">
        <a:solidFill>
          <a:schemeClr val="tx1"/>
        </a:solidFill>
        <a:latin typeface="Verdana"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160" userDrawn="1">
          <p15:clr>
            <a:srgbClr val="A4A3A4"/>
          </p15:clr>
        </p15:guide>
        <p15:guide id="2" pos="2880"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DA42A3B-E551-42D5-9D82-24F6E697745E}" v="21" dt="2026-09-16T16:04:58.74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100" autoAdjust="0"/>
    <p:restoredTop sz="83010" autoAdjust="0"/>
  </p:normalViewPr>
  <p:slideViewPr>
    <p:cSldViewPr>
      <p:cViewPr varScale="1">
        <p:scale>
          <a:sx n="103" d="100"/>
          <a:sy n="103" d="100"/>
        </p:scale>
        <p:origin x="2172" y="10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4507"/>
    </p:cViewPr>
  </p:sorterViewPr>
  <p:notesViewPr>
    <p:cSldViewPr>
      <p:cViewPr varScale="1">
        <p:scale>
          <a:sx n="88" d="100"/>
          <a:sy n="88" d="100"/>
        </p:scale>
        <p:origin x="-1674" y="-108"/>
      </p:cViewPr>
      <p:guideLst>
        <p:guide orient="horz" pos="2160"/>
        <p:guide pos="288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handoutMaster" Target="handoutMasters/handoutMaster1.xml"/><Relationship Id="rId55"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microsoft.com/office/2015/10/relationships/revisionInfo" Target="revisionInfo.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rommer, Ian Dr. (EDU)" userId="28ca3ff0-544f-450a-928b-99e19cf49b89" providerId="ADAL" clId="{A3E8E5B1-0D91-4643-B70B-3D065C8674E0}"/>
    <pc:docChg chg="custSel modSld sldOrd">
      <pc:chgData name="Frommer, Ian Dr. (EDU)" userId="28ca3ff0-544f-450a-928b-99e19cf49b89" providerId="ADAL" clId="{A3E8E5B1-0D91-4643-B70B-3D065C8674E0}" dt="2026-09-16T16:54:46.408" v="221" actId="20577"/>
      <pc:docMkLst>
        <pc:docMk/>
      </pc:docMkLst>
      <pc:sldChg chg="ord">
        <pc:chgData name="Frommer, Ian Dr. (EDU)" userId="28ca3ff0-544f-450a-928b-99e19cf49b89" providerId="ADAL" clId="{A3E8E5B1-0D91-4643-B70B-3D065C8674E0}" dt="2026-09-16T15:56:37.482" v="1"/>
        <pc:sldMkLst>
          <pc:docMk/>
          <pc:sldMk cId="23189381" sldId="321"/>
        </pc:sldMkLst>
      </pc:sldChg>
      <pc:sldChg chg="modSp">
        <pc:chgData name="Frommer, Ian Dr. (EDU)" userId="28ca3ff0-544f-450a-928b-99e19cf49b89" providerId="ADAL" clId="{A3E8E5B1-0D91-4643-B70B-3D065C8674E0}" dt="2026-09-16T16:04:58.742" v="22" actId="113"/>
        <pc:sldMkLst>
          <pc:docMk/>
          <pc:sldMk cId="3507632146" sldId="361"/>
        </pc:sldMkLst>
        <pc:spChg chg="mod">
          <ac:chgData name="Frommer, Ian Dr. (EDU)" userId="28ca3ff0-544f-450a-928b-99e19cf49b89" providerId="ADAL" clId="{A3E8E5B1-0D91-4643-B70B-3D065C8674E0}" dt="2026-09-16T16:04:58.742" v="22" actId="113"/>
          <ac:spMkLst>
            <pc:docMk/>
            <pc:sldMk cId="3507632146" sldId="361"/>
            <ac:spMk id="3" creationId="{00000000-0000-0000-0000-000000000000}"/>
          </ac:spMkLst>
        </pc:spChg>
      </pc:sldChg>
      <pc:sldChg chg="modNotesTx">
        <pc:chgData name="Frommer, Ian Dr. (EDU)" userId="28ca3ff0-544f-450a-928b-99e19cf49b89" providerId="ADAL" clId="{A3E8E5B1-0D91-4643-B70B-3D065C8674E0}" dt="2026-09-16T16:54:46.408" v="221" actId="20577"/>
        <pc:sldMkLst>
          <pc:docMk/>
          <pc:sldMk cId="2274976148" sldId="374"/>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4274" name="Rectangle 2"/>
          <p:cNvSpPr>
            <a:spLocks noGrp="1" noChangeArrowheads="1"/>
          </p:cNvSpPr>
          <p:nvPr>
            <p:ph type="hdr" sz="quarter"/>
          </p:nvPr>
        </p:nvSpPr>
        <p:spPr bwMode="auto">
          <a:xfrm>
            <a:off x="0" y="0"/>
            <a:ext cx="3962400" cy="342900"/>
          </a:xfrm>
          <a:prstGeom prst="rect">
            <a:avLst/>
          </a:prstGeom>
          <a:noFill/>
          <a:ln w="9525">
            <a:noFill/>
            <a:miter lim="800000"/>
            <a:headEnd/>
            <a:tailEnd/>
          </a:ln>
          <a:effectLst/>
        </p:spPr>
        <p:txBody>
          <a:bodyPr vert="horz" wrap="square" lIns="91432" tIns="45716" rIns="91432" bIns="45716" numCol="1" anchor="t" anchorCtr="0" compatLnSpc="1">
            <a:prstTxWarp prst="textNoShape">
              <a:avLst/>
            </a:prstTxWarp>
          </a:bodyPr>
          <a:lstStyle>
            <a:lvl1pPr>
              <a:defRPr sz="1200">
                <a:latin typeface="Times New Roman" pitchFamily="18" charset="0"/>
              </a:defRPr>
            </a:lvl1pPr>
          </a:lstStyle>
          <a:p>
            <a:endParaRPr lang="en-US"/>
          </a:p>
        </p:txBody>
      </p:sp>
      <p:sp>
        <p:nvSpPr>
          <p:cNvPr id="54275" name="Rectangle 3"/>
          <p:cNvSpPr>
            <a:spLocks noGrp="1" noChangeArrowheads="1"/>
          </p:cNvSpPr>
          <p:nvPr>
            <p:ph type="dt" sz="quarter" idx="1"/>
          </p:nvPr>
        </p:nvSpPr>
        <p:spPr bwMode="auto">
          <a:xfrm>
            <a:off x="5181600" y="0"/>
            <a:ext cx="3962400" cy="342900"/>
          </a:xfrm>
          <a:prstGeom prst="rect">
            <a:avLst/>
          </a:prstGeom>
          <a:noFill/>
          <a:ln w="9525">
            <a:noFill/>
            <a:miter lim="800000"/>
            <a:headEnd/>
            <a:tailEnd/>
          </a:ln>
          <a:effectLst/>
        </p:spPr>
        <p:txBody>
          <a:bodyPr vert="horz" wrap="square" lIns="91432" tIns="45716" rIns="91432" bIns="45716" numCol="1" anchor="t" anchorCtr="0" compatLnSpc="1">
            <a:prstTxWarp prst="textNoShape">
              <a:avLst/>
            </a:prstTxWarp>
          </a:bodyPr>
          <a:lstStyle>
            <a:lvl1pPr algn="r">
              <a:defRPr sz="1200">
                <a:latin typeface="Times New Roman" pitchFamily="18" charset="0"/>
              </a:defRPr>
            </a:lvl1pPr>
          </a:lstStyle>
          <a:p>
            <a:endParaRPr lang="en-US"/>
          </a:p>
        </p:txBody>
      </p:sp>
      <p:sp>
        <p:nvSpPr>
          <p:cNvPr id="54276" name="Rectangle 4"/>
          <p:cNvSpPr>
            <a:spLocks noGrp="1" noChangeArrowheads="1"/>
          </p:cNvSpPr>
          <p:nvPr>
            <p:ph type="ftr" sz="quarter" idx="2"/>
          </p:nvPr>
        </p:nvSpPr>
        <p:spPr bwMode="auto">
          <a:xfrm>
            <a:off x="0" y="6515100"/>
            <a:ext cx="3962400" cy="342900"/>
          </a:xfrm>
          <a:prstGeom prst="rect">
            <a:avLst/>
          </a:prstGeom>
          <a:noFill/>
          <a:ln w="9525">
            <a:noFill/>
            <a:miter lim="800000"/>
            <a:headEnd/>
            <a:tailEnd/>
          </a:ln>
          <a:effectLst/>
        </p:spPr>
        <p:txBody>
          <a:bodyPr vert="horz" wrap="square" lIns="91432" tIns="45716" rIns="91432" bIns="45716" numCol="1" anchor="b" anchorCtr="0" compatLnSpc="1">
            <a:prstTxWarp prst="textNoShape">
              <a:avLst/>
            </a:prstTxWarp>
          </a:bodyPr>
          <a:lstStyle>
            <a:lvl1pPr>
              <a:defRPr sz="1200">
                <a:latin typeface="Times New Roman" pitchFamily="18" charset="0"/>
              </a:defRPr>
            </a:lvl1pPr>
          </a:lstStyle>
          <a:p>
            <a:endParaRPr lang="en-US"/>
          </a:p>
        </p:txBody>
      </p:sp>
      <p:sp>
        <p:nvSpPr>
          <p:cNvPr id="54277" name="Rectangle 5"/>
          <p:cNvSpPr>
            <a:spLocks noGrp="1" noChangeArrowheads="1"/>
          </p:cNvSpPr>
          <p:nvPr>
            <p:ph type="sldNum" sz="quarter" idx="3"/>
          </p:nvPr>
        </p:nvSpPr>
        <p:spPr bwMode="auto">
          <a:xfrm>
            <a:off x="5181600" y="6515100"/>
            <a:ext cx="3962400" cy="342900"/>
          </a:xfrm>
          <a:prstGeom prst="rect">
            <a:avLst/>
          </a:prstGeom>
          <a:noFill/>
          <a:ln w="9525">
            <a:noFill/>
            <a:miter lim="800000"/>
            <a:headEnd/>
            <a:tailEnd/>
          </a:ln>
          <a:effectLst/>
        </p:spPr>
        <p:txBody>
          <a:bodyPr vert="horz" wrap="square" lIns="91432" tIns="45716" rIns="91432" bIns="45716" numCol="1" anchor="b" anchorCtr="0" compatLnSpc="1">
            <a:prstTxWarp prst="textNoShape">
              <a:avLst/>
            </a:prstTxWarp>
          </a:bodyPr>
          <a:lstStyle>
            <a:lvl1pPr algn="r">
              <a:defRPr sz="1200">
                <a:latin typeface="Times New Roman" pitchFamily="18" charset="0"/>
              </a:defRPr>
            </a:lvl1pPr>
          </a:lstStyle>
          <a:p>
            <a:fld id="{6C87EF7B-BAD5-466B-88CC-737F2B684BE6}" type="slidenum">
              <a:rPr lang="en-US"/>
              <a:pPr/>
              <a:t>‹#›</a:t>
            </a:fld>
            <a:endParaRPr lang="en-US"/>
          </a:p>
        </p:txBody>
      </p:sp>
    </p:spTree>
    <p:extLst>
      <p:ext uri="{BB962C8B-B14F-4D97-AF65-F5344CB8AC3E}">
        <p14:creationId xmlns:p14="http://schemas.microsoft.com/office/powerpoint/2010/main" val="292173601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7570" name="Rectangle 2"/>
          <p:cNvSpPr>
            <a:spLocks noGrp="1" noChangeArrowheads="1"/>
          </p:cNvSpPr>
          <p:nvPr>
            <p:ph type="hdr" sz="quarter"/>
          </p:nvPr>
        </p:nvSpPr>
        <p:spPr bwMode="auto">
          <a:xfrm>
            <a:off x="0" y="0"/>
            <a:ext cx="3962400" cy="342900"/>
          </a:xfrm>
          <a:prstGeom prst="rect">
            <a:avLst/>
          </a:prstGeom>
          <a:noFill/>
          <a:ln w="9525">
            <a:noFill/>
            <a:miter lim="800000"/>
            <a:headEnd/>
            <a:tailEnd/>
          </a:ln>
          <a:effectLst/>
        </p:spPr>
        <p:txBody>
          <a:bodyPr vert="horz" wrap="square" lIns="91432" tIns="45716" rIns="91432" bIns="45716" numCol="1" anchor="t" anchorCtr="0" compatLnSpc="1">
            <a:prstTxWarp prst="textNoShape">
              <a:avLst/>
            </a:prstTxWarp>
          </a:bodyPr>
          <a:lstStyle>
            <a:lvl1pPr eaLnBrk="1" hangingPunct="1">
              <a:defRPr sz="1200">
                <a:latin typeface="Tahoma" pitchFamily="34" charset="0"/>
              </a:defRPr>
            </a:lvl1pPr>
          </a:lstStyle>
          <a:p>
            <a:endParaRPr lang="en-US"/>
          </a:p>
        </p:txBody>
      </p:sp>
      <p:sp>
        <p:nvSpPr>
          <p:cNvPr id="237571" name="Rectangle 3"/>
          <p:cNvSpPr>
            <a:spLocks noGrp="1" noChangeArrowheads="1"/>
          </p:cNvSpPr>
          <p:nvPr>
            <p:ph type="dt" idx="1"/>
          </p:nvPr>
        </p:nvSpPr>
        <p:spPr bwMode="auto">
          <a:xfrm>
            <a:off x="5181600" y="0"/>
            <a:ext cx="3962400" cy="342900"/>
          </a:xfrm>
          <a:prstGeom prst="rect">
            <a:avLst/>
          </a:prstGeom>
          <a:noFill/>
          <a:ln w="9525">
            <a:noFill/>
            <a:miter lim="800000"/>
            <a:headEnd/>
            <a:tailEnd/>
          </a:ln>
          <a:effectLst/>
        </p:spPr>
        <p:txBody>
          <a:bodyPr vert="horz" wrap="square" lIns="91432" tIns="45716" rIns="91432" bIns="45716" numCol="1" anchor="t" anchorCtr="0" compatLnSpc="1">
            <a:prstTxWarp prst="textNoShape">
              <a:avLst/>
            </a:prstTxWarp>
          </a:bodyPr>
          <a:lstStyle>
            <a:lvl1pPr algn="r" eaLnBrk="1" hangingPunct="1">
              <a:defRPr sz="1200">
                <a:latin typeface="Tahoma" pitchFamily="34" charset="0"/>
              </a:defRPr>
            </a:lvl1pPr>
          </a:lstStyle>
          <a:p>
            <a:endParaRPr lang="en-US"/>
          </a:p>
        </p:txBody>
      </p:sp>
      <p:sp>
        <p:nvSpPr>
          <p:cNvPr id="237572" name="Rectangle 4"/>
          <p:cNvSpPr>
            <a:spLocks noGrp="1" noRot="1" noChangeAspect="1" noChangeArrowheads="1" noTextEdit="1"/>
          </p:cNvSpPr>
          <p:nvPr>
            <p:ph type="sldImg" idx="2"/>
          </p:nvPr>
        </p:nvSpPr>
        <p:spPr bwMode="auto">
          <a:xfrm>
            <a:off x="2857500" y="514350"/>
            <a:ext cx="3429000" cy="2571750"/>
          </a:xfrm>
          <a:prstGeom prst="rect">
            <a:avLst/>
          </a:prstGeom>
          <a:noFill/>
          <a:ln w="9525">
            <a:solidFill>
              <a:srgbClr val="000000"/>
            </a:solidFill>
            <a:miter lim="800000"/>
            <a:headEnd/>
            <a:tailEnd/>
          </a:ln>
          <a:effectLst/>
        </p:spPr>
      </p:sp>
      <p:sp>
        <p:nvSpPr>
          <p:cNvPr id="237573" name="Rectangle 5"/>
          <p:cNvSpPr>
            <a:spLocks noGrp="1" noChangeArrowheads="1"/>
          </p:cNvSpPr>
          <p:nvPr>
            <p:ph type="body" sz="quarter" idx="3"/>
          </p:nvPr>
        </p:nvSpPr>
        <p:spPr bwMode="auto">
          <a:xfrm>
            <a:off x="1219200" y="3257550"/>
            <a:ext cx="6705600" cy="3086100"/>
          </a:xfrm>
          <a:prstGeom prst="rect">
            <a:avLst/>
          </a:prstGeom>
          <a:noFill/>
          <a:ln w="9525">
            <a:noFill/>
            <a:miter lim="800000"/>
            <a:headEnd/>
            <a:tailEnd/>
          </a:ln>
          <a:effectLst/>
        </p:spPr>
        <p:txBody>
          <a:bodyPr vert="horz" wrap="square" lIns="91432" tIns="45716" rIns="91432" bIns="45716"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7574" name="Rectangle 6"/>
          <p:cNvSpPr>
            <a:spLocks noGrp="1" noChangeArrowheads="1"/>
          </p:cNvSpPr>
          <p:nvPr>
            <p:ph type="ftr" sz="quarter" idx="4"/>
          </p:nvPr>
        </p:nvSpPr>
        <p:spPr bwMode="auto">
          <a:xfrm>
            <a:off x="0" y="6515100"/>
            <a:ext cx="3962400" cy="342900"/>
          </a:xfrm>
          <a:prstGeom prst="rect">
            <a:avLst/>
          </a:prstGeom>
          <a:noFill/>
          <a:ln w="9525">
            <a:noFill/>
            <a:miter lim="800000"/>
            <a:headEnd/>
            <a:tailEnd/>
          </a:ln>
          <a:effectLst/>
        </p:spPr>
        <p:txBody>
          <a:bodyPr vert="horz" wrap="square" lIns="91432" tIns="45716" rIns="91432" bIns="45716" numCol="1" anchor="b" anchorCtr="0" compatLnSpc="1">
            <a:prstTxWarp prst="textNoShape">
              <a:avLst/>
            </a:prstTxWarp>
          </a:bodyPr>
          <a:lstStyle>
            <a:lvl1pPr eaLnBrk="1" hangingPunct="1">
              <a:defRPr sz="1200">
                <a:latin typeface="Tahoma" pitchFamily="34" charset="0"/>
              </a:defRPr>
            </a:lvl1pPr>
          </a:lstStyle>
          <a:p>
            <a:endParaRPr lang="en-US"/>
          </a:p>
        </p:txBody>
      </p:sp>
      <p:sp>
        <p:nvSpPr>
          <p:cNvPr id="237575" name="Rectangle 7"/>
          <p:cNvSpPr>
            <a:spLocks noGrp="1" noChangeArrowheads="1"/>
          </p:cNvSpPr>
          <p:nvPr>
            <p:ph type="sldNum" sz="quarter" idx="5"/>
          </p:nvPr>
        </p:nvSpPr>
        <p:spPr bwMode="auto">
          <a:xfrm>
            <a:off x="5181600" y="6515100"/>
            <a:ext cx="3962400" cy="342900"/>
          </a:xfrm>
          <a:prstGeom prst="rect">
            <a:avLst/>
          </a:prstGeom>
          <a:noFill/>
          <a:ln w="9525">
            <a:noFill/>
            <a:miter lim="800000"/>
            <a:headEnd/>
            <a:tailEnd/>
          </a:ln>
          <a:effectLst/>
        </p:spPr>
        <p:txBody>
          <a:bodyPr vert="horz" wrap="square" lIns="91432" tIns="45716" rIns="91432" bIns="45716" numCol="1" anchor="b" anchorCtr="0" compatLnSpc="1">
            <a:prstTxWarp prst="textNoShape">
              <a:avLst/>
            </a:prstTxWarp>
          </a:bodyPr>
          <a:lstStyle>
            <a:lvl1pPr algn="r" eaLnBrk="1" hangingPunct="1">
              <a:defRPr sz="1200">
                <a:latin typeface="Tahoma" pitchFamily="34" charset="0"/>
              </a:defRPr>
            </a:lvl1pPr>
          </a:lstStyle>
          <a:p>
            <a:fld id="{60DFA87B-D22B-4447-BB2F-F863025D4677}" type="slidenum">
              <a:rPr lang="en-US"/>
              <a:pPr/>
              <a:t>‹#›</a:t>
            </a:fld>
            <a:endParaRPr lang="en-US"/>
          </a:p>
        </p:txBody>
      </p:sp>
    </p:spTree>
    <p:extLst>
      <p:ext uri="{BB962C8B-B14F-4D97-AF65-F5344CB8AC3E}">
        <p14:creationId xmlns:p14="http://schemas.microsoft.com/office/powerpoint/2010/main" val="72872269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F173BBF-94A0-4067-A39D-42451146A50D}" type="slidenum">
              <a:rPr lang="en-US"/>
              <a:pPr/>
              <a:t>4</a:t>
            </a:fld>
            <a:endParaRPr lang="en-US"/>
          </a:p>
        </p:txBody>
      </p:sp>
      <p:sp>
        <p:nvSpPr>
          <p:cNvPr id="279554" name="Rectangle 2"/>
          <p:cNvSpPr>
            <a:spLocks noGrp="1" noRot="1" noChangeAspect="1" noChangeArrowheads="1" noTextEdit="1"/>
          </p:cNvSpPr>
          <p:nvPr>
            <p:ph type="sldImg"/>
          </p:nvPr>
        </p:nvSpPr>
        <p:spPr>
          <a:ln/>
        </p:spPr>
      </p:sp>
      <p:sp>
        <p:nvSpPr>
          <p:cNvPr id="279555" name="Rectangle 3"/>
          <p:cNvSpPr>
            <a:spLocks noGrp="1" noChangeArrowheads="1"/>
          </p:cNvSpPr>
          <p:nvPr>
            <p:ph type="body" idx="1"/>
          </p:nvPr>
        </p:nvSpPr>
        <p:spPr>
          <a:xfrm>
            <a:off x="1219200" y="3257550"/>
            <a:ext cx="6705600" cy="3086100"/>
          </a:xfrm>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0DFA87B-D22B-4447-BB2F-F863025D4677}" type="slidenum">
              <a:rPr lang="en-US" smtClean="0"/>
              <a:pPr/>
              <a:t>5</a:t>
            </a:fld>
            <a:endParaRPr lang="en-US"/>
          </a:p>
        </p:txBody>
      </p:sp>
    </p:spTree>
    <p:extLst>
      <p:ext uri="{BB962C8B-B14F-4D97-AF65-F5344CB8AC3E}">
        <p14:creationId xmlns:p14="http://schemas.microsoft.com/office/powerpoint/2010/main" val="6006100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0DFA87B-D22B-4447-BB2F-F863025D4677}" type="slidenum">
              <a:rPr lang="en-US" smtClean="0"/>
              <a:pPr/>
              <a:t>7</a:t>
            </a:fld>
            <a:endParaRPr lang="en-US"/>
          </a:p>
        </p:txBody>
      </p:sp>
    </p:spTree>
    <p:extLst>
      <p:ext uri="{BB962C8B-B14F-4D97-AF65-F5344CB8AC3E}">
        <p14:creationId xmlns:p14="http://schemas.microsoft.com/office/powerpoint/2010/main" val="8564042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0DFA87B-D22B-4447-BB2F-F863025D4677}" type="slidenum">
              <a:rPr lang="en-US" smtClean="0"/>
              <a:pPr/>
              <a:t>8</a:t>
            </a:fld>
            <a:endParaRPr lang="en-US"/>
          </a:p>
        </p:txBody>
      </p:sp>
    </p:spTree>
    <p:extLst>
      <p:ext uri="{BB962C8B-B14F-4D97-AF65-F5344CB8AC3E}">
        <p14:creationId xmlns:p14="http://schemas.microsoft.com/office/powerpoint/2010/main" val="35069988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0DFA87B-D22B-4447-BB2F-F863025D4677}" type="slidenum">
              <a:rPr lang="en-US" smtClean="0"/>
              <a:pPr/>
              <a:t>9</a:t>
            </a:fld>
            <a:endParaRPr lang="en-US"/>
          </a:p>
        </p:txBody>
      </p:sp>
    </p:spTree>
    <p:extLst>
      <p:ext uri="{BB962C8B-B14F-4D97-AF65-F5344CB8AC3E}">
        <p14:creationId xmlns:p14="http://schemas.microsoft.com/office/powerpoint/2010/main" val="7952681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0DFA87B-D22B-4447-BB2F-F863025D4677}" type="slidenum">
              <a:rPr lang="en-US" smtClean="0"/>
              <a:pPr/>
              <a:t>10</a:t>
            </a:fld>
            <a:endParaRPr lang="en-US"/>
          </a:p>
        </p:txBody>
      </p:sp>
    </p:spTree>
    <p:extLst>
      <p:ext uri="{BB962C8B-B14F-4D97-AF65-F5344CB8AC3E}">
        <p14:creationId xmlns:p14="http://schemas.microsoft.com/office/powerpoint/2010/main" val="37655986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up the sheets but then halt and unhide the completed sheets.</a:t>
            </a:r>
          </a:p>
        </p:txBody>
      </p:sp>
      <p:sp>
        <p:nvSpPr>
          <p:cNvPr id="4" name="Slide Number Placeholder 3"/>
          <p:cNvSpPr>
            <a:spLocks noGrp="1"/>
          </p:cNvSpPr>
          <p:nvPr>
            <p:ph type="sldNum" sz="quarter" idx="5"/>
          </p:nvPr>
        </p:nvSpPr>
        <p:spPr/>
        <p:txBody>
          <a:bodyPr/>
          <a:lstStyle/>
          <a:p>
            <a:fld id="{60DFA87B-D22B-4447-BB2F-F863025D4677}" type="slidenum">
              <a:rPr lang="en-US" smtClean="0"/>
              <a:pPr/>
              <a:t>13</a:t>
            </a:fld>
            <a:endParaRPr lang="en-US"/>
          </a:p>
        </p:txBody>
      </p:sp>
    </p:spTree>
    <p:extLst>
      <p:ext uri="{BB962C8B-B14F-4D97-AF65-F5344CB8AC3E}">
        <p14:creationId xmlns:p14="http://schemas.microsoft.com/office/powerpoint/2010/main" val="121124405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Mistakes:  Maybe get the wrong manager with the project/dept (likely if there’s a turnover in management, or an inexperienced data entry person); Each time a project is entered, they have to enter the manager’s name (likely will find misspellings) as well as phone numbers (again, easy to make a typo).</a:t>
            </a:r>
          </a:p>
          <a:p>
            <a:endParaRPr lang="en-US" dirty="0"/>
          </a:p>
          <a:p>
            <a:r>
              <a:rPr lang="en-US" dirty="0"/>
              <a:t>Redundant:  Entering the manager’s name for each project entry (dept manager will always be the same per dept– redundant to enter each time); phone number</a:t>
            </a:r>
          </a:p>
          <a:p>
            <a:endParaRPr lang="en-US" dirty="0"/>
          </a:p>
          <a:p>
            <a:r>
              <a:rPr lang="en-US" dirty="0"/>
              <a:t>To ensure accurate data entry, a person will likely have to reference the other two sheets on this spreadsheet to ensure the data they are entering is accurate.</a:t>
            </a:r>
          </a:p>
        </p:txBody>
      </p:sp>
      <p:sp>
        <p:nvSpPr>
          <p:cNvPr id="4" name="Slide Number Placeholder 3"/>
          <p:cNvSpPr>
            <a:spLocks noGrp="1"/>
          </p:cNvSpPr>
          <p:nvPr>
            <p:ph type="sldNum" sz="quarter" idx="10"/>
          </p:nvPr>
        </p:nvSpPr>
        <p:spPr/>
        <p:txBody>
          <a:bodyPr/>
          <a:lstStyle/>
          <a:p>
            <a:fld id="{60DFA87B-D22B-4447-BB2F-F863025D4677}" type="slidenum">
              <a:rPr lang="en-US" smtClean="0"/>
              <a:pPr/>
              <a:t>18</a:t>
            </a:fld>
            <a:endParaRPr lang="en-US"/>
          </a:p>
        </p:txBody>
      </p:sp>
    </p:spTree>
    <p:extLst>
      <p:ext uri="{BB962C8B-B14F-4D97-AF65-F5344CB8AC3E}">
        <p14:creationId xmlns:p14="http://schemas.microsoft.com/office/powerpoint/2010/main" val="75381245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Number of current projects would need to be manually updated– what if someone forgets to do this when a new project is entered?</a:t>
            </a:r>
          </a:p>
        </p:txBody>
      </p:sp>
      <p:sp>
        <p:nvSpPr>
          <p:cNvPr id="4" name="Slide Number Placeholder 3"/>
          <p:cNvSpPr>
            <a:spLocks noGrp="1"/>
          </p:cNvSpPr>
          <p:nvPr>
            <p:ph type="sldNum" sz="quarter" idx="10"/>
          </p:nvPr>
        </p:nvSpPr>
        <p:spPr/>
        <p:txBody>
          <a:bodyPr/>
          <a:lstStyle/>
          <a:p>
            <a:fld id="{60DFA87B-D22B-4447-BB2F-F863025D4677}" type="slidenum">
              <a:rPr lang="en-US" smtClean="0"/>
              <a:pPr/>
              <a:t>19</a:t>
            </a:fld>
            <a:endParaRPr lang="en-US"/>
          </a:p>
        </p:txBody>
      </p:sp>
    </p:spTree>
    <p:extLst>
      <p:ext uri="{BB962C8B-B14F-4D97-AF65-F5344CB8AC3E}">
        <p14:creationId xmlns:p14="http://schemas.microsoft.com/office/powerpoint/2010/main" val="27711953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16233" indent="-216233">
              <a:buAutoNum type="arabicParenR"/>
            </a:pPr>
            <a:r>
              <a:rPr lang="en-US" dirty="0"/>
              <a:t>Maybe number of projects by department– but this might not be accurate because it’s manually entered.  One could go into the project tab of the spreadsheet and sort and count the data by dept</a:t>
            </a:r>
          </a:p>
          <a:p>
            <a:pPr marL="216233" indent="-216233">
              <a:buAutoNum type="arabicParenR"/>
            </a:pPr>
            <a:r>
              <a:rPr lang="en-US" dirty="0"/>
              <a:t>How quickly each dept finishes the projects- a new column in Excel could be calculated to determine the length of time between start and end dates– but recall that this would be a waste of time for all current (unfinished) projects (no end date filled in)</a:t>
            </a:r>
          </a:p>
          <a:p>
            <a:pPr marL="216233" indent="-216233">
              <a:buAutoNum type="arabicParenR"/>
            </a:pPr>
            <a:r>
              <a:rPr lang="en-US" dirty="0"/>
              <a:t>They might want to look at the above data in the context of how many people are in each dept (</a:t>
            </a:r>
            <a:r>
              <a:rPr lang="en-US" dirty="0" err="1"/>
              <a:t>ie</a:t>
            </a:r>
            <a:r>
              <a:rPr lang="en-US" dirty="0"/>
              <a:t>, determine dept project productivity based on work per person)</a:t>
            </a:r>
          </a:p>
          <a:p>
            <a:endParaRPr lang="en-US" dirty="0"/>
          </a:p>
          <a:p>
            <a:r>
              <a:rPr lang="en-US" dirty="0"/>
              <a:t>In order to bring together any of the above information, upper management would need to reference multiple spreadsheets, manipulate the data, and possibly even build some new data columns</a:t>
            </a:r>
          </a:p>
        </p:txBody>
      </p:sp>
      <p:sp>
        <p:nvSpPr>
          <p:cNvPr id="4" name="Slide Number Placeholder 3"/>
          <p:cNvSpPr>
            <a:spLocks noGrp="1"/>
          </p:cNvSpPr>
          <p:nvPr>
            <p:ph type="sldNum" sz="quarter" idx="10"/>
          </p:nvPr>
        </p:nvSpPr>
        <p:spPr/>
        <p:txBody>
          <a:bodyPr/>
          <a:lstStyle/>
          <a:p>
            <a:fld id="{60DFA87B-D22B-4447-BB2F-F863025D4677}" type="slidenum">
              <a:rPr lang="en-US" smtClean="0"/>
              <a:pPr/>
              <a:t>20</a:t>
            </a:fld>
            <a:endParaRPr lang="en-US"/>
          </a:p>
        </p:txBody>
      </p:sp>
    </p:spTree>
    <p:extLst>
      <p:ext uri="{BB962C8B-B14F-4D97-AF65-F5344CB8AC3E}">
        <p14:creationId xmlns:p14="http://schemas.microsoft.com/office/powerpoint/2010/main" val="63284768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F173BBF-94A0-4067-A39D-42451146A50D}" type="slidenum">
              <a:rPr lang="en-US"/>
              <a:pPr/>
              <a:t>21</a:t>
            </a:fld>
            <a:endParaRPr lang="en-US"/>
          </a:p>
        </p:txBody>
      </p:sp>
      <p:sp>
        <p:nvSpPr>
          <p:cNvPr id="279554" name="Rectangle 2"/>
          <p:cNvSpPr>
            <a:spLocks noGrp="1" noRot="1" noChangeAspect="1" noChangeArrowheads="1" noTextEdit="1"/>
          </p:cNvSpPr>
          <p:nvPr>
            <p:ph type="sldImg"/>
          </p:nvPr>
        </p:nvSpPr>
        <p:spPr>
          <a:ln/>
        </p:spPr>
      </p:sp>
      <p:sp>
        <p:nvSpPr>
          <p:cNvPr id="279555" name="Rectangle 3"/>
          <p:cNvSpPr>
            <a:spLocks noGrp="1" noChangeArrowheads="1"/>
          </p:cNvSpPr>
          <p:nvPr>
            <p:ph type="body" idx="1"/>
          </p:nvPr>
        </p:nvSpPr>
        <p:spPr>
          <a:xfrm>
            <a:off x="1219200" y="3257550"/>
            <a:ext cx="6705600" cy="3086100"/>
          </a:xfrm>
        </p:spPr>
        <p:txBody>
          <a:bodyPr/>
          <a:lstStyle/>
          <a:p>
            <a:endParaRPr lang="en-US" dirty="0"/>
          </a:p>
        </p:txBody>
      </p:sp>
    </p:spTree>
    <p:extLst>
      <p:ext uri="{BB962C8B-B14F-4D97-AF65-F5344CB8AC3E}">
        <p14:creationId xmlns:p14="http://schemas.microsoft.com/office/powerpoint/2010/main" val="232414340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https://munvo.com/2017/07/18/hadoop-big-data-vs-relational-databases/</a:t>
            </a:r>
          </a:p>
        </p:txBody>
      </p:sp>
      <p:sp>
        <p:nvSpPr>
          <p:cNvPr id="4" name="Slide Number Placeholder 3"/>
          <p:cNvSpPr>
            <a:spLocks noGrp="1"/>
          </p:cNvSpPr>
          <p:nvPr>
            <p:ph type="sldNum" sz="quarter" idx="10"/>
          </p:nvPr>
        </p:nvSpPr>
        <p:spPr/>
        <p:txBody>
          <a:bodyPr/>
          <a:lstStyle/>
          <a:p>
            <a:fld id="{60DFA87B-D22B-4447-BB2F-F863025D4677}" type="slidenum">
              <a:rPr lang="en-US" smtClean="0"/>
              <a:pPr/>
              <a:t>22</a:t>
            </a:fld>
            <a:endParaRPr lang="en-US"/>
          </a:p>
        </p:txBody>
      </p:sp>
    </p:spTree>
    <p:extLst>
      <p:ext uri="{BB962C8B-B14F-4D97-AF65-F5344CB8AC3E}">
        <p14:creationId xmlns:p14="http://schemas.microsoft.com/office/powerpoint/2010/main" val="184916400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F173BBF-94A0-4067-A39D-42451146A50D}" type="slidenum">
              <a:rPr lang="en-US"/>
              <a:pPr/>
              <a:t>24</a:t>
            </a:fld>
            <a:endParaRPr lang="en-US"/>
          </a:p>
        </p:txBody>
      </p:sp>
      <p:sp>
        <p:nvSpPr>
          <p:cNvPr id="279554" name="Rectangle 2"/>
          <p:cNvSpPr>
            <a:spLocks noGrp="1" noRot="1" noChangeAspect="1" noChangeArrowheads="1" noTextEdit="1"/>
          </p:cNvSpPr>
          <p:nvPr>
            <p:ph type="sldImg"/>
          </p:nvPr>
        </p:nvSpPr>
        <p:spPr>
          <a:ln/>
        </p:spPr>
      </p:sp>
      <p:sp>
        <p:nvSpPr>
          <p:cNvPr id="279555" name="Rectangle 3"/>
          <p:cNvSpPr>
            <a:spLocks noGrp="1" noChangeArrowheads="1"/>
          </p:cNvSpPr>
          <p:nvPr>
            <p:ph type="body" idx="1"/>
          </p:nvPr>
        </p:nvSpPr>
        <p:spPr>
          <a:xfrm>
            <a:off x="1219200" y="3257550"/>
            <a:ext cx="6705600" cy="3086100"/>
          </a:xfrm>
        </p:spPr>
        <p:txBody>
          <a:bodyPr/>
          <a:lstStyle/>
          <a:p>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0DFA87B-D22B-4447-BB2F-F863025D4677}" type="slidenum">
              <a:rPr lang="en-US" smtClean="0"/>
              <a:pPr/>
              <a:t>25</a:t>
            </a:fld>
            <a:endParaRPr lang="en-US"/>
          </a:p>
        </p:txBody>
      </p:sp>
    </p:spTree>
    <p:extLst>
      <p:ext uri="{BB962C8B-B14F-4D97-AF65-F5344CB8AC3E}">
        <p14:creationId xmlns:p14="http://schemas.microsoft.com/office/powerpoint/2010/main" val="345610002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manager supervises many departments</a:t>
            </a:r>
          </a:p>
          <a:p>
            <a:r>
              <a:rPr lang="en-US" dirty="0"/>
              <a:t>1 department performs</a:t>
            </a:r>
            <a:r>
              <a:rPr lang="en-US" baseline="0" dirty="0"/>
              <a:t> many projects</a:t>
            </a:r>
          </a:p>
          <a:p>
            <a:endParaRPr lang="en-US" baseline="0" dirty="0"/>
          </a:p>
          <a:p>
            <a:r>
              <a:rPr lang="en-US" baseline="0" dirty="0"/>
              <a:t>Ex of a data call:  president of the company wants the name of the manager of the sales manual project and the length of time the manager has been with the </a:t>
            </a:r>
            <a:r>
              <a:rPr lang="en-US" baseline="0" dirty="0" err="1"/>
              <a:t>compnay</a:t>
            </a:r>
            <a:endParaRPr lang="en-US" dirty="0"/>
          </a:p>
        </p:txBody>
      </p:sp>
      <p:sp>
        <p:nvSpPr>
          <p:cNvPr id="4" name="Slide Number Placeholder 3"/>
          <p:cNvSpPr>
            <a:spLocks noGrp="1"/>
          </p:cNvSpPr>
          <p:nvPr>
            <p:ph type="sldNum" sz="quarter" idx="10"/>
          </p:nvPr>
        </p:nvSpPr>
        <p:spPr/>
        <p:txBody>
          <a:bodyPr/>
          <a:lstStyle/>
          <a:p>
            <a:fld id="{60DFA87B-D22B-4447-BB2F-F863025D4677}" type="slidenum">
              <a:rPr lang="en-US" smtClean="0"/>
              <a:pPr/>
              <a:t>26</a:t>
            </a:fld>
            <a:endParaRPr lang="en-US"/>
          </a:p>
        </p:txBody>
      </p:sp>
    </p:spTree>
    <p:extLst>
      <p:ext uri="{BB962C8B-B14F-4D97-AF65-F5344CB8AC3E}">
        <p14:creationId xmlns:p14="http://schemas.microsoft.com/office/powerpoint/2010/main" val="159009671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0DFA87B-D22B-4447-BB2F-F863025D4677}" type="slidenum">
              <a:rPr lang="en-US" smtClean="0"/>
              <a:pPr/>
              <a:t>28</a:t>
            </a:fld>
            <a:endParaRPr lang="en-US"/>
          </a:p>
        </p:txBody>
      </p:sp>
    </p:spTree>
    <p:extLst>
      <p:ext uri="{BB962C8B-B14F-4D97-AF65-F5344CB8AC3E}">
        <p14:creationId xmlns:p14="http://schemas.microsoft.com/office/powerpoint/2010/main" val="308810753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Sometimes a user ‘chooses’ how to interact with the data; other times, permissions are set such that restrict the way(s) a user can interact with the data.</a:t>
            </a:r>
          </a:p>
          <a:p>
            <a:endParaRPr lang="en-US" dirty="0"/>
          </a:p>
          <a:p>
            <a:r>
              <a:rPr lang="en-US" dirty="0"/>
              <a:t>Consider REGIS.  Does everyone have access to the same info?  As an academic advisor </a:t>
            </a:r>
            <a:r>
              <a:rPr lang="en-US" dirty="0" err="1"/>
              <a:t>i</a:t>
            </a:r>
            <a:r>
              <a:rPr lang="en-US" dirty="0"/>
              <a:t> have access to more information about my advisees as compared to other students who are not my advisees.</a:t>
            </a:r>
          </a:p>
          <a:p>
            <a:endParaRPr lang="en-US" dirty="0"/>
          </a:p>
          <a:p>
            <a:r>
              <a:rPr lang="en-US" dirty="0"/>
              <a:t>Coaches, company officers, the Dean (</a:t>
            </a:r>
            <a:r>
              <a:rPr lang="en-US" dirty="0" err="1"/>
              <a:t>etc</a:t>
            </a:r>
            <a:r>
              <a:rPr lang="en-US" dirty="0"/>
              <a:t>) all have different access as well.</a:t>
            </a:r>
          </a:p>
          <a:p>
            <a:endParaRPr lang="en-US" dirty="0"/>
          </a:p>
          <a:p>
            <a:r>
              <a:rPr lang="en-US" dirty="0"/>
              <a:t>REGIS has an application to view cadet information, but it also has an application to view course information (different Application Programs).</a:t>
            </a:r>
          </a:p>
        </p:txBody>
      </p:sp>
      <p:sp>
        <p:nvSpPr>
          <p:cNvPr id="4" name="Slide Number Placeholder 3"/>
          <p:cNvSpPr>
            <a:spLocks noGrp="1"/>
          </p:cNvSpPr>
          <p:nvPr>
            <p:ph type="sldNum" sz="quarter" idx="10"/>
          </p:nvPr>
        </p:nvSpPr>
        <p:spPr/>
        <p:txBody>
          <a:bodyPr/>
          <a:lstStyle/>
          <a:p>
            <a:fld id="{60DFA87B-D22B-4447-BB2F-F863025D4677}" type="slidenum">
              <a:rPr lang="en-US" smtClean="0"/>
              <a:pPr/>
              <a:t>29</a:t>
            </a:fld>
            <a:endParaRPr lang="en-US"/>
          </a:p>
        </p:txBody>
      </p:sp>
    </p:spTree>
    <p:extLst>
      <p:ext uri="{BB962C8B-B14F-4D97-AF65-F5344CB8AC3E}">
        <p14:creationId xmlns:p14="http://schemas.microsoft.com/office/powerpoint/2010/main" val="404550823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7995C74-5157-461E-93FA-852259506F0C}" type="slidenum">
              <a:rPr lang="en-US"/>
              <a:pPr/>
              <a:t>30</a:t>
            </a:fld>
            <a:endParaRPr lang="en-US"/>
          </a:p>
        </p:txBody>
      </p:sp>
      <p:sp>
        <p:nvSpPr>
          <p:cNvPr id="214018" name="Rectangle 2"/>
          <p:cNvSpPr>
            <a:spLocks noGrp="1" noRot="1" noChangeAspect="1" noChangeArrowheads="1" noTextEdit="1"/>
          </p:cNvSpPr>
          <p:nvPr>
            <p:ph type="sldImg"/>
          </p:nvPr>
        </p:nvSpPr>
        <p:spPr>
          <a:ln/>
        </p:spPr>
      </p:sp>
      <p:sp>
        <p:nvSpPr>
          <p:cNvPr id="214019" name="Rectangle 3"/>
          <p:cNvSpPr>
            <a:spLocks noGrp="1" noChangeArrowheads="1"/>
          </p:cNvSpPr>
          <p:nvPr>
            <p:ph type="body" idx="1"/>
          </p:nvPr>
        </p:nvSpPr>
        <p:spPr/>
        <p:txBody>
          <a:bodyPr/>
          <a:lstStyle/>
          <a:p>
            <a:r>
              <a:rPr lang="en-US" dirty="0"/>
              <a:t>Ex: cadets</a:t>
            </a:r>
            <a:r>
              <a:rPr lang="en-US" baseline="0" dirty="0"/>
              <a:t> can be an entity – what would be an attribute of the this table?  What could be a primary key?</a:t>
            </a:r>
            <a:endParaRPr 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Entities:</a:t>
            </a:r>
          </a:p>
          <a:p>
            <a:r>
              <a:rPr lang="en-US" dirty="0"/>
              <a:t>-Cadets</a:t>
            </a:r>
          </a:p>
          <a:p>
            <a:r>
              <a:rPr lang="en-US" dirty="0"/>
              <a:t>-Companies</a:t>
            </a:r>
          </a:p>
          <a:p>
            <a:r>
              <a:rPr lang="en-US" dirty="0"/>
              <a:t>-Divisions</a:t>
            </a:r>
          </a:p>
          <a:p>
            <a:r>
              <a:rPr lang="en-US" dirty="0"/>
              <a:t>-Company</a:t>
            </a:r>
            <a:r>
              <a:rPr lang="en-US" baseline="0" dirty="0"/>
              <a:t> Officers</a:t>
            </a:r>
            <a:endParaRPr lang="en-US" dirty="0"/>
          </a:p>
        </p:txBody>
      </p:sp>
      <p:sp>
        <p:nvSpPr>
          <p:cNvPr id="4" name="Slide Number Placeholder 3"/>
          <p:cNvSpPr>
            <a:spLocks noGrp="1"/>
          </p:cNvSpPr>
          <p:nvPr>
            <p:ph type="sldNum" sz="quarter" idx="10"/>
          </p:nvPr>
        </p:nvSpPr>
        <p:spPr/>
        <p:txBody>
          <a:bodyPr/>
          <a:lstStyle/>
          <a:p>
            <a:fld id="{60DFA87B-D22B-4447-BB2F-F863025D4677}" type="slidenum">
              <a:rPr lang="en-US" smtClean="0"/>
              <a:pPr/>
              <a:t>31</a:t>
            </a:fld>
            <a:endParaRPr lang="en-US"/>
          </a:p>
        </p:txBody>
      </p:sp>
    </p:spTree>
    <p:extLst>
      <p:ext uri="{BB962C8B-B14F-4D97-AF65-F5344CB8AC3E}">
        <p14:creationId xmlns:p14="http://schemas.microsoft.com/office/powerpoint/2010/main" val="128301236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Records must be unique.  </a:t>
            </a:r>
          </a:p>
          <a:p>
            <a:endParaRPr lang="en-US" dirty="0"/>
          </a:p>
          <a:p>
            <a:r>
              <a:rPr lang="en-US" dirty="0"/>
              <a:t>Records are uniquely identified through a primary key field/attribute.  This primary key may be one field, or a combination of multiple fields.</a:t>
            </a:r>
          </a:p>
          <a:p>
            <a:endParaRPr lang="en-US" dirty="0"/>
          </a:p>
          <a:p>
            <a:r>
              <a:rPr lang="en-US" dirty="0"/>
              <a:t>We can think of records as ‘instances’ of objects as we did with OOP last semester.</a:t>
            </a:r>
          </a:p>
          <a:p>
            <a:endParaRPr lang="en-US" dirty="0"/>
          </a:p>
        </p:txBody>
      </p:sp>
      <p:sp>
        <p:nvSpPr>
          <p:cNvPr id="4" name="Slide Number Placeholder 3"/>
          <p:cNvSpPr>
            <a:spLocks noGrp="1"/>
          </p:cNvSpPr>
          <p:nvPr>
            <p:ph type="sldNum" sz="quarter" idx="10"/>
          </p:nvPr>
        </p:nvSpPr>
        <p:spPr/>
        <p:txBody>
          <a:bodyPr/>
          <a:lstStyle/>
          <a:p>
            <a:fld id="{60DFA87B-D22B-4447-BB2F-F863025D4677}" type="slidenum">
              <a:rPr lang="en-US" smtClean="0"/>
              <a:pPr/>
              <a:t>32</a:t>
            </a:fld>
            <a:endParaRPr lang="en-US"/>
          </a:p>
        </p:txBody>
      </p:sp>
    </p:spTree>
    <p:extLst>
      <p:ext uri="{BB962C8B-B14F-4D97-AF65-F5344CB8AC3E}">
        <p14:creationId xmlns:p14="http://schemas.microsoft.com/office/powerpoint/2010/main" val="403786880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Given a cadet, how many courses are they in?  many</a:t>
            </a:r>
          </a:p>
          <a:p>
            <a:r>
              <a:rPr lang="en-US" dirty="0"/>
              <a:t>Given a course, how</a:t>
            </a:r>
            <a:r>
              <a:rPr lang="en-US" baseline="0" dirty="0"/>
              <a:t> many cadets are in them?   many</a:t>
            </a:r>
            <a:endParaRPr lang="en-US" dirty="0"/>
          </a:p>
        </p:txBody>
      </p:sp>
      <p:sp>
        <p:nvSpPr>
          <p:cNvPr id="4" name="Slide Number Placeholder 3"/>
          <p:cNvSpPr>
            <a:spLocks noGrp="1"/>
          </p:cNvSpPr>
          <p:nvPr>
            <p:ph type="sldNum" sz="quarter" idx="10"/>
          </p:nvPr>
        </p:nvSpPr>
        <p:spPr/>
        <p:txBody>
          <a:bodyPr/>
          <a:lstStyle/>
          <a:p>
            <a:fld id="{60DFA87B-D22B-4447-BB2F-F863025D4677}" type="slidenum">
              <a:rPr lang="en-US" smtClean="0">
                <a:solidFill>
                  <a:prstClr val="black"/>
                </a:solidFill>
                <a:latin typeface="Calibri"/>
              </a:rPr>
              <a:pPr/>
              <a:t>33</a:t>
            </a:fld>
            <a:endParaRPr lang="en-US">
              <a:solidFill>
                <a:prstClr val="black"/>
              </a:solidFill>
              <a:latin typeface="Calibri"/>
            </a:endParaRPr>
          </a:p>
        </p:txBody>
      </p:sp>
    </p:spTree>
    <p:extLst>
      <p:ext uri="{BB962C8B-B14F-4D97-AF65-F5344CB8AC3E}">
        <p14:creationId xmlns:p14="http://schemas.microsoft.com/office/powerpoint/2010/main" val="63402994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0DFA87B-D22B-4447-BB2F-F863025D4677}" type="slidenum">
              <a:rPr lang="en-US" smtClean="0">
                <a:solidFill>
                  <a:prstClr val="black"/>
                </a:solidFill>
                <a:latin typeface="Calibri"/>
              </a:rPr>
              <a:pPr/>
              <a:t>34</a:t>
            </a:fld>
            <a:endParaRPr lang="en-US">
              <a:solidFill>
                <a:prstClr val="black"/>
              </a:solidFill>
              <a:latin typeface="Calibri"/>
            </a:endParaRPr>
          </a:p>
        </p:txBody>
      </p:sp>
    </p:spTree>
    <p:extLst>
      <p:ext uri="{BB962C8B-B14F-4D97-AF65-F5344CB8AC3E}">
        <p14:creationId xmlns:p14="http://schemas.microsoft.com/office/powerpoint/2010/main" val="63402994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Course-Section </a:t>
            </a:r>
            <a:r>
              <a:rPr lang="en-US"/>
              <a:t>–  1:many</a:t>
            </a:r>
            <a:endParaRPr lang="en-US" dirty="0"/>
          </a:p>
          <a:p>
            <a:r>
              <a:rPr lang="en-US" dirty="0"/>
              <a:t>Student-Section – many : many</a:t>
            </a:r>
          </a:p>
          <a:p>
            <a:r>
              <a:rPr lang="en-US" dirty="0"/>
              <a:t>Student-Course – many : many  or no relationship, mediated through student-section and course-section</a:t>
            </a:r>
          </a:p>
        </p:txBody>
      </p:sp>
      <p:sp>
        <p:nvSpPr>
          <p:cNvPr id="4" name="Slide Number Placeholder 3"/>
          <p:cNvSpPr>
            <a:spLocks noGrp="1"/>
          </p:cNvSpPr>
          <p:nvPr>
            <p:ph type="sldNum" sz="quarter" idx="10"/>
          </p:nvPr>
        </p:nvSpPr>
        <p:spPr/>
        <p:txBody>
          <a:bodyPr/>
          <a:lstStyle/>
          <a:p>
            <a:fld id="{60DFA87B-D22B-4447-BB2F-F863025D4677}" type="slidenum">
              <a:rPr lang="en-US" smtClean="0">
                <a:solidFill>
                  <a:prstClr val="black"/>
                </a:solidFill>
                <a:latin typeface="Calibri"/>
              </a:rPr>
              <a:pPr/>
              <a:t>35</a:t>
            </a:fld>
            <a:endParaRPr lang="en-US">
              <a:solidFill>
                <a:prstClr val="black"/>
              </a:solidFill>
              <a:latin typeface="Calibri"/>
            </a:endParaRPr>
          </a:p>
        </p:txBody>
      </p:sp>
    </p:spTree>
    <p:extLst>
      <p:ext uri="{BB962C8B-B14F-4D97-AF65-F5344CB8AC3E}">
        <p14:creationId xmlns:p14="http://schemas.microsoft.com/office/powerpoint/2010/main" val="257640472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Describe the relationship between the two entities from both sides:  </a:t>
            </a:r>
            <a:r>
              <a:rPr lang="en-US" dirty="0" err="1"/>
              <a:t>ie</a:t>
            </a:r>
            <a:r>
              <a:rPr lang="en-US" dirty="0"/>
              <a:t>, for Course and Section, we describe the relationship by (1) one Course can have many sections, and (2) one Section belongs to only one course.  This relationship is one to many.</a:t>
            </a:r>
          </a:p>
          <a:p>
            <a:endParaRPr lang="en-US" dirty="0"/>
          </a:p>
          <a:p>
            <a:r>
              <a:rPr lang="en-US" dirty="0"/>
              <a:t>Think about how this would look:  Course table would include all course info:  Course title, course number, department, </a:t>
            </a:r>
            <a:r>
              <a:rPr lang="en-US" dirty="0" err="1"/>
              <a:t>etc</a:t>
            </a:r>
            <a:r>
              <a:rPr lang="en-US" dirty="0"/>
              <a:t>; the Section table would include specifics on the section: location, instructor, meeting time, and this section table would include the primary key from the course table (likely the course #).  By including the primary key from the course table, the section is now related to the course table and all of its information.</a:t>
            </a:r>
          </a:p>
          <a:p>
            <a:endParaRPr lang="en-US" dirty="0"/>
          </a:p>
          <a:p>
            <a:r>
              <a:rPr lang="en-US" dirty="0"/>
              <a:t>Since the Student and Section cardinality is many-to-many, a third table must be created to capture this relationship.... Why?</a:t>
            </a:r>
          </a:p>
        </p:txBody>
      </p:sp>
      <p:sp>
        <p:nvSpPr>
          <p:cNvPr id="4" name="Slide Number Placeholder 3"/>
          <p:cNvSpPr>
            <a:spLocks noGrp="1"/>
          </p:cNvSpPr>
          <p:nvPr>
            <p:ph type="sldNum" sz="quarter" idx="10"/>
          </p:nvPr>
        </p:nvSpPr>
        <p:spPr/>
        <p:txBody>
          <a:bodyPr/>
          <a:lstStyle/>
          <a:p>
            <a:fld id="{60DFA87B-D22B-4447-BB2F-F863025D4677}" type="slidenum">
              <a:rPr lang="en-US" smtClean="0">
                <a:solidFill>
                  <a:prstClr val="black"/>
                </a:solidFill>
                <a:latin typeface="Calibri"/>
              </a:rPr>
              <a:pPr/>
              <a:t>36</a:t>
            </a:fld>
            <a:endParaRPr lang="en-US">
              <a:solidFill>
                <a:prstClr val="black"/>
              </a:solidFill>
              <a:latin typeface="Calibri"/>
            </a:endParaRPr>
          </a:p>
        </p:txBody>
      </p:sp>
    </p:spTree>
    <p:extLst>
      <p:ext uri="{BB962C8B-B14F-4D97-AF65-F5344CB8AC3E}">
        <p14:creationId xmlns:p14="http://schemas.microsoft.com/office/powerpoint/2010/main" val="8390454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371600"/>
            <a:ext cx="7848600" cy="1927225"/>
          </a:xfrm>
        </p:spPr>
        <p:txBody>
          <a:bodyPr anchor="b">
            <a:noAutofit/>
          </a:bodyPr>
          <a:lstStyle>
            <a:lvl1pPr>
              <a:defRPr sz="5400" cap="all" baseline="0"/>
            </a:lvl1pPr>
          </a:lstStyle>
          <a:p>
            <a:r>
              <a:rPr lang="en-US"/>
              <a:t>Click to edit Master title style</a:t>
            </a:r>
            <a:endParaRPr lang="en-US" dirty="0"/>
          </a:p>
        </p:txBody>
      </p:sp>
      <p:sp>
        <p:nvSpPr>
          <p:cNvPr id="3" name="Subtitle 2"/>
          <p:cNvSpPr>
            <a:spLocks noGrp="1"/>
          </p:cNvSpPr>
          <p:nvPr>
            <p:ph type="subTitle" idx="1"/>
          </p:nvPr>
        </p:nvSpPr>
        <p:spPr>
          <a:xfrm>
            <a:off x="685800" y="3505200"/>
            <a:ext cx="6400800" cy="1752600"/>
          </a:xfrm>
        </p:spPr>
        <p:txBody>
          <a:bodyPr/>
          <a:lstStyle>
            <a:lvl1pPr marL="0" indent="0" algn="l">
              <a:buNone/>
              <a:defRPr>
                <a:solidFill>
                  <a:schemeClr val="tx1">
                    <a:lumMod val="75000"/>
                    <a:lumOff val="2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EEC2420-6536-4BEC-B4D6-FCE0732E3199}" type="datetimeFigureOut">
              <a:rPr lang="en-US" smtClean="0"/>
              <a:pPr/>
              <a:t>9/16/2026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0D3EBB9-AAF3-4353-BEA1-2F937CF14F8B}" type="slidenum">
              <a:rPr lang="en-US" smtClean="0"/>
              <a:pPr/>
              <a:t>‹#›</a:t>
            </a:fld>
            <a:endParaRPr lang="en-US"/>
          </a:p>
        </p:txBody>
      </p:sp>
      <p:cxnSp>
        <p:nvCxnSpPr>
          <p:cNvPr id="8" name="Straight Connector 7"/>
          <p:cNvCxnSpPr/>
          <p:nvPr/>
        </p:nvCxnSpPr>
        <p:spPr>
          <a:xfrm>
            <a:off x="685800" y="3398520"/>
            <a:ext cx="78486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EEC2420-6536-4BEC-B4D6-FCE0732E3199}" type="datetimeFigureOut">
              <a:rPr lang="en-US" smtClean="0"/>
              <a:pPr/>
              <a:t>9/16/2026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345EAD5-4C19-43E8-92AC-D4AD00C5745A}"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13" y="2362200"/>
            <a:ext cx="7772400" cy="2200275"/>
          </a:xfrm>
        </p:spPr>
        <p:txBody>
          <a:bodyPr anchor="b">
            <a:normAutofit/>
          </a:bodyPr>
          <a:lstStyle>
            <a:lvl1pPr algn="l">
              <a:defRPr sz="4800" b="0" cap="all"/>
            </a:lvl1pPr>
          </a:lstStyle>
          <a:p>
            <a:r>
              <a:rPr lang="en-US"/>
              <a:t>Click to edit Master title style</a:t>
            </a:r>
            <a:endParaRPr lang="en-US" dirty="0"/>
          </a:p>
        </p:txBody>
      </p:sp>
      <p:sp>
        <p:nvSpPr>
          <p:cNvPr id="3" name="Text Placeholder 2"/>
          <p:cNvSpPr>
            <a:spLocks noGrp="1"/>
          </p:cNvSpPr>
          <p:nvPr>
            <p:ph type="body" idx="1"/>
          </p:nvPr>
        </p:nvSpPr>
        <p:spPr>
          <a:xfrm>
            <a:off x="722313" y="4626864"/>
            <a:ext cx="7772400" cy="1500187"/>
          </a:xfrm>
        </p:spPr>
        <p:txBody>
          <a:bodyPr anchor="t">
            <a:normAutofit/>
          </a:bodyPr>
          <a:lstStyle>
            <a:lvl1pPr marL="0" indent="0">
              <a:buNone/>
              <a:defRPr sz="24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EEC2420-6536-4BEC-B4D6-FCE0732E3199}" type="datetimeFigureOut">
              <a:rPr lang="en-US" smtClean="0"/>
              <a:pPr/>
              <a:t>9/16/2026</a:t>
            </a:fld>
            <a:endParaRPr lang="en-US"/>
          </a:p>
        </p:txBody>
      </p:sp>
      <p:sp>
        <p:nvSpPr>
          <p:cNvPr id="5" name="Footer Placeholder 4"/>
          <p:cNvSpPr>
            <a:spLocks noGrp="1"/>
          </p:cNvSpPr>
          <p:nvPr>
            <p:ph type="ftr" sz="quarter" idx="11"/>
          </p:nvPr>
        </p:nvSpPr>
        <p:spPr/>
        <p:txBody>
          <a:bodyPr/>
          <a:lstStyle/>
          <a:p>
            <a:r>
              <a:rPr lang="en-US"/>
              <a:t>Fundamentals of Information Systems, Fourth Edition</a:t>
            </a:r>
          </a:p>
        </p:txBody>
      </p:sp>
      <p:sp>
        <p:nvSpPr>
          <p:cNvPr id="6" name="Slide Number Placeholder 5"/>
          <p:cNvSpPr>
            <a:spLocks noGrp="1"/>
          </p:cNvSpPr>
          <p:nvPr>
            <p:ph type="sldNum" sz="quarter" idx="12"/>
          </p:nvPr>
        </p:nvSpPr>
        <p:spPr/>
        <p:txBody>
          <a:bodyPr/>
          <a:lstStyle/>
          <a:p>
            <a:fld id="{B10EB8EC-5880-40B2-BCE1-89D9874E17C0}" type="slidenum">
              <a:rPr lang="en-US" smtClean="0"/>
              <a:pPr/>
              <a:t>‹#›</a:t>
            </a:fld>
            <a:endParaRPr lang="en-US"/>
          </a:p>
        </p:txBody>
      </p:sp>
      <p:cxnSp>
        <p:nvCxnSpPr>
          <p:cNvPr id="7" name="Straight Connector 6"/>
          <p:cNvCxnSpPr/>
          <p:nvPr/>
        </p:nvCxnSpPr>
        <p:spPr>
          <a:xfrm>
            <a:off x="731520" y="4599432"/>
            <a:ext cx="78486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73352"/>
            <a:ext cx="40386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8200" y="1673352"/>
            <a:ext cx="40386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EEC2420-6536-4BEC-B4D6-FCE0732E3199}" type="datetimeFigureOut">
              <a:rPr lang="en-US" smtClean="0"/>
              <a:pPr/>
              <a:t>9/16/2026</a:t>
            </a:fld>
            <a:endParaRPr lang="en-US"/>
          </a:p>
        </p:txBody>
      </p:sp>
      <p:sp>
        <p:nvSpPr>
          <p:cNvPr id="6" name="Footer Placeholder 5"/>
          <p:cNvSpPr>
            <a:spLocks noGrp="1"/>
          </p:cNvSpPr>
          <p:nvPr>
            <p:ph type="ftr" sz="quarter" idx="11"/>
          </p:nvPr>
        </p:nvSpPr>
        <p:spPr/>
        <p:txBody>
          <a:bodyPr/>
          <a:lstStyle/>
          <a:p>
            <a:r>
              <a:rPr lang="en-US"/>
              <a:t>Fundamentals of Information Systems, Fourth Edition</a:t>
            </a:r>
          </a:p>
        </p:txBody>
      </p:sp>
      <p:sp>
        <p:nvSpPr>
          <p:cNvPr id="7" name="Slide Number Placeholder 6"/>
          <p:cNvSpPr>
            <a:spLocks noGrp="1"/>
          </p:cNvSpPr>
          <p:nvPr>
            <p:ph type="sldNum" sz="quarter" idx="12"/>
          </p:nvPr>
        </p:nvSpPr>
        <p:spPr/>
        <p:txBody>
          <a:bodyPr/>
          <a:lstStyle/>
          <a:p>
            <a:fld id="{320E163F-9706-41DA-BEEC-9D55578F1725}"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457200" y="1676400"/>
            <a:ext cx="393192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438400"/>
            <a:ext cx="393192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754880" y="1676400"/>
            <a:ext cx="393192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lang="en-US" sz="2000" b="0" kern="1200" dirty="0" smtClean="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754880" y="2438400"/>
            <a:ext cx="393192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EEC2420-6536-4BEC-B4D6-FCE0732E3199}" type="datetimeFigureOut">
              <a:rPr lang="en-US" smtClean="0"/>
              <a:pPr/>
              <a:t>9/16/2026</a:t>
            </a:fld>
            <a:endParaRPr lang="en-US"/>
          </a:p>
        </p:txBody>
      </p:sp>
      <p:sp>
        <p:nvSpPr>
          <p:cNvPr id="8" name="Footer Placeholder 7"/>
          <p:cNvSpPr>
            <a:spLocks noGrp="1"/>
          </p:cNvSpPr>
          <p:nvPr>
            <p:ph type="ftr" sz="quarter" idx="11"/>
          </p:nvPr>
        </p:nvSpPr>
        <p:spPr/>
        <p:txBody>
          <a:bodyPr/>
          <a:lstStyle/>
          <a:p>
            <a:r>
              <a:rPr lang="en-US"/>
              <a:t>Fundamentals of Information Systems, Fourth Edition</a:t>
            </a:r>
          </a:p>
        </p:txBody>
      </p:sp>
      <p:sp>
        <p:nvSpPr>
          <p:cNvPr id="9" name="Slide Number Placeholder 8"/>
          <p:cNvSpPr>
            <a:spLocks noGrp="1"/>
          </p:cNvSpPr>
          <p:nvPr>
            <p:ph type="sldNum" sz="quarter" idx="12"/>
          </p:nvPr>
        </p:nvSpPr>
        <p:spPr/>
        <p:txBody>
          <a:bodyPr/>
          <a:lstStyle/>
          <a:p>
            <a:fld id="{3336E7A7-AA1E-4950-A61E-48C7D28E80B4}" type="slidenum">
              <a:rPr lang="en-US" smtClean="0"/>
              <a:pPr/>
              <a:t>‹#›</a:t>
            </a:fld>
            <a:endParaRPr lang="en-US"/>
          </a:p>
        </p:txBody>
      </p:sp>
      <p:cxnSp>
        <p:nvCxnSpPr>
          <p:cNvPr id="11" name="Straight Connector 10"/>
          <p:cNvCxnSpPr/>
          <p:nvPr/>
        </p:nvCxnSpPr>
        <p:spPr>
          <a:xfrm rot="5400000">
            <a:off x="2217817" y="4045823"/>
            <a:ext cx="4709160" cy="794"/>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EEC2420-6536-4BEC-B4D6-FCE0732E3199}" type="datetimeFigureOut">
              <a:rPr lang="en-US" smtClean="0"/>
              <a:pPr/>
              <a:t>9/16/2026</a:t>
            </a:fld>
            <a:endParaRPr lang="en-US"/>
          </a:p>
        </p:txBody>
      </p:sp>
      <p:sp>
        <p:nvSpPr>
          <p:cNvPr id="4" name="Footer Placeholder 3"/>
          <p:cNvSpPr>
            <a:spLocks noGrp="1"/>
          </p:cNvSpPr>
          <p:nvPr>
            <p:ph type="ftr" sz="quarter" idx="11"/>
          </p:nvPr>
        </p:nvSpPr>
        <p:spPr/>
        <p:txBody>
          <a:bodyPr/>
          <a:lstStyle/>
          <a:p>
            <a:r>
              <a:rPr lang="en-US"/>
              <a:t>Fundamentals of Information Systems, Fourth Edition</a:t>
            </a:r>
          </a:p>
        </p:txBody>
      </p:sp>
      <p:sp>
        <p:nvSpPr>
          <p:cNvPr id="5" name="Slide Number Placeholder 4"/>
          <p:cNvSpPr>
            <a:spLocks noGrp="1"/>
          </p:cNvSpPr>
          <p:nvPr>
            <p:ph type="sldNum" sz="quarter" idx="12"/>
          </p:nvPr>
        </p:nvSpPr>
        <p:spPr/>
        <p:txBody>
          <a:bodyPr/>
          <a:lstStyle/>
          <a:p>
            <a:fld id="{E9998C29-0FBE-4E3D-B015-97B59C0080D2}"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EEC2420-6536-4BEC-B4D6-FCE0732E3199}" type="datetimeFigureOut">
              <a:rPr lang="en-US" smtClean="0"/>
              <a:pPr/>
              <a:t>9/16/2026</a:t>
            </a:fld>
            <a:endParaRPr lang="en-US"/>
          </a:p>
        </p:txBody>
      </p:sp>
      <p:sp>
        <p:nvSpPr>
          <p:cNvPr id="3" name="Footer Placeholder 2"/>
          <p:cNvSpPr>
            <a:spLocks noGrp="1"/>
          </p:cNvSpPr>
          <p:nvPr>
            <p:ph type="ftr" sz="quarter" idx="11"/>
          </p:nvPr>
        </p:nvSpPr>
        <p:spPr/>
        <p:txBody>
          <a:bodyPr/>
          <a:lstStyle/>
          <a:p>
            <a:r>
              <a:rPr lang="en-US"/>
              <a:t>Fundamentals of Information Systems, Fourth Edition</a:t>
            </a:r>
          </a:p>
        </p:txBody>
      </p:sp>
      <p:sp>
        <p:nvSpPr>
          <p:cNvPr id="4" name="Slide Number Placeholder 3"/>
          <p:cNvSpPr>
            <a:spLocks noGrp="1"/>
          </p:cNvSpPr>
          <p:nvPr>
            <p:ph type="sldNum" sz="quarter" idx="12"/>
          </p:nvPr>
        </p:nvSpPr>
        <p:spPr/>
        <p:txBody>
          <a:bodyPr/>
          <a:lstStyle/>
          <a:p>
            <a:fld id="{8C2D593D-B61E-4215-B242-BF4C72556C47}"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792080"/>
            <a:ext cx="2139696" cy="1261872"/>
          </a:xfrm>
        </p:spPr>
        <p:txBody>
          <a:bodyPr anchor="b">
            <a:no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2971800" y="792080"/>
            <a:ext cx="5715000" cy="55778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1" y="2130552"/>
            <a:ext cx="2139696" cy="424361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EEC2420-6536-4BEC-B4D6-FCE0732E3199}" type="datetimeFigureOut">
              <a:rPr lang="en-US" smtClean="0"/>
              <a:pPr/>
              <a:t>9/16/2026</a:t>
            </a:fld>
            <a:endParaRPr lang="en-US"/>
          </a:p>
        </p:txBody>
      </p:sp>
      <p:sp>
        <p:nvSpPr>
          <p:cNvPr id="6" name="Footer Placeholder 5"/>
          <p:cNvSpPr>
            <a:spLocks noGrp="1"/>
          </p:cNvSpPr>
          <p:nvPr>
            <p:ph type="ftr" sz="quarter" idx="11"/>
          </p:nvPr>
        </p:nvSpPr>
        <p:spPr/>
        <p:txBody>
          <a:bodyPr/>
          <a:lstStyle/>
          <a:p>
            <a:r>
              <a:rPr lang="en-US"/>
              <a:t>Fundamentals of Information Systems, Fourth Edition</a:t>
            </a:r>
          </a:p>
        </p:txBody>
      </p:sp>
      <p:sp>
        <p:nvSpPr>
          <p:cNvPr id="7" name="Slide Number Placeholder 6"/>
          <p:cNvSpPr>
            <a:spLocks noGrp="1"/>
          </p:cNvSpPr>
          <p:nvPr>
            <p:ph type="sldNum" sz="quarter" idx="12"/>
          </p:nvPr>
        </p:nvSpPr>
        <p:spPr/>
        <p:txBody>
          <a:bodyPr/>
          <a:lstStyle/>
          <a:p>
            <a:fld id="{70FF8419-802B-407E-8929-770ED3D66584}" type="slidenum">
              <a:rPr lang="en-US" smtClean="0"/>
              <a:pPr/>
              <a:t>‹#›</a:t>
            </a:fld>
            <a:endParaRPr lang="en-US"/>
          </a:p>
        </p:txBody>
      </p:sp>
      <p:cxnSp>
        <p:nvCxnSpPr>
          <p:cNvPr id="9" name="Straight Connector 8"/>
          <p:cNvCxnSpPr/>
          <p:nvPr/>
        </p:nvCxnSpPr>
        <p:spPr>
          <a:xfrm rot="5400000">
            <a:off x="-13116" y="3580206"/>
            <a:ext cx="557784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792480"/>
            <a:ext cx="2142680" cy="1264920"/>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p:cNvSpPr>
          <p:nvPr>
            <p:ph type="pic" idx="1"/>
          </p:nvPr>
        </p:nvSpPr>
        <p:spPr>
          <a:xfrm>
            <a:off x="2858610" y="838201"/>
            <a:ext cx="5904390" cy="5500456"/>
          </a:xfrm>
          <a:solidFill>
            <a:schemeClr val="bg2"/>
          </a:solidFill>
          <a:ln w="76200">
            <a:solidFill>
              <a:srgbClr val="FFFFFF"/>
            </a:solidFill>
            <a:miter lim="800000"/>
          </a:ln>
          <a:effectLst>
            <a:outerShdw blurRad="50800" dist="12700" dir="5400000" algn="t" rotWithShape="0">
              <a:prstClr val="black">
                <a:alpha val="59000"/>
              </a:prstClr>
            </a:outerShdw>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Drag picture to placeholder or click icon to add</a:t>
            </a:r>
            <a:endParaRPr lang="en-US" dirty="0"/>
          </a:p>
        </p:txBody>
      </p:sp>
      <p:sp>
        <p:nvSpPr>
          <p:cNvPr id="4" name="Text Placeholder 3"/>
          <p:cNvSpPr>
            <a:spLocks noGrp="1"/>
          </p:cNvSpPr>
          <p:nvPr>
            <p:ph type="body" sz="half" idx="2"/>
          </p:nvPr>
        </p:nvSpPr>
        <p:spPr>
          <a:xfrm>
            <a:off x="457200" y="2133600"/>
            <a:ext cx="2139696" cy="424281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EEC2420-6536-4BEC-B4D6-FCE0732E3199}" type="datetimeFigureOut">
              <a:rPr lang="en-US" smtClean="0"/>
              <a:pPr/>
              <a:t>9/16/2026</a:t>
            </a:fld>
            <a:endParaRPr lang="en-US"/>
          </a:p>
        </p:txBody>
      </p:sp>
      <p:sp>
        <p:nvSpPr>
          <p:cNvPr id="6" name="Footer Placeholder 5"/>
          <p:cNvSpPr>
            <a:spLocks noGrp="1"/>
          </p:cNvSpPr>
          <p:nvPr>
            <p:ph type="ftr" sz="quarter" idx="11"/>
          </p:nvPr>
        </p:nvSpPr>
        <p:spPr/>
        <p:txBody>
          <a:bodyPr/>
          <a:lstStyle/>
          <a:p>
            <a:r>
              <a:rPr lang="en-US"/>
              <a:t>Fundamentals of Information Systems, Fourth Edition</a:t>
            </a:r>
          </a:p>
        </p:txBody>
      </p:sp>
      <p:sp>
        <p:nvSpPr>
          <p:cNvPr id="7" name="Slide Number Placeholder 6"/>
          <p:cNvSpPr>
            <a:spLocks noGrp="1"/>
          </p:cNvSpPr>
          <p:nvPr>
            <p:ph type="sldNum" sz="quarter" idx="12"/>
          </p:nvPr>
        </p:nvSpPr>
        <p:spPr/>
        <p:txBody>
          <a:bodyPr/>
          <a:lstStyle/>
          <a:p>
            <a:fld id="{FC9EC94F-360B-4B6D-81AD-989F75F85BBF}"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EEC2420-6536-4BEC-B4D6-FCE0732E3199}" type="datetimeFigureOut">
              <a:rPr lang="en-US" smtClean="0"/>
              <a:pPr/>
              <a:t>9/16/2026</a:t>
            </a:fld>
            <a:endParaRPr lang="en-US"/>
          </a:p>
        </p:txBody>
      </p:sp>
      <p:sp>
        <p:nvSpPr>
          <p:cNvPr id="5" name="Footer Placeholder 4"/>
          <p:cNvSpPr>
            <a:spLocks noGrp="1"/>
          </p:cNvSpPr>
          <p:nvPr>
            <p:ph type="ftr" sz="quarter" idx="11"/>
          </p:nvPr>
        </p:nvSpPr>
        <p:spPr/>
        <p:txBody>
          <a:bodyPr/>
          <a:lstStyle/>
          <a:p>
            <a:r>
              <a:rPr lang="en-US"/>
              <a:t>Fundamentals of Information Systems, Fourth Edition</a:t>
            </a:r>
          </a:p>
        </p:txBody>
      </p:sp>
      <p:sp>
        <p:nvSpPr>
          <p:cNvPr id="6" name="Slide Number Placeholder 5"/>
          <p:cNvSpPr>
            <a:spLocks noGrp="1"/>
          </p:cNvSpPr>
          <p:nvPr>
            <p:ph type="sldNum" sz="quarter" idx="12"/>
          </p:nvPr>
        </p:nvSpPr>
        <p:spPr/>
        <p:txBody>
          <a:bodyPr/>
          <a:lstStyle/>
          <a:p>
            <a:fld id="{E9E4E860-0FF2-422C-838C-1022CDDC119C}"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609600"/>
            <a:ext cx="2057400" cy="5867400"/>
          </a:xfrm>
        </p:spPr>
        <p:txBody>
          <a:bodyPr vert="eaVert" anchor="b"/>
          <a:lstStyle/>
          <a:p>
            <a:r>
              <a:rPr lang="en-US"/>
              <a:t>Click to edit Master title style</a:t>
            </a:r>
            <a:endParaRPr lang="en-US" dirty="0"/>
          </a:p>
        </p:txBody>
      </p:sp>
      <p:sp>
        <p:nvSpPr>
          <p:cNvPr id="3" name="Vertical Text Placeholder 2"/>
          <p:cNvSpPr>
            <a:spLocks noGrp="1"/>
          </p:cNvSpPr>
          <p:nvPr>
            <p:ph type="body" orient="vert" idx="1"/>
          </p:nvPr>
        </p:nvSpPr>
        <p:spPr>
          <a:xfrm>
            <a:off x="457200" y="609600"/>
            <a:ext cx="6019800" cy="5867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EEC2420-6536-4BEC-B4D6-FCE0732E3199}" type="datetimeFigureOut">
              <a:rPr lang="en-US" smtClean="0"/>
              <a:pPr/>
              <a:t>9/16/2026</a:t>
            </a:fld>
            <a:endParaRPr lang="en-US"/>
          </a:p>
        </p:txBody>
      </p:sp>
      <p:sp>
        <p:nvSpPr>
          <p:cNvPr id="5" name="Footer Placeholder 4"/>
          <p:cNvSpPr>
            <a:spLocks noGrp="1"/>
          </p:cNvSpPr>
          <p:nvPr>
            <p:ph type="ftr" sz="quarter" idx="11"/>
          </p:nvPr>
        </p:nvSpPr>
        <p:spPr/>
        <p:txBody>
          <a:bodyPr/>
          <a:lstStyle/>
          <a:p>
            <a:r>
              <a:rPr lang="en-US"/>
              <a:t>Fundamentals of Information Systems, Fourth Edition</a:t>
            </a:r>
          </a:p>
        </p:txBody>
      </p:sp>
      <p:sp>
        <p:nvSpPr>
          <p:cNvPr id="6" name="Slide Number Placeholder 5"/>
          <p:cNvSpPr>
            <a:spLocks noGrp="1"/>
          </p:cNvSpPr>
          <p:nvPr>
            <p:ph type="sldNum" sz="quarter" idx="12"/>
          </p:nvPr>
        </p:nvSpPr>
        <p:spPr/>
        <p:txBody>
          <a:bodyPr/>
          <a:lstStyle/>
          <a:p>
            <a:fld id="{9275B01C-0DE6-4A7A-B272-9B00FB4447F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p:nvSpPr>
        <p:spPr>
          <a:xfrm>
            <a:off x="0" y="220786"/>
            <a:ext cx="9144000" cy="2286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457200" y="533400"/>
            <a:ext cx="8229600" cy="990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57200" y="1600200"/>
            <a:ext cx="8229600" cy="4876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6"/>
          <p:cNvSpPr/>
          <p:nvPr/>
        </p:nvSpPr>
        <p:spPr>
          <a:xfrm>
            <a:off x="0" y="0"/>
            <a:ext cx="9144000" cy="3657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2"/>
          </p:nvPr>
        </p:nvSpPr>
        <p:spPr>
          <a:xfrm>
            <a:off x="457200" y="18288"/>
            <a:ext cx="2895600" cy="329184"/>
          </a:xfrm>
          <a:prstGeom prst="rect">
            <a:avLst/>
          </a:prstGeom>
        </p:spPr>
        <p:txBody>
          <a:bodyPr vert="horz" lIns="91440" tIns="45720" rIns="91440" bIns="45720" rtlCol="0" anchor="ctr"/>
          <a:lstStyle>
            <a:lvl1pPr algn="l">
              <a:defRPr sz="1200">
                <a:solidFill>
                  <a:srgbClr val="FFFFFF"/>
                </a:solidFill>
              </a:defRPr>
            </a:lvl1pPr>
          </a:lstStyle>
          <a:p>
            <a:fld id="{CEEC2420-6536-4BEC-B4D6-FCE0732E3199}" type="datetimeFigureOut">
              <a:rPr lang="en-US" smtClean="0"/>
              <a:pPr/>
              <a:t>9/16/2026</a:t>
            </a:fld>
            <a:endParaRPr lang="en-US"/>
          </a:p>
        </p:txBody>
      </p:sp>
      <p:sp>
        <p:nvSpPr>
          <p:cNvPr id="5" name="Footer Placeholder 4"/>
          <p:cNvSpPr>
            <a:spLocks noGrp="1"/>
          </p:cNvSpPr>
          <p:nvPr>
            <p:ph type="ftr" sz="quarter" idx="3"/>
          </p:nvPr>
        </p:nvSpPr>
        <p:spPr>
          <a:xfrm>
            <a:off x="3429000" y="18288"/>
            <a:ext cx="4114800" cy="329184"/>
          </a:xfrm>
          <a:prstGeom prst="rect">
            <a:avLst/>
          </a:prstGeom>
        </p:spPr>
        <p:txBody>
          <a:bodyPr vert="horz" lIns="91440" tIns="45720" rIns="91440" bIns="45720" rtlCol="0" anchor="ctr"/>
          <a:lstStyle>
            <a:lvl1pPr algn="ctr">
              <a:defRPr sz="1200">
                <a:solidFill>
                  <a:srgbClr val="FFFFFF"/>
                </a:solidFill>
              </a:defRPr>
            </a:lvl1pPr>
          </a:lstStyle>
          <a:p>
            <a:endParaRPr lang="en-US"/>
          </a:p>
        </p:txBody>
      </p:sp>
      <p:sp>
        <p:nvSpPr>
          <p:cNvPr id="6" name="Slide Number Placeholder 5"/>
          <p:cNvSpPr>
            <a:spLocks noGrp="1"/>
          </p:cNvSpPr>
          <p:nvPr>
            <p:ph type="sldNum" sz="quarter" idx="4"/>
          </p:nvPr>
        </p:nvSpPr>
        <p:spPr>
          <a:xfrm>
            <a:off x="7620000" y="18288"/>
            <a:ext cx="1066800" cy="329184"/>
          </a:xfrm>
          <a:prstGeom prst="rect">
            <a:avLst/>
          </a:prstGeom>
        </p:spPr>
        <p:txBody>
          <a:bodyPr vert="horz" lIns="91440" tIns="45720" rIns="91440" bIns="45720" rtlCol="0" anchor="ctr"/>
          <a:lstStyle>
            <a:lvl1pPr algn="l">
              <a:defRPr sz="1400" b="1">
                <a:solidFill>
                  <a:srgbClr val="FFFFFF"/>
                </a:solidFill>
              </a:defRPr>
            </a:lvl1pPr>
          </a:lstStyle>
          <a:p>
            <a:fld id="{A005A5E8-4213-488D-8019-D06882925F76}"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82" r:id="rId1"/>
    <p:sldLayoutId id="2147483683" r:id="rId2"/>
    <p:sldLayoutId id="2147483684" r:id="rId3"/>
    <p:sldLayoutId id="2147483685" r:id="rId4"/>
    <p:sldLayoutId id="2147483686" r:id="rId5"/>
    <p:sldLayoutId id="2147483687" r:id="rId6"/>
    <p:sldLayoutId id="2147483688" r:id="rId7"/>
    <p:sldLayoutId id="2147483689" r:id="rId8"/>
    <p:sldLayoutId id="2147483690" r:id="rId9"/>
    <p:sldLayoutId id="2147483691" r:id="rId10"/>
    <p:sldLayoutId id="2147483692" r:id="rId11"/>
  </p:sldLayoutIdLst>
  <p:hf hdr="0" ftr="0" dt="0"/>
  <p:txStyles>
    <p:titleStyle>
      <a:lvl1pPr algn="l" defTabSz="914400" rtl="0" eaLnBrk="1" latinLnBrk="0" hangingPunct="1">
        <a:spcBef>
          <a:spcPct val="0"/>
        </a:spcBef>
        <a:buNone/>
        <a:defRPr sz="4000" kern="1200" spc="-100" baseline="0">
          <a:solidFill>
            <a:schemeClr val="tx2"/>
          </a:solidFill>
          <a:latin typeface="+mj-lt"/>
          <a:ea typeface="+mj-ea"/>
          <a:cs typeface="+mj-cs"/>
        </a:defRPr>
      </a:lvl1pPr>
    </p:titleStyle>
    <p:bodyStyle>
      <a:lvl1pPr marL="182880" indent="-182880" algn="l" defTabSz="914400" rtl="0" eaLnBrk="1" latinLnBrk="0" hangingPunct="1">
        <a:spcBef>
          <a:spcPct val="20000"/>
        </a:spcBef>
        <a:buClr>
          <a:schemeClr val="accent1"/>
        </a:buClr>
        <a:buSzPct val="85000"/>
        <a:buFont typeface="Arial" pitchFamily="34" charset="0"/>
        <a:buChar char="•"/>
        <a:defRPr sz="24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0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18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16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14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file:///C:\Users\ifrommer\OneDrive%20-%20Coast%20Guard%20Academy\Teaching\Courses\Info%20Systems\BANK\Lec%20&amp;%20Handouts\Class%208%20-%20Introduction%20to%20Databases%20&amp;%20Access\ORDA%20Majors%20Database81.accdb"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wm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9.wmf"/><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9.wmf"/><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6.wmf"/><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29.xml.rels><?xml version="1.0" encoding="UTF-8" standalone="yes"?>
<Relationships xmlns="http://schemas.openxmlformats.org/package/2006/relationships"><Relationship Id="rId3" Type="http://schemas.openxmlformats.org/officeDocument/2006/relationships/image" Target="../media/image21.wmf"/><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9.wmf"/><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2146" name="Rectangle 2"/>
          <p:cNvSpPr>
            <a:spLocks noGrp="1" noChangeArrowheads="1"/>
          </p:cNvSpPr>
          <p:nvPr>
            <p:ph type="ctrTitle"/>
          </p:nvPr>
        </p:nvSpPr>
        <p:spPr/>
        <p:txBody>
          <a:bodyPr/>
          <a:lstStyle/>
          <a:p>
            <a:r>
              <a:rPr lang="en-US" dirty="0"/>
              <a:t>Introduction to DATA STORAGE</a:t>
            </a:r>
            <a:br>
              <a:rPr lang="en-US" dirty="0"/>
            </a:br>
            <a:endParaRPr lang="en-US"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ED1FBF-7E43-6263-DD06-90D7FA1CA8B6}"/>
              </a:ext>
            </a:extLst>
          </p:cNvPr>
          <p:cNvSpPr>
            <a:spLocks noGrp="1"/>
          </p:cNvSpPr>
          <p:nvPr>
            <p:ph type="title"/>
          </p:nvPr>
        </p:nvSpPr>
        <p:spPr/>
        <p:txBody>
          <a:bodyPr/>
          <a:lstStyle/>
          <a:p>
            <a:r>
              <a:rPr lang="en-US" dirty="0"/>
              <a:t>Demonstration</a:t>
            </a:r>
          </a:p>
        </p:txBody>
      </p:sp>
      <p:sp>
        <p:nvSpPr>
          <p:cNvPr id="3" name="Content Placeholder 2">
            <a:extLst>
              <a:ext uri="{FF2B5EF4-FFF2-40B4-BE49-F238E27FC236}">
                <a16:creationId xmlns:a16="http://schemas.microsoft.com/office/drawing/2014/main" id="{F7ECC93A-7EFC-E9F9-998E-1C7C5BECF40B}"/>
              </a:ext>
            </a:extLst>
          </p:cNvPr>
          <p:cNvSpPr>
            <a:spLocks noGrp="1"/>
          </p:cNvSpPr>
          <p:nvPr>
            <p:ph idx="1"/>
          </p:nvPr>
        </p:nvSpPr>
        <p:spPr/>
        <p:txBody>
          <a:bodyPr/>
          <a:lstStyle/>
          <a:p>
            <a:r>
              <a:rPr lang="en-US" dirty="0"/>
              <a:t>See </a:t>
            </a:r>
            <a:r>
              <a:rPr lang="en-US" dirty="0">
                <a:hlinkClick r:id="rId2" action="ppaction://hlinkfile"/>
              </a:rPr>
              <a:t>ORDA Majors database</a:t>
            </a:r>
            <a:endParaRPr lang="en-US" dirty="0"/>
          </a:p>
        </p:txBody>
      </p:sp>
      <p:sp>
        <p:nvSpPr>
          <p:cNvPr id="4" name="Slide Number Placeholder 3">
            <a:extLst>
              <a:ext uri="{FF2B5EF4-FFF2-40B4-BE49-F238E27FC236}">
                <a16:creationId xmlns:a16="http://schemas.microsoft.com/office/drawing/2014/main" id="{B9C31C99-2048-5687-84F0-7F8EBA95DE15}"/>
              </a:ext>
            </a:extLst>
          </p:cNvPr>
          <p:cNvSpPr>
            <a:spLocks noGrp="1"/>
          </p:cNvSpPr>
          <p:nvPr>
            <p:ph type="sldNum" sz="quarter" idx="12"/>
          </p:nvPr>
        </p:nvSpPr>
        <p:spPr/>
        <p:txBody>
          <a:bodyPr/>
          <a:lstStyle/>
          <a:p>
            <a:fld id="{E345EAD5-4C19-43E8-92AC-D4AD00C5745A}" type="slidenum">
              <a:rPr lang="en-US" smtClean="0"/>
              <a:pPr/>
              <a:t>2</a:t>
            </a:fld>
            <a:endParaRPr lang="en-US"/>
          </a:p>
        </p:txBody>
      </p:sp>
      <p:pic>
        <p:nvPicPr>
          <p:cNvPr id="6" name="Picture 5">
            <a:extLst>
              <a:ext uri="{FF2B5EF4-FFF2-40B4-BE49-F238E27FC236}">
                <a16:creationId xmlns:a16="http://schemas.microsoft.com/office/drawing/2014/main" id="{5689473B-2251-DC37-379F-80C30ACB5C48}"/>
              </a:ext>
            </a:extLst>
          </p:cNvPr>
          <p:cNvPicPr>
            <a:picLocks noChangeAspect="1"/>
          </p:cNvPicPr>
          <p:nvPr/>
        </p:nvPicPr>
        <p:blipFill>
          <a:blip r:embed="rId3"/>
          <a:stretch>
            <a:fillRect/>
          </a:stretch>
        </p:blipFill>
        <p:spPr>
          <a:xfrm>
            <a:off x="1132894" y="2580862"/>
            <a:ext cx="6878212" cy="3753898"/>
          </a:xfrm>
          <a:prstGeom prst="rect">
            <a:avLst/>
          </a:prstGeom>
        </p:spPr>
      </p:pic>
    </p:spTree>
    <p:extLst>
      <p:ext uri="{BB962C8B-B14F-4D97-AF65-F5344CB8AC3E}">
        <p14:creationId xmlns:p14="http://schemas.microsoft.com/office/powerpoint/2010/main" val="17483930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F795AA-17FD-4F82-AE15-AB7A8B07A5E6}"/>
              </a:ext>
            </a:extLst>
          </p:cNvPr>
          <p:cNvSpPr>
            <a:spLocks noGrp="1"/>
          </p:cNvSpPr>
          <p:nvPr>
            <p:ph type="title"/>
          </p:nvPr>
        </p:nvSpPr>
        <p:spPr>
          <a:xfrm>
            <a:off x="457200" y="114754"/>
            <a:ext cx="8229600" cy="1143000"/>
          </a:xfrm>
        </p:spPr>
        <p:txBody>
          <a:bodyPr/>
          <a:lstStyle/>
          <a:p>
            <a:r>
              <a:rPr lang="en-US" dirty="0"/>
              <a:t>Today</a:t>
            </a:r>
          </a:p>
        </p:txBody>
      </p:sp>
      <p:sp>
        <p:nvSpPr>
          <p:cNvPr id="3" name="Content Placeholder 2">
            <a:extLst>
              <a:ext uri="{FF2B5EF4-FFF2-40B4-BE49-F238E27FC236}">
                <a16:creationId xmlns:a16="http://schemas.microsoft.com/office/drawing/2014/main" id="{9FFC810E-B400-42E8-8290-6DFF1C1D6B22}"/>
              </a:ext>
            </a:extLst>
          </p:cNvPr>
          <p:cNvSpPr>
            <a:spLocks noGrp="1"/>
          </p:cNvSpPr>
          <p:nvPr>
            <p:ph idx="1"/>
          </p:nvPr>
        </p:nvSpPr>
        <p:spPr>
          <a:xfrm>
            <a:off x="457200" y="1371600"/>
            <a:ext cx="8458200" cy="5349875"/>
          </a:xfrm>
        </p:spPr>
        <p:txBody>
          <a:bodyPr>
            <a:normAutofit/>
          </a:bodyPr>
          <a:lstStyle/>
          <a:p>
            <a:pPr marL="0" indent="0">
              <a:buNone/>
            </a:pPr>
            <a:r>
              <a:rPr lang="en-US" sz="3200" dirty="0"/>
              <a:t>I. Introduction to </a:t>
            </a:r>
            <a:r>
              <a:rPr lang="en-US" sz="3200" b="1" dirty="0"/>
              <a:t>data storage/management</a:t>
            </a:r>
          </a:p>
          <a:p>
            <a:pPr lvl="1"/>
            <a:endParaRPr lang="en-US" sz="1400" b="1" dirty="0"/>
          </a:p>
          <a:p>
            <a:pPr marL="788670" lvl="1" indent="-514350">
              <a:buFont typeface="+mj-lt"/>
              <a:buAutoNum type="alphaUcPeriod"/>
            </a:pPr>
            <a:r>
              <a:rPr lang="en-US" sz="2800" dirty="0"/>
              <a:t> </a:t>
            </a:r>
            <a:r>
              <a:rPr lang="en-US" sz="2800" b="1" dirty="0"/>
              <a:t>Contrast 2 approaches</a:t>
            </a:r>
            <a:r>
              <a:rPr lang="en-US" sz="2800" dirty="0"/>
              <a:t>:</a:t>
            </a:r>
          </a:p>
          <a:p>
            <a:pPr marL="1062990" lvl="2" indent="-514350">
              <a:buFont typeface="+mj-lt"/>
              <a:buAutoNum type="arabicPeriod"/>
            </a:pPr>
            <a:r>
              <a:rPr lang="en-US" sz="2600" b="1" dirty="0"/>
              <a:t>Traditional </a:t>
            </a:r>
            <a:r>
              <a:rPr lang="en-US" sz="2600" dirty="0"/>
              <a:t>approach </a:t>
            </a:r>
          </a:p>
          <a:p>
            <a:pPr marL="1062990" lvl="2" indent="-514350">
              <a:buFont typeface="+mj-lt"/>
              <a:buAutoNum type="arabicPeriod"/>
            </a:pPr>
            <a:r>
              <a:rPr lang="en-US" sz="2600" b="1" dirty="0"/>
              <a:t>Database </a:t>
            </a:r>
            <a:r>
              <a:rPr lang="en-US" sz="2600" dirty="0"/>
              <a:t>approach</a:t>
            </a:r>
          </a:p>
          <a:p>
            <a:pPr marL="1062990" lvl="2" indent="-514350">
              <a:buNone/>
            </a:pPr>
            <a:endParaRPr lang="en-US" sz="2600" dirty="0"/>
          </a:p>
          <a:p>
            <a:pPr marL="788670" lvl="1" indent="-514350">
              <a:buFont typeface="+mj-lt"/>
              <a:buAutoNum type="alphaUcPeriod"/>
            </a:pPr>
            <a:r>
              <a:rPr lang="en-US" sz="2800" dirty="0"/>
              <a:t>Basic database terminology</a:t>
            </a:r>
          </a:p>
          <a:p>
            <a:pPr marL="457200" lvl="1" indent="0">
              <a:buNone/>
            </a:pPr>
            <a:endParaRPr lang="en-US" sz="2800" dirty="0"/>
          </a:p>
          <a:p>
            <a:pPr marL="0" indent="0">
              <a:buNone/>
            </a:pPr>
            <a:r>
              <a:rPr lang="en-US" sz="3200" dirty="0"/>
              <a:t>II. Introduction to </a:t>
            </a:r>
            <a:r>
              <a:rPr lang="en-US" sz="3200" b="1" dirty="0"/>
              <a:t>Access</a:t>
            </a:r>
            <a:endParaRPr lang="en-US" sz="2800" b="1" dirty="0"/>
          </a:p>
          <a:p>
            <a:endParaRPr lang="en-US" sz="3200" dirty="0"/>
          </a:p>
          <a:p>
            <a:endParaRPr lang="en-US" sz="3200" dirty="0"/>
          </a:p>
          <a:p>
            <a:endParaRPr lang="en-US" sz="3200" dirty="0"/>
          </a:p>
          <a:p>
            <a:endParaRPr lang="en-US" sz="3200" dirty="0"/>
          </a:p>
          <a:p>
            <a:endParaRPr lang="en-US" sz="3200" dirty="0"/>
          </a:p>
        </p:txBody>
      </p:sp>
      <p:sp>
        <p:nvSpPr>
          <p:cNvPr id="4" name="Slide Number Placeholder 3">
            <a:extLst>
              <a:ext uri="{FF2B5EF4-FFF2-40B4-BE49-F238E27FC236}">
                <a16:creationId xmlns:a16="http://schemas.microsoft.com/office/drawing/2014/main" id="{BF7CA37F-8FDC-4DC0-8034-D3C80F08EF6A}"/>
              </a:ext>
            </a:extLst>
          </p:cNvPr>
          <p:cNvSpPr>
            <a:spLocks noGrp="1"/>
          </p:cNvSpPr>
          <p:nvPr>
            <p:ph type="sldNum" sz="quarter" idx="12"/>
          </p:nvPr>
        </p:nvSpPr>
        <p:spPr/>
        <p:txBody>
          <a:bodyPr/>
          <a:lstStyle/>
          <a:p>
            <a:fld id="{E345EAD5-4C19-43E8-92AC-D4AD00C5745A}" type="slidenum">
              <a:rPr lang="en-US" smtClean="0"/>
              <a:pPr/>
              <a:t>3</a:t>
            </a:fld>
            <a:endParaRPr lang="en-US"/>
          </a:p>
        </p:txBody>
      </p:sp>
      <p:pic>
        <p:nvPicPr>
          <p:cNvPr id="5" name="Picture 6" descr="https://upload.wikimedia.org/wikipedia/commons/thumb/3/30/Microsoft_Office_Access_%282013%E2%80%93present%29.svg/1200px-Microsoft_Office_Access_%282013%E2%80%93present%29.svg.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791200" y="5410200"/>
            <a:ext cx="804930" cy="762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935128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531" name="Rectangle 3"/>
          <p:cNvSpPr>
            <a:spLocks noGrp="1" noChangeArrowheads="1"/>
          </p:cNvSpPr>
          <p:nvPr>
            <p:ph idx="1"/>
          </p:nvPr>
        </p:nvSpPr>
        <p:spPr>
          <a:xfrm>
            <a:off x="457200" y="1828800"/>
            <a:ext cx="8229600" cy="4648200"/>
          </a:xfrm>
        </p:spPr>
        <p:txBody>
          <a:bodyPr>
            <a:normAutofit/>
          </a:bodyPr>
          <a:lstStyle/>
          <a:p>
            <a:pPr marL="0" indent="0">
              <a:buNone/>
            </a:pPr>
            <a:r>
              <a:rPr lang="en-US" dirty="0"/>
              <a:t>Storing data in “flat files”, such as a text file or a csv file, i.e. 2-dimensional data</a:t>
            </a:r>
          </a:p>
        </p:txBody>
      </p:sp>
      <p:sp>
        <p:nvSpPr>
          <p:cNvPr id="5" name="Slide Number Placeholder 4"/>
          <p:cNvSpPr>
            <a:spLocks noGrp="1"/>
          </p:cNvSpPr>
          <p:nvPr>
            <p:ph type="sldNum" sz="quarter" idx="12"/>
          </p:nvPr>
        </p:nvSpPr>
        <p:spPr/>
        <p:txBody>
          <a:bodyPr/>
          <a:lstStyle/>
          <a:p>
            <a:fld id="{60478DB4-91EC-4281-BDA3-5A2957A15AB1}" type="slidenum">
              <a:rPr lang="en-US"/>
              <a:pPr/>
              <a:t>4</a:t>
            </a:fld>
            <a:endParaRPr lang="en-US"/>
          </a:p>
        </p:txBody>
      </p:sp>
      <p:sp>
        <p:nvSpPr>
          <p:cNvPr id="2" name="Title 1"/>
          <p:cNvSpPr>
            <a:spLocks noGrp="1"/>
          </p:cNvSpPr>
          <p:nvPr>
            <p:ph type="title"/>
          </p:nvPr>
        </p:nvSpPr>
        <p:spPr>
          <a:xfrm>
            <a:off x="457199" y="533400"/>
            <a:ext cx="8461643" cy="990600"/>
          </a:xfrm>
        </p:spPr>
        <p:txBody>
          <a:bodyPr>
            <a:normAutofit/>
          </a:bodyPr>
          <a:lstStyle/>
          <a:p>
            <a:r>
              <a:rPr lang="en-US" sz="3200" dirty="0"/>
              <a:t>1. Traditional Approach to Data Management</a:t>
            </a:r>
          </a:p>
        </p:txBody>
      </p:sp>
      <p:pic>
        <p:nvPicPr>
          <p:cNvPr id="6" name="Picture 5">
            <a:extLst>
              <a:ext uri="{FF2B5EF4-FFF2-40B4-BE49-F238E27FC236}">
                <a16:creationId xmlns:a16="http://schemas.microsoft.com/office/drawing/2014/main" id="{A71E572A-41E3-4A1E-AB77-905B42F1E854}"/>
              </a:ext>
            </a:extLst>
          </p:cNvPr>
          <p:cNvPicPr>
            <a:picLocks noChangeAspect="1"/>
          </p:cNvPicPr>
          <p:nvPr/>
        </p:nvPicPr>
        <p:blipFill>
          <a:blip r:embed="rId3" cstate="print"/>
          <a:stretch>
            <a:fillRect/>
          </a:stretch>
        </p:blipFill>
        <p:spPr>
          <a:xfrm>
            <a:off x="225157" y="3352800"/>
            <a:ext cx="8693686" cy="20383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0FC095-97F7-437A-ABCC-AC305707227F}"/>
              </a:ext>
            </a:extLst>
          </p:cNvPr>
          <p:cNvSpPr>
            <a:spLocks noGrp="1"/>
          </p:cNvSpPr>
          <p:nvPr>
            <p:ph type="title"/>
          </p:nvPr>
        </p:nvSpPr>
        <p:spPr/>
        <p:txBody>
          <a:bodyPr>
            <a:normAutofit/>
          </a:bodyPr>
          <a:lstStyle/>
          <a:p>
            <a:r>
              <a:rPr lang="en-US" dirty="0"/>
              <a:t>2. Database Approach</a:t>
            </a:r>
            <a:endParaRPr lang="en-US" sz="3100" dirty="0"/>
          </a:p>
        </p:txBody>
      </p:sp>
      <p:sp>
        <p:nvSpPr>
          <p:cNvPr id="3" name="Content Placeholder 2">
            <a:extLst>
              <a:ext uri="{FF2B5EF4-FFF2-40B4-BE49-F238E27FC236}">
                <a16:creationId xmlns:a16="http://schemas.microsoft.com/office/drawing/2014/main" id="{7C0E4103-2131-47AD-BC97-916C596E89DE}"/>
              </a:ext>
            </a:extLst>
          </p:cNvPr>
          <p:cNvSpPr>
            <a:spLocks noGrp="1"/>
          </p:cNvSpPr>
          <p:nvPr>
            <p:ph idx="1"/>
          </p:nvPr>
        </p:nvSpPr>
        <p:spPr>
          <a:xfrm>
            <a:off x="457200" y="1524000"/>
            <a:ext cx="8229600" cy="4953000"/>
          </a:xfrm>
        </p:spPr>
        <p:txBody>
          <a:bodyPr>
            <a:normAutofit/>
          </a:bodyPr>
          <a:lstStyle/>
          <a:p>
            <a:pPr marL="0" indent="0">
              <a:buNone/>
            </a:pPr>
            <a:r>
              <a:rPr lang="en-US" b="1" dirty="0"/>
              <a:t>Database Types:</a:t>
            </a:r>
          </a:p>
          <a:p>
            <a:pPr marL="0" indent="0">
              <a:buNone/>
            </a:pPr>
            <a:endParaRPr lang="en-US" sz="1600" b="1" dirty="0"/>
          </a:p>
          <a:p>
            <a:pPr marL="0" indent="0">
              <a:buNone/>
            </a:pPr>
            <a:r>
              <a:rPr lang="en-US" b="1" dirty="0"/>
              <a:t>1.  Relational</a:t>
            </a:r>
            <a:r>
              <a:rPr lang="en-US" dirty="0"/>
              <a:t> (SQL)  	      2.  </a:t>
            </a:r>
            <a:r>
              <a:rPr lang="en-US" b="1" dirty="0"/>
              <a:t>Non-relational</a:t>
            </a:r>
            <a:r>
              <a:rPr lang="en-US" dirty="0"/>
              <a:t> (NoSQL)</a:t>
            </a:r>
          </a:p>
          <a:p>
            <a:pPr marL="0" indent="0">
              <a:buNone/>
            </a:pPr>
            <a:endParaRPr lang="en-US" dirty="0"/>
          </a:p>
        </p:txBody>
      </p:sp>
      <p:sp>
        <p:nvSpPr>
          <p:cNvPr id="4" name="Slide Number Placeholder 3">
            <a:extLst>
              <a:ext uri="{FF2B5EF4-FFF2-40B4-BE49-F238E27FC236}">
                <a16:creationId xmlns:a16="http://schemas.microsoft.com/office/drawing/2014/main" id="{AABC52B9-9001-48F1-B796-3C8121C303FE}"/>
              </a:ext>
            </a:extLst>
          </p:cNvPr>
          <p:cNvSpPr>
            <a:spLocks noGrp="1"/>
          </p:cNvSpPr>
          <p:nvPr>
            <p:ph type="sldNum" sz="quarter" idx="12"/>
          </p:nvPr>
        </p:nvSpPr>
        <p:spPr/>
        <p:txBody>
          <a:bodyPr/>
          <a:lstStyle/>
          <a:p>
            <a:fld id="{E345EAD5-4C19-43E8-92AC-D4AD00C5745A}" type="slidenum">
              <a:rPr lang="en-US" smtClean="0"/>
              <a:pPr/>
              <a:t>5</a:t>
            </a:fld>
            <a:endParaRPr lang="en-US"/>
          </a:p>
        </p:txBody>
      </p:sp>
      <p:pic>
        <p:nvPicPr>
          <p:cNvPr id="5" name="Picture 4"/>
          <p:cNvPicPr>
            <a:picLocks noChangeAspect="1"/>
          </p:cNvPicPr>
          <p:nvPr/>
        </p:nvPicPr>
        <p:blipFill rotWithShape="1">
          <a:blip r:embed="rId3"/>
          <a:srcRect t="20542"/>
          <a:stretch/>
        </p:blipFill>
        <p:spPr>
          <a:xfrm>
            <a:off x="692944" y="2895600"/>
            <a:ext cx="7300912" cy="2652778"/>
          </a:xfrm>
          <a:prstGeom prst="rect">
            <a:avLst/>
          </a:prstGeom>
        </p:spPr>
      </p:pic>
      <p:sp>
        <p:nvSpPr>
          <p:cNvPr id="6" name="Rectangle 5"/>
          <p:cNvSpPr/>
          <p:nvPr/>
        </p:nvSpPr>
        <p:spPr>
          <a:xfrm>
            <a:off x="304800" y="5522892"/>
            <a:ext cx="8077200" cy="369332"/>
          </a:xfrm>
          <a:prstGeom prst="rect">
            <a:avLst/>
          </a:prstGeom>
        </p:spPr>
        <p:txBody>
          <a:bodyPr wrap="square">
            <a:spAutoFit/>
          </a:bodyPr>
          <a:lstStyle/>
          <a:p>
            <a:pPr algn="ctr"/>
            <a:r>
              <a:rPr lang="en-US" dirty="0"/>
              <a:t>SQL = Structured Query Language	NoSQL = Not Only SQL</a:t>
            </a:r>
          </a:p>
        </p:txBody>
      </p:sp>
      <p:sp>
        <p:nvSpPr>
          <p:cNvPr id="7" name="Rectangle 6"/>
          <p:cNvSpPr/>
          <p:nvPr/>
        </p:nvSpPr>
        <p:spPr>
          <a:xfrm>
            <a:off x="217745" y="6474023"/>
            <a:ext cx="8926255" cy="307777"/>
          </a:xfrm>
          <a:prstGeom prst="rect">
            <a:avLst/>
          </a:prstGeom>
        </p:spPr>
        <p:txBody>
          <a:bodyPr wrap="square">
            <a:spAutoFit/>
          </a:bodyPr>
          <a:lstStyle/>
          <a:p>
            <a:r>
              <a:rPr lang="en-US" sz="1400" dirty="0"/>
              <a:t>Source:  https://medium.com/@lizparody/databases-for-frontend-developers-2a4e9f16b7b4</a:t>
            </a:r>
          </a:p>
        </p:txBody>
      </p:sp>
    </p:spTree>
    <p:extLst>
      <p:ext uri="{BB962C8B-B14F-4D97-AF65-F5344CB8AC3E}">
        <p14:creationId xmlns:p14="http://schemas.microsoft.com/office/powerpoint/2010/main" val="17802580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4"/>
          <p:cNvPicPr>
            <a:picLocks noGrp="1" noChangeAspect="1" noChangeArrowheads="1"/>
          </p:cNvPicPr>
          <p:nvPr>
            <p:ph idx="1"/>
          </p:nvPr>
        </p:nvPicPr>
        <p:blipFill>
          <a:blip r:embed="rId2" cstate="print"/>
          <a:srcRect b="5466"/>
          <a:stretch>
            <a:fillRect/>
          </a:stretch>
        </p:blipFill>
        <p:spPr bwMode="auto">
          <a:xfrm>
            <a:off x="685800" y="1295400"/>
            <a:ext cx="7493391" cy="5181601"/>
          </a:xfrm>
          <a:prstGeom prst="rect">
            <a:avLst/>
          </a:prstGeom>
          <a:noFill/>
          <a:ln w="9525" algn="ctr">
            <a:noFill/>
            <a:miter lim="800000"/>
            <a:headEnd/>
            <a:tailEnd/>
          </a:ln>
        </p:spPr>
      </p:pic>
      <p:sp>
        <p:nvSpPr>
          <p:cNvPr id="5" name="Slide Number Placeholder 2"/>
          <p:cNvSpPr>
            <a:spLocks noGrp="1"/>
          </p:cNvSpPr>
          <p:nvPr>
            <p:ph type="sldNum" sz="quarter" idx="12"/>
          </p:nvPr>
        </p:nvSpPr>
        <p:spPr/>
        <p:txBody>
          <a:bodyPr/>
          <a:lstStyle/>
          <a:p>
            <a:pPr>
              <a:defRPr/>
            </a:pPr>
            <a:fld id="{004D541D-1040-4C4E-B196-A50730C9725E}" type="slidenum">
              <a:rPr lang="en-US"/>
              <a:pPr>
                <a:defRPr/>
              </a:pPr>
              <a:t>6</a:t>
            </a:fld>
            <a:endParaRPr lang="en-US" dirty="0"/>
          </a:p>
        </p:txBody>
      </p:sp>
      <p:sp>
        <p:nvSpPr>
          <p:cNvPr id="6" name="Rectangle 2"/>
          <p:cNvSpPr txBox="1">
            <a:spLocks noChangeArrowheads="1"/>
          </p:cNvSpPr>
          <p:nvPr/>
        </p:nvSpPr>
        <p:spPr>
          <a:xfrm>
            <a:off x="533400" y="76200"/>
            <a:ext cx="8077200" cy="1143000"/>
          </a:xfrm>
          <a:prstGeom prst="rect">
            <a:avLst/>
          </a:prstGeom>
        </p:spPr>
        <p:txBody>
          <a:bodyPr/>
          <a:lstStyle/>
          <a:p>
            <a:pPr algn="ctr">
              <a:defRPr/>
            </a:pPr>
            <a:endParaRPr lang="en-US" sz="3600" kern="0" dirty="0">
              <a:solidFill>
                <a:srgbClr val="222222"/>
              </a:solidFill>
              <a:latin typeface="+mj-lt"/>
              <a:ea typeface="+mj-ea"/>
              <a:cs typeface="+mj-cs"/>
            </a:endParaRPr>
          </a:p>
        </p:txBody>
      </p:sp>
      <p:sp>
        <p:nvSpPr>
          <p:cNvPr id="8" name="Title 6"/>
          <p:cNvSpPr>
            <a:spLocks noGrp="1"/>
          </p:cNvSpPr>
          <p:nvPr>
            <p:ph type="title"/>
          </p:nvPr>
        </p:nvSpPr>
        <p:spPr>
          <a:xfrm>
            <a:off x="457200" y="533400"/>
            <a:ext cx="8229600" cy="990600"/>
          </a:xfrm>
        </p:spPr>
        <p:txBody>
          <a:bodyPr>
            <a:noAutofit/>
          </a:bodyPr>
          <a:lstStyle/>
          <a:p>
            <a:r>
              <a:rPr lang="en-US" sz="2800" dirty="0"/>
              <a:t>Relational Databases use Linked Tables that Capture Relationships</a:t>
            </a:r>
          </a:p>
        </p:txBody>
      </p:sp>
    </p:spTree>
    <p:extLst>
      <p:ext uri="{BB962C8B-B14F-4D97-AF65-F5344CB8AC3E}">
        <p14:creationId xmlns:p14="http://schemas.microsoft.com/office/powerpoint/2010/main" val="14613213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2"/>
          <p:cNvSpPr>
            <a:spLocks noGrp="1"/>
          </p:cNvSpPr>
          <p:nvPr>
            <p:ph type="sldNum" sz="quarter" idx="12"/>
          </p:nvPr>
        </p:nvSpPr>
        <p:spPr/>
        <p:txBody>
          <a:bodyPr/>
          <a:lstStyle/>
          <a:p>
            <a:pPr>
              <a:defRPr/>
            </a:pPr>
            <a:fld id="{004D541D-1040-4C4E-B196-A50730C9725E}" type="slidenum">
              <a:rPr lang="en-US"/>
              <a:pPr>
                <a:defRPr/>
              </a:pPr>
              <a:t>7</a:t>
            </a:fld>
            <a:endParaRPr lang="en-US" dirty="0"/>
          </a:p>
        </p:txBody>
      </p:sp>
      <p:pic>
        <p:nvPicPr>
          <p:cNvPr id="3" name="Picture 2"/>
          <p:cNvPicPr>
            <a:picLocks noChangeAspect="1"/>
          </p:cNvPicPr>
          <p:nvPr/>
        </p:nvPicPr>
        <p:blipFill>
          <a:blip r:embed="rId3" cstate="print"/>
          <a:stretch>
            <a:fillRect/>
          </a:stretch>
        </p:blipFill>
        <p:spPr>
          <a:xfrm rot="4344821">
            <a:off x="-345641" y="2579458"/>
            <a:ext cx="5798621" cy="2560606"/>
          </a:xfrm>
          <a:prstGeom prst="rect">
            <a:avLst/>
          </a:prstGeom>
          <a:scene3d>
            <a:camera prst="isometricTopUp">
              <a:rot lat="20985157" lon="17872984" rev="4078280"/>
            </a:camera>
            <a:lightRig rig="threePt" dir="t"/>
          </a:scene3d>
        </p:spPr>
      </p:pic>
      <p:pic>
        <p:nvPicPr>
          <p:cNvPr id="2" name="Picture 1"/>
          <p:cNvPicPr>
            <a:picLocks noChangeAspect="1"/>
          </p:cNvPicPr>
          <p:nvPr/>
        </p:nvPicPr>
        <p:blipFill>
          <a:blip r:embed="rId4" cstate="print">
            <a:clrChange>
              <a:clrFrom>
                <a:srgbClr val="FFFFFF"/>
              </a:clrFrom>
              <a:clrTo>
                <a:srgbClr val="FFFFFF">
                  <a:alpha val="0"/>
                </a:srgbClr>
              </a:clrTo>
            </a:clrChange>
          </a:blip>
          <a:stretch>
            <a:fillRect/>
          </a:stretch>
        </p:blipFill>
        <p:spPr>
          <a:xfrm>
            <a:off x="2802697" y="3094004"/>
            <a:ext cx="5655503" cy="2513557"/>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orthographicFront"/>
            <a:lightRig rig="threePt" dir="t"/>
          </a:scene3d>
          <a:sp3d contourW="6350" prstMaterial="matte">
            <a:bevelT w="101600" h="101600"/>
            <a:contourClr>
              <a:srgbClr val="969696"/>
            </a:contourClr>
          </a:sp3d>
        </p:spPr>
      </p:pic>
      <p:cxnSp>
        <p:nvCxnSpPr>
          <p:cNvPr id="11" name="Straight Connector 10"/>
          <p:cNvCxnSpPr/>
          <p:nvPr/>
        </p:nvCxnSpPr>
        <p:spPr>
          <a:xfrm flipH="1" flipV="1">
            <a:off x="5241097" y="2027204"/>
            <a:ext cx="2590800" cy="990600"/>
          </a:xfrm>
          <a:prstGeom prst="line">
            <a:avLst/>
          </a:prstGeom>
        </p:spPr>
        <p:style>
          <a:lnRef idx="1">
            <a:schemeClr val="accent1"/>
          </a:lnRef>
          <a:fillRef idx="0">
            <a:schemeClr val="accent1"/>
          </a:fillRef>
          <a:effectRef idx="0">
            <a:schemeClr val="accent1"/>
          </a:effectRef>
          <a:fontRef idx="minor">
            <a:schemeClr val="tx1"/>
          </a:fontRef>
        </p:style>
      </p:cxnSp>
      <p:pic>
        <p:nvPicPr>
          <p:cNvPr id="12" name="Picture 11"/>
          <p:cNvPicPr>
            <a:picLocks noChangeAspect="1"/>
          </p:cNvPicPr>
          <p:nvPr/>
        </p:nvPicPr>
        <p:blipFill rotWithShape="1">
          <a:blip r:embed="rId5" cstate="print"/>
          <a:srcRect t="12500"/>
          <a:stretch/>
        </p:blipFill>
        <p:spPr>
          <a:xfrm>
            <a:off x="4572000" y="2705100"/>
            <a:ext cx="2038350" cy="266700"/>
          </a:xfrm>
          <a:prstGeom prst="rect">
            <a:avLst/>
          </a:prstGeom>
        </p:spPr>
      </p:pic>
      <p:pic>
        <p:nvPicPr>
          <p:cNvPr id="13" name="Picture 12"/>
          <p:cNvPicPr>
            <a:picLocks noChangeAspect="1"/>
          </p:cNvPicPr>
          <p:nvPr/>
        </p:nvPicPr>
        <p:blipFill>
          <a:blip r:embed="rId6" cstate="print"/>
          <a:stretch>
            <a:fillRect/>
          </a:stretch>
        </p:blipFill>
        <p:spPr>
          <a:xfrm rot="1590215">
            <a:off x="2273784" y="2347071"/>
            <a:ext cx="1360811" cy="265721"/>
          </a:xfrm>
          <a:prstGeom prst="rect">
            <a:avLst/>
          </a:prstGeom>
          <a:scene3d>
            <a:camera prst="isometricTopUp">
              <a:rot lat="20333144" lon="20234527" rev="692955"/>
            </a:camera>
            <a:lightRig rig="threePt" dir="t"/>
          </a:scene3d>
        </p:spPr>
      </p:pic>
      <p:sp>
        <p:nvSpPr>
          <p:cNvPr id="9" name="Title 6"/>
          <p:cNvSpPr>
            <a:spLocks noGrp="1"/>
          </p:cNvSpPr>
          <p:nvPr>
            <p:ph type="title"/>
          </p:nvPr>
        </p:nvSpPr>
        <p:spPr>
          <a:xfrm>
            <a:off x="457200" y="533400"/>
            <a:ext cx="8534400" cy="990600"/>
          </a:xfrm>
        </p:spPr>
        <p:txBody>
          <a:bodyPr>
            <a:normAutofit fontScale="90000"/>
          </a:bodyPr>
          <a:lstStyle/>
          <a:p>
            <a:r>
              <a:rPr lang="en-US" dirty="0"/>
              <a:t>Rough Visualization of Table Relationships</a:t>
            </a:r>
          </a:p>
        </p:txBody>
      </p:sp>
    </p:spTree>
    <p:extLst>
      <p:ext uri="{BB962C8B-B14F-4D97-AF65-F5344CB8AC3E}">
        <p14:creationId xmlns:p14="http://schemas.microsoft.com/office/powerpoint/2010/main" val="17740395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0FC095-97F7-437A-ABCC-AC305707227F}"/>
              </a:ext>
            </a:extLst>
          </p:cNvPr>
          <p:cNvSpPr>
            <a:spLocks noGrp="1"/>
          </p:cNvSpPr>
          <p:nvPr>
            <p:ph type="title"/>
          </p:nvPr>
        </p:nvSpPr>
        <p:spPr/>
        <p:txBody>
          <a:bodyPr>
            <a:normAutofit/>
          </a:bodyPr>
          <a:lstStyle/>
          <a:p>
            <a:r>
              <a:rPr lang="en-US" dirty="0"/>
              <a:t>Aspects of Relational Databases</a:t>
            </a:r>
            <a:endParaRPr lang="en-US" sz="3100" dirty="0"/>
          </a:p>
        </p:txBody>
      </p:sp>
      <p:sp>
        <p:nvSpPr>
          <p:cNvPr id="3" name="Content Placeholder 2">
            <a:extLst>
              <a:ext uri="{FF2B5EF4-FFF2-40B4-BE49-F238E27FC236}">
                <a16:creationId xmlns:a16="http://schemas.microsoft.com/office/drawing/2014/main" id="{7C0E4103-2131-47AD-BC97-916C596E89DE}"/>
              </a:ext>
            </a:extLst>
          </p:cNvPr>
          <p:cNvSpPr>
            <a:spLocks noGrp="1"/>
          </p:cNvSpPr>
          <p:nvPr>
            <p:ph idx="1"/>
          </p:nvPr>
        </p:nvSpPr>
        <p:spPr/>
        <p:txBody>
          <a:bodyPr>
            <a:normAutofit/>
          </a:bodyPr>
          <a:lstStyle/>
          <a:p>
            <a:r>
              <a:rPr lang="en-US" dirty="0"/>
              <a:t>Contain structured data</a:t>
            </a:r>
          </a:p>
          <a:p>
            <a:pPr lvl="1"/>
            <a:r>
              <a:rPr lang="en-US" dirty="0"/>
              <a:t>Structured data has defined datatypes (zip-codes, dates, long-text, etc.)</a:t>
            </a:r>
          </a:p>
          <a:p>
            <a:r>
              <a:rPr lang="en-US" dirty="0"/>
              <a:t>Data items have pre-defined relationships between them</a:t>
            </a:r>
          </a:p>
          <a:p>
            <a:r>
              <a:rPr lang="en-US" dirty="0"/>
              <a:t>Data are organized as a </a:t>
            </a:r>
            <a:r>
              <a:rPr lang="en-US" b="1" dirty="0"/>
              <a:t>set of 2-dimensional tables</a:t>
            </a:r>
          </a:p>
          <a:p>
            <a:r>
              <a:rPr lang="en-US" dirty="0"/>
              <a:t>Each row in a table has a unique identifier</a:t>
            </a:r>
          </a:p>
          <a:p>
            <a:r>
              <a:rPr lang="en-US" dirty="0"/>
              <a:t>Database can be queried in many different ways without reorganizing the tables</a:t>
            </a:r>
          </a:p>
        </p:txBody>
      </p:sp>
      <p:sp>
        <p:nvSpPr>
          <p:cNvPr id="4" name="Slide Number Placeholder 3">
            <a:extLst>
              <a:ext uri="{FF2B5EF4-FFF2-40B4-BE49-F238E27FC236}">
                <a16:creationId xmlns:a16="http://schemas.microsoft.com/office/drawing/2014/main" id="{AABC52B9-9001-48F1-B796-3C8121C303FE}"/>
              </a:ext>
            </a:extLst>
          </p:cNvPr>
          <p:cNvSpPr>
            <a:spLocks noGrp="1"/>
          </p:cNvSpPr>
          <p:nvPr>
            <p:ph type="sldNum" sz="quarter" idx="12"/>
          </p:nvPr>
        </p:nvSpPr>
        <p:spPr/>
        <p:txBody>
          <a:bodyPr/>
          <a:lstStyle/>
          <a:p>
            <a:fld id="{E345EAD5-4C19-43E8-92AC-D4AD00C5745A}" type="slidenum">
              <a:rPr lang="en-US" smtClean="0"/>
              <a:pPr/>
              <a:t>8</a:t>
            </a:fld>
            <a:endParaRPr lang="en-US"/>
          </a:p>
        </p:txBody>
      </p:sp>
      <p:sp>
        <p:nvSpPr>
          <p:cNvPr id="5" name="Rectangle 4"/>
          <p:cNvSpPr/>
          <p:nvPr/>
        </p:nvSpPr>
        <p:spPr>
          <a:xfrm>
            <a:off x="5181600" y="6338500"/>
            <a:ext cx="4572000" cy="276999"/>
          </a:xfrm>
          <a:prstGeom prst="rect">
            <a:avLst/>
          </a:prstGeom>
        </p:spPr>
        <p:txBody>
          <a:bodyPr>
            <a:spAutoFit/>
          </a:bodyPr>
          <a:lstStyle/>
          <a:p>
            <a:r>
              <a:rPr lang="en-US" sz="1200" dirty="0"/>
              <a:t>https://aws.amazon.com/relational-database/</a:t>
            </a:r>
          </a:p>
        </p:txBody>
      </p:sp>
      <p:pic>
        <p:nvPicPr>
          <p:cNvPr id="4102" name="Picture 6" descr="https://upload.wikimedia.org/wikipedia/commons/thumb/3/30/Microsoft_Office_Access_%282013%E2%80%93present%29.svg/1200px-Microsoft_Office_Access_%282013%E2%80%93present%29.svg.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72204" y="5122731"/>
            <a:ext cx="1219200" cy="1154176"/>
          </a:xfrm>
          <a:prstGeom prst="rect">
            <a:avLst/>
          </a:prstGeom>
          <a:noFill/>
          <a:extLst>
            <a:ext uri="{909E8E84-426E-40DD-AFC4-6F175D3DCCD1}">
              <a14:hiddenFill xmlns:a14="http://schemas.microsoft.com/office/drawing/2010/main">
                <a:solidFill>
                  <a:srgbClr val="FFFFFF"/>
                </a:solidFill>
              </a14:hiddenFill>
            </a:ext>
          </a:extLst>
        </p:spPr>
      </p:pic>
      <p:pic>
        <p:nvPicPr>
          <p:cNvPr id="4104" name="Picture 8" descr="https://www.mysql.com/common/logos/logo-mysql-170x115.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352800" y="5029200"/>
            <a:ext cx="1676400" cy="1133476"/>
          </a:xfrm>
          <a:prstGeom prst="rect">
            <a:avLst/>
          </a:prstGeom>
          <a:noFill/>
          <a:extLst>
            <a:ext uri="{909E8E84-426E-40DD-AFC4-6F175D3DCCD1}">
              <a14:hiddenFill xmlns:a14="http://schemas.microsoft.com/office/drawing/2010/main">
                <a:solidFill>
                  <a:srgbClr val="FFFFFF"/>
                </a:solidFill>
              </a14:hiddenFill>
            </a:ext>
          </a:extLst>
        </p:spPr>
      </p:pic>
      <p:pic>
        <p:nvPicPr>
          <p:cNvPr id="4106" name="Picture 10" descr="http://www.logospng.com/images/146/oracle-database-management-amp-administration-canada-usa-146761.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807554" y="5147403"/>
            <a:ext cx="3119527" cy="11048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672780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0FC095-97F7-437A-ABCC-AC305707227F}"/>
              </a:ext>
            </a:extLst>
          </p:cNvPr>
          <p:cNvSpPr>
            <a:spLocks noGrp="1"/>
          </p:cNvSpPr>
          <p:nvPr>
            <p:ph type="title"/>
          </p:nvPr>
        </p:nvSpPr>
        <p:spPr/>
        <p:txBody>
          <a:bodyPr>
            <a:normAutofit/>
          </a:bodyPr>
          <a:lstStyle/>
          <a:p>
            <a:r>
              <a:rPr lang="en-US" dirty="0"/>
              <a:t>Aspects of Non-Relational Databases</a:t>
            </a:r>
            <a:endParaRPr lang="en-US" sz="3100" dirty="0"/>
          </a:p>
        </p:txBody>
      </p:sp>
      <p:sp>
        <p:nvSpPr>
          <p:cNvPr id="3" name="Content Placeholder 2">
            <a:extLst>
              <a:ext uri="{FF2B5EF4-FFF2-40B4-BE49-F238E27FC236}">
                <a16:creationId xmlns:a16="http://schemas.microsoft.com/office/drawing/2014/main" id="{7C0E4103-2131-47AD-BC97-916C596E89DE}"/>
              </a:ext>
            </a:extLst>
          </p:cNvPr>
          <p:cNvSpPr>
            <a:spLocks noGrp="1"/>
          </p:cNvSpPr>
          <p:nvPr>
            <p:ph idx="1"/>
          </p:nvPr>
        </p:nvSpPr>
        <p:spPr/>
        <p:txBody>
          <a:bodyPr>
            <a:normAutofit/>
          </a:bodyPr>
          <a:lstStyle/>
          <a:p>
            <a:r>
              <a:rPr lang="en-US" dirty="0"/>
              <a:t>Can contain structured or non-structured data</a:t>
            </a:r>
          </a:p>
          <a:p>
            <a:pPr lvl="1"/>
            <a:r>
              <a:rPr lang="en-US" dirty="0"/>
              <a:t>Non-structured data include photos, e-mails, pdfs, etc.</a:t>
            </a:r>
          </a:p>
          <a:p>
            <a:r>
              <a:rPr lang="en-US" dirty="0"/>
              <a:t>Store and manage data to allow for speed and flexibility</a:t>
            </a:r>
          </a:p>
          <a:p>
            <a:r>
              <a:rPr lang="en-US" dirty="0"/>
              <a:t>Can be scaled horizontally across hundreds or thousands of servers</a:t>
            </a:r>
          </a:p>
          <a:p>
            <a:r>
              <a:rPr lang="en-US" dirty="0"/>
              <a:t>Can store massive amounts of data</a:t>
            </a:r>
          </a:p>
          <a:p>
            <a:r>
              <a:rPr lang="en-US" dirty="0"/>
              <a:t>Don’t generally provide the same level of data consistency as SQL databases</a:t>
            </a:r>
          </a:p>
        </p:txBody>
      </p:sp>
      <p:sp>
        <p:nvSpPr>
          <p:cNvPr id="4" name="Slide Number Placeholder 3">
            <a:extLst>
              <a:ext uri="{FF2B5EF4-FFF2-40B4-BE49-F238E27FC236}">
                <a16:creationId xmlns:a16="http://schemas.microsoft.com/office/drawing/2014/main" id="{AABC52B9-9001-48F1-B796-3C8121C303FE}"/>
              </a:ext>
            </a:extLst>
          </p:cNvPr>
          <p:cNvSpPr>
            <a:spLocks noGrp="1"/>
          </p:cNvSpPr>
          <p:nvPr>
            <p:ph type="sldNum" sz="quarter" idx="12"/>
          </p:nvPr>
        </p:nvSpPr>
        <p:spPr/>
        <p:txBody>
          <a:bodyPr/>
          <a:lstStyle/>
          <a:p>
            <a:fld id="{E345EAD5-4C19-43E8-92AC-D4AD00C5745A}" type="slidenum">
              <a:rPr lang="en-US" smtClean="0"/>
              <a:pPr/>
              <a:t>9</a:t>
            </a:fld>
            <a:endParaRPr lang="en-US"/>
          </a:p>
        </p:txBody>
      </p:sp>
      <p:sp>
        <p:nvSpPr>
          <p:cNvPr id="5" name="Rectangle 4"/>
          <p:cNvSpPr/>
          <p:nvPr/>
        </p:nvSpPr>
        <p:spPr>
          <a:xfrm>
            <a:off x="1295400" y="6338500"/>
            <a:ext cx="8458200" cy="276999"/>
          </a:xfrm>
          <a:prstGeom prst="rect">
            <a:avLst/>
          </a:prstGeom>
        </p:spPr>
        <p:txBody>
          <a:bodyPr wrap="square">
            <a:spAutoFit/>
          </a:bodyPr>
          <a:lstStyle/>
          <a:p>
            <a:r>
              <a:rPr lang="en-US" sz="1200"/>
              <a:t>https://www.infoworld.com/article/3240644/nosql/what-is-nosql-nosql-databases-explained.html</a:t>
            </a:r>
            <a:endParaRPr lang="en-US" sz="1200" dirty="0"/>
          </a:p>
        </p:txBody>
      </p:sp>
      <p:pic>
        <p:nvPicPr>
          <p:cNvPr id="3074" name="Picture 2" descr="https://webassets.mongodb.com/_com_assets/cms/MongoDB-Logo-5c3a7405a85675366beb3a5ec4c032348c390b3f142f5e6dddf1d78e2df5cb5c.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38200" y="5181600"/>
            <a:ext cx="2882002" cy="782867"/>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http://hbase.apache.org/images/hbase_logo_with_orca_large.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454974" y="4970247"/>
            <a:ext cx="4476750" cy="11430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910803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0FC095-97F7-437A-ABCC-AC305707227F}"/>
              </a:ext>
            </a:extLst>
          </p:cNvPr>
          <p:cNvSpPr>
            <a:spLocks noGrp="1"/>
          </p:cNvSpPr>
          <p:nvPr>
            <p:ph type="title"/>
          </p:nvPr>
        </p:nvSpPr>
        <p:spPr/>
        <p:txBody>
          <a:bodyPr>
            <a:normAutofit/>
          </a:bodyPr>
          <a:lstStyle/>
          <a:p>
            <a:r>
              <a:rPr lang="en-US" dirty="0"/>
              <a:t>Our focus: Relational Databases</a:t>
            </a:r>
            <a:endParaRPr lang="en-US" sz="3100" dirty="0"/>
          </a:p>
        </p:txBody>
      </p:sp>
      <p:sp>
        <p:nvSpPr>
          <p:cNvPr id="3" name="Content Placeholder 2">
            <a:extLst>
              <a:ext uri="{FF2B5EF4-FFF2-40B4-BE49-F238E27FC236}">
                <a16:creationId xmlns:a16="http://schemas.microsoft.com/office/drawing/2014/main" id="{7C0E4103-2131-47AD-BC97-916C596E89DE}"/>
              </a:ext>
            </a:extLst>
          </p:cNvPr>
          <p:cNvSpPr>
            <a:spLocks noGrp="1"/>
          </p:cNvSpPr>
          <p:nvPr>
            <p:ph idx="1"/>
          </p:nvPr>
        </p:nvSpPr>
        <p:spPr/>
        <p:txBody>
          <a:bodyPr>
            <a:normAutofit/>
          </a:bodyPr>
          <a:lstStyle/>
          <a:p>
            <a:pPr marL="0" indent="0">
              <a:buNone/>
            </a:pPr>
            <a:r>
              <a:rPr lang="en-US" sz="3200" dirty="0"/>
              <a:t>Module 2 of this course will focus on relational databases, specifically:</a:t>
            </a:r>
          </a:p>
          <a:p>
            <a:pPr marL="0" indent="0">
              <a:buNone/>
            </a:pPr>
            <a:endParaRPr lang="en-US" sz="1400" dirty="0"/>
          </a:p>
          <a:p>
            <a:pPr marL="788670" lvl="1" indent="-514350">
              <a:buFont typeface="+mj-lt"/>
              <a:buAutoNum type="arabicPeriod"/>
            </a:pPr>
            <a:r>
              <a:rPr lang="en-US" sz="3200" dirty="0"/>
              <a:t>Relational database </a:t>
            </a:r>
            <a:r>
              <a:rPr lang="en-US" sz="3200" b="1" dirty="0"/>
              <a:t>concepts</a:t>
            </a:r>
          </a:p>
          <a:p>
            <a:pPr marL="788670" lvl="1" indent="-514350">
              <a:buFont typeface="+mj-lt"/>
              <a:buAutoNum type="arabicPeriod"/>
            </a:pPr>
            <a:r>
              <a:rPr lang="en-US" sz="3200" dirty="0"/>
              <a:t>Building databases, forms, and queries in </a:t>
            </a:r>
            <a:r>
              <a:rPr lang="en-US" sz="3200" b="1" dirty="0"/>
              <a:t>Microsoft Access</a:t>
            </a:r>
          </a:p>
          <a:p>
            <a:pPr marL="788670" lvl="1" indent="-514350">
              <a:buFont typeface="+mj-lt"/>
              <a:buAutoNum type="arabicPeriod"/>
            </a:pPr>
            <a:r>
              <a:rPr lang="en-US" sz="3200" b="1" dirty="0"/>
              <a:t>SQL </a:t>
            </a:r>
            <a:r>
              <a:rPr lang="en-US" sz="3200" dirty="0"/>
              <a:t>Basics</a:t>
            </a:r>
          </a:p>
        </p:txBody>
      </p:sp>
      <p:sp>
        <p:nvSpPr>
          <p:cNvPr id="4" name="Slide Number Placeholder 3">
            <a:extLst>
              <a:ext uri="{FF2B5EF4-FFF2-40B4-BE49-F238E27FC236}">
                <a16:creationId xmlns:a16="http://schemas.microsoft.com/office/drawing/2014/main" id="{AABC52B9-9001-48F1-B796-3C8121C303FE}"/>
              </a:ext>
            </a:extLst>
          </p:cNvPr>
          <p:cNvSpPr>
            <a:spLocks noGrp="1"/>
          </p:cNvSpPr>
          <p:nvPr>
            <p:ph type="sldNum" sz="quarter" idx="12"/>
          </p:nvPr>
        </p:nvSpPr>
        <p:spPr/>
        <p:txBody>
          <a:bodyPr/>
          <a:lstStyle/>
          <a:p>
            <a:fld id="{E345EAD5-4C19-43E8-92AC-D4AD00C5745A}" type="slidenum">
              <a:rPr lang="en-US" smtClean="0"/>
              <a:pPr/>
              <a:t>10</a:t>
            </a:fld>
            <a:endParaRPr lang="en-US"/>
          </a:p>
        </p:txBody>
      </p:sp>
      <p:pic>
        <p:nvPicPr>
          <p:cNvPr id="5" name="Picture 8" descr="https://www.mysql.com/common/logos/logo-mysql-170x115.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057400" y="5105400"/>
            <a:ext cx="1000206" cy="676276"/>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6" descr="https://upload.wikimedia.org/wikipedia/commons/thumb/3/30/Microsoft_Office_Access_%282013%E2%80%93present%29.svg/1200px-Microsoft_Office_Access_%282013%E2%80%93present%29.svg.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715000" y="4114800"/>
            <a:ext cx="804930" cy="762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418931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0FC095-97F7-437A-ABCC-AC305707227F}"/>
              </a:ext>
            </a:extLst>
          </p:cNvPr>
          <p:cNvSpPr>
            <a:spLocks noGrp="1"/>
          </p:cNvSpPr>
          <p:nvPr>
            <p:ph type="title"/>
          </p:nvPr>
        </p:nvSpPr>
        <p:spPr/>
        <p:txBody>
          <a:bodyPr>
            <a:normAutofit/>
          </a:bodyPr>
          <a:lstStyle/>
          <a:p>
            <a:r>
              <a:rPr lang="en-US" dirty="0"/>
              <a:t>A Manufacturing Example</a:t>
            </a:r>
            <a:endParaRPr lang="en-US" sz="3100" dirty="0"/>
          </a:p>
        </p:txBody>
      </p:sp>
      <p:sp>
        <p:nvSpPr>
          <p:cNvPr id="3" name="Content Placeholder 2">
            <a:extLst>
              <a:ext uri="{FF2B5EF4-FFF2-40B4-BE49-F238E27FC236}">
                <a16:creationId xmlns:a16="http://schemas.microsoft.com/office/drawing/2014/main" id="{7C0E4103-2131-47AD-BC97-916C596E89DE}"/>
              </a:ext>
            </a:extLst>
          </p:cNvPr>
          <p:cNvSpPr>
            <a:spLocks noGrp="1"/>
          </p:cNvSpPr>
          <p:nvPr>
            <p:ph idx="1"/>
          </p:nvPr>
        </p:nvSpPr>
        <p:spPr>
          <a:xfrm>
            <a:off x="457200" y="1524000"/>
            <a:ext cx="8229600" cy="5181600"/>
          </a:xfrm>
        </p:spPr>
        <p:txBody>
          <a:bodyPr>
            <a:normAutofit fontScale="77500" lnSpcReduction="20000"/>
          </a:bodyPr>
          <a:lstStyle/>
          <a:p>
            <a:pPr marL="0" indent="0">
              <a:buNone/>
            </a:pPr>
            <a:r>
              <a:rPr lang="en-US" sz="2800" dirty="0"/>
              <a:t>Our objectives in working with this example:</a:t>
            </a:r>
          </a:p>
          <a:p>
            <a:pPr marL="514350" indent="-514350">
              <a:buAutoNum type="arabicParenR"/>
            </a:pPr>
            <a:r>
              <a:rPr lang="en-US" sz="2800" dirty="0"/>
              <a:t>illustrate some of the kinds of </a:t>
            </a:r>
            <a:r>
              <a:rPr lang="en-US" sz="2800" b="1" dirty="0"/>
              <a:t>questions</a:t>
            </a:r>
            <a:r>
              <a:rPr lang="en-US" sz="2800" dirty="0"/>
              <a:t> we will be asking </a:t>
            </a:r>
          </a:p>
          <a:p>
            <a:pPr marL="514350" indent="-514350">
              <a:buAutoNum type="arabicParenR"/>
            </a:pPr>
            <a:r>
              <a:rPr lang="en-US" sz="2800" dirty="0"/>
              <a:t>show why </a:t>
            </a:r>
            <a:r>
              <a:rPr lang="en-US" sz="2800" b="1" dirty="0"/>
              <a:t>databases</a:t>
            </a:r>
            <a:r>
              <a:rPr lang="en-US" sz="2800" dirty="0"/>
              <a:t> might be </a:t>
            </a:r>
            <a:r>
              <a:rPr lang="en-US" sz="2800" b="1" dirty="0"/>
              <a:t>preferred</a:t>
            </a:r>
            <a:r>
              <a:rPr lang="en-US" sz="2800" dirty="0"/>
              <a:t> to a traditional “flat-file” </a:t>
            </a:r>
            <a:r>
              <a:rPr lang="en-US" sz="2800" b="1" dirty="0"/>
              <a:t>spreadsheet</a:t>
            </a:r>
            <a:r>
              <a:rPr lang="en-US" sz="2800" dirty="0"/>
              <a:t> approach</a:t>
            </a:r>
          </a:p>
          <a:p>
            <a:pPr marL="514350" indent="-514350">
              <a:buAutoNum type="arabicParenR"/>
            </a:pPr>
            <a:endParaRPr lang="en-US" sz="2800" dirty="0"/>
          </a:p>
          <a:p>
            <a:pPr marL="0" indent="0">
              <a:buNone/>
            </a:pPr>
            <a:r>
              <a:rPr lang="en-US" sz="2800" b="1" u="sng" dirty="0"/>
              <a:t>Manufacturing Company</a:t>
            </a:r>
            <a:r>
              <a:rPr lang="en-US" sz="2800" dirty="0"/>
              <a:t>:</a:t>
            </a:r>
          </a:p>
          <a:p>
            <a:r>
              <a:rPr lang="en-US" sz="2800" dirty="0"/>
              <a:t>manufactures and sells a variety of widgets</a:t>
            </a:r>
          </a:p>
          <a:p>
            <a:r>
              <a:rPr lang="en-US" sz="2800" dirty="0"/>
              <a:t>has 3 departments each with multiple employees    </a:t>
            </a:r>
          </a:p>
          <a:p>
            <a:pPr lvl="1"/>
            <a:r>
              <a:rPr lang="en-US" sz="2400" dirty="0"/>
              <a:t>Accounting</a:t>
            </a:r>
          </a:p>
          <a:p>
            <a:pPr lvl="1"/>
            <a:r>
              <a:rPr lang="en-US" sz="2400" dirty="0"/>
              <a:t>Manufacturing</a:t>
            </a:r>
          </a:p>
          <a:p>
            <a:pPr lvl="1"/>
            <a:r>
              <a:rPr lang="en-US" sz="2400" dirty="0"/>
              <a:t>Marketing</a:t>
            </a:r>
          </a:p>
          <a:p>
            <a:r>
              <a:rPr lang="en-US" sz="2800" dirty="0"/>
              <a:t>uses </a:t>
            </a:r>
            <a:r>
              <a:rPr lang="en-US" sz="2800" b="1" dirty="0"/>
              <a:t>project </a:t>
            </a:r>
            <a:r>
              <a:rPr lang="en-US" sz="2800" dirty="0"/>
              <a:t>records to drive promotions, bonuses, and work distribution</a:t>
            </a:r>
          </a:p>
          <a:p>
            <a:r>
              <a:rPr lang="en-US" sz="2800" dirty="0"/>
              <a:t>this information is maintained with a </a:t>
            </a:r>
            <a:r>
              <a:rPr lang="en-US" sz="2800" b="1" dirty="0"/>
              <a:t>traditional approach</a:t>
            </a:r>
            <a:r>
              <a:rPr lang="en-US" sz="2800" dirty="0"/>
              <a:t>:  Excel spreadsheets</a:t>
            </a:r>
            <a:endParaRPr lang="en-US" dirty="0"/>
          </a:p>
        </p:txBody>
      </p:sp>
      <p:sp>
        <p:nvSpPr>
          <p:cNvPr id="4" name="Slide Number Placeholder 3">
            <a:extLst>
              <a:ext uri="{FF2B5EF4-FFF2-40B4-BE49-F238E27FC236}">
                <a16:creationId xmlns:a16="http://schemas.microsoft.com/office/drawing/2014/main" id="{AABC52B9-9001-48F1-B796-3C8121C303FE}"/>
              </a:ext>
            </a:extLst>
          </p:cNvPr>
          <p:cNvSpPr>
            <a:spLocks noGrp="1"/>
          </p:cNvSpPr>
          <p:nvPr>
            <p:ph type="sldNum" sz="quarter" idx="12"/>
          </p:nvPr>
        </p:nvSpPr>
        <p:spPr/>
        <p:txBody>
          <a:bodyPr/>
          <a:lstStyle/>
          <a:p>
            <a:fld id="{E345EAD5-4C19-43E8-92AC-D4AD00C5745A}" type="slidenum">
              <a:rPr lang="en-US" smtClean="0"/>
              <a:pPr/>
              <a:t>11</a:t>
            </a:fld>
            <a:endParaRPr lang="en-US"/>
          </a:p>
        </p:txBody>
      </p:sp>
    </p:spTree>
    <p:extLst>
      <p:ext uri="{BB962C8B-B14F-4D97-AF65-F5344CB8AC3E}">
        <p14:creationId xmlns:p14="http://schemas.microsoft.com/office/powerpoint/2010/main" val="17984787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7" end="7"/>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8" end="8"/>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9" end="9"/>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10" end="10"/>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200" dirty="0"/>
              <a:t>Manufacturing Example: </a:t>
            </a:r>
            <a:br>
              <a:rPr lang="en-US" sz="3200" dirty="0"/>
            </a:br>
            <a:r>
              <a:rPr lang="en-US" sz="3200" dirty="0"/>
              <a:t>Traditional Data Management Approach</a:t>
            </a:r>
          </a:p>
        </p:txBody>
      </p:sp>
      <p:sp>
        <p:nvSpPr>
          <p:cNvPr id="3" name="Content Placeholder 2"/>
          <p:cNvSpPr>
            <a:spLocks noGrp="1"/>
          </p:cNvSpPr>
          <p:nvPr>
            <p:ph idx="1"/>
          </p:nvPr>
        </p:nvSpPr>
        <p:spPr/>
        <p:txBody>
          <a:bodyPr>
            <a:noAutofit/>
          </a:bodyPr>
          <a:lstStyle/>
          <a:p>
            <a:r>
              <a:rPr lang="en-US" sz="2800" dirty="0"/>
              <a:t>Let’s create a </a:t>
            </a:r>
            <a:r>
              <a:rPr lang="en-US" sz="2800" b="1" dirty="0"/>
              <a:t>traditional 2D table </a:t>
            </a:r>
            <a:r>
              <a:rPr lang="en-US" sz="2800" dirty="0"/>
              <a:t>(or tables) for this example.</a:t>
            </a:r>
          </a:p>
          <a:p>
            <a:r>
              <a:rPr lang="en-US" sz="2800" dirty="0"/>
              <a:t>The table(s) should be for … what?</a:t>
            </a:r>
          </a:p>
          <a:p>
            <a:pPr lvl="1"/>
            <a:r>
              <a:rPr lang="en-US" sz="2400" dirty="0"/>
              <a:t>Projects</a:t>
            </a:r>
          </a:p>
          <a:p>
            <a:pPr lvl="1"/>
            <a:r>
              <a:rPr lang="en-US" sz="2400" dirty="0"/>
              <a:t>Departments</a:t>
            </a:r>
          </a:p>
          <a:p>
            <a:pPr lvl="1"/>
            <a:r>
              <a:rPr lang="en-US" sz="2400" dirty="0"/>
              <a:t>Managers</a:t>
            </a:r>
          </a:p>
          <a:p>
            <a:r>
              <a:rPr lang="en-US" sz="2800" dirty="0"/>
              <a:t>We will create in Excel … how?</a:t>
            </a:r>
          </a:p>
          <a:p>
            <a:pPr lvl="1"/>
            <a:r>
              <a:rPr lang="en-US" sz="2400" dirty="0"/>
              <a:t>Create one worksheet for each table</a:t>
            </a:r>
          </a:p>
          <a:p>
            <a:pPr lvl="1"/>
            <a:r>
              <a:rPr lang="en-US" sz="2400" dirty="0"/>
              <a:t>Decide on column headings (“</a:t>
            </a:r>
            <a:r>
              <a:rPr lang="en-US" sz="2400" b="1" dirty="0"/>
              <a:t>fields</a:t>
            </a:r>
            <a:r>
              <a:rPr lang="en-US" sz="2400" dirty="0"/>
              <a:t>”) to use</a:t>
            </a:r>
          </a:p>
          <a:p>
            <a:pPr lvl="1"/>
            <a:r>
              <a:rPr lang="en-US" sz="2400" dirty="0"/>
              <a:t>Start to fill the table with data … </a:t>
            </a:r>
            <a:r>
              <a:rPr lang="en-US" i="1" dirty="0"/>
              <a:t>eventually look at completed sheets</a:t>
            </a:r>
            <a:endParaRPr lang="en-US" sz="2400" i="1" dirty="0"/>
          </a:p>
          <a:p>
            <a:pPr marL="274320" lvl="1" indent="0">
              <a:buNone/>
            </a:pPr>
            <a:r>
              <a:rPr lang="en-US" b="1" i="1" dirty="0"/>
              <a:t>Go to Excel ; come back soon…</a:t>
            </a:r>
          </a:p>
          <a:p>
            <a:pPr marL="274320" lvl="1" indent="0">
              <a:buNone/>
            </a:pPr>
            <a:endParaRPr lang="en-US" sz="2400" dirty="0"/>
          </a:p>
        </p:txBody>
      </p:sp>
      <p:sp>
        <p:nvSpPr>
          <p:cNvPr id="4" name="Slide Number Placeholder 3"/>
          <p:cNvSpPr>
            <a:spLocks noGrp="1"/>
          </p:cNvSpPr>
          <p:nvPr>
            <p:ph type="sldNum" sz="quarter" idx="12"/>
          </p:nvPr>
        </p:nvSpPr>
        <p:spPr/>
        <p:txBody>
          <a:bodyPr/>
          <a:lstStyle/>
          <a:p>
            <a:fld id="{E345EAD5-4C19-43E8-92AC-D4AD00C5745A}" type="slidenum">
              <a:rPr lang="en-US" smtClean="0"/>
              <a:pPr/>
              <a:t>12</a:t>
            </a:fld>
            <a:endParaRPr lang="en-US"/>
          </a:p>
        </p:txBody>
      </p:sp>
    </p:spTree>
    <p:extLst>
      <p:ext uri="{BB962C8B-B14F-4D97-AF65-F5344CB8AC3E}">
        <p14:creationId xmlns:p14="http://schemas.microsoft.com/office/powerpoint/2010/main" val="35076321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pPr marL="0" indent="0" algn="ctr">
              <a:buNone/>
            </a:pPr>
            <a:r>
              <a:rPr lang="en-US" dirty="0"/>
              <a:t>You should be in Excel now.</a:t>
            </a:r>
          </a:p>
        </p:txBody>
      </p:sp>
      <p:sp>
        <p:nvSpPr>
          <p:cNvPr id="4" name="Slide Number Placeholder 3"/>
          <p:cNvSpPr>
            <a:spLocks noGrp="1"/>
          </p:cNvSpPr>
          <p:nvPr>
            <p:ph type="sldNum" sz="quarter" idx="12"/>
          </p:nvPr>
        </p:nvSpPr>
        <p:spPr/>
        <p:txBody>
          <a:bodyPr/>
          <a:lstStyle/>
          <a:p>
            <a:fld id="{E345EAD5-4C19-43E8-92AC-D4AD00C5745A}" type="slidenum">
              <a:rPr lang="en-US" smtClean="0"/>
              <a:pPr/>
              <a:t>13</a:t>
            </a:fld>
            <a:endParaRPr lang="en-US"/>
          </a:p>
        </p:txBody>
      </p:sp>
    </p:spTree>
    <p:extLst>
      <p:ext uri="{BB962C8B-B14F-4D97-AF65-F5344CB8AC3E}">
        <p14:creationId xmlns:p14="http://schemas.microsoft.com/office/powerpoint/2010/main" val="31373771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8D1E70-50DC-4331-B4AF-9703AAC256A9}"/>
              </a:ext>
            </a:extLst>
          </p:cNvPr>
          <p:cNvSpPr>
            <a:spLocks noGrp="1"/>
          </p:cNvSpPr>
          <p:nvPr>
            <p:ph type="title"/>
          </p:nvPr>
        </p:nvSpPr>
        <p:spPr>
          <a:xfrm>
            <a:off x="457200" y="228600"/>
            <a:ext cx="8229600" cy="1143000"/>
          </a:xfrm>
        </p:spPr>
        <p:txBody>
          <a:bodyPr>
            <a:normAutofit/>
          </a:bodyPr>
          <a:lstStyle/>
          <a:p>
            <a:r>
              <a:rPr lang="en-US" dirty="0"/>
              <a:t>Manufacturing Ex:</a:t>
            </a:r>
          </a:p>
        </p:txBody>
      </p:sp>
      <p:pic>
        <p:nvPicPr>
          <p:cNvPr id="5" name="Content Placeholder 4">
            <a:extLst>
              <a:ext uri="{FF2B5EF4-FFF2-40B4-BE49-F238E27FC236}">
                <a16:creationId xmlns:a16="http://schemas.microsoft.com/office/drawing/2014/main" id="{653061CE-B1EA-4CAF-BE95-3911DDA15753}"/>
              </a:ext>
            </a:extLst>
          </p:cNvPr>
          <p:cNvPicPr>
            <a:picLocks noGrp="1" noChangeAspect="1"/>
          </p:cNvPicPr>
          <p:nvPr>
            <p:ph idx="1"/>
          </p:nvPr>
        </p:nvPicPr>
        <p:blipFill>
          <a:blip r:embed="rId2" cstate="print"/>
          <a:stretch>
            <a:fillRect/>
          </a:stretch>
        </p:blipFill>
        <p:spPr>
          <a:xfrm>
            <a:off x="868032" y="1349035"/>
            <a:ext cx="7209168" cy="4525963"/>
          </a:xfrm>
          <a:prstGeom prst="rect">
            <a:avLst/>
          </a:prstGeom>
        </p:spPr>
      </p:pic>
      <p:sp>
        <p:nvSpPr>
          <p:cNvPr id="4" name="Slide Number Placeholder 3">
            <a:extLst>
              <a:ext uri="{FF2B5EF4-FFF2-40B4-BE49-F238E27FC236}">
                <a16:creationId xmlns:a16="http://schemas.microsoft.com/office/drawing/2014/main" id="{6E8D256B-2D94-474F-B358-1218FC64B411}"/>
              </a:ext>
            </a:extLst>
          </p:cNvPr>
          <p:cNvSpPr>
            <a:spLocks noGrp="1"/>
          </p:cNvSpPr>
          <p:nvPr>
            <p:ph type="sldNum" sz="quarter" idx="12"/>
          </p:nvPr>
        </p:nvSpPr>
        <p:spPr/>
        <p:txBody>
          <a:bodyPr/>
          <a:lstStyle/>
          <a:p>
            <a:fld id="{E345EAD5-4C19-43E8-92AC-D4AD00C5745A}" type="slidenum">
              <a:rPr lang="en-US" smtClean="0"/>
              <a:pPr/>
              <a:t>14</a:t>
            </a:fld>
            <a:endParaRPr lang="en-US"/>
          </a:p>
        </p:txBody>
      </p:sp>
      <p:sp>
        <p:nvSpPr>
          <p:cNvPr id="8" name="Rectangle 7">
            <a:extLst>
              <a:ext uri="{FF2B5EF4-FFF2-40B4-BE49-F238E27FC236}">
                <a16:creationId xmlns:a16="http://schemas.microsoft.com/office/drawing/2014/main" id="{8EF83F7E-67C6-4B4F-8EA5-1E0D223042F3}"/>
              </a:ext>
            </a:extLst>
          </p:cNvPr>
          <p:cNvSpPr/>
          <p:nvPr/>
        </p:nvSpPr>
        <p:spPr>
          <a:xfrm>
            <a:off x="1143000" y="5410200"/>
            <a:ext cx="2743200" cy="58477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2168EC1D-9705-4A27-AB6C-E62DFBC8024F}"/>
              </a:ext>
            </a:extLst>
          </p:cNvPr>
          <p:cNvSpPr txBox="1"/>
          <p:nvPr/>
        </p:nvSpPr>
        <p:spPr>
          <a:xfrm>
            <a:off x="4161168" y="4038600"/>
            <a:ext cx="3535032" cy="923330"/>
          </a:xfrm>
          <a:prstGeom prst="rect">
            <a:avLst/>
          </a:prstGeom>
          <a:noFill/>
          <a:ln w="19050">
            <a:solidFill>
              <a:srgbClr val="FF0000"/>
            </a:solidFill>
          </a:ln>
        </p:spPr>
        <p:txBody>
          <a:bodyPr wrap="square" rtlCol="0">
            <a:spAutoFit/>
          </a:bodyPr>
          <a:lstStyle/>
          <a:p>
            <a:r>
              <a:rPr lang="en-US" dirty="0"/>
              <a:t>Multiple Sheets to keep track of the various information for the company</a:t>
            </a:r>
          </a:p>
        </p:txBody>
      </p:sp>
      <p:cxnSp>
        <p:nvCxnSpPr>
          <p:cNvPr id="11" name="Straight Arrow Connector 10">
            <a:extLst>
              <a:ext uri="{FF2B5EF4-FFF2-40B4-BE49-F238E27FC236}">
                <a16:creationId xmlns:a16="http://schemas.microsoft.com/office/drawing/2014/main" id="{B2EED898-6797-442B-A6EC-8A5A92B9DDDC}"/>
              </a:ext>
            </a:extLst>
          </p:cNvPr>
          <p:cNvCxnSpPr/>
          <p:nvPr/>
        </p:nvCxnSpPr>
        <p:spPr>
          <a:xfrm flipH="1">
            <a:off x="3962400" y="4961930"/>
            <a:ext cx="1828800" cy="448270"/>
          </a:xfrm>
          <a:prstGeom prst="straightConnector1">
            <a:avLst/>
          </a:prstGeom>
          <a:ln>
            <a:solidFill>
              <a:srgbClr val="FF0000"/>
            </a:solidFill>
            <a:tailEnd type="triangle"/>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15621847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938965-4C10-449B-A89E-B46B0A989905}"/>
              </a:ext>
            </a:extLst>
          </p:cNvPr>
          <p:cNvSpPr>
            <a:spLocks noGrp="1"/>
          </p:cNvSpPr>
          <p:nvPr>
            <p:ph type="title"/>
          </p:nvPr>
        </p:nvSpPr>
        <p:spPr>
          <a:xfrm>
            <a:off x="457200" y="274638"/>
            <a:ext cx="8229600" cy="1249362"/>
          </a:xfrm>
        </p:spPr>
        <p:txBody>
          <a:bodyPr>
            <a:normAutofit/>
          </a:bodyPr>
          <a:lstStyle/>
          <a:p>
            <a:r>
              <a:rPr lang="en-US" dirty="0"/>
              <a:t>Manufacturing Ex:</a:t>
            </a:r>
            <a:br>
              <a:rPr lang="en-US" dirty="0"/>
            </a:br>
            <a:r>
              <a:rPr lang="en-US" sz="2700" dirty="0"/>
              <a:t>Project Tab</a:t>
            </a:r>
            <a:endParaRPr lang="en-US" dirty="0"/>
          </a:p>
        </p:txBody>
      </p:sp>
      <p:sp>
        <p:nvSpPr>
          <p:cNvPr id="4" name="Slide Number Placeholder 3">
            <a:extLst>
              <a:ext uri="{FF2B5EF4-FFF2-40B4-BE49-F238E27FC236}">
                <a16:creationId xmlns:a16="http://schemas.microsoft.com/office/drawing/2014/main" id="{C75F87CA-178B-44E8-85F4-EB67E4EAF186}"/>
              </a:ext>
            </a:extLst>
          </p:cNvPr>
          <p:cNvSpPr>
            <a:spLocks noGrp="1"/>
          </p:cNvSpPr>
          <p:nvPr>
            <p:ph type="sldNum" sz="quarter" idx="12"/>
          </p:nvPr>
        </p:nvSpPr>
        <p:spPr/>
        <p:txBody>
          <a:bodyPr/>
          <a:lstStyle/>
          <a:p>
            <a:fld id="{E345EAD5-4C19-43E8-92AC-D4AD00C5745A}" type="slidenum">
              <a:rPr lang="en-US" smtClean="0"/>
              <a:pPr/>
              <a:t>15</a:t>
            </a:fld>
            <a:endParaRPr lang="en-US"/>
          </a:p>
        </p:txBody>
      </p:sp>
      <p:pic>
        <p:nvPicPr>
          <p:cNvPr id="3" name="Picture 2"/>
          <p:cNvPicPr>
            <a:picLocks noChangeAspect="1"/>
          </p:cNvPicPr>
          <p:nvPr/>
        </p:nvPicPr>
        <p:blipFill>
          <a:blip r:embed="rId2" cstate="print"/>
          <a:stretch>
            <a:fillRect/>
          </a:stretch>
        </p:blipFill>
        <p:spPr>
          <a:xfrm>
            <a:off x="457200" y="2667000"/>
            <a:ext cx="8201025" cy="1812505"/>
          </a:xfrm>
          <a:prstGeom prst="rect">
            <a:avLst/>
          </a:prstGeom>
        </p:spPr>
      </p:pic>
    </p:spTree>
    <p:extLst>
      <p:ext uri="{BB962C8B-B14F-4D97-AF65-F5344CB8AC3E}">
        <p14:creationId xmlns:p14="http://schemas.microsoft.com/office/powerpoint/2010/main" val="9971107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3885C1A-A15E-46A3-A8F0-53D21EC923C3}"/>
              </a:ext>
            </a:extLst>
          </p:cNvPr>
          <p:cNvSpPr>
            <a:spLocks noGrp="1"/>
          </p:cNvSpPr>
          <p:nvPr>
            <p:ph type="sldNum" sz="quarter" idx="12"/>
          </p:nvPr>
        </p:nvSpPr>
        <p:spPr/>
        <p:txBody>
          <a:bodyPr/>
          <a:lstStyle/>
          <a:p>
            <a:fld id="{E345EAD5-4C19-43E8-92AC-D4AD00C5745A}" type="slidenum">
              <a:rPr lang="en-US" smtClean="0"/>
              <a:pPr/>
              <a:t>16</a:t>
            </a:fld>
            <a:endParaRPr lang="en-US"/>
          </a:p>
        </p:txBody>
      </p:sp>
      <p:sp>
        <p:nvSpPr>
          <p:cNvPr id="5" name="Title 1">
            <a:extLst>
              <a:ext uri="{FF2B5EF4-FFF2-40B4-BE49-F238E27FC236}">
                <a16:creationId xmlns:a16="http://schemas.microsoft.com/office/drawing/2014/main" id="{2873E7B6-C4D7-404E-AE04-39B970F74E02}"/>
              </a:ext>
            </a:extLst>
          </p:cNvPr>
          <p:cNvSpPr>
            <a:spLocks noGrp="1"/>
          </p:cNvSpPr>
          <p:nvPr>
            <p:ph type="title"/>
          </p:nvPr>
        </p:nvSpPr>
        <p:spPr>
          <a:xfrm>
            <a:off x="457200" y="274638"/>
            <a:ext cx="8229600" cy="1249362"/>
          </a:xfrm>
        </p:spPr>
        <p:txBody>
          <a:bodyPr>
            <a:normAutofit/>
          </a:bodyPr>
          <a:lstStyle/>
          <a:p>
            <a:r>
              <a:rPr lang="en-US" dirty="0"/>
              <a:t>Manufacturing Ex:</a:t>
            </a:r>
            <a:br>
              <a:rPr lang="en-US" dirty="0"/>
            </a:br>
            <a:r>
              <a:rPr lang="en-US" sz="2700" dirty="0"/>
              <a:t>Department Tab</a:t>
            </a:r>
            <a:endParaRPr lang="en-US" dirty="0"/>
          </a:p>
        </p:txBody>
      </p:sp>
      <p:pic>
        <p:nvPicPr>
          <p:cNvPr id="6" name="Picture 5">
            <a:extLst>
              <a:ext uri="{FF2B5EF4-FFF2-40B4-BE49-F238E27FC236}">
                <a16:creationId xmlns:a16="http://schemas.microsoft.com/office/drawing/2014/main" id="{274FB4B5-E7D5-4B8F-9E74-2A8D3403D6B2}"/>
              </a:ext>
            </a:extLst>
          </p:cNvPr>
          <p:cNvPicPr>
            <a:picLocks noChangeAspect="1"/>
          </p:cNvPicPr>
          <p:nvPr/>
        </p:nvPicPr>
        <p:blipFill>
          <a:blip r:embed="rId2" cstate="print"/>
          <a:stretch>
            <a:fillRect/>
          </a:stretch>
        </p:blipFill>
        <p:spPr>
          <a:xfrm>
            <a:off x="457200" y="2362200"/>
            <a:ext cx="8075083" cy="1905000"/>
          </a:xfrm>
          <a:prstGeom prst="rect">
            <a:avLst/>
          </a:prstGeom>
        </p:spPr>
      </p:pic>
    </p:spTree>
    <p:extLst>
      <p:ext uri="{BB962C8B-B14F-4D97-AF65-F5344CB8AC3E}">
        <p14:creationId xmlns:p14="http://schemas.microsoft.com/office/powerpoint/2010/main" val="231893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938965-4C10-449B-A89E-B46B0A989905}"/>
              </a:ext>
            </a:extLst>
          </p:cNvPr>
          <p:cNvSpPr>
            <a:spLocks noGrp="1"/>
          </p:cNvSpPr>
          <p:nvPr>
            <p:ph type="title"/>
          </p:nvPr>
        </p:nvSpPr>
        <p:spPr>
          <a:xfrm>
            <a:off x="457200" y="274638"/>
            <a:ext cx="8229600" cy="1249362"/>
          </a:xfrm>
        </p:spPr>
        <p:txBody>
          <a:bodyPr>
            <a:normAutofit/>
          </a:bodyPr>
          <a:lstStyle/>
          <a:p>
            <a:r>
              <a:rPr lang="en-US" dirty="0"/>
              <a:t>Manufacturing Ex:</a:t>
            </a:r>
            <a:br>
              <a:rPr lang="en-US" dirty="0"/>
            </a:br>
            <a:r>
              <a:rPr lang="en-US" sz="2700" dirty="0"/>
              <a:t>Manager Tab</a:t>
            </a:r>
            <a:endParaRPr lang="en-US" dirty="0"/>
          </a:p>
        </p:txBody>
      </p:sp>
      <p:sp>
        <p:nvSpPr>
          <p:cNvPr id="4" name="Slide Number Placeholder 3">
            <a:extLst>
              <a:ext uri="{FF2B5EF4-FFF2-40B4-BE49-F238E27FC236}">
                <a16:creationId xmlns:a16="http://schemas.microsoft.com/office/drawing/2014/main" id="{C75F87CA-178B-44E8-85F4-EB67E4EAF186}"/>
              </a:ext>
            </a:extLst>
          </p:cNvPr>
          <p:cNvSpPr>
            <a:spLocks noGrp="1"/>
          </p:cNvSpPr>
          <p:nvPr>
            <p:ph type="sldNum" sz="quarter" idx="12"/>
          </p:nvPr>
        </p:nvSpPr>
        <p:spPr/>
        <p:txBody>
          <a:bodyPr/>
          <a:lstStyle/>
          <a:p>
            <a:fld id="{E345EAD5-4C19-43E8-92AC-D4AD00C5745A}" type="slidenum">
              <a:rPr lang="en-US" smtClean="0"/>
              <a:pPr/>
              <a:t>17</a:t>
            </a:fld>
            <a:endParaRPr lang="en-US"/>
          </a:p>
        </p:txBody>
      </p:sp>
      <p:pic>
        <p:nvPicPr>
          <p:cNvPr id="5" name="Picture 4">
            <a:extLst>
              <a:ext uri="{FF2B5EF4-FFF2-40B4-BE49-F238E27FC236}">
                <a16:creationId xmlns:a16="http://schemas.microsoft.com/office/drawing/2014/main" id="{A71E572A-41E3-4A1E-AB77-905B42F1E854}"/>
              </a:ext>
            </a:extLst>
          </p:cNvPr>
          <p:cNvPicPr>
            <a:picLocks noChangeAspect="1"/>
          </p:cNvPicPr>
          <p:nvPr/>
        </p:nvPicPr>
        <p:blipFill>
          <a:blip r:embed="rId2" cstate="print"/>
          <a:stretch>
            <a:fillRect/>
          </a:stretch>
        </p:blipFill>
        <p:spPr>
          <a:xfrm>
            <a:off x="493005" y="2590800"/>
            <a:ext cx="8111398" cy="1901825"/>
          </a:xfrm>
          <a:prstGeom prst="rect">
            <a:avLst/>
          </a:prstGeom>
        </p:spPr>
      </p:pic>
    </p:spTree>
    <p:extLst>
      <p:ext uri="{BB962C8B-B14F-4D97-AF65-F5344CB8AC3E}">
        <p14:creationId xmlns:p14="http://schemas.microsoft.com/office/powerpoint/2010/main" val="26864640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4F9262-04D7-4EC9-8317-D04ED6263666}"/>
              </a:ext>
            </a:extLst>
          </p:cNvPr>
          <p:cNvSpPr>
            <a:spLocks noGrp="1"/>
          </p:cNvSpPr>
          <p:nvPr>
            <p:ph type="title"/>
          </p:nvPr>
        </p:nvSpPr>
        <p:spPr>
          <a:xfrm>
            <a:off x="457200" y="304800"/>
            <a:ext cx="8229600" cy="990600"/>
          </a:xfrm>
        </p:spPr>
        <p:txBody>
          <a:bodyPr>
            <a:normAutofit fontScale="90000"/>
          </a:bodyPr>
          <a:lstStyle/>
          <a:p>
            <a:r>
              <a:rPr lang="en-US" dirty="0"/>
              <a:t>Manufacturing Ex:   Adding a new project</a:t>
            </a:r>
          </a:p>
        </p:txBody>
      </p:sp>
      <p:sp>
        <p:nvSpPr>
          <p:cNvPr id="3" name="Content Placeholder 2">
            <a:extLst>
              <a:ext uri="{FF2B5EF4-FFF2-40B4-BE49-F238E27FC236}">
                <a16:creationId xmlns:a16="http://schemas.microsoft.com/office/drawing/2014/main" id="{1A378446-7841-4BFF-8CFF-EEA0C7189D48}"/>
              </a:ext>
            </a:extLst>
          </p:cNvPr>
          <p:cNvSpPr>
            <a:spLocks noGrp="1"/>
          </p:cNvSpPr>
          <p:nvPr>
            <p:ph idx="1"/>
          </p:nvPr>
        </p:nvSpPr>
        <p:spPr>
          <a:xfrm>
            <a:off x="152400" y="1219200"/>
            <a:ext cx="8534400" cy="5257800"/>
          </a:xfrm>
        </p:spPr>
        <p:txBody>
          <a:bodyPr>
            <a:normAutofit fontScale="92500" lnSpcReduction="20000"/>
          </a:bodyPr>
          <a:lstStyle/>
          <a:p>
            <a:r>
              <a:rPr lang="en-US" sz="2800" dirty="0"/>
              <a:t>Ex. A new </a:t>
            </a:r>
            <a:r>
              <a:rPr lang="en-US" sz="2800" b="1" dirty="0"/>
              <a:t>project </a:t>
            </a:r>
            <a:r>
              <a:rPr lang="en-US" sz="2800" dirty="0"/>
              <a:t>“Gadgets” assigned to Manufacturing on 3/3/2018</a:t>
            </a:r>
          </a:p>
          <a:p>
            <a:r>
              <a:rPr lang="en-US" sz="2800" dirty="0"/>
              <a:t>How must the </a:t>
            </a:r>
            <a:r>
              <a:rPr lang="en-US" sz="2800" b="1" dirty="0"/>
              <a:t>Project table </a:t>
            </a:r>
            <a:r>
              <a:rPr lang="en-US" sz="2800" dirty="0"/>
              <a:t>be updated when a new project is created?</a:t>
            </a:r>
          </a:p>
          <a:p>
            <a:endParaRPr lang="en-US" dirty="0"/>
          </a:p>
          <a:p>
            <a:endParaRPr lang="en-US" dirty="0"/>
          </a:p>
          <a:p>
            <a:endParaRPr lang="en-US" dirty="0"/>
          </a:p>
          <a:p>
            <a:endParaRPr lang="en-US" dirty="0"/>
          </a:p>
          <a:p>
            <a:pPr lvl="1"/>
            <a:endParaRPr lang="en-US" sz="2400" dirty="0"/>
          </a:p>
          <a:p>
            <a:pPr lvl="1"/>
            <a:endParaRPr lang="en-US" sz="2200" dirty="0"/>
          </a:p>
          <a:p>
            <a:pPr lvl="1"/>
            <a:r>
              <a:rPr lang="en-US" sz="2400" dirty="0"/>
              <a:t>Type in the new information</a:t>
            </a:r>
          </a:p>
          <a:p>
            <a:pPr lvl="1"/>
            <a:r>
              <a:rPr lang="en-US" sz="2400" dirty="0"/>
              <a:t>Fill in Manager and contact #.  How?  </a:t>
            </a:r>
          </a:p>
          <a:p>
            <a:pPr lvl="2"/>
            <a:r>
              <a:rPr lang="en-US" sz="2200" dirty="0"/>
              <a:t>Data entry person’s memory, looking at the Department table, etc. and typing in the information.</a:t>
            </a:r>
          </a:p>
          <a:p>
            <a:r>
              <a:rPr lang="en-US" sz="2800" dirty="0"/>
              <a:t>What potential problems are there with this approach?</a:t>
            </a:r>
          </a:p>
        </p:txBody>
      </p:sp>
      <p:sp>
        <p:nvSpPr>
          <p:cNvPr id="4" name="Slide Number Placeholder 3">
            <a:extLst>
              <a:ext uri="{FF2B5EF4-FFF2-40B4-BE49-F238E27FC236}">
                <a16:creationId xmlns:a16="http://schemas.microsoft.com/office/drawing/2014/main" id="{BC0CBF0A-CC62-4E0B-A58F-0495E68048FF}"/>
              </a:ext>
            </a:extLst>
          </p:cNvPr>
          <p:cNvSpPr>
            <a:spLocks noGrp="1"/>
          </p:cNvSpPr>
          <p:nvPr>
            <p:ph type="sldNum" sz="quarter" idx="12"/>
          </p:nvPr>
        </p:nvSpPr>
        <p:spPr/>
        <p:txBody>
          <a:bodyPr/>
          <a:lstStyle/>
          <a:p>
            <a:fld id="{E345EAD5-4C19-43E8-92AC-D4AD00C5745A}" type="slidenum">
              <a:rPr lang="en-US" smtClean="0"/>
              <a:pPr/>
              <a:t>18</a:t>
            </a:fld>
            <a:endParaRPr lang="en-US"/>
          </a:p>
        </p:txBody>
      </p:sp>
      <p:pic>
        <p:nvPicPr>
          <p:cNvPr id="5" name="Content Placeholder 4">
            <a:extLst>
              <a:ext uri="{FF2B5EF4-FFF2-40B4-BE49-F238E27FC236}">
                <a16:creationId xmlns:a16="http://schemas.microsoft.com/office/drawing/2014/main" id="{29A2212C-1BFB-44F0-AECF-A979324B2CF3}"/>
              </a:ext>
            </a:extLst>
          </p:cNvPr>
          <p:cNvPicPr>
            <a:picLocks noChangeAspect="1"/>
          </p:cNvPicPr>
          <p:nvPr/>
        </p:nvPicPr>
        <p:blipFill rotWithShape="1">
          <a:blip r:embed="rId3" cstate="print"/>
          <a:srcRect b="67672"/>
          <a:stretch/>
        </p:blipFill>
        <p:spPr>
          <a:xfrm>
            <a:off x="294333" y="2591749"/>
            <a:ext cx="8250533" cy="1674501"/>
          </a:xfrm>
          <a:prstGeom prst="rect">
            <a:avLst/>
          </a:prstGeom>
        </p:spPr>
      </p:pic>
      <p:sp>
        <p:nvSpPr>
          <p:cNvPr id="6" name="TextBox 5">
            <a:extLst>
              <a:ext uri="{FF2B5EF4-FFF2-40B4-BE49-F238E27FC236}">
                <a16:creationId xmlns:a16="http://schemas.microsoft.com/office/drawing/2014/main" id="{37D0C13C-9766-AD3B-2EAE-2AF59F99DEB8}"/>
              </a:ext>
            </a:extLst>
          </p:cNvPr>
          <p:cNvSpPr txBox="1"/>
          <p:nvPr/>
        </p:nvSpPr>
        <p:spPr>
          <a:xfrm>
            <a:off x="381000" y="4066401"/>
            <a:ext cx="3595856" cy="261610"/>
          </a:xfrm>
          <a:prstGeom prst="rect">
            <a:avLst/>
          </a:prstGeom>
          <a:noFill/>
        </p:spPr>
        <p:txBody>
          <a:bodyPr wrap="none" rtlCol="0">
            <a:spAutoFit/>
          </a:bodyPr>
          <a:lstStyle/>
          <a:p>
            <a:r>
              <a:rPr lang="en-US" sz="1100" b="1" dirty="0">
                <a:solidFill>
                  <a:srgbClr val="00B0F0"/>
                </a:solidFill>
              </a:rPr>
              <a:t>Gadgets | …                                             | …</a:t>
            </a:r>
            <a:endParaRPr lang="en-US" b="1" dirty="0">
              <a:solidFill>
                <a:srgbClr val="00B0F0"/>
              </a:solidFill>
            </a:endParaRPr>
          </a:p>
        </p:txBody>
      </p:sp>
    </p:spTree>
    <p:extLst>
      <p:ext uri="{BB962C8B-B14F-4D97-AF65-F5344CB8AC3E}">
        <p14:creationId xmlns:p14="http://schemas.microsoft.com/office/powerpoint/2010/main" val="41442562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35CE261-DCC8-44B8-99A0-6033B57FDE05}"/>
              </a:ext>
            </a:extLst>
          </p:cNvPr>
          <p:cNvSpPr>
            <a:spLocks noGrp="1"/>
          </p:cNvSpPr>
          <p:nvPr>
            <p:ph idx="1"/>
          </p:nvPr>
        </p:nvSpPr>
        <p:spPr>
          <a:xfrm>
            <a:off x="228600" y="1524000"/>
            <a:ext cx="8458200" cy="4602163"/>
          </a:xfrm>
        </p:spPr>
        <p:txBody>
          <a:bodyPr>
            <a:normAutofit/>
          </a:bodyPr>
          <a:lstStyle/>
          <a:p>
            <a:r>
              <a:rPr lang="en-US" sz="2800" dirty="0"/>
              <a:t>The addition of the </a:t>
            </a:r>
            <a:r>
              <a:rPr lang="en-US" sz="2800" dirty="0" err="1"/>
              <a:t>the</a:t>
            </a:r>
            <a:r>
              <a:rPr lang="en-US" sz="2800" dirty="0"/>
              <a:t> ‘Gadgets’ project to the </a:t>
            </a:r>
            <a:r>
              <a:rPr lang="en-US" sz="2800" b="1" dirty="0"/>
              <a:t>Project </a:t>
            </a:r>
            <a:r>
              <a:rPr lang="en-US" sz="2800" dirty="0"/>
              <a:t>sheet necessitates an update of the </a:t>
            </a:r>
            <a:r>
              <a:rPr lang="en-US" sz="2800" b="1" dirty="0"/>
              <a:t>Managers </a:t>
            </a:r>
            <a:r>
              <a:rPr lang="en-US" sz="2800" dirty="0"/>
              <a:t>sheet.  How shall we handle this?</a:t>
            </a:r>
          </a:p>
          <a:p>
            <a:r>
              <a:rPr lang="en-US" sz="2800" dirty="0"/>
              <a:t>Consider the info on the ‘Managers’ tab of the Excel spreadsheet:</a:t>
            </a:r>
            <a:endParaRPr lang="en-US" sz="2400" dirty="0"/>
          </a:p>
        </p:txBody>
      </p:sp>
      <p:sp>
        <p:nvSpPr>
          <p:cNvPr id="4" name="Slide Number Placeholder 3">
            <a:extLst>
              <a:ext uri="{FF2B5EF4-FFF2-40B4-BE49-F238E27FC236}">
                <a16:creationId xmlns:a16="http://schemas.microsoft.com/office/drawing/2014/main" id="{1ADE1F21-2FED-4447-B182-E48A95963D00}"/>
              </a:ext>
            </a:extLst>
          </p:cNvPr>
          <p:cNvSpPr>
            <a:spLocks noGrp="1"/>
          </p:cNvSpPr>
          <p:nvPr>
            <p:ph type="sldNum" sz="quarter" idx="12"/>
          </p:nvPr>
        </p:nvSpPr>
        <p:spPr/>
        <p:txBody>
          <a:bodyPr/>
          <a:lstStyle/>
          <a:p>
            <a:fld id="{E345EAD5-4C19-43E8-92AC-D4AD00C5745A}" type="slidenum">
              <a:rPr lang="en-US" smtClean="0"/>
              <a:pPr/>
              <a:t>19</a:t>
            </a:fld>
            <a:endParaRPr lang="en-US"/>
          </a:p>
        </p:txBody>
      </p:sp>
      <p:sp>
        <p:nvSpPr>
          <p:cNvPr id="5" name="Title 1">
            <a:extLst>
              <a:ext uri="{FF2B5EF4-FFF2-40B4-BE49-F238E27FC236}">
                <a16:creationId xmlns:a16="http://schemas.microsoft.com/office/drawing/2014/main" id="{586ED1DC-FBE9-4258-9B6C-2D34D903B457}"/>
              </a:ext>
            </a:extLst>
          </p:cNvPr>
          <p:cNvSpPr>
            <a:spLocks noGrp="1"/>
          </p:cNvSpPr>
          <p:nvPr>
            <p:ph type="title"/>
          </p:nvPr>
        </p:nvSpPr>
        <p:spPr>
          <a:xfrm>
            <a:off x="457200" y="274638"/>
            <a:ext cx="8229600" cy="1143000"/>
          </a:xfrm>
        </p:spPr>
        <p:txBody>
          <a:bodyPr>
            <a:normAutofit fontScale="90000"/>
          </a:bodyPr>
          <a:lstStyle/>
          <a:p>
            <a:r>
              <a:rPr lang="en-US" dirty="0"/>
              <a:t>Manufacturing Ex:  </a:t>
            </a:r>
            <a:br>
              <a:rPr lang="en-US" dirty="0"/>
            </a:br>
            <a:r>
              <a:rPr lang="en-US" dirty="0"/>
              <a:t>   Adding a new project (</a:t>
            </a:r>
            <a:r>
              <a:rPr lang="en-US" dirty="0" err="1"/>
              <a:t>cont</a:t>
            </a:r>
            <a:r>
              <a:rPr lang="en-US" dirty="0"/>
              <a:t>)</a:t>
            </a:r>
          </a:p>
        </p:txBody>
      </p:sp>
      <p:pic>
        <p:nvPicPr>
          <p:cNvPr id="6" name="Picture 5">
            <a:extLst>
              <a:ext uri="{FF2B5EF4-FFF2-40B4-BE49-F238E27FC236}">
                <a16:creationId xmlns:a16="http://schemas.microsoft.com/office/drawing/2014/main" id="{D2895CAA-796E-4EC2-BAE8-6E8B8BBE3CC2}"/>
              </a:ext>
            </a:extLst>
          </p:cNvPr>
          <p:cNvPicPr>
            <a:picLocks noChangeAspect="1"/>
          </p:cNvPicPr>
          <p:nvPr/>
        </p:nvPicPr>
        <p:blipFill>
          <a:blip r:embed="rId3" cstate="print"/>
          <a:stretch>
            <a:fillRect/>
          </a:stretch>
        </p:blipFill>
        <p:spPr>
          <a:xfrm>
            <a:off x="307444" y="4061619"/>
            <a:ext cx="8300512" cy="1958181"/>
          </a:xfrm>
          <a:prstGeom prst="rect">
            <a:avLst/>
          </a:prstGeom>
        </p:spPr>
      </p:pic>
    </p:spTree>
    <p:extLst>
      <p:ext uri="{BB962C8B-B14F-4D97-AF65-F5344CB8AC3E}">
        <p14:creationId xmlns:p14="http://schemas.microsoft.com/office/powerpoint/2010/main" val="285669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D5C6D1-D4EF-474E-AAB9-A3D4CE5241F3}"/>
              </a:ext>
            </a:extLst>
          </p:cNvPr>
          <p:cNvSpPr>
            <a:spLocks noGrp="1"/>
          </p:cNvSpPr>
          <p:nvPr>
            <p:ph type="title"/>
          </p:nvPr>
        </p:nvSpPr>
        <p:spPr/>
        <p:txBody>
          <a:bodyPr>
            <a:normAutofit fontScale="90000"/>
          </a:bodyPr>
          <a:lstStyle/>
          <a:p>
            <a:r>
              <a:rPr lang="en-US" dirty="0"/>
              <a:t>Manufacturing Ex: Determining Bonuses</a:t>
            </a:r>
          </a:p>
        </p:txBody>
      </p:sp>
      <p:sp>
        <p:nvSpPr>
          <p:cNvPr id="3" name="Content Placeholder 2">
            <a:extLst>
              <a:ext uri="{FF2B5EF4-FFF2-40B4-BE49-F238E27FC236}">
                <a16:creationId xmlns:a16="http://schemas.microsoft.com/office/drawing/2014/main" id="{815F7685-D518-4F82-9ACF-8014882E57CB}"/>
              </a:ext>
            </a:extLst>
          </p:cNvPr>
          <p:cNvSpPr>
            <a:spLocks noGrp="1"/>
          </p:cNvSpPr>
          <p:nvPr>
            <p:ph idx="1"/>
          </p:nvPr>
        </p:nvSpPr>
        <p:spPr/>
        <p:txBody>
          <a:bodyPr>
            <a:normAutofit/>
          </a:bodyPr>
          <a:lstStyle/>
          <a:p>
            <a:r>
              <a:rPr lang="en-US" sz="2800" dirty="0"/>
              <a:t>Upper management wants to use </a:t>
            </a:r>
            <a:r>
              <a:rPr lang="en-US" sz="2800" b="1" dirty="0"/>
              <a:t>project data </a:t>
            </a:r>
            <a:r>
              <a:rPr lang="en-US" sz="2800" dirty="0"/>
              <a:t>to help determine bonuses across departments?</a:t>
            </a:r>
          </a:p>
          <a:p>
            <a:endParaRPr lang="en-US" sz="2800" dirty="0"/>
          </a:p>
          <a:p>
            <a:r>
              <a:rPr lang="en-US" sz="2800" dirty="0"/>
              <a:t>What are some key pieces of info they might look at?</a:t>
            </a:r>
          </a:p>
          <a:p>
            <a:endParaRPr lang="en-US" sz="2800" dirty="0"/>
          </a:p>
          <a:p>
            <a:r>
              <a:rPr lang="en-US" sz="2800" dirty="0"/>
              <a:t>How would they get to this info?</a:t>
            </a:r>
          </a:p>
          <a:p>
            <a:endParaRPr lang="en-US" sz="2800" dirty="0"/>
          </a:p>
          <a:p>
            <a:pPr marL="0" indent="0">
              <a:buNone/>
            </a:pPr>
            <a:r>
              <a:rPr lang="en-US" sz="2700" i="1" dirty="0"/>
              <a:t> Let’s look at the spreadsheet again for some ideas.</a:t>
            </a:r>
          </a:p>
        </p:txBody>
      </p:sp>
      <p:sp>
        <p:nvSpPr>
          <p:cNvPr id="4" name="Slide Number Placeholder 3">
            <a:extLst>
              <a:ext uri="{FF2B5EF4-FFF2-40B4-BE49-F238E27FC236}">
                <a16:creationId xmlns:a16="http://schemas.microsoft.com/office/drawing/2014/main" id="{631BDAA7-4644-4780-B3A0-ACF7F2772CB6}"/>
              </a:ext>
            </a:extLst>
          </p:cNvPr>
          <p:cNvSpPr>
            <a:spLocks noGrp="1"/>
          </p:cNvSpPr>
          <p:nvPr>
            <p:ph type="sldNum" sz="quarter" idx="12"/>
          </p:nvPr>
        </p:nvSpPr>
        <p:spPr/>
        <p:txBody>
          <a:bodyPr/>
          <a:lstStyle/>
          <a:p>
            <a:fld id="{E345EAD5-4C19-43E8-92AC-D4AD00C5745A}" type="slidenum">
              <a:rPr lang="en-US" smtClean="0"/>
              <a:pPr/>
              <a:t>20</a:t>
            </a:fld>
            <a:endParaRPr lang="en-US"/>
          </a:p>
        </p:txBody>
      </p:sp>
    </p:spTree>
    <p:extLst>
      <p:ext uri="{BB962C8B-B14F-4D97-AF65-F5344CB8AC3E}">
        <p14:creationId xmlns:p14="http://schemas.microsoft.com/office/powerpoint/2010/main" val="2442167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531" name="Rectangle 3"/>
          <p:cNvSpPr>
            <a:spLocks noGrp="1" noChangeArrowheads="1"/>
          </p:cNvSpPr>
          <p:nvPr>
            <p:ph idx="1"/>
          </p:nvPr>
        </p:nvSpPr>
        <p:spPr>
          <a:xfrm>
            <a:off x="457200" y="1828800"/>
            <a:ext cx="8229600" cy="4648200"/>
          </a:xfrm>
        </p:spPr>
        <p:txBody>
          <a:bodyPr>
            <a:normAutofit/>
          </a:bodyPr>
          <a:lstStyle/>
          <a:p>
            <a:pPr lvl="1"/>
            <a:r>
              <a:rPr lang="en-US" sz="3200" dirty="0"/>
              <a:t>Data redundancy (duplication)</a:t>
            </a:r>
          </a:p>
          <a:p>
            <a:pPr lvl="1"/>
            <a:r>
              <a:rPr lang="en-US" sz="3200" dirty="0"/>
              <a:t>Data integrity</a:t>
            </a:r>
          </a:p>
          <a:p>
            <a:pPr lvl="1"/>
            <a:r>
              <a:rPr lang="en-US" sz="3200" dirty="0"/>
              <a:t>Large file size due to data redundancy</a:t>
            </a:r>
          </a:p>
          <a:p>
            <a:pPr lvl="1"/>
            <a:r>
              <a:rPr lang="en-US" sz="3200" dirty="0"/>
              <a:t>Accessing, managing, and updating data may be difficult</a:t>
            </a:r>
          </a:p>
        </p:txBody>
      </p:sp>
      <p:sp>
        <p:nvSpPr>
          <p:cNvPr id="5" name="Slide Number Placeholder 4"/>
          <p:cNvSpPr>
            <a:spLocks noGrp="1"/>
          </p:cNvSpPr>
          <p:nvPr>
            <p:ph type="sldNum" sz="quarter" idx="12"/>
          </p:nvPr>
        </p:nvSpPr>
        <p:spPr/>
        <p:txBody>
          <a:bodyPr/>
          <a:lstStyle/>
          <a:p>
            <a:fld id="{60478DB4-91EC-4281-BDA3-5A2957A15AB1}" type="slidenum">
              <a:rPr lang="en-US"/>
              <a:pPr/>
              <a:t>21</a:t>
            </a:fld>
            <a:endParaRPr lang="en-US"/>
          </a:p>
        </p:txBody>
      </p:sp>
      <p:sp>
        <p:nvSpPr>
          <p:cNvPr id="2" name="Title 1"/>
          <p:cNvSpPr>
            <a:spLocks noGrp="1"/>
          </p:cNvSpPr>
          <p:nvPr>
            <p:ph type="title"/>
          </p:nvPr>
        </p:nvSpPr>
        <p:spPr>
          <a:xfrm>
            <a:off x="457200" y="533400"/>
            <a:ext cx="8382000" cy="990600"/>
          </a:xfrm>
        </p:spPr>
        <p:txBody>
          <a:bodyPr>
            <a:normAutofit fontScale="90000"/>
          </a:bodyPr>
          <a:lstStyle/>
          <a:p>
            <a:r>
              <a:rPr lang="en-US" dirty="0"/>
              <a:t>Traditional Approach to Data Management: </a:t>
            </a:r>
            <a:br>
              <a:rPr lang="en-US" dirty="0"/>
            </a:br>
            <a:r>
              <a:rPr lang="en-US" dirty="0"/>
              <a:t>  Potential Issues</a:t>
            </a:r>
          </a:p>
        </p:txBody>
      </p:sp>
    </p:spTree>
    <p:extLst>
      <p:ext uri="{BB962C8B-B14F-4D97-AF65-F5344CB8AC3E}">
        <p14:creationId xmlns:p14="http://schemas.microsoft.com/office/powerpoint/2010/main" val="35470294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0FC095-97F7-437A-ABCC-AC305707227F}"/>
              </a:ext>
            </a:extLst>
          </p:cNvPr>
          <p:cNvSpPr>
            <a:spLocks noGrp="1"/>
          </p:cNvSpPr>
          <p:nvPr>
            <p:ph type="title"/>
          </p:nvPr>
        </p:nvSpPr>
        <p:spPr>
          <a:xfrm>
            <a:off x="457200" y="533400"/>
            <a:ext cx="8458200" cy="990600"/>
          </a:xfrm>
        </p:spPr>
        <p:txBody>
          <a:bodyPr>
            <a:normAutofit fontScale="90000"/>
          </a:bodyPr>
          <a:lstStyle/>
          <a:p>
            <a:r>
              <a:rPr lang="en-US" dirty="0"/>
              <a:t>Data Storage/Management Considerations</a:t>
            </a:r>
            <a:endParaRPr lang="en-US" sz="3100" dirty="0"/>
          </a:p>
        </p:txBody>
      </p:sp>
      <p:sp>
        <p:nvSpPr>
          <p:cNvPr id="3" name="Content Placeholder 2">
            <a:extLst>
              <a:ext uri="{FF2B5EF4-FFF2-40B4-BE49-F238E27FC236}">
                <a16:creationId xmlns:a16="http://schemas.microsoft.com/office/drawing/2014/main" id="{7C0E4103-2131-47AD-BC97-916C596E89DE}"/>
              </a:ext>
            </a:extLst>
          </p:cNvPr>
          <p:cNvSpPr>
            <a:spLocks noGrp="1"/>
          </p:cNvSpPr>
          <p:nvPr>
            <p:ph idx="1"/>
          </p:nvPr>
        </p:nvSpPr>
        <p:spPr/>
        <p:txBody>
          <a:bodyPr>
            <a:normAutofit/>
          </a:bodyPr>
          <a:lstStyle/>
          <a:p>
            <a:pPr>
              <a:buNone/>
            </a:pPr>
            <a:r>
              <a:rPr lang="en-US" sz="2800" dirty="0"/>
              <a:t>Some considerations that will affect our choice of </a:t>
            </a:r>
            <a:r>
              <a:rPr lang="en-US" sz="2800" b="1" dirty="0"/>
              <a:t>traditional </a:t>
            </a:r>
            <a:r>
              <a:rPr lang="en-US" sz="2800" dirty="0"/>
              <a:t>versus </a:t>
            </a:r>
            <a:r>
              <a:rPr lang="en-US" sz="2800" b="1" dirty="0"/>
              <a:t>database </a:t>
            </a:r>
            <a:r>
              <a:rPr lang="en-US" sz="2800" dirty="0"/>
              <a:t>and </a:t>
            </a:r>
            <a:r>
              <a:rPr lang="en-US" sz="2800" b="1" dirty="0"/>
              <a:t>relational </a:t>
            </a:r>
            <a:r>
              <a:rPr lang="en-US" sz="2800" dirty="0"/>
              <a:t>versus </a:t>
            </a:r>
            <a:r>
              <a:rPr lang="en-US" sz="2800" b="1" dirty="0"/>
              <a:t>non-relational</a:t>
            </a:r>
            <a:r>
              <a:rPr lang="en-US" sz="2800" dirty="0"/>
              <a:t>:</a:t>
            </a:r>
          </a:p>
          <a:p>
            <a:r>
              <a:rPr lang="en-US" sz="2800" dirty="0"/>
              <a:t>Ease of use / accessibility</a:t>
            </a:r>
          </a:p>
          <a:p>
            <a:r>
              <a:rPr lang="en-US" sz="2800" dirty="0"/>
              <a:t>Size of data</a:t>
            </a:r>
          </a:p>
          <a:p>
            <a:r>
              <a:rPr lang="en-US" sz="2800" dirty="0"/>
              <a:t>Data (structured or unstructured)</a:t>
            </a:r>
          </a:p>
          <a:p>
            <a:r>
              <a:rPr lang="en-US" sz="2800" dirty="0"/>
              <a:t>Security</a:t>
            </a:r>
          </a:p>
          <a:p>
            <a:r>
              <a:rPr lang="en-US" sz="2800" dirty="0"/>
              <a:t>Cost</a:t>
            </a:r>
          </a:p>
        </p:txBody>
      </p:sp>
      <p:sp>
        <p:nvSpPr>
          <p:cNvPr id="4" name="Slide Number Placeholder 3">
            <a:extLst>
              <a:ext uri="{FF2B5EF4-FFF2-40B4-BE49-F238E27FC236}">
                <a16:creationId xmlns:a16="http://schemas.microsoft.com/office/drawing/2014/main" id="{AABC52B9-9001-48F1-B796-3C8121C303FE}"/>
              </a:ext>
            </a:extLst>
          </p:cNvPr>
          <p:cNvSpPr>
            <a:spLocks noGrp="1"/>
          </p:cNvSpPr>
          <p:nvPr>
            <p:ph type="sldNum" sz="quarter" idx="12"/>
          </p:nvPr>
        </p:nvSpPr>
        <p:spPr/>
        <p:txBody>
          <a:bodyPr/>
          <a:lstStyle/>
          <a:p>
            <a:fld id="{E345EAD5-4C19-43E8-92AC-D4AD00C5745A}" type="slidenum">
              <a:rPr lang="en-US" smtClean="0"/>
              <a:pPr/>
              <a:t>22</a:t>
            </a:fld>
            <a:endParaRPr lang="en-US"/>
          </a:p>
        </p:txBody>
      </p:sp>
    </p:spTree>
    <p:extLst>
      <p:ext uri="{BB962C8B-B14F-4D97-AF65-F5344CB8AC3E}">
        <p14:creationId xmlns:p14="http://schemas.microsoft.com/office/powerpoint/2010/main" val="73941096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ctrTitle"/>
          </p:nvPr>
        </p:nvSpPr>
        <p:spPr/>
        <p:txBody>
          <a:bodyPr/>
          <a:lstStyle/>
          <a:p>
            <a:r>
              <a:rPr lang="en-US" sz="4000" dirty="0"/>
              <a:t>The Database Approach applied to the Manufacturing Example</a:t>
            </a:r>
          </a:p>
        </p:txBody>
      </p:sp>
      <p:sp>
        <p:nvSpPr>
          <p:cNvPr id="8" name="Subtitle 7"/>
          <p:cNvSpPr>
            <a:spLocks noGrp="1"/>
          </p:cNvSpPr>
          <p:nvPr>
            <p:ph type="subTitle" idx="1"/>
          </p:nvPr>
        </p:nvSpPr>
        <p:spPr/>
        <p:txBody>
          <a:bodyPr/>
          <a:lstStyle/>
          <a:p>
            <a:endParaRPr lang="en-US"/>
          </a:p>
        </p:txBody>
      </p:sp>
      <p:sp>
        <p:nvSpPr>
          <p:cNvPr id="4" name="Slide Number Placeholder 3"/>
          <p:cNvSpPr>
            <a:spLocks noGrp="1"/>
          </p:cNvSpPr>
          <p:nvPr>
            <p:ph type="sldNum" sz="quarter" idx="12"/>
          </p:nvPr>
        </p:nvSpPr>
        <p:spPr/>
        <p:txBody>
          <a:bodyPr/>
          <a:lstStyle/>
          <a:p>
            <a:fld id="{E345EAD5-4C19-43E8-92AC-D4AD00C5745A}" type="slidenum">
              <a:rPr lang="en-US" smtClean="0"/>
              <a:pPr/>
              <a:t>23</a:t>
            </a:fld>
            <a:endParaRPr lang="en-US"/>
          </a:p>
        </p:txBody>
      </p:sp>
    </p:spTree>
    <p:extLst>
      <p:ext uri="{BB962C8B-B14F-4D97-AF65-F5344CB8AC3E}">
        <p14:creationId xmlns:p14="http://schemas.microsoft.com/office/powerpoint/2010/main" val="209935838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531" name="Rectangle 3"/>
          <p:cNvSpPr>
            <a:spLocks noGrp="1" noChangeArrowheads="1"/>
          </p:cNvSpPr>
          <p:nvPr>
            <p:ph idx="1"/>
          </p:nvPr>
        </p:nvSpPr>
        <p:spPr>
          <a:xfrm>
            <a:off x="457200" y="1828800"/>
            <a:ext cx="8229600" cy="4648200"/>
          </a:xfrm>
        </p:spPr>
        <p:txBody>
          <a:bodyPr>
            <a:normAutofit/>
          </a:bodyPr>
          <a:lstStyle/>
          <a:p>
            <a:r>
              <a:rPr lang="en-US" sz="3200" dirty="0"/>
              <a:t>Store all data in one place</a:t>
            </a:r>
          </a:p>
          <a:p>
            <a:pPr lvl="1"/>
            <a:r>
              <a:rPr lang="en-US" sz="2800" dirty="0"/>
              <a:t>Broken up into </a:t>
            </a:r>
            <a:r>
              <a:rPr lang="en-US" sz="2800" b="1" dirty="0"/>
              <a:t>entities</a:t>
            </a:r>
          </a:p>
          <a:p>
            <a:pPr lvl="1"/>
            <a:r>
              <a:rPr lang="en-US" sz="2800" dirty="0"/>
              <a:t>Entities connected with relationships</a:t>
            </a:r>
          </a:p>
          <a:p>
            <a:r>
              <a:rPr lang="en-US" sz="3200" dirty="0"/>
              <a:t>Supply an interface allowing different users to interact with data in different ways depending on the desired function.</a:t>
            </a:r>
          </a:p>
        </p:txBody>
      </p:sp>
      <p:sp>
        <p:nvSpPr>
          <p:cNvPr id="5" name="Slide Number Placeholder 4"/>
          <p:cNvSpPr>
            <a:spLocks noGrp="1"/>
          </p:cNvSpPr>
          <p:nvPr>
            <p:ph type="sldNum" sz="quarter" idx="12"/>
          </p:nvPr>
        </p:nvSpPr>
        <p:spPr/>
        <p:txBody>
          <a:bodyPr/>
          <a:lstStyle/>
          <a:p>
            <a:fld id="{60478DB4-91EC-4281-BDA3-5A2957A15AB1}" type="slidenum">
              <a:rPr lang="en-US"/>
              <a:pPr/>
              <a:t>24</a:t>
            </a:fld>
            <a:endParaRPr lang="en-US"/>
          </a:p>
        </p:txBody>
      </p:sp>
      <p:sp>
        <p:nvSpPr>
          <p:cNvPr id="2" name="Title 1"/>
          <p:cNvSpPr>
            <a:spLocks noGrp="1"/>
          </p:cNvSpPr>
          <p:nvPr>
            <p:ph type="title"/>
          </p:nvPr>
        </p:nvSpPr>
        <p:spPr/>
        <p:txBody>
          <a:bodyPr>
            <a:normAutofit fontScale="90000"/>
          </a:bodyPr>
          <a:lstStyle/>
          <a:p>
            <a:r>
              <a:rPr lang="en-US" dirty="0"/>
              <a:t>The Database Approach applied to the Manufacturing Example</a:t>
            </a:r>
          </a:p>
        </p:txBody>
      </p:sp>
      <p:sp>
        <p:nvSpPr>
          <p:cNvPr id="6" name="Slide Number Placeholder 2"/>
          <p:cNvSpPr txBox="1">
            <a:spLocks/>
          </p:cNvSpPr>
          <p:nvPr/>
        </p:nvSpPr>
        <p:spPr>
          <a:xfrm>
            <a:off x="9671858" y="-619669"/>
            <a:ext cx="310342" cy="81451"/>
          </a:xfrm>
          <a:prstGeom prst="rect">
            <a:avLst/>
          </a:prstGeom>
        </p:spPr>
        <p:txBody>
          <a:bodyPr vert="horz" lIns="91440" tIns="45720" rIns="91440" bIns="45720" rtlCol="0" anchor="ctr"/>
          <a:lstStyle/>
          <a:p>
            <a:pPr marL="0" marR="0" lvl="0" indent="0" algn="l" defTabSz="914400" rtl="0" eaLnBrk="0" fontAlgn="base" latinLnBrk="0" hangingPunct="0">
              <a:lnSpc>
                <a:spcPct val="100000"/>
              </a:lnSpc>
              <a:spcBef>
                <a:spcPct val="0"/>
              </a:spcBef>
              <a:spcAft>
                <a:spcPct val="0"/>
              </a:spcAft>
              <a:buClrTx/>
              <a:buSzTx/>
              <a:buFontTx/>
              <a:buNone/>
              <a:tabLst/>
              <a:defRPr/>
            </a:pPr>
            <a:fld id="{D0113D7E-BEDE-434D-AEF3-1EA4FD51E0FA}" type="slidenum">
              <a:rPr kumimoji="0" lang="en-US" sz="1400" b="1" i="0" u="none" strike="noStrike" kern="1200" cap="none" spc="0" normalizeH="0" baseline="0" noProof="0" smtClean="0">
                <a:ln>
                  <a:noFill/>
                </a:ln>
                <a:solidFill>
                  <a:srgbClr val="FFFFFF"/>
                </a:solidFill>
                <a:effectLst/>
                <a:uLnTx/>
                <a:uFillTx/>
                <a:latin typeface="Verdana" pitchFamily="34" charset="0"/>
                <a:ea typeface="+mn-ea"/>
                <a:cs typeface="+mn-cs"/>
              </a:rPr>
              <a:pPr marL="0" marR="0" lvl="0" indent="0" algn="l" defTabSz="914400" rtl="0" eaLnBrk="0" fontAlgn="base" latinLnBrk="0" hangingPunct="0">
                <a:lnSpc>
                  <a:spcPct val="100000"/>
                </a:lnSpc>
                <a:spcBef>
                  <a:spcPct val="0"/>
                </a:spcBef>
                <a:spcAft>
                  <a:spcPct val="0"/>
                </a:spcAft>
                <a:buClrTx/>
                <a:buSzTx/>
                <a:buFontTx/>
                <a:buNone/>
                <a:tabLst/>
                <a:defRPr/>
              </a:pPr>
              <a:t>24</a:t>
            </a:fld>
            <a:endParaRPr kumimoji="0" lang="en-US" sz="1400" b="1" i="0" u="none" strike="noStrike" kern="1200" cap="none" spc="0" normalizeH="0" baseline="0" noProof="0" dirty="0">
              <a:ln>
                <a:noFill/>
              </a:ln>
              <a:solidFill>
                <a:srgbClr val="FFFFFF"/>
              </a:solidFill>
              <a:effectLst/>
              <a:uLnTx/>
              <a:uFillTx/>
              <a:latin typeface="Verdana" pitchFamily="34" charset="0"/>
              <a:ea typeface="+mn-ea"/>
              <a:cs typeface="+mn-cs"/>
            </a:endParaRPr>
          </a:p>
        </p:txBody>
      </p:sp>
      <p:pic>
        <p:nvPicPr>
          <p:cNvPr id="7" name="Picture 4"/>
          <p:cNvPicPr>
            <a:picLocks noChangeAspect="1" noChangeArrowheads="1"/>
          </p:cNvPicPr>
          <p:nvPr/>
        </p:nvPicPr>
        <p:blipFill rotWithShape="1">
          <a:blip r:embed="rId3" cstate="print"/>
          <a:srcRect l="1207" t="65625" r="2630"/>
          <a:stretch/>
        </p:blipFill>
        <p:spPr bwMode="auto">
          <a:xfrm>
            <a:off x="7010618" y="2302164"/>
            <a:ext cx="2061556" cy="855740"/>
          </a:xfrm>
          <a:prstGeom prst="rect">
            <a:avLst/>
          </a:prstGeom>
          <a:noFill/>
          <a:ln w="9525" algn="ctr">
            <a:noFill/>
            <a:miter lim="800000"/>
            <a:headEnd/>
            <a:tailEnd/>
          </a:ln>
        </p:spPr>
      </p:pic>
      <p:pic>
        <p:nvPicPr>
          <p:cNvPr id="8" name="Picture 4"/>
          <p:cNvPicPr>
            <a:picLocks noChangeAspect="1" noChangeArrowheads="1"/>
          </p:cNvPicPr>
          <p:nvPr/>
        </p:nvPicPr>
        <p:blipFill rotWithShape="1">
          <a:blip r:embed="rId3" cstate="print"/>
          <a:srcRect l="19964" t="32813" r="20160" b="34375"/>
          <a:stretch/>
        </p:blipFill>
        <p:spPr bwMode="auto">
          <a:xfrm>
            <a:off x="8001218" y="1997364"/>
            <a:ext cx="1218982" cy="775716"/>
          </a:xfrm>
          <a:prstGeom prst="rect">
            <a:avLst/>
          </a:prstGeom>
          <a:noFill/>
          <a:ln w="9525" algn="ctr">
            <a:noFill/>
            <a:miter lim="800000"/>
            <a:headEnd/>
            <a:tailEnd/>
          </a:ln>
        </p:spPr>
      </p:pic>
      <p:pic>
        <p:nvPicPr>
          <p:cNvPr id="9" name="Picture 4"/>
          <p:cNvPicPr>
            <a:picLocks noChangeAspect="1" noChangeArrowheads="1"/>
          </p:cNvPicPr>
          <p:nvPr/>
        </p:nvPicPr>
        <p:blipFill rotWithShape="1">
          <a:blip r:embed="rId3" cstate="print"/>
          <a:srcRect l="19964" r="20160" b="70312"/>
          <a:stretch/>
        </p:blipFill>
        <p:spPr bwMode="auto">
          <a:xfrm>
            <a:off x="6705818" y="1981200"/>
            <a:ext cx="1219200" cy="701964"/>
          </a:xfrm>
          <a:prstGeom prst="rect">
            <a:avLst/>
          </a:prstGeom>
          <a:noFill/>
          <a:ln w="9525" algn="ctr">
            <a:noFill/>
            <a:miter lim="800000"/>
            <a:headEnd/>
            <a:tailEnd/>
          </a:ln>
        </p:spPr>
      </p:pic>
    </p:spTree>
    <p:extLst>
      <p:ext uri="{BB962C8B-B14F-4D97-AF65-F5344CB8AC3E}">
        <p14:creationId xmlns:p14="http://schemas.microsoft.com/office/powerpoint/2010/main" val="329643519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t>Make Each </a:t>
            </a:r>
            <a:r>
              <a:rPr lang="en-US" b="1" dirty="0"/>
              <a:t>Entity</a:t>
            </a:r>
            <a:r>
              <a:rPr lang="en-US" dirty="0"/>
              <a:t> A Separate </a:t>
            </a:r>
            <a:r>
              <a:rPr lang="en-US" b="1" dirty="0"/>
              <a:t>Table</a:t>
            </a:r>
          </a:p>
        </p:txBody>
      </p:sp>
      <p:sp>
        <p:nvSpPr>
          <p:cNvPr id="5" name="Slide Number Placeholder 2"/>
          <p:cNvSpPr>
            <a:spLocks noGrp="1"/>
          </p:cNvSpPr>
          <p:nvPr>
            <p:ph type="sldNum" sz="quarter" idx="12"/>
          </p:nvPr>
        </p:nvSpPr>
        <p:spPr/>
        <p:txBody>
          <a:bodyPr/>
          <a:lstStyle/>
          <a:p>
            <a:pPr>
              <a:defRPr/>
            </a:pPr>
            <a:fld id="{D0113D7E-BEDE-434D-AEF3-1EA4FD51E0FA}" type="slidenum">
              <a:rPr lang="en-US"/>
              <a:pPr>
                <a:defRPr/>
              </a:pPr>
              <a:t>25</a:t>
            </a:fld>
            <a:endParaRPr lang="en-US" dirty="0"/>
          </a:p>
        </p:txBody>
      </p:sp>
      <p:pic>
        <p:nvPicPr>
          <p:cNvPr id="6" name="Picture 4"/>
          <p:cNvPicPr>
            <a:picLocks noChangeAspect="1" noChangeArrowheads="1"/>
          </p:cNvPicPr>
          <p:nvPr/>
        </p:nvPicPr>
        <p:blipFill rotWithShape="1">
          <a:blip r:embed="rId3" cstate="print"/>
          <a:srcRect l="1207" t="65625" r="2630"/>
          <a:stretch/>
        </p:blipFill>
        <p:spPr bwMode="auto">
          <a:xfrm>
            <a:off x="1028700" y="3777255"/>
            <a:ext cx="7086600" cy="2941608"/>
          </a:xfrm>
          <a:prstGeom prst="rect">
            <a:avLst/>
          </a:prstGeom>
          <a:noFill/>
          <a:ln w="9525" algn="ctr">
            <a:noFill/>
            <a:miter lim="800000"/>
            <a:headEnd/>
            <a:tailEnd/>
          </a:ln>
        </p:spPr>
      </p:pic>
      <p:pic>
        <p:nvPicPr>
          <p:cNvPr id="8" name="Picture 4"/>
          <p:cNvPicPr>
            <a:picLocks noChangeAspect="1" noChangeArrowheads="1"/>
          </p:cNvPicPr>
          <p:nvPr/>
        </p:nvPicPr>
        <p:blipFill rotWithShape="1">
          <a:blip r:embed="rId3" cstate="print"/>
          <a:srcRect l="19964" t="32813" r="20160" b="34375"/>
          <a:stretch/>
        </p:blipFill>
        <p:spPr bwMode="auto">
          <a:xfrm>
            <a:off x="4648200" y="1498362"/>
            <a:ext cx="4190251" cy="2666524"/>
          </a:xfrm>
          <a:prstGeom prst="rect">
            <a:avLst/>
          </a:prstGeom>
          <a:noFill/>
          <a:ln w="9525" algn="ctr">
            <a:noFill/>
            <a:miter lim="800000"/>
            <a:headEnd/>
            <a:tailEnd/>
          </a:ln>
        </p:spPr>
      </p:pic>
      <p:pic>
        <p:nvPicPr>
          <p:cNvPr id="9" name="Picture 4"/>
          <p:cNvPicPr>
            <a:picLocks noGrp="1" noChangeAspect="1" noChangeArrowheads="1"/>
          </p:cNvPicPr>
          <p:nvPr>
            <p:ph idx="1"/>
          </p:nvPr>
        </p:nvPicPr>
        <p:blipFill rotWithShape="1">
          <a:blip r:embed="rId3" cstate="print"/>
          <a:srcRect l="19964" r="20160" b="70312"/>
          <a:stretch/>
        </p:blipFill>
        <p:spPr bwMode="auto">
          <a:xfrm>
            <a:off x="381000" y="1536853"/>
            <a:ext cx="4191000" cy="2413000"/>
          </a:xfrm>
          <a:prstGeom prst="rect">
            <a:avLst/>
          </a:prstGeom>
          <a:noFill/>
          <a:ln w="9525" algn="ctr">
            <a:noFill/>
            <a:miter lim="800000"/>
            <a:headEnd/>
            <a:tailEnd/>
          </a:ln>
        </p:spPr>
      </p:pic>
      <p:sp>
        <p:nvSpPr>
          <p:cNvPr id="2" name="Oval 1"/>
          <p:cNvSpPr/>
          <p:nvPr/>
        </p:nvSpPr>
        <p:spPr>
          <a:xfrm>
            <a:off x="3028950" y="1483185"/>
            <a:ext cx="1295400" cy="2590800"/>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4810125" y="1574086"/>
            <a:ext cx="1295400" cy="2590800"/>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p:cNvSpPr/>
          <p:nvPr/>
        </p:nvSpPr>
        <p:spPr>
          <a:xfrm>
            <a:off x="895350" y="4080570"/>
            <a:ext cx="1905000" cy="2590800"/>
          </a:xfrm>
          <a:prstGeom prst="ellipse">
            <a:avLst/>
          </a:prstGeom>
          <a:no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986279" y="6445092"/>
            <a:ext cx="6381875" cy="369332"/>
          </a:xfrm>
          <a:prstGeom prst="rect">
            <a:avLst/>
          </a:prstGeom>
          <a:noFill/>
        </p:spPr>
        <p:txBody>
          <a:bodyPr wrap="none" rtlCol="0">
            <a:spAutoFit/>
          </a:bodyPr>
          <a:lstStyle/>
          <a:p>
            <a:r>
              <a:rPr lang="en-US" b="1" dirty="0"/>
              <a:t>** Tables will be linked by common columns **</a:t>
            </a:r>
          </a:p>
        </p:txBody>
      </p:sp>
      <p:sp>
        <p:nvSpPr>
          <p:cNvPr id="12" name="Oval 11"/>
          <p:cNvSpPr/>
          <p:nvPr/>
        </p:nvSpPr>
        <p:spPr>
          <a:xfrm>
            <a:off x="7121754" y="1451809"/>
            <a:ext cx="1905000" cy="2590800"/>
          </a:xfrm>
          <a:prstGeom prst="ellipse">
            <a:avLst/>
          </a:prstGeom>
          <a:no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0" grpId="0" animBg="1"/>
      <p:bldP spid="11" grpId="0" animBg="1"/>
      <p:bldP spid="12"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ormAutofit/>
          </a:bodyPr>
          <a:lstStyle/>
          <a:p>
            <a:r>
              <a:rPr lang="en-US" dirty="0"/>
              <a:t>Determine </a:t>
            </a:r>
            <a:r>
              <a:rPr lang="en-US" b="1" dirty="0"/>
              <a:t>Entity</a:t>
            </a:r>
            <a:r>
              <a:rPr lang="en-US" dirty="0"/>
              <a:t> Relationships </a:t>
            </a:r>
          </a:p>
        </p:txBody>
      </p:sp>
      <p:pic>
        <p:nvPicPr>
          <p:cNvPr id="9" name="Picture 4"/>
          <p:cNvPicPr>
            <a:picLocks noGrp="1" noChangeAspect="1" noChangeArrowheads="1"/>
          </p:cNvPicPr>
          <p:nvPr>
            <p:ph idx="1"/>
          </p:nvPr>
        </p:nvPicPr>
        <p:blipFill>
          <a:blip r:embed="rId3" cstate="print"/>
          <a:srcRect l="-77303" r="-77303"/>
          <a:stretch>
            <a:fillRect/>
          </a:stretch>
        </p:blipFill>
        <p:spPr bwMode="auto">
          <a:prstGeom prst="rect">
            <a:avLst/>
          </a:prstGeom>
          <a:noFill/>
          <a:ln w="9525" algn="ctr">
            <a:noFill/>
            <a:miter lim="800000"/>
            <a:headEnd/>
            <a:tailEnd/>
          </a:ln>
        </p:spPr>
      </p:pic>
      <p:sp>
        <p:nvSpPr>
          <p:cNvPr id="5" name="Slide Number Placeholder 2"/>
          <p:cNvSpPr>
            <a:spLocks noGrp="1"/>
          </p:cNvSpPr>
          <p:nvPr>
            <p:ph type="sldNum" sz="quarter" idx="12"/>
          </p:nvPr>
        </p:nvSpPr>
        <p:spPr/>
        <p:txBody>
          <a:bodyPr/>
          <a:lstStyle/>
          <a:p>
            <a:pPr>
              <a:defRPr/>
            </a:pPr>
            <a:fld id="{F1D4402E-D5C2-4A2C-B153-374190D3640C}" type="slidenum">
              <a:rPr lang="en-US"/>
              <a:pPr>
                <a:defRPr/>
              </a:pPr>
              <a:t>26</a:t>
            </a:fld>
            <a:endParaRPr 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4"/>
          <p:cNvPicPr>
            <a:picLocks noGrp="1" noChangeAspect="1" noChangeArrowheads="1"/>
          </p:cNvPicPr>
          <p:nvPr>
            <p:ph idx="1"/>
          </p:nvPr>
        </p:nvPicPr>
        <p:blipFill>
          <a:blip r:embed="rId2" cstate="print"/>
          <a:srcRect b="5466"/>
          <a:stretch>
            <a:fillRect/>
          </a:stretch>
        </p:blipFill>
        <p:spPr bwMode="auto">
          <a:xfrm>
            <a:off x="685800" y="1295400"/>
            <a:ext cx="7493391" cy="5181601"/>
          </a:xfrm>
          <a:prstGeom prst="rect">
            <a:avLst/>
          </a:prstGeom>
          <a:noFill/>
          <a:ln w="9525" algn="ctr">
            <a:noFill/>
            <a:miter lim="800000"/>
            <a:headEnd/>
            <a:tailEnd/>
          </a:ln>
        </p:spPr>
      </p:pic>
      <p:sp>
        <p:nvSpPr>
          <p:cNvPr id="5" name="Slide Number Placeholder 2"/>
          <p:cNvSpPr>
            <a:spLocks noGrp="1"/>
          </p:cNvSpPr>
          <p:nvPr>
            <p:ph type="sldNum" sz="quarter" idx="12"/>
          </p:nvPr>
        </p:nvSpPr>
        <p:spPr/>
        <p:txBody>
          <a:bodyPr/>
          <a:lstStyle/>
          <a:p>
            <a:pPr>
              <a:defRPr/>
            </a:pPr>
            <a:fld id="{004D541D-1040-4C4E-B196-A50730C9725E}" type="slidenum">
              <a:rPr lang="en-US"/>
              <a:pPr>
                <a:defRPr/>
              </a:pPr>
              <a:t>27</a:t>
            </a:fld>
            <a:endParaRPr lang="en-US" dirty="0"/>
          </a:p>
        </p:txBody>
      </p:sp>
      <p:sp>
        <p:nvSpPr>
          <p:cNvPr id="6" name="Rectangle 2"/>
          <p:cNvSpPr txBox="1">
            <a:spLocks noChangeArrowheads="1"/>
          </p:cNvSpPr>
          <p:nvPr/>
        </p:nvSpPr>
        <p:spPr>
          <a:xfrm>
            <a:off x="533400" y="76200"/>
            <a:ext cx="8077200" cy="1143000"/>
          </a:xfrm>
          <a:prstGeom prst="rect">
            <a:avLst/>
          </a:prstGeom>
        </p:spPr>
        <p:txBody>
          <a:bodyPr/>
          <a:lstStyle/>
          <a:p>
            <a:pPr algn="ctr">
              <a:defRPr/>
            </a:pPr>
            <a:endParaRPr lang="en-US" sz="3600" kern="0" dirty="0">
              <a:solidFill>
                <a:srgbClr val="222222"/>
              </a:solidFill>
              <a:latin typeface="+mj-lt"/>
              <a:ea typeface="+mj-ea"/>
              <a:cs typeface="+mj-cs"/>
            </a:endParaRPr>
          </a:p>
        </p:txBody>
      </p:sp>
      <p:sp>
        <p:nvSpPr>
          <p:cNvPr id="8" name="Title 6"/>
          <p:cNvSpPr>
            <a:spLocks noGrp="1"/>
          </p:cNvSpPr>
          <p:nvPr>
            <p:ph type="title"/>
          </p:nvPr>
        </p:nvSpPr>
        <p:spPr>
          <a:xfrm>
            <a:off x="457200" y="533400"/>
            <a:ext cx="8229600" cy="990600"/>
          </a:xfrm>
        </p:spPr>
        <p:txBody>
          <a:bodyPr>
            <a:normAutofit fontScale="90000"/>
          </a:bodyPr>
          <a:lstStyle/>
          <a:p>
            <a:r>
              <a:rPr lang="en-US" b="1" dirty="0"/>
              <a:t>Tables</a:t>
            </a:r>
            <a:r>
              <a:rPr lang="en-US" dirty="0"/>
              <a:t> Linked to Capture Relationships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2"/>
          <p:cNvSpPr>
            <a:spLocks noGrp="1"/>
          </p:cNvSpPr>
          <p:nvPr>
            <p:ph type="sldNum" sz="quarter" idx="12"/>
          </p:nvPr>
        </p:nvSpPr>
        <p:spPr/>
        <p:txBody>
          <a:bodyPr/>
          <a:lstStyle/>
          <a:p>
            <a:pPr>
              <a:defRPr/>
            </a:pPr>
            <a:fld id="{004D541D-1040-4C4E-B196-A50730C9725E}" type="slidenum">
              <a:rPr lang="en-US"/>
              <a:pPr>
                <a:defRPr/>
              </a:pPr>
              <a:t>28</a:t>
            </a:fld>
            <a:endParaRPr lang="en-US" dirty="0"/>
          </a:p>
        </p:txBody>
      </p:sp>
      <p:pic>
        <p:nvPicPr>
          <p:cNvPr id="3" name="Picture 2"/>
          <p:cNvPicPr>
            <a:picLocks noChangeAspect="1"/>
          </p:cNvPicPr>
          <p:nvPr/>
        </p:nvPicPr>
        <p:blipFill>
          <a:blip r:embed="rId3" cstate="print"/>
          <a:stretch>
            <a:fillRect/>
          </a:stretch>
        </p:blipFill>
        <p:spPr>
          <a:xfrm rot="4344821">
            <a:off x="-345641" y="2579458"/>
            <a:ext cx="5798621" cy="2560606"/>
          </a:xfrm>
          <a:prstGeom prst="rect">
            <a:avLst/>
          </a:prstGeom>
          <a:scene3d>
            <a:camera prst="isometricTopUp">
              <a:rot lat="20985157" lon="17872984" rev="4078280"/>
            </a:camera>
            <a:lightRig rig="threePt" dir="t"/>
          </a:scene3d>
        </p:spPr>
      </p:pic>
      <p:pic>
        <p:nvPicPr>
          <p:cNvPr id="2" name="Picture 1"/>
          <p:cNvPicPr>
            <a:picLocks noChangeAspect="1"/>
          </p:cNvPicPr>
          <p:nvPr/>
        </p:nvPicPr>
        <p:blipFill>
          <a:blip r:embed="rId4" cstate="print">
            <a:clrChange>
              <a:clrFrom>
                <a:srgbClr val="FFFFFF"/>
              </a:clrFrom>
              <a:clrTo>
                <a:srgbClr val="FFFFFF">
                  <a:alpha val="0"/>
                </a:srgbClr>
              </a:clrTo>
            </a:clrChange>
          </a:blip>
          <a:stretch>
            <a:fillRect/>
          </a:stretch>
        </p:blipFill>
        <p:spPr>
          <a:xfrm>
            <a:off x="2802697" y="3094004"/>
            <a:ext cx="5655503" cy="2513557"/>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orthographicFront"/>
            <a:lightRig rig="threePt" dir="t"/>
          </a:scene3d>
          <a:sp3d contourW="6350" prstMaterial="matte">
            <a:bevelT w="101600" h="101600"/>
            <a:contourClr>
              <a:srgbClr val="969696"/>
            </a:contourClr>
          </a:sp3d>
        </p:spPr>
      </p:pic>
      <p:cxnSp>
        <p:nvCxnSpPr>
          <p:cNvPr id="11" name="Straight Connector 10"/>
          <p:cNvCxnSpPr/>
          <p:nvPr/>
        </p:nvCxnSpPr>
        <p:spPr>
          <a:xfrm flipH="1" flipV="1">
            <a:off x="5241097" y="2027204"/>
            <a:ext cx="2590800" cy="990600"/>
          </a:xfrm>
          <a:prstGeom prst="line">
            <a:avLst/>
          </a:prstGeom>
        </p:spPr>
        <p:style>
          <a:lnRef idx="1">
            <a:schemeClr val="accent1"/>
          </a:lnRef>
          <a:fillRef idx="0">
            <a:schemeClr val="accent1"/>
          </a:fillRef>
          <a:effectRef idx="0">
            <a:schemeClr val="accent1"/>
          </a:effectRef>
          <a:fontRef idx="minor">
            <a:schemeClr val="tx1"/>
          </a:fontRef>
        </p:style>
      </p:cxnSp>
      <p:pic>
        <p:nvPicPr>
          <p:cNvPr id="12" name="Picture 11"/>
          <p:cNvPicPr>
            <a:picLocks noChangeAspect="1"/>
          </p:cNvPicPr>
          <p:nvPr/>
        </p:nvPicPr>
        <p:blipFill rotWithShape="1">
          <a:blip r:embed="rId5" cstate="print"/>
          <a:srcRect t="12500"/>
          <a:stretch/>
        </p:blipFill>
        <p:spPr>
          <a:xfrm>
            <a:off x="4572000" y="2705100"/>
            <a:ext cx="2038350" cy="266700"/>
          </a:xfrm>
          <a:prstGeom prst="rect">
            <a:avLst/>
          </a:prstGeom>
        </p:spPr>
      </p:pic>
      <p:pic>
        <p:nvPicPr>
          <p:cNvPr id="13" name="Picture 12"/>
          <p:cNvPicPr>
            <a:picLocks noChangeAspect="1"/>
          </p:cNvPicPr>
          <p:nvPr/>
        </p:nvPicPr>
        <p:blipFill>
          <a:blip r:embed="rId6" cstate="print"/>
          <a:stretch>
            <a:fillRect/>
          </a:stretch>
        </p:blipFill>
        <p:spPr>
          <a:xfrm rot="1590215">
            <a:off x="2273784" y="2347071"/>
            <a:ext cx="1360811" cy="265721"/>
          </a:xfrm>
          <a:prstGeom prst="rect">
            <a:avLst/>
          </a:prstGeom>
          <a:scene3d>
            <a:camera prst="isometricTopUp">
              <a:rot lat="20333144" lon="20234527" rev="692955"/>
            </a:camera>
            <a:lightRig rig="threePt" dir="t"/>
          </a:scene3d>
        </p:spPr>
      </p:pic>
      <p:sp>
        <p:nvSpPr>
          <p:cNvPr id="9" name="Title 6"/>
          <p:cNvSpPr>
            <a:spLocks noGrp="1"/>
          </p:cNvSpPr>
          <p:nvPr>
            <p:ph type="title"/>
          </p:nvPr>
        </p:nvSpPr>
        <p:spPr>
          <a:xfrm>
            <a:off x="457200" y="533400"/>
            <a:ext cx="8534400" cy="990600"/>
          </a:xfrm>
        </p:spPr>
        <p:txBody>
          <a:bodyPr>
            <a:normAutofit fontScale="90000"/>
          </a:bodyPr>
          <a:lstStyle/>
          <a:p>
            <a:r>
              <a:rPr lang="en-US" dirty="0"/>
              <a:t>Rough Visualization of </a:t>
            </a:r>
            <a:r>
              <a:rPr lang="en-US" b="1" dirty="0"/>
              <a:t>Table</a:t>
            </a:r>
            <a:r>
              <a:rPr lang="en-US" dirty="0"/>
              <a:t> Relationships</a:t>
            </a:r>
          </a:p>
        </p:txBody>
      </p:sp>
    </p:spTree>
    <p:extLst>
      <p:ext uri="{BB962C8B-B14F-4D97-AF65-F5344CB8AC3E}">
        <p14:creationId xmlns:p14="http://schemas.microsoft.com/office/powerpoint/2010/main" val="8043859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457200" y="-16329"/>
            <a:ext cx="8229600" cy="1143000"/>
          </a:xfrm>
        </p:spPr>
        <p:txBody>
          <a:bodyPr/>
          <a:lstStyle/>
          <a:p>
            <a:r>
              <a:rPr lang="en-US" dirty="0">
                <a:solidFill>
                  <a:srgbClr val="222222"/>
                </a:solidFill>
              </a:rPr>
              <a:t>Database Approach Illustrated</a:t>
            </a:r>
            <a:endParaRPr lang="en-US" dirty="0"/>
          </a:p>
        </p:txBody>
      </p:sp>
      <p:pic>
        <p:nvPicPr>
          <p:cNvPr id="9" name="Picture 4"/>
          <p:cNvPicPr>
            <a:picLocks noGrp="1" noChangeAspect="1" noChangeArrowheads="1"/>
          </p:cNvPicPr>
          <p:nvPr>
            <p:ph idx="1"/>
          </p:nvPr>
        </p:nvPicPr>
        <p:blipFill>
          <a:blip r:embed="rId3" cstate="print"/>
          <a:stretch>
            <a:fillRect/>
          </a:stretch>
        </p:blipFill>
        <p:spPr bwMode="auto">
          <a:xfrm>
            <a:off x="1409700" y="914401"/>
            <a:ext cx="6134100" cy="4422630"/>
          </a:xfrm>
          <a:prstGeom prst="rect">
            <a:avLst/>
          </a:prstGeom>
          <a:noFill/>
          <a:ln>
            <a:noFill/>
          </a:ln>
        </p:spPr>
      </p:pic>
      <p:sp>
        <p:nvSpPr>
          <p:cNvPr id="5" name="Slide Number Placeholder 2"/>
          <p:cNvSpPr>
            <a:spLocks noGrp="1"/>
          </p:cNvSpPr>
          <p:nvPr>
            <p:ph type="sldNum" sz="quarter" idx="12"/>
          </p:nvPr>
        </p:nvSpPr>
        <p:spPr/>
        <p:txBody>
          <a:bodyPr/>
          <a:lstStyle/>
          <a:p>
            <a:pPr>
              <a:defRPr/>
            </a:pPr>
            <a:fld id="{DE5DE9DE-9016-4324-8100-AF8D74A6A7F1}" type="slidenum">
              <a:rPr lang="en-US"/>
              <a:pPr>
                <a:defRPr/>
              </a:pPr>
              <a:t>29</a:t>
            </a:fld>
            <a:endParaRPr lang="en-US" dirty="0"/>
          </a:p>
        </p:txBody>
      </p:sp>
      <p:sp>
        <p:nvSpPr>
          <p:cNvPr id="2" name="TextBox 1">
            <a:extLst>
              <a:ext uri="{FF2B5EF4-FFF2-40B4-BE49-F238E27FC236}">
                <a16:creationId xmlns:a16="http://schemas.microsoft.com/office/drawing/2014/main" id="{94A70F06-CB2B-456A-B695-1EA1F30ED5CA}"/>
              </a:ext>
            </a:extLst>
          </p:cNvPr>
          <p:cNvSpPr txBox="1"/>
          <p:nvPr/>
        </p:nvSpPr>
        <p:spPr>
          <a:xfrm>
            <a:off x="138794" y="5125020"/>
            <a:ext cx="1428750" cy="738664"/>
          </a:xfrm>
          <a:prstGeom prst="rect">
            <a:avLst/>
          </a:prstGeom>
          <a:noFill/>
          <a:ln w="28575">
            <a:solidFill>
              <a:srgbClr val="FF0000"/>
            </a:solidFill>
          </a:ln>
        </p:spPr>
        <p:txBody>
          <a:bodyPr wrap="square" rtlCol="0">
            <a:spAutoFit/>
          </a:bodyPr>
          <a:lstStyle/>
          <a:p>
            <a:r>
              <a:rPr lang="en-US" sz="1400" dirty="0"/>
              <a:t>Data is stored efficiently</a:t>
            </a:r>
          </a:p>
        </p:txBody>
      </p:sp>
      <p:cxnSp>
        <p:nvCxnSpPr>
          <p:cNvPr id="4" name="Straight Arrow Connector 3">
            <a:extLst>
              <a:ext uri="{FF2B5EF4-FFF2-40B4-BE49-F238E27FC236}">
                <a16:creationId xmlns:a16="http://schemas.microsoft.com/office/drawing/2014/main" id="{BDC683B5-014A-41A9-B860-AA33E812EDF4}"/>
              </a:ext>
            </a:extLst>
          </p:cNvPr>
          <p:cNvCxnSpPr>
            <a:cxnSpLocks/>
          </p:cNvCxnSpPr>
          <p:nvPr/>
        </p:nvCxnSpPr>
        <p:spPr>
          <a:xfrm flipV="1">
            <a:off x="1600200" y="5125020"/>
            <a:ext cx="269421" cy="260405"/>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DCE56B1F-C025-40CC-8348-42A09A73FAB0}"/>
              </a:ext>
            </a:extLst>
          </p:cNvPr>
          <p:cNvSpPr txBox="1"/>
          <p:nvPr/>
        </p:nvSpPr>
        <p:spPr>
          <a:xfrm>
            <a:off x="1839685" y="5659864"/>
            <a:ext cx="1970313" cy="738664"/>
          </a:xfrm>
          <a:prstGeom prst="rect">
            <a:avLst/>
          </a:prstGeom>
          <a:noFill/>
          <a:ln w="28575">
            <a:solidFill>
              <a:srgbClr val="FF0000"/>
            </a:solidFill>
          </a:ln>
        </p:spPr>
        <p:txBody>
          <a:bodyPr wrap="square" rtlCol="0">
            <a:spAutoFit/>
          </a:bodyPr>
          <a:lstStyle/>
          <a:p>
            <a:r>
              <a:rPr lang="en-US" sz="1400" dirty="0"/>
              <a:t>How a user chooses how to interact with the data</a:t>
            </a:r>
          </a:p>
        </p:txBody>
      </p:sp>
      <p:cxnSp>
        <p:nvCxnSpPr>
          <p:cNvPr id="10" name="Straight Arrow Connector 9">
            <a:extLst>
              <a:ext uri="{FF2B5EF4-FFF2-40B4-BE49-F238E27FC236}">
                <a16:creationId xmlns:a16="http://schemas.microsoft.com/office/drawing/2014/main" id="{9FDEBF19-FBC1-4C80-ADC9-7E906364D9C0}"/>
              </a:ext>
            </a:extLst>
          </p:cNvPr>
          <p:cNvCxnSpPr>
            <a:cxnSpLocks/>
          </p:cNvCxnSpPr>
          <p:nvPr/>
        </p:nvCxnSpPr>
        <p:spPr>
          <a:xfrm flipV="1">
            <a:off x="3028268" y="5125021"/>
            <a:ext cx="591235" cy="534843"/>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A7CC648E-577E-4ECB-9F9D-6EB67384D169}"/>
              </a:ext>
            </a:extLst>
          </p:cNvPr>
          <p:cNvSpPr txBox="1"/>
          <p:nvPr/>
        </p:nvSpPr>
        <p:spPr>
          <a:xfrm>
            <a:off x="4147459" y="5773400"/>
            <a:ext cx="2133600" cy="738664"/>
          </a:xfrm>
          <a:prstGeom prst="rect">
            <a:avLst/>
          </a:prstGeom>
          <a:noFill/>
          <a:ln w="28575">
            <a:solidFill>
              <a:srgbClr val="FF0000"/>
            </a:solidFill>
          </a:ln>
        </p:spPr>
        <p:txBody>
          <a:bodyPr wrap="square" rtlCol="0">
            <a:spAutoFit/>
          </a:bodyPr>
          <a:lstStyle/>
          <a:p>
            <a:r>
              <a:rPr lang="en-US" sz="1400" dirty="0"/>
              <a:t>Various programs developed to control views/interactions</a:t>
            </a:r>
          </a:p>
        </p:txBody>
      </p:sp>
      <p:cxnSp>
        <p:nvCxnSpPr>
          <p:cNvPr id="14" name="Straight Arrow Connector 13">
            <a:extLst>
              <a:ext uri="{FF2B5EF4-FFF2-40B4-BE49-F238E27FC236}">
                <a16:creationId xmlns:a16="http://schemas.microsoft.com/office/drawing/2014/main" id="{FE6FF543-7B47-46FD-9FE5-1C6E5D76E5D1}"/>
              </a:ext>
            </a:extLst>
          </p:cNvPr>
          <p:cNvCxnSpPr>
            <a:cxnSpLocks/>
          </p:cNvCxnSpPr>
          <p:nvPr/>
        </p:nvCxnSpPr>
        <p:spPr>
          <a:xfrm flipV="1">
            <a:off x="4833259" y="5224078"/>
            <a:ext cx="457200" cy="523696"/>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AC7DD111-54F2-4EEE-AE8F-55C7451E7D51}"/>
              </a:ext>
            </a:extLst>
          </p:cNvPr>
          <p:cNvSpPr txBox="1"/>
          <p:nvPr/>
        </p:nvSpPr>
        <p:spPr>
          <a:xfrm>
            <a:off x="6685190" y="5574267"/>
            <a:ext cx="1619250" cy="738664"/>
          </a:xfrm>
          <a:prstGeom prst="rect">
            <a:avLst/>
          </a:prstGeom>
          <a:noFill/>
          <a:ln w="28575">
            <a:solidFill>
              <a:srgbClr val="FF0000"/>
            </a:solidFill>
          </a:ln>
        </p:spPr>
        <p:txBody>
          <a:bodyPr wrap="square" rtlCol="0">
            <a:spAutoFit/>
          </a:bodyPr>
          <a:lstStyle/>
          <a:p>
            <a:r>
              <a:rPr lang="en-US" sz="1400" dirty="0"/>
              <a:t>Data/reports generated for users</a:t>
            </a:r>
          </a:p>
        </p:txBody>
      </p:sp>
      <p:cxnSp>
        <p:nvCxnSpPr>
          <p:cNvPr id="22" name="Straight Arrow Connector 21">
            <a:extLst>
              <a:ext uri="{FF2B5EF4-FFF2-40B4-BE49-F238E27FC236}">
                <a16:creationId xmlns:a16="http://schemas.microsoft.com/office/drawing/2014/main" id="{9508B317-B5AF-4756-9222-77C0F27E749F}"/>
              </a:ext>
            </a:extLst>
          </p:cNvPr>
          <p:cNvCxnSpPr>
            <a:cxnSpLocks/>
          </p:cNvCxnSpPr>
          <p:nvPr/>
        </p:nvCxnSpPr>
        <p:spPr>
          <a:xfrm flipH="1" flipV="1">
            <a:off x="7162800" y="5029200"/>
            <a:ext cx="588511" cy="502429"/>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8923741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Rectangle 2"/>
          <p:cNvSpPr>
            <a:spLocks noGrp="1" noChangeArrowheads="1"/>
          </p:cNvSpPr>
          <p:nvPr>
            <p:ph type="title"/>
          </p:nvPr>
        </p:nvSpPr>
        <p:spPr/>
        <p:txBody>
          <a:bodyPr>
            <a:normAutofit/>
          </a:bodyPr>
          <a:lstStyle/>
          <a:p>
            <a:r>
              <a:rPr lang="en-US" dirty="0"/>
              <a:t>Data Element Concepts</a:t>
            </a:r>
          </a:p>
        </p:txBody>
      </p:sp>
      <p:sp>
        <p:nvSpPr>
          <p:cNvPr id="159747" name="Rectangle 3"/>
          <p:cNvSpPr>
            <a:spLocks noGrp="1" noChangeArrowheads="1"/>
          </p:cNvSpPr>
          <p:nvPr>
            <p:ph idx="1"/>
          </p:nvPr>
        </p:nvSpPr>
        <p:spPr/>
        <p:txBody>
          <a:bodyPr>
            <a:normAutofit/>
          </a:bodyPr>
          <a:lstStyle/>
          <a:p>
            <a:r>
              <a:rPr lang="en-US" b="1" dirty="0"/>
              <a:t>Entity: </a:t>
            </a:r>
            <a:r>
              <a:rPr lang="en-US" b="0" dirty="0"/>
              <a:t>a generalized class of </a:t>
            </a:r>
            <a:r>
              <a:rPr lang="en-US" dirty="0"/>
              <a:t>people, places, things, or events (objects) 		</a:t>
            </a:r>
            <a:r>
              <a:rPr lang="en-US" i="1" dirty="0"/>
              <a:t>~nouns</a:t>
            </a:r>
          </a:p>
          <a:p>
            <a:pPr lvl="1"/>
            <a:r>
              <a:rPr lang="en-US" dirty="0"/>
              <a:t>becomes a </a:t>
            </a:r>
            <a:r>
              <a:rPr lang="en-US" b="1" dirty="0"/>
              <a:t>table</a:t>
            </a:r>
            <a:r>
              <a:rPr lang="en-US" dirty="0"/>
              <a:t> in the database</a:t>
            </a:r>
          </a:p>
          <a:p>
            <a:pPr lvl="1"/>
            <a:r>
              <a:rPr lang="en-US" dirty="0"/>
              <a:t>each instance of an entity is stored in a </a:t>
            </a:r>
            <a:r>
              <a:rPr lang="en-US" b="1" dirty="0"/>
              <a:t>record</a:t>
            </a:r>
            <a:r>
              <a:rPr lang="en-US" dirty="0"/>
              <a:t> or </a:t>
            </a:r>
            <a:r>
              <a:rPr lang="en-US" b="1" dirty="0"/>
              <a:t>row</a:t>
            </a:r>
            <a:endParaRPr lang="en-US" dirty="0"/>
          </a:p>
          <a:p>
            <a:pPr lvl="2"/>
            <a:endParaRPr lang="en-US" dirty="0"/>
          </a:p>
          <a:p>
            <a:r>
              <a:rPr lang="en-US" b="1" dirty="0"/>
              <a:t>Attribute:</a:t>
            </a:r>
            <a:r>
              <a:rPr lang="en-US" dirty="0"/>
              <a:t> </a:t>
            </a:r>
            <a:r>
              <a:rPr lang="en-US" b="0" dirty="0"/>
              <a:t>characteristic of an entity	</a:t>
            </a:r>
            <a:r>
              <a:rPr lang="en-US" b="0" i="1" dirty="0"/>
              <a:t>~adjectives</a:t>
            </a:r>
            <a:endParaRPr lang="en-US" b="0" dirty="0"/>
          </a:p>
          <a:p>
            <a:pPr lvl="1"/>
            <a:r>
              <a:rPr lang="en-US" dirty="0"/>
              <a:t>stored in </a:t>
            </a:r>
            <a:r>
              <a:rPr lang="en-US" b="1" dirty="0"/>
              <a:t>field</a:t>
            </a:r>
            <a:r>
              <a:rPr lang="en-US" dirty="0"/>
              <a:t> of a </a:t>
            </a:r>
            <a:r>
              <a:rPr lang="en-US" b="1" dirty="0"/>
              <a:t>record</a:t>
            </a:r>
            <a:r>
              <a:rPr lang="en-US" dirty="0"/>
              <a:t> </a:t>
            </a:r>
            <a:br>
              <a:rPr lang="en-US" b="0" dirty="0"/>
            </a:br>
            <a:endParaRPr lang="en-US" b="0" dirty="0"/>
          </a:p>
          <a:p>
            <a:r>
              <a:rPr lang="en-US" b="1" dirty="0"/>
              <a:t>Primary key:</a:t>
            </a:r>
            <a:r>
              <a:rPr lang="en-US" dirty="0"/>
              <a:t> </a:t>
            </a:r>
            <a:r>
              <a:rPr lang="en-US" b="0" dirty="0"/>
              <a:t>field or set of fields that uniquely identifies the record</a:t>
            </a:r>
          </a:p>
        </p:txBody>
      </p:sp>
      <p:sp>
        <p:nvSpPr>
          <p:cNvPr id="5" name="Slide Number Placeholder 4"/>
          <p:cNvSpPr>
            <a:spLocks noGrp="1"/>
          </p:cNvSpPr>
          <p:nvPr>
            <p:ph type="sldNum" sz="quarter" idx="12"/>
          </p:nvPr>
        </p:nvSpPr>
        <p:spPr/>
        <p:txBody>
          <a:bodyPr/>
          <a:lstStyle/>
          <a:p>
            <a:fld id="{01A2BAD0-C764-4010-ADC6-F42D556E7348}" type="slidenum">
              <a:rPr lang="en-US"/>
              <a:pPr/>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2"/>
          <p:cNvSpPr>
            <a:spLocks noGrp="1"/>
          </p:cNvSpPr>
          <p:nvPr>
            <p:ph type="sldNum" sz="quarter" idx="12"/>
          </p:nvPr>
        </p:nvSpPr>
        <p:spPr/>
        <p:txBody>
          <a:bodyPr/>
          <a:lstStyle/>
          <a:p>
            <a:pPr>
              <a:defRPr/>
            </a:pPr>
            <a:fld id="{73237137-AC30-4655-AA39-54B9232EA1B2}" type="slidenum">
              <a:rPr lang="en-US"/>
              <a:pPr>
                <a:defRPr/>
              </a:pPr>
              <a:t>31</a:t>
            </a:fld>
            <a:endParaRPr lang="en-US" dirty="0"/>
          </a:p>
        </p:txBody>
      </p:sp>
      <p:sp>
        <p:nvSpPr>
          <p:cNvPr id="3" name="Title 2"/>
          <p:cNvSpPr>
            <a:spLocks noGrp="1"/>
          </p:cNvSpPr>
          <p:nvPr>
            <p:ph type="title"/>
          </p:nvPr>
        </p:nvSpPr>
        <p:spPr/>
        <p:txBody>
          <a:bodyPr>
            <a:normAutofit/>
          </a:bodyPr>
          <a:lstStyle/>
          <a:p>
            <a:r>
              <a:rPr lang="en-US" dirty="0"/>
              <a:t>Data Element Concepts - Example</a:t>
            </a:r>
          </a:p>
        </p:txBody>
      </p:sp>
      <p:sp>
        <p:nvSpPr>
          <p:cNvPr id="4" name="Content Placeholder 3"/>
          <p:cNvSpPr>
            <a:spLocks noGrp="1"/>
          </p:cNvSpPr>
          <p:nvPr>
            <p:ph idx="1"/>
          </p:nvPr>
        </p:nvSpPr>
        <p:spPr/>
        <p:txBody>
          <a:bodyPr>
            <a:normAutofit/>
          </a:bodyPr>
          <a:lstStyle/>
          <a:p>
            <a:r>
              <a:rPr lang="en-US" sz="2800" dirty="0"/>
              <a:t>Consider maintaining data for:</a:t>
            </a:r>
          </a:p>
          <a:p>
            <a:pPr lvl="1"/>
            <a:r>
              <a:rPr lang="en-US" sz="2400" dirty="0"/>
              <a:t>cadets, </a:t>
            </a:r>
          </a:p>
          <a:p>
            <a:pPr lvl="1"/>
            <a:r>
              <a:rPr lang="en-US" sz="2400" dirty="0"/>
              <a:t>companies, </a:t>
            </a:r>
          </a:p>
          <a:p>
            <a:pPr lvl="1"/>
            <a:r>
              <a:rPr lang="en-US" sz="2400" dirty="0"/>
              <a:t>divisions, and </a:t>
            </a:r>
          </a:p>
          <a:p>
            <a:pPr lvl="1"/>
            <a:r>
              <a:rPr lang="en-US" sz="2400" dirty="0"/>
              <a:t>company officers</a:t>
            </a:r>
          </a:p>
          <a:p>
            <a:endParaRPr lang="en-US" sz="2800" dirty="0"/>
          </a:p>
          <a:p>
            <a:r>
              <a:rPr lang="en-US" sz="2800" dirty="0"/>
              <a:t>What are the </a:t>
            </a:r>
            <a:r>
              <a:rPr lang="en-US" sz="2800" b="1" dirty="0"/>
              <a:t>entities</a:t>
            </a:r>
            <a:r>
              <a:rPr lang="en-US" sz="2800" dirty="0"/>
              <a:t> you would make?</a:t>
            </a:r>
          </a:p>
          <a:p>
            <a:r>
              <a:rPr lang="en-US" sz="2800" dirty="0"/>
              <a:t>What </a:t>
            </a:r>
            <a:r>
              <a:rPr lang="en-US" sz="2800" b="1" dirty="0"/>
              <a:t>attributes </a:t>
            </a:r>
            <a:r>
              <a:rPr lang="en-US" sz="2800" dirty="0"/>
              <a:t>would you include for each </a:t>
            </a:r>
            <a:r>
              <a:rPr lang="en-US" sz="2800" b="1" dirty="0"/>
              <a:t>entity</a:t>
            </a:r>
            <a:r>
              <a:rPr lang="en-US" sz="2800" dirty="0"/>
              <a:t>?</a:t>
            </a:r>
          </a:p>
          <a:p>
            <a:r>
              <a:rPr lang="en-US" sz="2800" dirty="0"/>
              <a:t>Suggest a </a:t>
            </a:r>
            <a:r>
              <a:rPr lang="en-US" sz="2800" b="1" dirty="0"/>
              <a:t>primary key </a:t>
            </a:r>
            <a:r>
              <a:rPr lang="en-US" sz="2800" dirty="0"/>
              <a:t>to use for the Cadet </a:t>
            </a:r>
            <a:r>
              <a:rPr lang="en-US" sz="2800" b="1" dirty="0"/>
              <a:t>table</a:t>
            </a:r>
          </a:p>
          <a:p>
            <a:endParaRPr lang="en-US" sz="2800" dirty="0"/>
          </a:p>
        </p:txBody>
      </p:sp>
    </p:spTree>
    <p:extLst>
      <p:ext uri="{BB962C8B-B14F-4D97-AF65-F5344CB8AC3E}">
        <p14:creationId xmlns:p14="http://schemas.microsoft.com/office/powerpoint/2010/main" val="30213478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2"/>
          <p:cNvSpPr>
            <a:spLocks noGrp="1"/>
          </p:cNvSpPr>
          <p:nvPr>
            <p:ph type="sldNum" sz="quarter" idx="12"/>
          </p:nvPr>
        </p:nvSpPr>
        <p:spPr/>
        <p:txBody>
          <a:bodyPr/>
          <a:lstStyle/>
          <a:p>
            <a:pPr>
              <a:defRPr/>
            </a:pPr>
            <a:fld id="{73237137-AC30-4655-AA39-54B9232EA1B2}" type="slidenum">
              <a:rPr lang="en-US"/>
              <a:pPr>
                <a:defRPr/>
              </a:pPr>
              <a:t>32</a:t>
            </a:fld>
            <a:endParaRPr lang="en-US" dirty="0"/>
          </a:p>
        </p:txBody>
      </p:sp>
      <p:sp>
        <p:nvSpPr>
          <p:cNvPr id="3" name="Title 2"/>
          <p:cNvSpPr>
            <a:spLocks noGrp="1"/>
          </p:cNvSpPr>
          <p:nvPr>
            <p:ph type="title"/>
          </p:nvPr>
        </p:nvSpPr>
        <p:spPr/>
        <p:txBody>
          <a:bodyPr>
            <a:normAutofit/>
          </a:bodyPr>
          <a:lstStyle/>
          <a:p>
            <a:r>
              <a:rPr lang="en-US" dirty="0"/>
              <a:t>Data Element Concepts - Example</a:t>
            </a:r>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966147187"/>
              </p:ext>
            </p:extLst>
          </p:nvPr>
        </p:nvGraphicFramePr>
        <p:xfrm>
          <a:off x="457200" y="1600200"/>
          <a:ext cx="8189024" cy="1854200"/>
        </p:xfrm>
        <a:graphic>
          <a:graphicData uri="http://schemas.openxmlformats.org/drawingml/2006/table">
            <a:tbl>
              <a:tblPr firstRow="1" bandRow="1">
                <a:tableStyleId>{5C22544A-7EE6-4342-B048-85BDC9FD1C3A}</a:tableStyleId>
              </a:tblPr>
              <a:tblGrid>
                <a:gridCol w="1516380">
                  <a:extLst>
                    <a:ext uri="{9D8B030D-6E8A-4147-A177-3AD203B41FA5}">
                      <a16:colId xmlns:a16="http://schemas.microsoft.com/office/drawing/2014/main" val="811026815"/>
                    </a:ext>
                  </a:extLst>
                </a:gridCol>
                <a:gridCol w="1601153">
                  <a:extLst>
                    <a:ext uri="{9D8B030D-6E8A-4147-A177-3AD203B41FA5}">
                      <a16:colId xmlns:a16="http://schemas.microsoft.com/office/drawing/2014/main" val="3117743619"/>
                    </a:ext>
                  </a:extLst>
                </a:gridCol>
                <a:gridCol w="1287780">
                  <a:extLst>
                    <a:ext uri="{9D8B030D-6E8A-4147-A177-3AD203B41FA5}">
                      <a16:colId xmlns:a16="http://schemas.microsoft.com/office/drawing/2014/main" val="3845974641"/>
                    </a:ext>
                  </a:extLst>
                </a:gridCol>
                <a:gridCol w="1711071">
                  <a:extLst>
                    <a:ext uri="{9D8B030D-6E8A-4147-A177-3AD203B41FA5}">
                      <a16:colId xmlns:a16="http://schemas.microsoft.com/office/drawing/2014/main" val="2569528841"/>
                    </a:ext>
                  </a:extLst>
                </a:gridCol>
                <a:gridCol w="1249680">
                  <a:extLst>
                    <a:ext uri="{9D8B030D-6E8A-4147-A177-3AD203B41FA5}">
                      <a16:colId xmlns:a16="http://schemas.microsoft.com/office/drawing/2014/main" val="1535363845"/>
                    </a:ext>
                  </a:extLst>
                </a:gridCol>
                <a:gridCol w="822960">
                  <a:extLst>
                    <a:ext uri="{9D8B030D-6E8A-4147-A177-3AD203B41FA5}">
                      <a16:colId xmlns:a16="http://schemas.microsoft.com/office/drawing/2014/main" val="3582516297"/>
                    </a:ext>
                  </a:extLst>
                </a:gridCol>
              </a:tblGrid>
              <a:tr h="370840">
                <a:tc>
                  <a:txBody>
                    <a:bodyPr/>
                    <a:lstStyle/>
                    <a:p>
                      <a:r>
                        <a:rPr lang="en-US" dirty="0"/>
                        <a:t>Cadet Code</a:t>
                      </a:r>
                    </a:p>
                  </a:txBody>
                  <a:tcPr/>
                </a:tc>
                <a:tc>
                  <a:txBody>
                    <a:bodyPr/>
                    <a:lstStyle/>
                    <a:p>
                      <a:r>
                        <a:rPr lang="en-US" dirty="0"/>
                        <a:t>Name</a:t>
                      </a:r>
                    </a:p>
                  </a:txBody>
                  <a:tcPr/>
                </a:tc>
                <a:tc>
                  <a:txBody>
                    <a:bodyPr/>
                    <a:lstStyle/>
                    <a:p>
                      <a:r>
                        <a:rPr lang="en-US" dirty="0"/>
                        <a:t>Company</a:t>
                      </a:r>
                    </a:p>
                  </a:txBody>
                  <a:tcPr/>
                </a:tc>
                <a:tc>
                  <a:txBody>
                    <a:bodyPr/>
                    <a:lstStyle/>
                    <a:p>
                      <a:r>
                        <a:rPr lang="en-US" dirty="0"/>
                        <a:t>Division</a:t>
                      </a:r>
                    </a:p>
                  </a:txBody>
                  <a:tcPr/>
                </a:tc>
                <a:tc>
                  <a:txBody>
                    <a:bodyPr/>
                    <a:lstStyle/>
                    <a:p>
                      <a:r>
                        <a:rPr lang="en-US" dirty="0"/>
                        <a:t>Birthdate</a:t>
                      </a:r>
                    </a:p>
                  </a:txBody>
                  <a:tcPr/>
                </a:tc>
                <a:tc>
                  <a:txBody>
                    <a:bodyPr/>
                    <a:lstStyle/>
                    <a:p>
                      <a:r>
                        <a:rPr lang="en-US" dirty="0"/>
                        <a:t>Year</a:t>
                      </a:r>
                    </a:p>
                  </a:txBody>
                  <a:tcPr/>
                </a:tc>
                <a:extLst>
                  <a:ext uri="{0D108BD9-81ED-4DB2-BD59-A6C34878D82A}">
                    <a16:rowId xmlns:a16="http://schemas.microsoft.com/office/drawing/2014/main" val="604144399"/>
                  </a:ext>
                </a:extLst>
              </a:tr>
              <a:tr h="370840">
                <a:tc>
                  <a:txBody>
                    <a:bodyPr/>
                    <a:lstStyle/>
                    <a:p>
                      <a:r>
                        <a:rPr lang="en-US" dirty="0"/>
                        <a:t>12345</a:t>
                      </a:r>
                    </a:p>
                  </a:txBody>
                  <a:tcPr/>
                </a:tc>
                <a:tc>
                  <a:txBody>
                    <a:bodyPr/>
                    <a:lstStyle/>
                    <a:p>
                      <a:r>
                        <a:rPr lang="en-US" dirty="0"/>
                        <a:t>Abby</a:t>
                      </a:r>
                      <a:r>
                        <a:rPr lang="en-US" baseline="0" dirty="0"/>
                        <a:t> Jones</a:t>
                      </a:r>
                      <a:endParaRPr lang="en-US" dirty="0"/>
                    </a:p>
                  </a:txBody>
                  <a:tcPr/>
                </a:tc>
                <a:tc>
                  <a:txBody>
                    <a:bodyPr/>
                    <a:lstStyle/>
                    <a:p>
                      <a:r>
                        <a:rPr lang="en-US" dirty="0"/>
                        <a:t>Alfa</a:t>
                      </a:r>
                    </a:p>
                  </a:txBody>
                  <a:tcPr/>
                </a:tc>
                <a:tc>
                  <a:txBody>
                    <a:bodyPr/>
                    <a:lstStyle/>
                    <a:p>
                      <a:r>
                        <a:rPr lang="en-US" dirty="0"/>
                        <a:t>Wellness</a:t>
                      </a:r>
                    </a:p>
                  </a:txBody>
                  <a:tcPr/>
                </a:tc>
                <a:tc>
                  <a:txBody>
                    <a:bodyPr/>
                    <a:lstStyle/>
                    <a:p>
                      <a:r>
                        <a:rPr lang="en-US" dirty="0"/>
                        <a:t>6/4/1999</a:t>
                      </a:r>
                    </a:p>
                  </a:txBody>
                  <a:tcPr/>
                </a:tc>
                <a:tc>
                  <a:txBody>
                    <a:bodyPr/>
                    <a:lstStyle/>
                    <a:p>
                      <a:r>
                        <a:rPr lang="en-US" dirty="0"/>
                        <a:t>2021</a:t>
                      </a:r>
                    </a:p>
                  </a:txBody>
                  <a:tcPr/>
                </a:tc>
                <a:extLst>
                  <a:ext uri="{0D108BD9-81ED-4DB2-BD59-A6C34878D82A}">
                    <a16:rowId xmlns:a16="http://schemas.microsoft.com/office/drawing/2014/main" val="2908211506"/>
                  </a:ext>
                </a:extLst>
              </a:tr>
              <a:tr h="370840">
                <a:tc>
                  <a:txBody>
                    <a:bodyPr/>
                    <a:lstStyle/>
                    <a:p>
                      <a:r>
                        <a:rPr lang="en-US" dirty="0"/>
                        <a:t>20090</a:t>
                      </a:r>
                    </a:p>
                  </a:txBody>
                  <a:tcPr/>
                </a:tc>
                <a:tc>
                  <a:txBody>
                    <a:bodyPr/>
                    <a:lstStyle/>
                    <a:p>
                      <a:r>
                        <a:rPr lang="en-US" dirty="0"/>
                        <a:t>Wendy</a:t>
                      </a:r>
                      <a:r>
                        <a:rPr lang="en-US" baseline="0" dirty="0"/>
                        <a:t> Wu</a:t>
                      </a:r>
                      <a:endParaRPr lang="en-US" dirty="0"/>
                    </a:p>
                  </a:txBody>
                  <a:tcPr/>
                </a:tc>
                <a:tc>
                  <a:txBody>
                    <a:bodyPr/>
                    <a:lstStyle/>
                    <a:p>
                      <a:r>
                        <a:rPr lang="en-US" dirty="0"/>
                        <a:t>Echo</a:t>
                      </a:r>
                    </a:p>
                  </a:txBody>
                  <a:tcPr/>
                </a:tc>
                <a:tc>
                  <a:txBody>
                    <a:bodyPr/>
                    <a:lstStyle/>
                    <a:p>
                      <a:r>
                        <a:rPr lang="en-US" dirty="0"/>
                        <a:t>Transportation</a:t>
                      </a:r>
                    </a:p>
                  </a:txBody>
                  <a:tcPr/>
                </a:tc>
                <a:tc>
                  <a:txBody>
                    <a:bodyPr/>
                    <a:lstStyle/>
                    <a:p>
                      <a:r>
                        <a:rPr lang="en-US" dirty="0"/>
                        <a:t>2/8/1998</a:t>
                      </a:r>
                    </a:p>
                  </a:txBody>
                  <a:tcPr/>
                </a:tc>
                <a:tc>
                  <a:txBody>
                    <a:bodyPr/>
                    <a:lstStyle/>
                    <a:p>
                      <a:r>
                        <a:rPr lang="en-US" dirty="0"/>
                        <a:t>2020</a:t>
                      </a:r>
                    </a:p>
                  </a:txBody>
                  <a:tcPr/>
                </a:tc>
                <a:extLst>
                  <a:ext uri="{0D108BD9-81ED-4DB2-BD59-A6C34878D82A}">
                    <a16:rowId xmlns:a16="http://schemas.microsoft.com/office/drawing/2014/main" val="3160301782"/>
                  </a:ext>
                </a:extLst>
              </a:tr>
              <a:tr h="370840">
                <a:tc>
                  <a:txBody>
                    <a:bodyPr/>
                    <a:lstStyle/>
                    <a:p>
                      <a:r>
                        <a:rPr lang="en-US" dirty="0"/>
                        <a:t>19238</a:t>
                      </a:r>
                    </a:p>
                  </a:txBody>
                  <a:tcPr/>
                </a:tc>
                <a:tc>
                  <a:txBody>
                    <a:bodyPr/>
                    <a:lstStyle/>
                    <a:p>
                      <a:r>
                        <a:rPr lang="en-US" dirty="0"/>
                        <a:t>Wesley Lee</a:t>
                      </a:r>
                    </a:p>
                  </a:txBody>
                  <a:tcPr/>
                </a:tc>
                <a:tc>
                  <a:txBody>
                    <a:bodyPr/>
                    <a:lstStyle/>
                    <a:p>
                      <a:r>
                        <a:rPr lang="en-US" dirty="0"/>
                        <a:t>Bravo</a:t>
                      </a:r>
                    </a:p>
                  </a:txBody>
                  <a:tcPr/>
                </a:tc>
                <a:tc>
                  <a:txBody>
                    <a:bodyPr/>
                    <a:lstStyle/>
                    <a:p>
                      <a:r>
                        <a:rPr lang="en-US" dirty="0"/>
                        <a:t>Training</a:t>
                      </a:r>
                    </a:p>
                  </a:txBody>
                  <a:tcPr/>
                </a:tc>
                <a:tc>
                  <a:txBody>
                    <a:bodyPr/>
                    <a:lstStyle/>
                    <a:p>
                      <a:r>
                        <a:rPr lang="en-US" dirty="0"/>
                        <a:t>8/2/2000</a:t>
                      </a:r>
                    </a:p>
                  </a:txBody>
                  <a:tcPr/>
                </a:tc>
                <a:tc>
                  <a:txBody>
                    <a:bodyPr/>
                    <a:lstStyle/>
                    <a:p>
                      <a:r>
                        <a:rPr lang="en-US" dirty="0"/>
                        <a:t>2022</a:t>
                      </a:r>
                    </a:p>
                  </a:txBody>
                  <a:tcPr/>
                </a:tc>
                <a:extLst>
                  <a:ext uri="{0D108BD9-81ED-4DB2-BD59-A6C34878D82A}">
                    <a16:rowId xmlns:a16="http://schemas.microsoft.com/office/drawing/2014/main" val="1602772740"/>
                  </a:ext>
                </a:extLst>
              </a:tr>
              <a:tr h="370840">
                <a:tc>
                  <a:txBody>
                    <a:bodyPr/>
                    <a:lstStyle/>
                    <a:p>
                      <a:r>
                        <a:rPr lang="en-US" dirty="0"/>
                        <a:t>98123</a:t>
                      </a:r>
                    </a:p>
                  </a:txBody>
                  <a:tcPr/>
                </a:tc>
                <a:tc>
                  <a:txBody>
                    <a:bodyPr/>
                    <a:lstStyle/>
                    <a:p>
                      <a:r>
                        <a:rPr lang="en-US" dirty="0"/>
                        <a:t>Kevin</a:t>
                      </a:r>
                      <a:r>
                        <a:rPr lang="en-US" baseline="0" dirty="0"/>
                        <a:t> Diaz</a:t>
                      </a:r>
                      <a:endParaRPr lang="en-US" dirty="0"/>
                    </a:p>
                  </a:txBody>
                  <a:tcPr/>
                </a:tc>
                <a:tc>
                  <a:txBody>
                    <a:bodyPr/>
                    <a:lstStyle/>
                    <a:p>
                      <a:r>
                        <a:rPr lang="en-US" dirty="0"/>
                        <a:t>Charlie</a:t>
                      </a:r>
                    </a:p>
                  </a:txBody>
                  <a:tcPr/>
                </a:tc>
                <a:tc>
                  <a:txBody>
                    <a:bodyPr/>
                    <a:lstStyle/>
                    <a:p>
                      <a:r>
                        <a:rPr lang="en-US" dirty="0"/>
                        <a:t>Honor</a:t>
                      </a:r>
                    </a:p>
                  </a:txBody>
                  <a:tcPr/>
                </a:tc>
                <a:tc>
                  <a:txBody>
                    <a:bodyPr/>
                    <a:lstStyle/>
                    <a:p>
                      <a:r>
                        <a:rPr lang="en-US" dirty="0"/>
                        <a:t>9/23/1997</a:t>
                      </a:r>
                    </a:p>
                  </a:txBody>
                  <a:tcPr/>
                </a:tc>
                <a:tc>
                  <a:txBody>
                    <a:bodyPr/>
                    <a:lstStyle/>
                    <a:p>
                      <a:r>
                        <a:rPr lang="en-US" dirty="0"/>
                        <a:t>2020</a:t>
                      </a:r>
                    </a:p>
                  </a:txBody>
                  <a:tcPr/>
                </a:tc>
                <a:extLst>
                  <a:ext uri="{0D108BD9-81ED-4DB2-BD59-A6C34878D82A}">
                    <a16:rowId xmlns:a16="http://schemas.microsoft.com/office/drawing/2014/main" val="235528990"/>
                  </a:ext>
                </a:extLst>
              </a:tr>
            </a:tbl>
          </a:graphicData>
        </a:graphic>
      </p:graphicFrame>
      <p:sp>
        <p:nvSpPr>
          <p:cNvPr id="7" name="Content Placeholder 3"/>
          <p:cNvSpPr txBox="1">
            <a:spLocks/>
          </p:cNvSpPr>
          <p:nvPr/>
        </p:nvSpPr>
        <p:spPr>
          <a:xfrm>
            <a:off x="457200" y="3733800"/>
            <a:ext cx="8229600" cy="2743200"/>
          </a:xfrm>
          <a:prstGeom prst="rect">
            <a:avLst/>
          </a:prstGeom>
        </p:spPr>
        <p:txBody>
          <a:bodyPr vert="horz" lIns="91440" tIns="45720" rIns="91440" bIns="45720" rtlCol="0">
            <a:normAutofit/>
          </a:bodyPr>
          <a:lstStyle>
            <a:lvl1pPr marL="182880" indent="-182880" algn="l" defTabSz="914400" rtl="0" eaLnBrk="1" latinLnBrk="0" hangingPunct="1">
              <a:spcBef>
                <a:spcPct val="20000"/>
              </a:spcBef>
              <a:buClr>
                <a:schemeClr val="accent1"/>
              </a:buClr>
              <a:buSzPct val="85000"/>
              <a:buFont typeface="Arial" pitchFamily="34" charset="0"/>
              <a:buChar char="•"/>
              <a:defRPr sz="24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0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18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16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14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a:lstStyle>
          <a:p>
            <a:pPr fontAlgn="auto">
              <a:spcAft>
                <a:spcPts val="0"/>
              </a:spcAft>
            </a:pPr>
            <a:r>
              <a:rPr lang="en-US" sz="2800" dirty="0"/>
              <a:t>What is/are the record(s) shown?</a:t>
            </a:r>
          </a:p>
          <a:p>
            <a:pPr fontAlgn="auto">
              <a:spcAft>
                <a:spcPts val="0"/>
              </a:spcAft>
            </a:pPr>
            <a:r>
              <a:rPr lang="en-US" sz="2800" dirty="0"/>
              <a:t>What is/are the field(s) shown?</a:t>
            </a:r>
          </a:p>
          <a:p>
            <a:pPr fontAlgn="auto">
              <a:spcAft>
                <a:spcPts val="0"/>
              </a:spcAft>
            </a:pPr>
            <a:r>
              <a:rPr lang="en-US" sz="2800" dirty="0"/>
              <a:t>What are potential primary keys shown?</a:t>
            </a:r>
          </a:p>
        </p:txBody>
      </p:sp>
    </p:spTree>
    <p:extLst>
      <p:ext uri="{BB962C8B-B14F-4D97-AF65-F5344CB8AC3E}">
        <p14:creationId xmlns:p14="http://schemas.microsoft.com/office/powerpoint/2010/main" val="237105722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2117650-10D2-45F3-8AA5-FAF83335BF84}"/>
              </a:ext>
            </a:extLst>
          </p:cNvPr>
          <p:cNvSpPr>
            <a:spLocks noGrp="1"/>
          </p:cNvSpPr>
          <p:nvPr>
            <p:ph idx="1"/>
          </p:nvPr>
        </p:nvSpPr>
        <p:spPr>
          <a:xfrm>
            <a:off x="228600" y="1338072"/>
            <a:ext cx="8191500" cy="5215127"/>
          </a:xfrm>
        </p:spPr>
        <p:txBody>
          <a:bodyPr>
            <a:normAutofit/>
          </a:bodyPr>
          <a:lstStyle/>
          <a:p>
            <a:r>
              <a:rPr lang="en-US" sz="2800" b="1" dirty="0"/>
              <a:t>Cardinality</a:t>
            </a:r>
            <a:r>
              <a:rPr lang="en-US" sz="2800" dirty="0"/>
              <a:t> describes the relationship between two entities A and B:</a:t>
            </a:r>
          </a:p>
          <a:p>
            <a:pPr lvl="1"/>
            <a:r>
              <a:rPr lang="en-US" dirty="0"/>
              <a:t>Given an instance of Entity A, how many instances of Entity B is it related to, and vice versa?</a:t>
            </a:r>
          </a:p>
          <a:p>
            <a:pPr lvl="2"/>
            <a:r>
              <a:rPr lang="en-US" u="sng" dirty="0"/>
              <a:t>Possible answers</a:t>
            </a:r>
            <a:r>
              <a:rPr lang="en-US" dirty="0"/>
              <a:t>:    a) </a:t>
            </a:r>
            <a:r>
              <a:rPr lang="en-US" dirty="0" err="1"/>
              <a:t>one:one</a:t>
            </a:r>
            <a:r>
              <a:rPr lang="en-US" dirty="0"/>
              <a:t>,    b) </a:t>
            </a:r>
            <a:r>
              <a:rPr lang="en-US" dirty="0" err="1"/>
              <a:t>one:many</a:t>
            </a:r>
            <a:r>
              <a:rPr lang="en-US" dirty="0"/>
              <a:t>,    c) </a:t>
            </a:r>
            <a:r>
              <a:rPr lang="en-US" dirty="0" err="1"/>
              <a:t>many:many</a:t>
            </a:r>
            <a:endParaRPr lang="en-US" dirty="0"/>
          </a:p>
        </p:txBody>
      </p:sp>
      <p:sp>
        <p:nvSpPr>
          <p:cNvPr id="4" name="Slide Number Placeholder 3">
            <a:extLst>
              <a:ext uri="{FF2B5EF4-FFF2-40B4-BE49-F238E27FC236}">
                <a16:creationId xmlns:a16="http://schemas.microsoft.com/office/drawing/2014/main" id="{0EB92E4A-5512-407F-9483-99C72E02FF0E}"/>
              </a:ext>
            </a:extLst>
          </p:cNvPr>
          <p:cNvSpPr>
            <a:spLocks noGrp="1"/>
          </p:cNvSpPr>
          <p:nvPr>
            <p:ph type="sldNum" sz="quarter" idx="12"/>
          </p:nvPr>
        </p:nvSpPr>
        <p:spPr/>
        <p:txBody>
          <a:bodyPr/>
          <a:lstStyle/>
          <a:p>
            <a:fld id="{E345EAD5-4C19-43E8-92AC-D4AD00C5745A}" type="slidenum">
              <a:rPr lang="en-US" smtClean="0">
                <a:latin typeface="Arial"/>
              </a:rPr>
              <a:pPr/>
              <a:t>33</a:t>
            </a:fld>
            <a:endParaRPr lang="en-US">
              <a:latin typeface="Arial"/>
            </a:endParaRPr>
          </a:p>
        </p:txBody>
      </p:sp>
      <p:sp>
        <p:nvSpPr>
          <p:cNvPr id="5" name="Title 4"/>
          <p:cNvSpPr>
            <a:spLocks noGrp="1"/>
          </p:cNvSpPr>
          <p:nvPr>
            <p:ph type="title"/>
          </p:nvPr>
        </p:nvSpPr>
        <p:spPr>
          <a:xfrm>
            <a:off x="457200" y="381000"/>
            <a:ext cx="8229600" cy="990600"/>
          </a:xfrm>
        </p:spPr>
        <p:txBody>
          <a:bodyPr/>
          <a:lstStyle/>
          <a:p>
            <a:r>
              <a:rPr lang="en-US" dirty="0"/>
              <a:t>Relationships</a:t>
            </a:r>
          </a:p>
        </p:txBody>
      </p:sp>
      <p:graphicFrame>
        <p:nvGraphicFramePr>
          <p:cNvPr id="16" name="Content Placeholder 5"/>
          <p:cNvGraphicFramePr>
            <a:graphicFrameLocks/>
          </p:cNvGraphicFramePr>
          <p:nvPr>
            <p:extLst>
              <p:ext uri="{D42A27DB-BD31-4B8C-83A1-F6EECF244321}">
                <p14:modId xmlns:p14="http://schemas.microsoft.com/office/powerpoint/2010/main" val="966147187"/>
              </p:ext>
            </p:extLst>
          </p:nvPr>
        </p:nvGraphicFramePr>
        <p:xfrm>
          <a:off x="0" y="3581400"/>
          <a:ext cx="5334000" cy="2590800"/>
        </p:xfrm>
        <a:graphic>
          <a:graphicData uri="http://schemas.openxmlformats.org/drawingml/2006/table">
            <a:tbl>
              <a:tblPr firstRow="1" bandRow="1">
                <a:tableStyleId>{5C22544A-7EE6-4342-B048-85BDC9FD1C3A}</a:tableStyleId>
              </a:tblPr>
              <a:tblGrid>
                <a:gridCol w="762000">
                  <a:extLst>
                    <a:ext uri="{9D8B030D-6E8A-4147-A177-3AD203B41FA5}">
                      <a16:colId xmlns:a16="http://schemas.microsoft.com/office/drawing/2014/main" val="811026815"/>
                    </a:ext>
                  </a:extLst>
                </a:gridCol>
                <a:gridCol w="990600">
                  <a:extLst>
                    <a:ext uri="{9D8B030D-6E8A-4147-A177-3AD203B41FA5}">
                      <a16:colId xmlns:a16="http://schemas.microsoft.com/office/drawing/2014/main" val="3117743619"/>
                    </a:ext>
                  </a:extLst>
                </a:gridCol>
                <a:gridCol w="1066800">
                  <a:extLst>
                    <a:ext uri="{9D8B030D-6E8A-4147-A177-3AD203B41FA5}">
                      <a16:colId xmlns:a16="http://schemas.microsoft.com/office/drawing/2014/main" val="3845974641"/>
                    </a:ext>
                  </a:extLst>
                </a:gridCol>
                <a:gridCol w="914400">
                  <a:extLst>
                    <a:ext uri="{9D8B030D-6E8A-4147-A177-3AD203B41FA5}">
                      <a16:colId xmlns:a16="http://schemas.microsoft.com/office/drawing/2014/main" val="2569528841"/>
                    </a:ext>
                  </a:extLst>
                </a:gridCol>
                <a:gridCol w="990600">
                  <a:extLst>
                    <a:ext uri="{9D8B030D-6E8A-4147-A177-3AD203B41FA5}">
                      <a16:colId xmlns:a16="http://schemas.microsoft.com/office/drawing/2014/main" val="1535363845"/>
                    </a:ext>
                  </a:extLst>
                </a:gridCol>
                <a:gridCol w="609600">
                  <a:extLst>
                    <a:ext uri="{9D8B030D-6E8A-4147-A177-3AD203B41FA5}">
                      <a16:colId xmlns:a16="http://schemas.microsoft.com/office/drawing/2014/main" val="3582516297"/>
                    </a:ext>
                  </a:extLst>
                </a:gridCol>
              </a:tblGrid>
              <a:tr h="396240">
                <a:tc>
                  <a:txBody>
                    <a:bodyPr/>
                    <a:lstStyle/>
                    <a:p>
                      <a:r>
                        <a:rPr lang="en-US" sz="1400" dirty="0"/>
                        <a:t>Cadet Code</a:t>
                      </a:r>
                    </a:p>
                  </a:txBody>
                  <a:tcPr/>
                </a:tc>
                <a:tc>
                  <a:txBody>
                    <a:bodyPr/>
                    <a:lstStyle/>
                    <a:p>
                      <a:r>
                        <a:rPr lang="en-US" sz="1400" dirty="0"/>
                        <a:t>Name</a:t>
                      </a:r>
                    </a:p>
                  </a:txBody>
                  <a:tcPr/>
                </a:tc>
                <a:tc>
                  <a:txBody>
                    <a:bodyPr/>
                    <a:lstStyle/>
                    <a:p>
                      <a:r>
                        <a:rPr lang="en-US" sz="1400" dirty="0"/>
                        <a:t>Company</a:t>
                      </a:r>
                    </a:p>
                  </a:txBody>
                  <a:tcPr/>
                </a:tc>
                <a:tc>
                  <a:txBody>
                    <a:bodyPr/>
                    <a:lstStyle/>
                    <a:p>
                      <a:r>
                        <a:rPr lang="en-US" sz="1400" dirty="0"/>
                        <a:t>Division</a:t>
                      </a:r>
                    </a:p>
                  </a:txBody>
                  <a:tcPr/>
                </a:tc>
                <a:tc>
                  <a:txBody>
                    <a:bodyPr/>
                    <a:lstStyle/>
                    <a:p>
                      <a:r>
                        <a:rPr lang="en-US" sz="1400" dirty="0"/>
                        <a:t>Birthdate</a:t>
                      </a:r>
                    </a:p>
                  </a:txBody>
                  <a:tcPr/>
                </a:tc>
                <a:tc>
                  <a:txBody>
                    <a:bodyPr/>
                    <a:lstStyle/>
                    <a:p>
                      <a:r>
                        <a:rPr lang="en-US" sz="1400" dirty="0"/>
                        <a:t>Year</a:t>
                      </a:r>
                    </a:p>
                  </a:txBody>
                  <a:tcPr/>
                </a:tc>
                <a:extLst>
                  <a:ext uri="{0D108BD9-81ED-4DB2-BD59-A6C34878D82A}">
                    <a16:rowId xmlns:a16="http://schemas.microsoft.com/office/drawing/2014/main" val="604144399"/>
                  </a:ext>
                </a:extLst>
              </a:tr>
              <a:tr h="396240">
                <a:tc>
                  <a:txBody>
                    <a:bodyPr/>
                    <a:lstStyle/>
                    <a:p>
                      <a:r>
                        <a:rPr lang="en-US" sz="1400" dirty="0"/>
                        <a:t>12345</a:t>
                      </a:r>
                    </a:p>
                  </a:txBody>
                  <a:tcPr/>
                </a:tc>
                <a:tc>
                  <a:txBody>
                    <a:bodyPr/>
                    <a:lstStyle/>
                    <a:p>
                      <a:r>
                        <a:rPr lang="en-US" sz="1400" dirty="0"/>
                        <a:t>Abby</a:t>
                      </a:r>
                      <a:r>
                        <a:rPr lang="en-US" sz="1400" baseline="0" dirty="0"/>
                        <a:t> Jones</a:t>
                      </a:r>
                      <a:endParaRPr lang="en-US" sz="1400" dirty="0"/>
                    </a:p>
                  </a:txBody>
                  <a:tcPr/>
                </a:tc>
                <a:tc>
                  <a:txBody>
                    <a:bodyPr/>
                    <a:lstStyle/>
                    <a:p>
                      <a:r>
                        <a:rPr lang="en-US" sz="1400" dirty="0"/>
                        <a:t>Alfa</a:t>
                      </a:r>
                    </a:p>
                  </a:txBody>
                  <a:tcPr/>
                </a:tc>
                <a:tc>
                  <a:txBody>
                    <a:bodyPr/>
                    <a:lstStyle/>
                    <a:p>
                      <a:r>
                        <a:rPr lang="en-US" sz="1400" dirty="0"/>
                        <a:t>Wellness</a:t>
                      </a:r>
                    </a:p>
                  </a:txBody>
                  <a:tcPr/>
                </a:tc>
                <a:tc>
                  <a:txBody>
                    <a:bodyPr/>
                    <a:lstStyle/>
                    <a:p>
                      <a:r>
                        <a:rPr lang="en-US" sz="1400" dirty="0"/>
                        <a:t>6/4/1999</a:t>
                      </a:r>
                    </a:p>
                  </a:txBody>
                  <a:tcPr/>
                </a:tc>
                <a:tc>
                  <a:txBody>
                    <a:bodyPr/>
                    <a:lstStyle/>
                    <a:p>
                      <a:r>
                        <a:rPr lang="en-US" sz="1400" dirty="0"/>
                        <a:t>2021</a:t>
                      </a:r>
                    </a:p>
                  </a:txBody>
                  <a:tcPr/>
                </a:tc>
                <a:extLst>
                  <a:ext uri="{0D108BD9-81ED-4DB2-BD59-A6C34878D82A}">
                    <a16:rowId xmlns:a16="http://schemas.microsoft.com/office/drawing/2014/main" val="2908211506"/>
                  </a:ext>
                </a:extLst>
              </a:tr>
              <a:tr h="396240">
                <a:tc>
                  <a:txBody>
                    <a:bodyPr/>
                    <a:lstStyle/>
                    <a:p>
                      <a:r>
                        <a:rPr lang="en-US" sz="1400" dirty="0"/>
                        <a:t>20090</a:t>
                      </a:r>
                    </a:p>
                  </a:txBody>
                  <a:tcPr/>
                </a:tc>
                <a:tc>
                  <a:txBody>
                    <a:bodyPr/>
                    <a:lstStyle/>
                    <a:p>
                      <a:r>
                        <a:rPr lang="en-US" sz="1400" dirty="0"/>
                        <a:t>Wendy</a:t>
                      </a:r>
                      <a:r>
                        <a:rPr lang="en-US" sz="1400" baseline="0" dirty="0"/>
                        <a:t> Wu</a:t>
                      </a:r>
                      <a:endParaRPr lang="en-US" sz="1400" dirty="0"/>
                    </a:p>
                  </a:txBody>
                  <a:tcPr/>
                </a:tc>
                <a:tc>
                  <a:txBody>
                    <a:bodyPr/>
                    <a:lstStyle/>
                    <a:p>
                      <a:r>
                        <a:rPr lang="en-US" sz="1400" dirty="0"/>
                        <a:t>Echo</a:t>
                      </a:r>
                    </a:p>
                  </a:txBody>
                  <a:tcPr/>
                </a:tc>
                <a:tc>
                  <a:txBody>
                    <a:bodyPr/>
                    <a:lstStyle/>
                    <a:p>
                      <a:r>
                        <a:rPr lang="en-US" sz="1400" dirty="0"/>
                        <a:t>Transportation</a:t>
                      </a:r>
                    </a:p>
                  </a:txBody>
                  <a:tcPr/>
                </a:tc>
                <a:tc>
                  <a:txBody>
                    <a:bodyPr/>
                    <a:lstStyle/>
                    <a:p>
                      <a:r>
                        <a:rPr lang="en-US" sz="1400" dirty="0"/>
                        <a:t>2/8/1998</a:t>
                      </a:r>
                    </a:p>
                  </a:txBody>
                  <a:tcPr/>
                </a:tc>
                <a:tc>
                  <a:txBody>
                    <a:bodyPr/>
                    <a:lstStyle/>
                    <a:p>
                      <a:r>
                        <a:rPr lang="en-US" sz="1400" dirty="0"/>
                        <a:t>2020</a:t>
                      </a:r>
                    </a:p>
                  </a:txBody>
                  <a:tcPr/>
                </a:tc>
                <a:extLst>
                  <a:ext uri="{0D108BD9-81ED-4DB2-BD59-A6C34878D82A}">
                    <a16:rowId xmlns:a16="http://schemas.microsoft.com/office/drawing/2014/main" val="3160301782"/>
                  </a:ext>
                </a:extLst>
              </a:tr>
              <a:tr h="396240">
                <a:tc>
                  <a:txBody>
                    <a:bodyPr/>
                    <a:lstStyle/>
                    <a:p>
                      <a:r>
                        <a:rPr lang="en-US" sz="1400" dirty="0"/>
                        <a:t>19238</a:t>
                      </a:r>
                    </a:p>
                  </a:txBody>
                  <a:tcPr/>
                </a:tc>
                <a:tc>
                  <a:txBody>
                    <a:bodyPr/>
                    <a:lstStyle/>
                    <a:p>
                      <a:r>
                        <a:rPr lang="en-US" sz="1400" dirty="0"/>
                        <a:t>Wesley Lee</a:t>
                      </a:r>
                    </a:p>
                  </a:txBody>
                  <a:tcPr/>
                </a:tc>
                <a:tc>
                  <a:txBody>
                    <a:bodyPr/>
                    <a:lstStyle/>
                    <a:p>
                      <a:r>
                        <a:rPr lang="en-US" sz="1400" dirty="0"/>
                        <a:t>Bravo</a:t>
                      </a:r>
                    </a:p>
                  </a:txBody>
                  <a:tcPr/>
                </a:tc>
                <a:tc>
                  <a:txBody>
                    <a:bodyPr/>
                    <a:lstStyle/>
                    <a:p>
                      <a:r>
                        <a:rPr lang="en-US" sz="1400" dirty="0"/>
                        <a:t>Training</a:t>
                      </a:r>
                    </a:p>
                  </a:txBody>
                  <a:tcPr/>
                </a:tc>
                <a:tc>
                  <a:txBody>
                    <a:bodyPr/>
                    <a:lstStyle/>
                    <a:p>
                      <a:r>
                        <a:rPr lang="en-US" sz="1400" dirty="0"/>
                        <a:t>8/2/2000</a:t>
                      </a:r>
                    </a:p>
                  </a:txBody>
                  <a:tcPr/>
                </a:tc>
                <a:tc>
                  <a:txBody>
                    <a:bodyPr/>
                    <a:lstStyle/>
                    <a:p>
                      <a:r>
                        <a:rPr lang="en-US" sz="1400" dirty="0"/>
                        <a:t>2022</a:t>
                      </a:r>
                    </a:p>
                  </a:txBody>
                  <a:tcPr/>
                </a:tc>
                <a:extLst>
                  <a:ext uri="{0D108BD9-81ED-4DB2-BD59-A6C34878D82A}">
                    <a16:rowId xmlns:a16="http://schemas.microsoft.com/office/drawing/2014/main" val="1602772740"/>
                  </a:ext>
                </a:extLst>
              </a:tr>
              <a:tr h="396240">
                <a:tc>
                  <a:txBody>
                    <a:bodyPr/>
                    <a:lstStyle/>
                    <a:p>
                      <a:r>
                        <a:rPr lang="en-US" sz="1400" dirty="0"/>
                        <a:t>98123</a:t>
                      </a:r>
                    </a:p>
                  </a:txBody>
                  <a:tcPr/>
                </a:tc>
                <a:tc>
                  <a:txBody>
                    <a:bodyPr/>
                    <a:lstStyle/>
                    <a:p>
                      <a:r>
                        <a:rPr lang="en-US" sz="1400" dirty="0"/>
                        <a:t>Kevin</a:t>
                      </a:r>
                      <a:r>
                        <a:rPr lang="en-US" sz="1400" baseline="0" dirty="0"/>
                        <a:t> Diaz</a:t>
                      </a:r>
                      <a:endParaRPr lang="en-US" sz="1400" dirty="0"/>
                    </a:p>
                  </a:txBody>
                  <a:tcPr/>
                </a:tc>
                <a:tc>
                  <a:txBody>
                    <a:bodyPr/>
                    <a:lstStyle/>
                    <a:p>
                      <a:r>
                        <a:rPr lang="en-US" sz="1400" dirty="0"/>
                        <a:t>Charlie</a:t>
                      </a:r>
                    </a:p>
                  </a:txBody>
                  <a:tcPr/>
                </a:tc>
                <a:tc>
                  <a:txBody>
                    <a:bodyPr/>
                    <a:lstStyle/>
                    <a:p>
                      <a:r>
                        <a:rPr lang="en-US" sz="1400" dirty="0"/>
                        <a:t>Honor</a:t>
                      </a:r>
                    </a:p>
                  </a:txBody>
                  <a:tcPr/>
                </a:tc>
                <a:tc>
                  <a:txBody>
                    <a:bodyPr/>
                    <a:lstStyle/>
                    <a:p>
                      <a:r>
                        <a:rPr lang="en-US" sz="1400" dirty="0"/>
                        <a:t>9/23/1997</a:t>
                      </a:r>
                    </a:p>
                  </a:txBody>
                  <a:tcPr/>
                </a:tc>
                <a:tc>
                  <a:txBody>
                    <a:bodyPr/>
                    <a:lstStyle/>
                    <a:p>
                      <a:r>
                        <a:rPr lang="en-US" sz="1400" dirty="0"/>
                        <a:t>2020</a:t>
                      </a:r>
                    </a:p>
                  </a:txBody>
                  <a:tcPr/>
                </a:tc>
                <a:extLst>
                  <a:ext uri="{0D108BD9-81ED-4DB2-BD59-A6C34878D82A}">
                    <a16:rowId xmlns:a16="http://schemas.microsoft.com/office/drawing/2014/main" val="235528990"/>
                  </a:ext>
                </a:extLst>
              </a:tr>
            </a:tbl>
          </a:graphicData>
        </a:graphic>
      </p:graphicFrame>
      <p:graphicFrame>
        <p:nvGraphicFramePr>
          <p:cNvPr id="17" name="Content Placeholder 5"/>
          <p:cNvGraphicFramePr>
            <a:graphicFrameLocks/>
          </p:cNvGraphicFramePr>
          <p:nvPr>
            <p:extLst>
              <p:ext uri="{D42A27DB-BD31-4B8C-83A1-F6EECF244321}">
                <p14:modId xmlns:p14="http://schemas.microsoft.com/office/powerpoint/2010/main" val="966147187"/>
              </p:ext>
            </p:extLst>
          </p:nvPr>
        </p:nvGraphicFramePr>
        <p:xfrm>
          <a:off x="5715001" y="4038600"/>
          <a:ext cx="3428999" cy="1478280"/>
        </p:xfrm>
        <a:graphic>
          <a:graphicData uri="http://schemas.openxmlformats.org/drawingml/2006/table">
            <a:tbl>
              <a:tblPr firstRow="1" bandRow="1">
                <a:tableStyleId>{5C22544A-7EE6-4342-B048-85BDC9FD1C3A}</a:tableStyleId>
              </a:tblPr>
              <a:tblGrid>
                <a:gridCol w="879194">
                  <a:extLst>
                    <a:ext uri="{9D8B030D-6E8A-4147-A177-3AD203B41FA5}">
                      <a16:colId xmlns:a16="http://schemas.microsoft.com/office/drawing/2014/main" val="811026815"/>
                    </a:ext>
                  </a:extLst>
                </a:gridCol>
                <a:gridCol w="1245525">
                  <a:extLst>
                    <a:ext uri="{9D8B030D-6E8A-4147-A177-3AD203B41FA5}">
                      <a16:colId xmlns:a16="http://schemas.microsoft.com/office/drawing/2014/main" val="3117743619"/>
                    </a:ext>
                  </a:extLst>
                </a:gridCol>
                <a:gridCol w="1304280">
                  <a:extLst>
                    <a:ext uri="{9D8B030D-6E8A-4147-A177-3AD203B41FA5}">
                      <a16:colId xmlns:a16="http://schemas.microsoft.com/office/drawing/2014/main" val="3845974641"/>
                    </a:ext>
                  </a:extLst>
                </a:gridCol>
              </a:tblGrid>
              <a:tr h="320040">
                <a:tc>
                  <a:txBody>
                    <a:bodyPr/>
                    <a:lstStyle/>
                    <a:p>
                      <a:r>
                        <a:rPr lang="en-US" sz="1400" dirty="0"/>
                        <a:t>Course Code</a:t>
                      </a:r>
                    </a:p>
                  </a:txBody>
                  <a:tcPr/>
                </a:tc>
                <a:tc>
                  <a:txBody>
                    <a:bodyPr/>
                    <a:lstStyle/>
                    <a:p>
                      <a:r>
                        <a:rPr lang="en-US" sz="1400" dirty="0"/>
                        <a:t>Course Name</a:t>
                      </a:r>
                    </a:p>
                  </a:txBody>
                  <a:tcPr/>
                </a:tc>
                <a:tc>
                  <a:txBody>
                    <a:bodyPr/>
                    <a:lstStyle/>
                    <a:p>
                      <a:r>
                        <a:rPr lang="en-US" sz="1400" dirty="0"/>
                        <a:t>Department</a:t>
                      </a:r>
                    </a:p>
                  </a:txBody>
                  <a:tcPr/>
                </a:tc>
                <a:extLst>
                  <a:ext uri="{0D108BD9-81ED-4DB2-BD59-A6C34878D82A}">
                    <a16:rowId xmlns:a16="http://schemas.microsoft.com/office/drawing/2014/main" val="604144399"/>
                  </a:ext>
                </a:extLst>
              </a:tr>
              <a:tr h="320040">
                <a:tc>
                  <a:txBody>
                    <a:bodyPr/>
                    <a:lstStyle/>
                    <a:p>
                      <a:r>
                        <a:rPr lang="en-US" sz="1400" dirty="0"/>
                        <a:t>3231</a:t>
                      </a:r>
                    </a:p>
                  </a:txBody>
                  <a:tcPr/>
                </a:tc>
                <a:tc>
                  <a:txBody>
                    <a:bodyPr/>
                    <a:lstStyle/>
                    <a:p>
                      <a:r>
                        <a:rPr lang="en-US" sz="1400" dirty="0"/>
                        <a:t>Calculus I</a:t>
                      </a:r>
                    </a:p>
                  </a:txBody>
                  <a:tcPr/>
                </a:tc>
                <a:tc>
                  <a:txBody>
                    <a:bodyPr/>
                    <a:lstStyle/>
                    <a:p>
                      <a:r>
                        <a:rPr lang="en-US" sz="1400" dirty="0"/>
                        <a:t>Mathematics</a:t>
                      </a:r>
                    </a:p>
                  </a:txBody>
                  <a:tcPr/>
                </a:tc>
                <a:extLst>
                  <a:ext uri="{0D108BD9-81ED-4DB2-BD59-A6C34878D82A}">
                    <a16:rowId xmlns:a16="http://schemas.microsoft.com/office/drawing/2014/main" val="2908211506"/>
                  </a:ext>
                </a:extLst>
              </a:tr>
              <a:tr h="320040">
                <a:tc>
                  <a:txBody>
                    <a:bodyPr/>
                    <a:lstStyle/>
                    <a:p>
                      <a:r>
                        <a:rPr lang="en-US" sz="1400" dirty="0"/>
                        <a:t>2393</a:t>
                      </a:r>
                    </a:p>
                  </a:txBody>
                  <a:tcPr/>
                </a:tc>
                <a:tc>
                  <a:txBody>
                    <a:bodyPr/>
                    <a:lstStyle/>
                    <a:p>
                      <a:r>
                        <a:rPr lang="en-US" sz="1400" dirty="0"/>
                        <a:t>Government</a:t>
                      </a:r>
                    </a:p>
                  </a:txBody>
                  <a:tcPr/>
                </a:tc>
                <a:tc>
                  <a:txBody>
                    <a:bodyPr/>
                    <a:lstStyle/>
                    <a:p>
                      <a:r>
                        <a:rPr lang="en-US" sz="1400" dirty="0"/>
                        <a:t>Humanities</a:t>
                      </a:r>
                    </a:p>
                  </a:txBody>
                  <a:tcPr/>
                </a:tc>
                <a:extLst>
                  <a:ext uri="{0D108BD9-81ED-4DB2-BD59-A6C34878D82A}">
                    <a16:rowId xmlns:a16="http://schemas.microsoft.com/office/drawing/2014/main" val="3160301782"/>
                  </a:ext>
                </a:extLst>
              </a:tr>
              <a:tr h="320040">
                <a:tc>
                  <a:txBody>
                    <a:bodyPr/>
                    <a:lstStyle/>
                    <a:p>
                      <a:r>
                        <a:rPr lang="en-US" sz="1400" dirty="0"/>
                        <a:t>1214</a:t>
                      </a:r>
                    </a:p>
                  </a:txBody>
                  <a:tcPr/>
                </a:tc>
                <a:tc>
                  <a:txBody>
                    <a:bodyPr/>
                    <a:lstStyle/>
                    <a:p>
                      <a:r>
                        <a:rPr lang="en-US" sz="1400" dirty="0"/>
                        <a:t>Statics</a:t>
                      </a:r>
                    </a:p>
                  </a:txBody>
                  <a:tcPr/>
                </a:tc>
                <a:tc>
                  <a:txBody>
                    <a:bodyPr/>
                    <a:lstStyle/>
                    <a:p>
                      <a:r>
                        <a:rPr lang="en-US" sz="1400" dirty="0"/>
                        <a:t>Engineering</a:t>
                      </a:r>
                    </a:p>
                  </a:txBody>
                  <a:tcPr/>
                </a:tc>
                <a:extLst>
                  <a:ext uri="{0D108BD9-81ED-4DB2-BD59-A6C34878D82A}">
                    <a16:rowId xmlns:a16="http://schemas.microsoft.com/office/drawing/2014/main" val="1602772740"/>
                  </a:ext>
                </a:extLst>
              </a:tr>
            </a:tbl>
          </a:graphicData>
        </a:graphic>
      </p:graphicFrame>
      <p:cxnSp>
        <p:nvCxnSpPr>
          <p:cNvPr id="19" name="Straight Arrow Connector 18"/>
          <p:cNvCxnSpPr/>
          <p:nvPr/>
        </p:nvCxnSpPr>
        <p:spPr>
          <a:xfrm>
            <a:off x="5334000" y="4267200"/>
            <a:ext cx="381000" cy="3810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flipV="1">
            <a:off x="5334000" y="4724400"/>
            <a:ext cx="381000" cy="1524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flipV="1">
            <a:off x="5334000" y="4800600"/>
            <a:ext cx="381000" cy="5334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5" name="TextBox 24"/>
          <p:cNvSpPr txBox="1"/>
          <p:nvPr/>
        </p:nvSpPr>
        <p:spPr>
          <a:xfrm>
            <a:off x="228600" y="6248400"/>
            <a:ext cx="7320466" cy="369332"/>
          </a:xfrm>
          <a:prstGeom prst="rect">
            <a:avLst/>
          </a:prstGeom>
          <a:noFill/>
        </p:spPr>
        <p:txBody>
          <a:bodyPr wrap="none" rtlCol="0">
            <a:spAutoFit/>
          </a:bodyPr>
          <a:lstStyle/>
          <a:p>
            <a:r>
              <a:rPr lang="en-US" dirty="0"/>
              <a:t>Here cadets-to-courses have a “</a:t>
            </a:r>
            <a:r>
              <a:rPr lang="en-US" b="1" dirty="0"/>
              <a:t>many-to-many” </a:t>
            </a:r>
            <a:r>
              <a:rPr lang="en-US" dirty="0"/>
              <a:t>cardinality.</a:t>
            </a:r>
          </a:p>
        </p:txBody>
      </p:sp>
      <p:cxnSp>
        <p:nvCxnSpPr>
          <p:cNvPr id="26" name="Straight Arrow Connector 25"/>
          <p:cNvCxnSpPr/>
          <p:nvPr/>
        </p:nvCxnSpPr>
        <p:spPr>
          <a:xfrm>
            <a:off x="5334000" y="4419600"/>
            <a:ext cx="381000" cy="838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578800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2117650-10D2-45F3-8AA5-FAF83335BF84}"/>
              </a:ext>
            </a:extLst>
          </p:cNvPr>
          <p:cNvSpPr>
            <a:spLocks noGrp="1"/>
          </p:cNvSpPr>
          <p:nvPr>
            <p:ph idx="1"/>
          </p:nvPr>
        </p:nvSpPr>
        <p:spPr>
          <a:xfrm>
            <a:off x="228600" y="1709928"/>
            <a:ext cx="8191500" cy="4843271"/>
          </a:xfrm>
        </p:spPr>
        <p:txBody>
          <a:bodyPr>
            <a:normAutofit/>
          </a:bodyPr>
          <a:lstStyle/>
          <a:p>
            <a:r>
              <a:rPr lang="en-US" sz="2800" b="1" dirty="0"/>
              <a:t>Cardinality</a:t>
            </a:r>
            <a:r>
              <a:rPr lang="en-US" sz="2800" dirty="0"/>
              <a:t> describes the relationship between two entities A and B:</a:t>
            </a:r>
          </a:p>
          <a:p>
            <a:pPr lvl="1"/>
            <a:r>
              <a:rPr lang="en-US" sz="2400" b="1" dirty="0"/>
              <a:t>One-to-one: </a:t>
            </a:r>
            <a:r>
              <a:rPr lang="en-US" sz="2400" dirty="0"/>
              <a:t>one instance of Entity A is related to just one instance of Entity B</a:t>
            </a:r>
          </a:p>
          <a:p>
            <a:pPr lvl="1"/>
            <a:r>
              <a:rPr lang="en-US" sz="2400" b="1" dirty="0"/>
              <a:t>One-to-many: </a:t>
            </a:r>
            <a:r>
              <a:rPr lang="en-US" sz="2400" dirty="0"/>
              <a:t>one instance of Entity A is related to many instances of Entity B, but each instance of Entity B is related to only one instance of Entity A</a:t>
            </a:r>
          </a:p>
          <a:p>
            <a:pPr lvl="1"/>
            <a:r>
              <a:rPr lang="en-US" sz="2400" b="1" dirty="0"/>
              <a:t>Many-to-many: </a:t>
            </a:r>
            <a:r>
              <a:rPr lang="en-US" sz="2400" dirty="0"/>
              <a:t>one instance of Entity A is related to many instances of Entity B, and one instance of Entity B is related to many instances of Entity A</a:t>
            </a:r>
          </a:p>
        </p:txBody>
      </p:sp>
      <p:sp>
        <p:nvSpPr>
          <p:cNvPr id="4" name="Slide Number Placeholder 3">
            <a:extLst>
              <a:ext uri="{FF2B5EF4-FFF2-40B4-BE49-F238E27FC236}">
                <a16:creationId xmlns:a16="http://schemas.microsoft.com/office/drawing/2014/main" id="{0EB92E4A-5512-407F-9483-99C72E02FF0E}"/>
              </a:ext>
            </a:extLst>
          </p:cNvPr>
          <p:cNvSpPr>
            <a:spLocks noGrp="1"/>
          </p:cNvSpPr>
          <p:nvPr>
            <p:ph type="sldNum" sz="quarter" idx="12"/>
          </p:nvPr>
        </p:nvSpPr>
        <p:spPr/>
        <p:txBody>
          <a:bodyPr/>
          <a:lstStyle/>
          <a:p>
            <a:fld id="{E345EAD5-4C19-43E8-92AC-D4AD00C5745A}" type="slidenum">
              <a:rPr lang="en-US" smtClean="0">
                <a:latin typeface="Arial"/>
              </a:rPr>
              <a:pPr/>
              <a:t>34</a:t>
            </a:fld>
            <a:endParaRPr lang="en-US">
              <a:latin typeface="Arial"/>
            </a:endParaRPr>
          </a:p>
        </p:txBody>
      </p:sp>
      <p:sp>
        <p:nvSpPr>
          <p:cNvPr id="5" name="Title 4"/>
          <p:cNvSpPr>
            <a:spLocks noGrp="1"/>
          </p:cNvSpPr>
          <p:nvPr>
            <p:ph type="title"/>
          </p:nvPr>
        </p:nvSpPr>
        <p:spPr/>
        <p:txBody>
          <a:bodyPr/>
          <a:lstStyle/>
          <a:p>
            <a:r>
              <a:rPr lang="en-US" dirty="0"/>
              <a:t>Relationships</a:t>
            </a:r>
          </a:p>
        </p:txBody>
      </p:sp>
    </p:spTree>
    <p:extLst>
      <p:ext uri="{BB962C8B-B14F-4D97-AF65-F5344CB8AC3E}">
        <p14:creationId xmlns:p14="http://schemas.microsoft.com/office/powerpoint/2010/main" val="55788002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B1CE5BB-EC3E-457E-9554-BC69471D846F}"/>
              </a:ext>
            </a:extLst>
          </p:cNvPr>
          <p:cNvSpPr>
            <a:spLocks noGrp="1"/>
          </p:cNvSpPr>
          <p:nvPr>
            <p:ph type="sldNum" sz="quarter" idx="12"/>
          </p:nvPr>
        </p:nvSpPr>
        <p:spPr/>
        <p:txBody>
          <a:bodyPr/>
          <a:lstStyle/>
          <a:p>
            <a:fld id="{E345EAD5-4C19-43E8-92AC-D4AD00C5745A}" type="slidenum">
              <a:rPr lang="en-US" smtClean="0">
                <a:latin typeface="Arial"/>
              </a:rPr>
              <a:pPr/>
              <a:t>35</a:t>
            </a:fld>
            <a:endParaRPr lang="en-US">
              <a:latin typeface="Arial"/>
            </a:endParaRPr>
          </a:p>
        </p:txBody>
      </p:sp>
      <p:sp>
        <p:nvSpPr>
          <p:cNvPr id="17" name="Rectangle 16">
            <a:extLst>
              <a:ext uri="{FF2B5EF4-FFF2-40B4-BE49-F238E27FC236}">
                <a16:creationId xmlns:a16="http://schemas.microsoft.com/office/drawing/2014/main" id="{BFDE4CF8-E58E-4FD7-972E-46408F28853C}"/>
              </a:ext>
            </a:extLst>
          </p:cNvPr>
          <p:cNvSpPr/>
          <p:nvPr/>
        </p:nvSpPr>
        <p:spPr>
          <a:xfrm>
            <a:off x="540252" y="2678668"/>
            <a:ext cx="1556916" cy="139967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sz="3600" b="1">
              <a:solidFill>
                <a:srgbClr val="FFFFFF"/>
              </a:solidFill>
              <a:latin typeface="Arial"/>
            </a:endParaRPr>
          </a:p>
        </p:txBody>
      </p:sp>
      <p:sp>
        <p:nvSpPr>
          <p:cNvPr id="19" name="TextBox 18">
            <a:extLst>
              <a:ext uri="{FF2B5EF4-FFF2-40B4-BE49-F238E27FC236}">
                <a16:creationId xmlns:a16="http://schemas.microsoft.com/office/drawing/2014/main" id="{DB875BFA-087F-47CD-B286-9C1C4FADCF80}"/>
              </a:ext>
            </a:extLst>
          </p:cNvPr>
          <p:cNvSpPr txBox="1"/>
          <p:nvPr/>
        </p:nvSpPr>
        <p:spPr>
          <a:xfrm>
            <a:off x="506492" y="2126178"/>
            <a:ext cx="1590676" cy="523220"/>
          </a:xfrm>
          <a:prstGeom prst="rect">
            <a:avLst/>
          </a:prstGeom>
          <a:noFill/>
          <a:ln>
            <a:solidFill>
              <a:schemeClr val="tx1"/>
            </a:solidFill>
          </a:ln>
        </p:spPr>
        <p:txBody>
          <a:bodyPr wrap="square" rtlCol="0">
            <a:spAutoFit/>
          </a:bodyPr>
          <a:lstStyle/>
          <a:p>
            <a:pPr defTabSz="914400"/>
            <a:r>
              <a:rPr lang="en-US" sz="2800" b="1" dirty="0">
                <a:solidFill>
                  <a:srgbClr val="292934"/>
                </a:solidFill>
                <a:latin typeface="Arial"/>
              </a:rPr>
              <a:t>Student</a:t>
            </a:r>
          </a:p>
        </p:txBody>
      </p:sp>
      <p:sp>
        <p:nvSpPr>
          <p:cNvPr id="20" name="TextBox 19">
            <a:extLst>
              <a:ext uri="{FF2B5EF4-FFF2-40B4-BE49-F238E27FC236}">
                <a16:creationId xmlns:a16="http://schemas.microsoft.com/office/drawing/2014/main" id="{AF975A5D-6A86-4F79-AFCA-F1C1836538D0}"/>
              </a:ext>
            </a:extLst>
          </p:cNvPr>
          <p:cNvSpPr txBox="1"/>
          <p:nvPr/>
        </p:nvSpPr>
        <p:spPr>
          <a:xfrm>
            <a:off x="506493" y="2678668"/>
            <a:ext cx="1590675" cy="1323439"/>
          </a:xfrm>
          <a:prstGeom prst="rect">
            <a:avLst/>
          </a:prstGeom>
          <a:noFill/>
        </p:spPr>
        <p:txBody>
          <a:bodyPr wrap="square" rtlCol="0">
            <a:spAutoFit/>
          </a:bodyPr>
          <a:lstStyle/>
          <a:p>
            <a:pPr defTabSz="914400"/>
            <a:r>
              <a:rPr lang="en-US" sz="2000" dirty="0">
                <a:solidFill>
                  <a:srgbClr val="292934"/>
                </a:solidFill>
                <a:latin typeface="Arial"/>
              </a:rPr>
              <a:t>Last Name</a:t>
            </a:r>
          </a:p>
          <a:p>
            <a:pPr defTabSz="914400"/>
            <a:r>
              <a:rPr lang="en-US" sz="2000" dirty="0">
                <a:solidFill>
                  <a:srgbClr val="292934"/>
                </a:solidFill>
                <a:latin typeface="Arial"/>
              </a:rPr>
              <a:t>First Name</a:t>
            </a:r>
          </a:p>
          <a:p>
            <a:pPr defTabSz="914400"/>
            <a:r>
              <a:rPr lang="en-US" sz="2000" dirty="0">
                <a:solidFill>
                  <a:srgbClr val="292934"/>
                </a:solidFill>
                <a:latin typeface="Arial"/>
              </a:rPr>
              <a:t>ID</a:t>
            </a:r>
          </a:p>
          <a:p>
            <a:pPr defTabSz="914400"/>
            <a:r>
              <a:rPr lang="en-US" sz="2000" dirty="0">
                <a:solidFill>
                  <a:srgbClr val="292934"/>
                </a:solidFill>
                <a:latin typeface="Arial"/>
              </a:rPr>
              <a:t>Grad </a:t>
            </a:r>
            <a:r>
              <a:rPr lang="en-US" sz="2000" dirty="0" err="1">
                <a:solidFill>
                  <a:srgbClr val="292934"/>
                </a:solidFill>
                <a:latin typeface="Arial"/>
              </a:rPr>
              <a:t>Yr</a:t>
            </a:r>
            <a:endParaRPr lang="en-US" sz="2000" dirty="0">
              <a:solidFill>
                <a:srgbClr val="292934"/>
              </a:solidFill>
              <a:latin typeface="Arial"/>
            </a:endParaRPr>
          </a:p>
        </p:txBody>
      </p:sp>
      <p:sp>
        <p:nvSpPr>
          <p:cNvPr id="22" name="Rectangle 21">
            <a:extLst>
              <a:ext uri="{FF2B5EF4-FFF2-40B4-BE49-F238E27FC236}">
                <a16:creationId xmlns:a16="http://schemas.microsoft.com/office/drawing/2014/main" id="{BFDE4CF8-E58E-4FD7-972E-46408F28853C}"/>
              </a:ext>
            </a:extLst>
          </p:cNvPr>
          <p:cNvSpPr/>
          <p:nvPr/>
        </p:nvSpPr>
        <p:spPr>
          <a:xfrm>
            <a:off x="1024122" y="5151358"/>
            <a:ext cx="1787658" cy="101566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sz="3600" b="1">
              <a:solidFill>
                <a:srgbClr val="FFFFFF"/>
              </a:solidFill>
              <a:latin typeface="Arial"/>
            </a:endParaRPr>
          </a:p>
        </p:txBody>
      </p:sp>
      <p:sp>
        <p:nvSpPr>
          <p:cNvPr id="23" name="TextBox 22">
            <a:extLst>
              <a:ext uri="{FF2B5EF4-FFF2-40B4-BE49-F238E27FC236}">
                <a16:creationId xmlns:a16="http://schemas.microsoft.com/office/drawing/2014/main" id="{DB875BFA-087F-47CD-B286-9C1C4FADCF80}"/>
              </a:ext>
            </a:extLst>
          </p:cNvPr>
          <p:cNvSpPr txBox="1"/>
          <p:nvPr/>
        </p:nvSpPr>
        <p:spPr>
          <a:xfrm>
            <a:off x="990362" y="4598868"/>
            <a:ext cx="1821418" cy="523220"/>
          </a:xfrm>
          <a:prstGeom prst="rect">
            <a:avLst/>
          </a:prstGeom>
          <a:noFill/>
          <a:ln>
            <a:solidFill>
              <a:schemeClr val="tx1"/>
            </a:solidFill>
          </a:ln>
        </p:spPr>
        <p:txBody>
          <a:bodyPr wrap="square" rtlCol="0">
            <a:spAutoFit/>
          </a:bodyPr>
          <a:lstStyle/>
          <a:p>
            <a:pPr defTabSz="914400"/>
            <a:r>
              <a:rPr lang="en-US" sz="2800" b="1" dirty="0">
                <a:solidFill>
                  <a:srgbClr val="292934"/>
                </a:solidFill>
                <a:latin typeface="Arial"/>
              </a:rPr>
              <a:t>Course</a:t>
            </a:r>
          </a:p>
        </p:txBody>
      </p:sp>
      <p:sp>
        <p:nvSpPr>
          <p:cNvPr id="24" name="TextBox 23">
            <a:extLst>
              <a:ext uri="{FF2B5EF4-FFF2-40B4-BE49-F238E27FC236}">
                <a16:creationId xmlns:a16="http://schemas.microsoft.com/office/drawing/2014/main" id="{AF975A5D-6A86-4F79-AFCA-F1C1836538D0}"/>
              </a:ext>
            </a:extLst>
          </p:cNvPr>
          <p:cNvSpPr txBox="1"/>
          <p:nvPr/>
        </p:nvSpPr>
        <p:spPr>
          <a:xfrm>
            <a:off x="990363" y="5151358"/>
            <a:ext cx="1981437" cy="1015663"/>
          </a:xfrm>
          <a:prstGeom prst="rect">
            <a:avLst/>
          </a:prstGeom>
          <a:noFill/>
        </p:spPr>
        <p:txBody>
          <a:bodyPr wrap="square" rtlCol="0">
            <a:spAutoFit/>
          </a:bodyPr>
          <a:lstStyle/>
          <a:p>
            <a:pPr defTabSz="914400"/>
            <a:r>
              <a:rPr lang="en-US" sz="2000" dirty="0">
                <a:solidFill>
                  <a:srgbClr val="292934"/>
                </a:solidFill>
                <a:latin typeface="Arial"/>
              </a:rPr>
              <a:t>Course Name</a:t>
            </a:r>
          </a:p>
          <a:p>
            <a:pPr defTabSz="914400"/>
            <a:r>
              <a:rPr lang="en-US" sz="2000" dirty="0">
                <a:solidFill>
                  <a:srgbClr val="292934"/>
                </a:solidFill>
                <a:latin typeface="Arial"/>
              </a:rPr>
              <a:t>Course #</a:t>
            </a:r>
          </a:p>
          <a:p>
            <a:pPr defTabSz="914400"/>
            <a:r>
              <a:rPr lang="en-US" sz="2000" dirty="0" err="1">
                <a:solidFill>
                  <a:srgbClr val="292934"/>
                </a:solidFill>
                <a:latin typeface="Arial"/>
              </a:rPr>
              <a:t>Dept</a:t>
            </a:r>
            <a:endParaRPr lang="en-US" sz="2000" dirty="0">
              <a:solidFill>
                <a:srgbClr val="292934"/>
              </a:solidFill>
              <a:latin typeface="Arial"/>
            </a:endParaRPr>
          </a:p>
        </p:txBody>
      </p:sp>
      <p:sp>
        <p:nvSpPr>
          <p:cNvPr id="25" name="Rectangle 24">
            <a:extLst>
              <a:ext uri="{FF2B5EF4-FFF2-40B4-BE49-F238E27FC236}">
                <a16:creationId xmlns:a16="http://schemas.microsoft.com/office/drawing/2014/main" id="{BFDE4CF8-E58E-4FD7-972E-46408F28853C}"/>
              </a:ext>
            </a:extLst>
          </p:cNvPr>
          <p:cNvSpPr/>
          <p:nvPr/>
        </p:nvSpPr>
        <p:spPr>
          <a:xfrm>
            <a:off x="2845540" y="3073559"/>
            <a:ext cx="1787658" cy="131728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sz="3600" b="1">
              <a:solidFill>
                <a:srgbClr val="FFFFFF"/>
              </a:solidFill>
              <a:latin typeface="Arial"/>
            </a:endParaRPr>
          </a:p>
        </p:txBody>
      </p:sp>
      <p:sp>
        <p:nvSpPr>
          <p:cNvPr id="26" name="TextBox 25">
            <a:extLst>
              <a:ext uri="{FF2B5EF4-FFF2-40B4-BE49-F238E27FC236}">
                <a16:creationId xmlns:a16="http://schemas.microsoft.com/office/drawing/2014/main" id="{DB875BFA-087F-47CD-B286-9C1C4FADCF80}"/>
              </a:ext>
            </a:extLst>
          </p:cNvPr>
          <p:cNvSpPr txBox="1"/>
          <p:nvPr/>
        </p:nvSpPr>
        <p:spPr>
          <a:xfrm>
            <a:off x="2811780" y="2521069"/>
            <a:ext cx="1821418" cy="523220"/>
          </a:xfrm>
          <a:prstGeom prst="rect">
            <a:avLst/>
          </a:prstGeom>
          <a:noFill/>
          <a:ln>
            <a:solidFill>
              <a:schemeClr val="tx1"/>
            </a:solidFill>
          </a:ln>
        </p:spPr>
        <p:txBody>
          <a:bodyPr wrap="square" rtlCol="0">
            <a:spAutoFit/>
          </a:bodyPr>
          <a:lstStyle/>
          <a:p>
            <a:pPr defTabSz="914400"/>
            <a:r>
              <a:rPr lang="en-US" sz="2800" b="1" dirty="0">
                <a:solidFill>
                  <a:srgbClr val="292934"/>
                </a:solidFill>
                <a:latin typeface="Arial"/>
              </a:rPr>
              <a:t>Section</a:t>
            </a:r>
          </a:p>
        </p:txBody>
      </p:sp>
      <p:sp>
        <p:nvSpPr>
          <p:cNvPr id="3" name="Title 2"/>
          <p:cNvSpPr>
            <a:spLocks noGrp="1"/>
          </p:cNvSpPr>
          <p:nvPr>
            <p:ph type="title"/>
          </p:nvPr>
        </p:nvSpPr>
        <p:spPr>
          <a:xfrm>
            <a:off x="457200" y="499110"/>
            <a:ext cx="8229600" cy="990600"/>
          </a:xfrm>
        </p:spPr>
        <p:txBody>
          <a:bodyPr/>
          <a:lstStyle/>
          <a:p>
            <a:r>
              <a:rPr lang="en-US" dirty="0"/>
              <a:t>Relationships (Example)</a:t>
            </a:r>
          </a:p>
        </p:txBody>
      </p:sp>
      <p:sp>
        <p:nvSpPr>
          <p:cNvPr id="15" name="TextBox 14"/>
          <p:cNvSpPr txBox="1"/>
          <p:nvPr/>
        </p:nvSpPr>
        <p:spPr>
          <a:xfrm>
            <a:off x="5228696" y="2678668"/>
            <a:ext cx="3594733" cy="3046988"/>
          </a:xfrm>
          <a:prstGeom prst="rect">
            <a:avLst/>
          </a:prstGeom>
          <a:noFill/>
        </p:spPr>
        <p:txBody>
          <a:bodyPr wrap="square" rtlCol="0">
            <a:spAutoFit/>
          </a:bodyPr>
          <a:lstStyle/>
          <a:p>
            <a:r>
              <a:rPr lang="en-US" sz="2400" b="1" dirty="0"/>
              <a:t>Identify the cardinality:</a:t>
            </a:r>
          </a:p>
          <a:p>
            <a:endParaRPr lang="en-US" sz="2400" dirty="0"/>
          </a:p>
          <a:p>
            <a:pPr marL="342900" indent="-342900">
              <a:buFont typeface="Arial" panose="020B0604020202020204" pitchFamily="34" charset="0"/>
              <a:buChar char="•"/>
            </a:pPr>
            <a:r>
              <a:rPr lang="en-US" sz="2400" dirty="0"/>
              <a:t>Course—Section</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dirty="0"/>
              <a:t>Student—Section</a:t>
            </a:r>
          </a:p>
          <a:p>
            <a:endParaRPr lang="en-US" sz="2400" dirty="0"/>
          </a:p>
          <a:p>
            <a:pPr marL="342900" indent="-342900">
              <a:buFont typeface="Arial" panose="020B0604020202020204" pitchFamily="34" charset="0"/>
              <a:buChar char="•"/>
            </a:pPr>
            <a:r>
              <a:rPr lang="en-US" sz="2400" dirty="0"/>
              <a:t>Student—Course</a:t>
            </a:r>
          </a:p>
          <a:p>
            <a:pPr marL="342900" indent="-342900">
              <a:buFont typeface="Arial" panose="020B0604020202020204" pitchFamily="34" charset="0"/>
              <a:buChar char="•"/>
            </a:pPr>
            <a:endParaRPr lang="en-US" sz="2400" dirty="0"/>
          </a:p>
        </p:txBody>
      </p:sp>
      <p:sp>
        <p:nvSpPr>
          <p:cNvPr id="28" name="TextBox 27">
            <a:extLst>
              <a:ext uri="{FF2B5EF4-FFF2-40B4-BE49-F238E27FC236}">
                <a16:creationId xmlns:a16="http://schemas.microsoft.com/office/drawing/2014/main" id="{AF975A5D-6A86-4F79-AFCA-F1C1836538D0}"/>
              </a:ext>
            </a:extLst>
          </p:cNvPr>
          <p:cNvSpPr txBox="1"/>
          <p:nvPr/>
        </p:nvSpPr>
        <p:spPr>
          <a:xfrm>
            <a:off x="2854774" y="3070482"/>
            <a:ext cx="1981437" cy="1323439"/>
          </a:xfrm>
          <a:prstGeom prst="rect">
            <a:avLst/>
          </a:prstGeom>
          <a:noFill/>
        </p:spPr>
        <p:txBody>
          <a:bodyPr wrap="square" rtlCol="0">
            <a:spAutoFit/>
          </a:bodyPr>
          <a:lstStyle/>
          <a:p>
            <a:pPr defTabSz="914400"/>
            <a:r>
              <a:rPr lang="en-US" sz="2000" dirty="0">
                <a:solidFill>
                  <a:srgbClr val="292934"/>
                </a:solidFill>
                <a:latin typeface="Arial"/>
              </a:rPr>
              <a:t>Section #</a:t>
            </a:r>
          </a:p>
          <a:p>
            <a:pPr defTabSz="914400"/>
            <a:r>
              <a:rPr lang="en-US" sz="2000" dirty="0">
                <a:solidFill>
                  <a:srgbClr val="292934"/>
                </a:solidFill>
                <a:latin typeface="Arial"/>
              </a:rPr>
              <a:t>Location</a:t>
            </a:r>
          </a:p>
          <a:p>
            <a:pPr defTabSz="914400"/>
            <a:r>
              <a:rPr lang="en-US" sz="2000" dirty="0">
                <a:solidFill>
                  <a:srgbClr val="292934"/>
                </a:solidFill>
                <a:latin typeface="Arial"/>
              </a:rPr>
              <a:t>Instructor</a:t>
            </a:r>
          </a:p>
          <a:p>
            <a:pPr defTabSz="914400"/>
            <a:r>
              <a:rPr lang="en-US" sz="2000" dirty="0">
                <a:solidFill>
                  <a:srgbClr val="292934"/>
                </a:solidFill>
                <a:latin typeface="Arial"/>
              </a:rPr>
              <a:t>Meeting Time</a:t>
            </a:r>
          </a:p>
        </p:txBody>
      </p:sp>
    </p:spTree>
    <p:extLst>
      <p:ext uri="{BB962C8B-B14F-4D97-AF65-F5344CB8AC3E}">
        <p14:creationId xmlns:p14="http://schemas.microsoft.com/office/powerpoint/2010/main" val="227497614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114955F-F307-496E-A8A2-A2D03B71F5D0}"/>
              </a:ext>
            </a:extLst>
          </p:cNvPr>
          <p:cNvSpPr>
            <a:spLocks noGrp="1"/>
          </p:cNvSpPr>
          <p:nvPr>
            <p:ph idx="1"/>
          </p:nvPr>
        </p:nvSpPr>
        <p:spPr>
          <a:xfrm>
            <a:off x="228600" y="1143000"/>
            <a:ext cx="8534400" cy="5257800"/>
          </a:xfrm>
        </p:spPr>
        <p:txBody>
          <a:bodyPr>
            <a:normAutofit/>
          </a:bodyPr>
          <a:lstStyle/>
          <a:p>
            <a:pPr marL="0" indent="0">
              <a:buNone/>
            </a:pPr>
            <a:endParaRPr lang="en-US" b="1" i="1" dirty="0"/>
          </a:p>
          <a:p>
            <a:pPr marL="0" indent="0">
              <a:buNone/>
            </a:pPr>
            <a:r>
              <a:rPr lang="en-US" sz="2400" dirty="0"/>
              <a:t>To identify the cardinality between the entities, consider describing their relationship with words:  </a:t>
            </a:r>
          </a:p>
          <a:p>
            <a:pPr marL="0" indent="0">
              <a:buNone/>
            </a:pPr>
            <a:r>
              <a:rPr lang="en-US" sz="2000" u="sng" dirty="0"/>
              <a:t>Course—Section</a:t>
            </a:r>
          </a:p>
          <a:p>
            <a:r>
              <a:rPr lang="en-US" sz="2000" dirty="0"/>
              <a:t>“One course can have many sections”; “one section pertains to only one course”</a:t>
            </a:r>
          </a:p>
          <a:p>
            <a:r>
              <a:rPr lang="en-US" sz="2000" dirty="0">
                <a:solidFill>
                  <a:schemeClr val="accent2"/>
                </a:solidFill>
              </a:rPr>
              <a:t>The relationship between Course and Section is </a:t>
            </a:r>
            <a:r>
              <a:rPr lang="en-US" sz="2000" b="1" dirty="0">
                <a:solidFill>
                  <a:schemeClr val="accent2"/>
                </a:solidFill>
              </a:rPr>
              <a:t>one-to-many</a:t>
            </a:r>
          </a:p>
          <a:p>
            <a:endParaRPr lang="en-US" sz="2000" b="1" dirty="0">
              <a:solidFill>
                <a:srgbClr val="FF0000"/>
              </a:solidFill>
            </a:endParaRPr>
          </a:p>
          <a:p>
            <a:pPr marL="0" indent="0">
              <a:buNone/>
            </a:pPr>
            <a:r>
              <a:rPr lang="en-US" sz="2000" u="sng" dirty="0"/>
              <a:t>Student—Section</a:t>
            </a:r>
          </a:p>
          <a:p>
            <a:r>
              <a:rPr lang="en-US" sz="2000" dirty="0"/>
              <a:t>“One student is enrolled in many sections”; “one section consists of many students”</a:t>
            </a:r>
          </a:p>
          <a:p>
            <a:r>
              <a:rPr lang="en-US" sz="2000" dirty="0">
                <a:solidFill>
                  <a:schemeClr val="accent2"/>
                </a:solidFill>
              </a:rPr>
              <a:t>The relationship between Student and Section is </a:t>
            </a:r>
            <a:r>
              <a:rPr lang="en-US" sz="2000" b="1" dirty="0">
                <a:solidFill>
                  <a:schemeClr val="accent2"/>
                </a:solidFill>
              </a:rPr>
              <a:t>many-to-many</a:t>
            </a:r>
          </a:p>
          <a:p>
            <a:pPr marL="0" indent="0">
              <a:buNone/>
            </a:pPr>
            <a:endParaRPr lang="en-US" sz="2000" b="1" dirty="0">
              <a:solidFill>
                <a:srgbClr val="FF0000"/>
              </a:solidFill>
            </a:endParaRPr>
          </a:p>
          <a:p>
            <a:pPr marL="0" indent="0">
              <a:buNone/>
            </a:pPr>
            <a:r>
              <a:rPr lang="en-US" sz="2000" b="1" i="1" dirty="0"/>
              <a:t>Is there a direct relationship between Student and Course?</a:t>
            </a:r>
          </a:p>
          <a:p>
            <a:endParaRPr lang="en-US" dirty="0"/>
          </a:p>
        </p:txBody>
      </p:sp>
      <p:sp>
        <p:nvSpPr>
          <p:cNvPr id="4" name="Slide Number Placeholder 3">
            <a:extLst>
              <a:ext uri="{FF2B5EF4-FFF2-40B4-BE49-F238E27FC236}">
                <a16:creationId xmlns:a16="http://schemas.microsoft.com/office/drawing/2014/main" id="{AC772C82-C3AC-4548-9C87-4A149CA6ECA4}"/>
              </a:ext>
            </a:extLst>
          </p:cNvPr>
          <p:cNvSpPr>
            <a:spLocks noGrp="1"/>
          </p:cNvSpPr>
          <p:nvPr>
            <p:ph type="sldNum" sz="quarter" idx="12"/>
          </p:nvPr>
        </p:nvSpPr>
        <p:spPr/>
        <p:txBody>
          <a:bodyPr/>
          <a:lstStyle/>
          <a:p>
            <a:fld id="{E345EAD5-4C19-43E8-92AC-D4AD00C5745A}" type="slidenum">
              <a:rPr lang="en-US" smtClean="0">
                <a:latin typeface="Arial"/>
              </a:rPr>
              <a:pPr/>
              <a:t>36</a:t>
            </a:fld>
            <a:endParaRPr lang="en-US">
              <a:latin typeface="Arial"/>
            </a:endParaRPr>
          </a:p>
        </p:txBody>
      </p:sp>
      <p:sp>
        <p:nvSpPr>
          <p:cNvPr id="5" name="Title 4"/>
          <p:cNvSpPr>
            <a:spLocks noGrp="1"/>
          </p:cNvSpPr>
          <p:nvPr>
            <p:ph type="title"/>
          </p:nvPr>
        </p:nvSpPr>
        <p:spPr/>
        <p:txBody>
          <a:bodyPr/>
          <a:lstStyle/>
          <a:p>
            <a:r>
              <a:rPr lang="en-US" dirty="0"/>
              <a:t>Relationships (Example continued)</a:t>
            </a:r>
          </a:p>
        </p:txBody>
      </p:sp>
    </p:spTree>
    <p:extLst>
      <p:ext uri="{BB962C8B-B14F-4D97-AF65-F5344CB8AC3E}">
        <p14:creationId xmlns:p14="http://schemas.microsoft.com/office/powerpoint/2010/main" val="40534909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p:txBody>
          <a:bodyPr/>
          <a:lstStyle/>
          <a:p>
            <a:r>
              <a:rPr lang="en-US" dirty="0"/>
              <a:t>Microsoft Access</a:t>
            </a:r>
          </a:p>
        </p:txBody>
      </p:sp>
      <p:sp>
        <p:nvSpPr>
          <p:cNvPr id="6" name="Subtitle 5"/>
          <p:cNvSpPr>
            <a:spLocks noGrp="1"/>
          </p:cNvSpPr>
          <p:nvPr>
            <p:ph type="subTitle" idx="1"/>
          </p:nvPr>
        </p:nvSpPr>
        <p:spPr/>
        <p:txBody>
          <a:bodyPr/>
          <a:lstStyle/>
          <a:p>
            <a:endParaRPr lang="en-US" dirty="0"/>
          </a:p>
        </p:txBody>
      </p:sp>
      <p:sp>
        <p:nvSpPr>
          <p:cNvPr id="4" name="Slide Number Placeholder 3"/>
          <p:cNvSpPr>
            <a:spLocks noGrp="1"/>
          </p:cNvSpPr>
          <p:nvPr>
            <p:ph type="sldNum" sz="quarter" idx="12"/>
          </p:nvPr>
        </p:nvSpPr>
        <p:spPr/>
        <p:txBody>
          <a:bodyPr/>
          <a:lstStyle/>
          <a:p>
            <a:fld id="{E345EAD5-4C19-43E8-92AC-D4AD00C5745A}" type="slidenum">
              <a:rPr lang="en-US" smtClean="0"/>
              <a:pPr/>
              <a:t>37</a:t>
            </a:fld>
            <a:endParaRPr lang="en-US"/>
          </a:p>
        </p:txBody>
      </p:sp>
      <p:pic>
        <p:nvPicPr>
          <p:cNvPr id="7" name="Picture 6" descr="https://upload.wikimedia.org/wikipedia/commons/thumb/3/30/Microsoft_Office_Access_%282013%E2%80%93present%29.svg/1200px-Microsoft_Office_Access_%282013%E2%80%93present%29.svg.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207635" y="4000500"/>
            <a:ext cx="804930" cy="762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5348029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Microsoft Access</a:t>
            </a:r>
          </a:p>
        </p:txBody>
      </p:sp>
      <p:sp>
        <p:nvSpPr>
          <p:cNvPr id="3" name="Content Placeholder 2"/>
          <p:cNvSpPr>
            <a:spLocks noGrp="1"/>
          </p:cNvSpPr>
          <p:nvPr>
            <p:ph idx="1"/>
          </p:nvPr>
        </p:nvSpPr>
        <p:spPr>
          <a:xfrm>
            <a:off x="228600" y="1417638"/>
            <a:ext cx="8763000" cy="5135562"/>
          </a:xfrm>
        </p:spPr>
        <p:txBody>
          <a:bodyPr>
            <a:normAutofit/>
          </a:bodyPr>
          <a:lstStyle/>
          <a:p>
            <a:pPr>
              <a:lnSpc>
                <a:spcPct val="150000"/>
              </a:lnSpc>
            </a:pPr>
            <a:r>
              <a:rPr lang="en-US" sz="2400" b="1" dirty="0"/>
              <a:t>Relational Database</a:t>
            </a:r>
          </a:p>
          <a:p>
            <a:pPr>
              <a:lnSpc>
                <a:spcPct val="150000"/>
              </a:lnSpc>
            </a:pPr>
            <a:r>
              <a:rPr lang="en-US" sz="2400" dirty="0"/>
              <a:t>Offers </a:t>
            </a:r>
            <a:r>
              <a:rPr lang="en-US" sz="2400" b="1" dirty="0"/>
              <a:t>object-oriented </a:t>
            </a:r>
            <a:r>
              <a:rPr lang="en-US" sz="2400" dirty="0"/>
              <a:t>user interface</a:t>
            </a:r>
          </a:p>
          <a:p>
            <a:pPr>
              <a:lnSpc>
                <a:spcPct val="150000"/>
              </a:lnSpc>
            </a:pPr>
            <a:r>
              <a:rPr lang="en-US" sz="2400" dirty="0"/>
              <a:t>In Access, a database is a group of related objects that are saved in one file</a:t>
            </a:r>
          </a:p>
          <a:p>
            <a:pPr>
              <a:lnSpc>
                <a:spcPct val="150000"/>
              </a:lnSpc>
            </a:pPr>
            <a:r>
              <a:rPr lang="en-US" sz="2400" dirty="0"/>
              <a:t>Objects in Access include:</a:t>
            </a:r>
          </a:p>
          <a:p>
            <a:pPr lvl="1">
              <a:lnSpc>
                <a:spcPct val="150000"/>
              </a:lnSpc>
            </a:pPr>
            <a:r>
              <a:rPr lang="en-US" sz="2000" dirty="0"/>
              <a:t>Tables</a:t>
            </a:r>
          </a:p>
          <a:p>
            <a:pPr lvl="1">
              <a:lnSpc>
                <a:spcPct val="150000"/>
              </a:lnSpc>
            </a:pPr>
            <a:r>
              <a:rPr lang="en-US" sz="2000" dirty="0"/>
              <a:t>Forms </a:t>
            </a:r>
          </a:p>
          <a:p>
            <a:pPr lvl="1">
              <a:lnSpc>
                <a:spcPct val="150000"/>
              </a:lnSpc>
            </a:pPr>
            <a:r>
              <a:rPr lang="en-US" sz="2000" dirty="0"/>
              <a:t>Queries</a:t>
            </a:r>
          </a:p>
          <a:p>
            <a:pPr lvl="1">
              <a:lnSpc>
                <a:spcPct val="150000"/>
              </a:lnSpc>
            </a:pPr>
            <a:r>
              <a:rPr lang="en-US" sz="2000" dirty="0"/>
              <a:t>Reports</a:t>
            </a:r>
          </a:p>
        </p:txBody>
      </p:sp>
      <p:sp>
        <p:nvSpPr>
          <p:cNvPr id="4" name="Slide Number Placeholder 3"/>
          <p:cNvSpPr>
            <a:spLocks noGrp="1"/>
          </p:cNvSpPr>
          <p:nvPr>
            <p:ph type="sldNum" sz="quarter" idx="12"/>
          </p:nvPr>
        </p:nvSpPr>
        <p:spPr/>
        <p:txBody>
          <a:bodyPr/>
          <a:lstStyle/>
          <a:p>
            <a:fld id="{E345EAD5-4C19-43E8-92AC-D4AD00C5745A}" type="slidenum">
              <a:rPr lang="en-US" smtClean="0"/>
              <a:pPr/>
              <a:t>38</a:t>
            </a:fld>
            <a:endParaRPr lang="en-US"/>
          </a:p>
        </p:txBody>
      </p:sp>
    </p:spTree>
    <p:extLst>
      <p:ext uri="{BB962C8B-B14F-4D97-AF65-F5344CB8AC3E}">
        <p14:creationId xmlns:p14="http://schemas.microsoft.com/office/powerpoint/2010/main" val="164742090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Entities (Tables)</a:t>
            </a:r>
          </a:p>
        </p:txBody>
      </p:sp>
      <p:sp>
        <p:nvSpPr>
          <p:cNvPr id="3" name="Content Placeholder 2"/>
          <p:cNvSpPr>
            <a:spLocks noGrp="1"/>
          </p:cNvSpPr>
          <p:nvPr>
            <p:ph idx="1"/>
          </p:nvPr>
        </p:nvSpPr>
        <p:spPr>
          <a:xfrm>
            <a:off x="152400" y="1676400"/>
            <a:ext cx="8839200" cy="4679950"/>
          </a:xfrm>
        </p:spPr>
        <p:txBody>
          <a:bodyPr>
            <a:normAutofit fontScale="92500" lnSpcReduction="10000"/>
          </a:bodyPr>
          <a:lstStyle/>
          <a:p>
            <a:r>
              <a:rPr lang="en-US" sz="2800" b="1" dirty="0"/>
              <a:t>Table</a:t>
            </a:r>
            <a:r>
              <a:rPr lang="en-US" sz="2800" dirty="0"/>
              <a:t> – consists of data that is structured in rows and columns (each table represents a single entity type)</a:t>
            </a:r>
          </a:p>
          <a:p>
            <a:endParaRPr lang="en-US" sz="2800" dirty="0"/>
          </a:p>
          <a:p>
            <a:r>
              <a:rPr lang="en-US" sz="2800" b="1" dirty="0"/>
              <a:t>Row</a:t>
            </a:r>
            <a:r>
              <a:rPr lang="en-US" sz="2800" dirty="0"/>
              <a:t> – a row of data is called a </a:t>
            </a:r>
            <a:r>
              <a:rPr lang="en-US" sz="2800" b="1" dirty="0"/>
              <a:t>record </a:t>
            </a:r>
            <a:r>
              <a:rPr lang="en-US" sz="2800" dirty="0"/>
              <a:t>(instance of the entity type)</a:t>
            </a:r>
          </a:p>
          <a:p>
            <a:endParaRPr lang="en-US" sz="2800" dirty="0"/>
          </a:p>
          <a:p>
            <a:r>
              <a:rPr lang="en-US" sz="2800" b="1" dirty="0"/>
              <a:t>Column</a:t>
            </a:r>
            <a:r>
              <a:rPr lang="en-US" sz="2800" dirty="0"/>
              <a:t> – a column of data is called a </a:t>
            </a:r>
            <a:r>
              <a:rPr lang="en-US" sz="2800" b="1" dirty="0"/>
              <a:t>field </a:t>
            </a:r>
            <a:r>
              <a:rPr lang="en-US" sz="2800" dirty="0"/>
              <a:t>(attribute of the entity type)</a:t>
            </a:r>
          </a:p>
          <a:p>
            <a:pPr marL="0" indent="0">
              <a:buNone/>
            </a:pPr>
            <a:endParaRPr lang="en-US" b="1" dirty="0"/>
          </a:p>
          <a:p>
            <a:pPr marL="0" indent="0">
              <a:buNone/>
            </a:pPr>
            <a:r>
              <a:rPr lang="en-US" sz="2800" dirty="0"/>
              <a:t>Therefore, a record is a set of related fields.</a:t>
            </a:r>
          </a:p>
          <a:p>
            <a:pPr marL="0" indent="0">
              <a:buNone/>
            </a:pPr>
            <a:r>
              <a:rPr lang="en-US" sz="2800" dirty="0"/>
              <a:t>Fields in a table should be related to one another.</a:t>
            </a:r>
          </a:p>
        </p:txBody>
      </p:sp>
      <p:sp>
        <p:nvSpPr>
          <p:cNvPr id="4" name="Slide Number Placeholder 3"/>
          <p:cNvSpPr>
            <a:spLocks noGrp="1"/>
          </p:cNvSpPr>
          <p:nvPr>
            <p:ph type="sldNum" sz="quarter" idx="12"/>
          </p:nvPr>
        </p:nvSpPr>
        <p:spPr/>
        <p:txBody>
          <a:bodyPr/>
          <a:lstStyle/>
          <a:p>
            <a:fld id="{E345EAD5-4C19-43E8-92AC-D4AD00C5745A}" type="slidenum">
              <a:rPr lang="en-US" smtClean="0"/>
              <a:pPr/>
              <a:t>39</a:t>
            </a:fld>
            <a:endParaRPr lang="en-US"/>
          </a:p>
        </p:txBody>
      </p:sp>
      <p:pic>
        <p:nvPicPr>
          <p:cNvPr id="5" name="Picture 4">
            <a:extLst>
              <a:ext uri="{FF2B5EF4-FFF2-40B4-BE49-F238E27FC236}">
                <a16:creationId xmlns:a16="http://schemas.microsoft.com/office/drawing/2014/main" id="{2F76442D-7BF9-DA7F-B218-B9B8F23C570C}"/>
              </a:ext>
            </a:extLst>
          </p:cNvPr>
          <p:cNvPicPr>
            <a:picLocks noChangeAspect="1"/>
          </p:cNvPicPr>
          <p:nvPr/>
        </p:nvPicPr>
        <p:blipFill rotWithShape="1">
          <a:blip r:embed="rId2"/>
          <a:srcRect l="28522" t="32317"/>
          <a:stretch/>
        </p:blipFill>
        <p:spPr>
          <a:xfrm>
            <a:off x="6318323" y="254816"/>
            <a:ext cx="2603353" cy="1345384"/>
          </a:xfrm>
          <a:prstGeom prst="rect">
            <a:avLst/>
          </a:prstGeom>
        </p:spPr>
      </p:pic>
    </p:spTree>
    <p:extLst>
      <p:ext uri="{BB962C8B-B14F-4D97-AF65-F5344CB8AC3E}">
        <p14:creationId xmlns:p14="http://schemas.microsoft.com/office/powerpoint/2010/main" val="29043485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Fields (attributes)</a:t>
            </a:r>
          </a:p>
        </p:txBody>
      </p:sp>
      <p:sp>
        <p:nvSpPr>
          <p:cNvPr id="3" name="Content Placeholder 2"/>
          <p:cNvSpPr>
            <a:spLocks noGrp="1"/>
          </p:cNvSpPr>
          <p:nvPr>
            <p:ph idx="1"/>
          </p:nvPr>
        </p:nvSpPr>
        <p:spPr/>
        <p:txBody>
          <a:bodyPr/>
          <a:lstStyle/>
          <a:p>
            <a:r>
              <a:rPr lang="en-US" dirty="0"/>
              <a:t>Each field has a </a:t>
            </a:r>
            <a:r>
              <a:rPr lang="en-US" b="1" dirty="0"/>
              <a:t>data type</a:t>
            </a:r>
            <a:r>
              <a:rPr lang="en-US" dirty="0"/>
              <a:t>: </a:t>
            </a:r>
          </a:p>
          <a:p>
            <a:pPr lvl="1"/>
            <a:r>
              <a:rPr lang="en-US" dirty="0"/>
              <a:t>Text</a:t>
            </a:r>
          </a:p>
          <a:p>
            <a:pPr lvl="1"/>
            <a:r>
              <a:rPr lang="en-US" dirty="0"/>
              <a:t>Integer</a:t>
            </a:r>
          </a:p>
          <a:p>
            <a:pPr lvl="1"/>
            <a:r>
              <a:rPr lang="en-US" dirty="0"/>
              <a:t>Double</a:t>
            </a:r>
          </a:p>
          <a:p>
            <a:pPr lvl="1"/>
            <a:r>
              <a:rPr lang="en-US" dirty="0"/>
              <a:t>Currency</a:t>
            </a:r>
          </a:p>
          <a:p>
            <a:pPr lvl="1"/>
            <a:r>
              <a:rPr lang="en-US" dirty="0"/>
              <a:t>Yes/no</a:t>
            </a:r>
          </a:p>
          <a:p>
            <a:pPr lvl="1"/>
            <a:r>
              <a:rPr lang="en-US" dirty="0"/>
              <a:t>Date/time</a:t>
            </a:r>
          </a:p>
        </p:txBody>
      </p:sp>
      <p:sp>
        <p:nvSpPr>
          <p:cNvPr id="4" name="Slide Number Placeholder 3"/>
          <p:cNvSpPr>
            <a:spLocks noGrp="1"/>
          </p:cNvSpPr>
          <p:nvPr>
            <p:ph type="sldNum" sz="quarter" idx="12"/>
          </p:nvPr>
        </p:nvSpPr>
        <p:spPr/>
        <p:txBody>
          <a:bodyPr/>
          <a:lstStyle/>
          <a:p>
            <a:fld id="{E345EAD5-4C19-43E8-92AC-D4AD00C5745A}" type="slidenum">
              <a:rPr lang="en-US" smtClean="0"/>
              <a:pPr/>
              <a:t>40</a:t>
            </a:fld>
            <a:endParaRPr lang="en-US"/>
          </a:p>
        </p:txBody>
      </p:sp>
      <p:pic>
        <p:nvPicPr>
          <p:cNvPr id="5" name="Picture 4">
            <a:extLst>
              <a:ext uri="{FF2B5EF4-FFF2-40B4-BE49-F238E27FC236}">
                <a16:creationId xmlns:a16="http://schemas.microsoft.com/office/drawing/2014/main" id="{BEE26451-2081-A1F2-1F3A-236232037F16}"/>
              </a:ext>
            </a:extLst>
          </p:cNvPr>
          <p:cNvPicPr>
            <a:picLocks noChangeAspect="1"/>
          </p:cNvPicPr>
          <p:nvPr/>
        </p:nvPicPr>
        <p:blipFill rotWithShape="1">
          <a:blip r:embed="rId2"/>
          <a:srcRect l="28522" t="32317"/>
          <a:stretch/>
        </p:blipFill>
        <p:spPr>
          <a:xfrm>
            <a:off x="4724400" y="2057400"/>
            <a:ext cx="4276020" cy="2209800"/>
          </a:xfrm>
          <a:prstGeom prst="rect">
            <a:avLst/>
          </a:prstGeom>
        </p:spPr>
      </p:pic>
    </p:spTree>
    <p:extLst>
      <p:ext uri="{BB962C8B-B14F-4D97-AF65-F5344CB8AC3E}">
        <p14:creationId xmlns:p14="http://schemas.microsoft.com/office/powerpoint/2010/main" val="363637413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16463D-9D38-4741-B295-8389286BA526}"/>
              </a:ext>
            </a:extLst>
          </p:cNvPr>
          <p:cNvSpPr>
            <a:spLocks noGrp="1"/>
          </p:cNvSpPr>
          <p:nvPr>
            <p:ph type="title"/>
          </p:nvPr>
        </p:nvSpPr>
        <p:spPr/>
        <p:txBody>
          <a:bodyPr/>
          <a:lstStyle/>
          <a:p>
            <a:r>
              <a:rPr lang="en-US" dirty="0"/>
              <a:t>Manufacturing Example</a:t>
            </a:r>
          </a:p>
        </p:txBody>
      </p:sp>
      <p:sp>
        <p:nvSpPr>
          <p:cNvPr id="3" name="Content Placeholder 2">
            <a:extLst>
              <a:ext uri="{FF2B5EF4-FFF2-40B4-BE49-F238E27FC236}">
                <a16:creationId xmlns:a16="http://schemas.microsoft.com/office/drawing/2014/main" id="{DEBFC15D-34D3-4AEF-ABAE-CAA015F7DA0E}"/>
              </a:ext>
            </a:extLst>
          </p:cNvPr>
          <p:cNvSpPr>
            <a:spLocks noGrp="1"/>
          </p:cNvSpPr>
          <p:nvPr>
            <p:ph idx="1"/>
          </p:nvPr>
        </p:nvSpPr>
        <p:spPr/>
        <p:txBody>
          <a:bodyPr/>
          <a:lstStyle/>
          <a:p>
            <a:r>
              <a:rPr lang="en-US" sz="2400" dirty="0"/>
              <a:t>Let’s go ahead and create the tables for the manufacturing example</a:t>
            </a:r>
          </a:p>
          <a:p>
            <a:pPr marL="0" indent="0">
              <a:buNone/>
            </a:pPr>
            <a:endParaRPr lang="en-US" dirty="0"/>
          </a:p>
        </p:txBody>
      </p:sp>
      <p:sp>
        <p:nvSpPr>
          <p:cNvPr id="4" name="Slide Number Placeholder 3">
            <a:extLst>
              <a:ext uri="{FF2B5EF4-FFF2-40B4-BE49-F238E27FC236}">
                <a16:creationId xmlns:a16="http://schemas.microsoft.com/office/drawing/2014/main" id="{6DABECDF-FB2C-4227-BDB1-7CE5790013E9}"/>
              </a:ext>
            </a:extLst>
          </p:cNvPr>
          <p:cNvSpPr>
            <a:spLocks noGrp="1"/>
          </p:cNvSpPr>
          <p:nvPr>
            <p:ph type="sldNum" sz="quarter" idx="12"/>
          </p:nvPr>
        </p:nvSpPr>
        <p:spPr/>
        <p:txBody>
          <a:bodyPr/>
          <a:lstStyle/>
          <a:p>
            <a:fld id="{E345EAD5-4C19-43E8-92AC-D4AD00C5745A}" type="slidenum">
              <a:rPr lang="en-US" smtClean="0"/>
              <a:pPr/>
              <a:t>41</a:t>
            </a:fld>
            <a:endParaRPr lang="en-US"/>
          </a:p>
        </p:txBody>
      </p:sp>
      <p:pic>
        <p:nvPicPr>
          <p:cNvPr id="9" name="Picture 4"/>
          <p:cNvPicPr>
            <a:picLocks noChangeAspect="1" noChangeArrowheads="1"/>
          </p:cNvPicPr>
          <p:nvPr/>
        </p:nvPicPr>
        <p:blipFill rotWithShape="1">
          <a:blip r:embed="rId2" cstate="print"/>
          <a:srcRect l="1207" t="65625" r="2630"/>
          <a:stretch/>
        </p:blipFill>
        <p:spPr bwMode="auto">
          <a:xfrm>
            <a:off x="1356231" y="4363679"/>
            <a:ext cx="6184669" cy="2567221"/>
          </a:xfrm>
          <a:prstGeom prst="rect">
            <a:avLst/>
          </a:prstGeom>
          <a:noFill/>
          <a:ln w="9525" algn="ctr">
            <a:noFill/>
            <a:miter lim="800000"/>
            <a:headEnd/>
            <a:tailEnd/>
          </a:ln>
        </p:spPr>
      </p:pic>
      <p:pic>
        <p:nvPicPr>
          <p:cNvPr id="10" name="Picture 4"/>
          <p:cNvPicPr>
            <a:picLocks noChangeAspect="1" noChangeArrowheads="1"/>
          </p:cNvPicPr>
          <p:nvPr/>
        </p:nvPicPr>
        <p:blipFill rotWithShape="1">
          <a:blip r:embed="rId2" cstate="print"/>
          <a:srcRect l="19964" t="32813" r="20160" b="34375"/>
          <a:stretch/>
        </p:blipFill>
        <p:spPr bwMode="auto">
          <a:xfrm>
            <a:off x="4717787" y="2390899"/>
            <a:ext cx="3656946" cy="2327148"/>
          </a:xfrm>
          <a:prstGeom prst="rect">
            <a:avLst/>
          </a:prstGeom>
          <a:noFill/>
          <a:ln w="9525" algn="ctr">
            <a:noFill/>
            <a:miter lim="800000"/>
            <a:headEnd/>
            <a:tailEnd/>
          </a:ln>
        </p:spPr>
      </p:pic>
      <p:pic>
        <p:nvPicPr>
          <p:cNvPr id="8" name="Picture 4"/>
          <p:cNvPicPr>
            <a:picLocks noChangeAspect="1" noChangeArrowheads="1"/>
          </p:cNvPicPr>
          <p:nvPr/>
        </p:nvPicPr>
        <p:blipFill rotWithShape="1">
          <a:blip r:embed="rId2" cstate="print"/>
          <a:srcRect l="19964" r="20160" b="70312"/>
          <a:stretch/>
        </p:blipFill>
        <p:spPr bwMode="auto">
          <a:xfrm>
            <a:off x="870065" y="2390899"/>
            <a:ext cx="3657600" cy="2105891"/>
          </a:xfrm>
          <a:prstGeom prst="rect">
            <a:avLst/>
          </a:prstGeom>
          <a:noFill/>
          <a:ln w="9525" algn="ctr">
            <a:noFill/>
            <a:miter lim="800000"/>
            <a:headEnd/>
            <a:tailEnd/>
          </a:ln>
        </p:spPr>
      </p:pic>
    </p:spTree>
    <p:extLst>
      <p:ext uri="{BB962C8B-B14F-4D97-AF65-F5344CB8AC3E}">
        <p14:creationId xmlns:p14="http://schemas.microsoft.com/office/powerpoint/2010/main" val="121097459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E036BC-3AC8-421D-96CE-7A668751956B}"/>
              </a:ext>
            </a:extLst>
          </p:cNvPr>
          <p:cNvSpPr>
            <a:spLocks noGrp="1"/>
          </p:cNvSpPr>
          <p:nvPr>
            <p:ph type="title"/>
          </p:nvPr>
        </p:nvSpPr>
        <p:spPr/>
        <p:txBody>
          <a:bodyPr/>
          <a:lstStyle/>
          <a:p>
            <a:r>
              <a:rPr lang="en-US" dirty="0"/>
              <a:t>Let’s open Access...</a:t>
            </a:r>
          </a:p>
        </p:txBody>
      </p:sp>
      <p:sp>
        <p:nvSpPr>
          <p:cNvPr id="3" name="Content Placeholder 2">
            <a:extLst>
              <a:ext uri="{FF2B5EF4-FFF2-40B4-BE49-F238E27FC236}">
                <a16:creationId xmlns:a16="http://schemas.microsoft.com/office/drawing/2014/main" id="{D6895F0B-29C6-49C2-B7E7-B449F99537CE}"/>
              </a:ext>
            </a:extLst>
          </p:cNvPr>
          <p:cNvSpPr>
            <a:spLocks noGrp="1"/>
          </p:cNvSpPr>
          <p:nvPr>
            <p:ph idx="1"/>
          </p:nvPr>
        </p:nvSpPr>
        <p:spPr/>
        <p:txBody>
          <a:bodyPr/>
          <a:lstStyle/>
          <a:p>
            <a:r>
              <a:rPr lang="en-US" dirty="0"/>
              <a:t>Open a blank database</a:t>
            </a:r>
          </a:p>
          <a:p>
            <a:pPr marL="0" indent="0">
              <a:buNone/>
            </a:pPr>
            <a:endParaRPr lang="en-US" dirty="0"/>
          </a:p>
        </p:txBody>
      </p:sp>
      <p:sp>
        <p:nvSpPr>
          <p:cNvPr id="4" name="Slide Number Placeholder 3">
            <a:extLst>
              <a:ext uri="{FF2B5EF4-FFF2-40B4-BE49-F238E27FC236}">
                <a16:creationId xmlns:a16="http://schemas.microsoft.com/office/drawing/2014/main" id="{DBB2D4BE-AB74-4A14-B4E6-7CD825156944}"/>
              </a:ext>
            </a:extLst>
          </p:cNvPr>
          <p:cNvSpPr>
            <a:spLocks noGrp="1"/>
          </p:cNvSpPr>
          <p:nvPr>
            <p:ph type="sldNum" sz="quarter" idx="12"/>
          </p:nvPr>
        </p:nvSpPr>
        <p:spPr/>
        <p:txBody>
          <a:bodyPr/>
          <a:lstStyle/>
          <a:p>
            <a:fld id="{E345EAD5-4C19-43E8-92AC-D4AD00C5745A}" type="slidenum">
              <a:rPr lang="en-US" smtClean="0"/>
              <a:pPr/>
              <a:t>42</a:t>
            </a:fld>
            <a:endParaRPr lang="en-US"/>
          </a:p>
        </p:txBody>
      </p:sp>
      <p:pic>
        <p:nvPicPr>
          <p:cNvPr id="5" name="Picture 4">
            <a:extLst>
              <a:ext uri="{FF2B5EF4-FFF2-40B4-BE49-F238E27FC236}">
                <a16:creationId xmlns:a16="http://schemas.microsoft.com/office/drawing/2014/main" id="{FE7CF782-F7B7-4F09-99BF-24B0D96AF80B}"/>
              </a:ext>
            </a:extLst>
          </p:cNvPr>
          <p:cNvPicPr>
            <a:picLocks noChangeAspect="1"/>
          </p:cNvPicPr>
          <p:nvPr/>
        </p:nvPicPr>
        <p:blipFill>
          <a:blip r:embed="rId2" cstate="print"/>
          <a:stretch>
            <a:fillRect/>
          </a:stretch>
        </p:blipFill>
        <p:spPr>
          <a:xfrm>
            <a:off x="4343400" y="1444738"/>
            <a:ext cx="4123706" cy="5187724"/>
          </a:xfrm>
          <a:prstGeom prst="rect">
            <a:avLst/>
          </a:prstGeom>
          <a:ln w="19050">
            <a:solidFill>
              <a:schemeClr val="tx1"/>
            </a:solidFill>
          </a:ln>
        </p:spPr>
      </p:pic>
    </p:spTree>
    <p:extLst>
      <p:ext uri="{BB962C8B-B14F-4D97-AF65-F5344CB8AC3E}">
        <p14:creationId xmlns:p14="http://schemas.microsoft.com/office/powerpoint/2010/main" val="253783164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19BD87-0F06-4B5B-B678-5397EDB36A5E}"/>
              </a:ext>
            </a:extLst>
          </p:cNvPr>
          <p:cNvSpPr>
            <a:spLocks noGrp="1"/>
          </p:cNvSpPr>
          <p:nvPr>
            <p:ph type="title"/>
          </p:nvPr>
        </p:nvSpPr>
        <p:spPr/>
        <p:txBody>
          <a:bodyPr/>
          <a:lstStyle/>
          <a:p>
            <a:r>
              <a:rPr lang="en-US" dirty="0"/>
              <a:t>Access</a:t>
            </a:r>
          </a:p>
        </p:txBody>
      </p:sp>
      <p:pic>
        <p:nvPicPr>
          <p:cNvPr id="5" name="Content Placeholder 4">
            <a:extLst>
              <a:ext uri="{FF2B5EF4-FFF2-40B4-BE49-F238E27FC236}">
                <a16:creationId xmlns:a16="http://schemas.microsoft.com/office/drawing/2014/main" id="{3F9CE7F6-7F27-484D-897C-2C8AE85F1494}"/>
              </a:ext>
            </a:extLst>
          </p:cNvPr>
          <p:cNvPicPr>
            <a:picLocks noGrp="1" noChangeAspect="1"/>
          </p:cNvPicPr>
          <p:nvPr>
            <p:ph idx="1"/>
          </p:nvPr>
        </p:nvPicPr>
        <p:blipFill>
          <a:blip r:embed="rId2" cstate="print"/>
          <a:stretch>
            <a:fillRect/>
          </a:stretch>
        </p:blipFill>
        <p:spPr>
          <a:xfrm>
            <a:off x="762000" y="1736647"/>
            <a:ext cx="3172132" cy="4419600"/>
          </a:xfrm>
          <a:prstGeom prst="rect">
            <a:avLst/>
          </a:prstGeom>
          <a:ln>
            <a:solidFill>
              <a:schemeClr val="tx1"/>
            </a:solidFill>
          </a:ln>
        </p:spPr>
      </p:pic>
      <p:sp>
        <p:nvSpPr>
          <p:cNvPr id="4" name="Slide Number Placeholder 3">
            <a:extLst>
              <a:ext uri="{FF2B5EF4-FFF2-40B4-BE49-F238E27FC236}">
                <a16:creationId xmlns:a16="http://schemas.microsoft.com/office/drawing/2014/main" id="{9C9306B2-2234-4082-B34A-0099BE49AB72}"/>
              </a:ext>
            </a:extLst>
          </p:cNvPr>
          <p:cNvSpPr>
            <a:spLocks noGrp="1"/>
          </p:cNvSpPr>
          <p:nvPr>
            <p:ph type="sldNum" sz="quarter" idx="12"/>
          </p:nvPr>
        </p:nvSpPr>
        <p:spPr/>
        <p:txBody>
          <a:bodyPr/>
          <a:lstStyle/>
          <a:p>
            <a:fld id="{E345EAD5-4C19-43E8-92AC-D4AD00C5745A}" type="slidenum">
              <a:rPr lang="en-US" smtClean="0"/>
              <a:pPr/>
              <a:t>43</a:t>
            </a:fld>
            <a:endParaRPr lang="en-US"/>
          </a:p>
        </p:txBody>
      </p:sp>
      <p:cxnSp>
        <p:nvCxnSpPr>
          <p:cNvPr id="7" name="Straight Arrow Connector 6">
            <a:extLst>
              <a:ext uri="{FF2B5EF4-FFF2-40B4-BE49-F238E27FC236}">
                <a16:creationId xmlns:a16="http://schemas.microsoft.com/office/drawing/2014/main" id="{0C7B0AEE-107F-46D3-8322-AD494803BFBA}"/>
              </a:ext>
            </a:extLst>
          </p:cNvPr>
          <p:cNvCxnSpPr>
            <a:cxnSpLocks/>
          </p:cNvCxnSpPr>
          <p:nvPr/>
        </p:nvCxnSpPr>
        <p:spPr>
          <a:xfrm flipH="1" flipV="1">
            <a:off x="1371600" y="2620736"/>
            <a:ext cx="2895600" cy="1494064"/>
          </a:xfrm>
          <a:prstGeom prst="straightConnector1">
            <a:avLst/>
          </a:prstGeom>
          <a:ln w="508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05707863-D736-4A0B-B214-E472C7E12CCF}"/>
              </a:ext>
            </a:extLst>
          </p:cNvPr>
          <p:cNvSpPr txBox="1"/>
          <p:nvPr/>
        </p:nvSpPr>
        <p:spPr>
          <a:xfrm>
            <a:off x="4267200" y="3461657"/>
            <a:ext cx="3657600" cy="1754326"/>
          </a:xfrm>
          <a:prstGeom prst="rect">
            <a:avLst/>
          </a:prstGeom>
          <a:noFill/>
        </p:spPr>
        <p:txBody>
          <a:bodyPr wrap="square" rtlCol="0">
            <a:spAutoFit/>
          </a:bodyPr>
          <a:lstStyle/>
          <a:p>
            <a:r>
              <a:rPr lang="en-US" dirty="0"/>
              <a:t>Click ‘view’ and select ‘Design View’</a:t>
            </a:r>
          </a:p>
          <a:p>
            <a:endParaRPr lang="en-US" dirty="0"/>
          </a:p>
          <a:p>
            <a:r>
              <a:rPr lang="en-US" dirty="0"/>
              <a:t>You’ll be required to name and save the table you are creating</a:t>
            </a:r>
          </a:p>
        </p:txBody>
      </p:sp>
    </p:spTree>
    <p:extLst>
      <p:ext uri="{BB962C8B-B14F-4D97-AF65-F5344CB8AC3E}">
        <p14:creationId xmlns:p14="http://schemas.microsoft.com/office/powerpoint/2010/main" val="363387823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313A255-2A2D-403B-8DED-CAB5B5E598D7}"/>
              </a:ext>
            </a:extLst>
          </p:cNvPr>
          <p:cNvSpPr>
            <a:spLocks noGrp="1"/>
          </p:cNvSpPr>
          <p:nvPr>
            <p:ph type="sldNum" sz="quarter" idx="12"/>
          </p:nvPr>
        </p:nvSpPr>
        <p:spPr/>
        <p:txBody>
          <a:bodyPr/>
          <a:lstStyle/>
          <a:p>
            <a:fld id="{E345EAD5-4C19-43E8-92AC-D4AD00C5745A}" type="slidenum">
              <a:rPr lang="en-US" smtClean="0"/>
              <a:pPr/>
              <a:t>44</a:t>
            </a:fld>
            <a:endParaRPr lang="en-US"/>
          </a:p>
        </p:txBody>
      </p:sp>
      <p:sp>
        <p:nvSpPr>
          <p:cNvPr id="5" name="Title 1">
            <a:extLst>
              <a:ext uri="{FF2B5EF4-FFF2-40B4-BE49-F238E27FC236}">
                <a16:creationId xmlns:a16="http://schemas.microsoft.com/office/drawing/2014/main" id="{79A160A4-1462-4A86-A4AC-E1954A076F7B}"/>
              </a:ext>
            </a:extLst>
          </p:cNvPr>
          <p:cNvSpPr>
            <a:spLocks noGrp="1"/>
          </p:cNvSpPr>
          <p:nvPr>
            <p:ph type="title"/>
          </p:nvPr>
        </p:nvSpPr>
        <p:spPr>
          <a:xfrm>
            <a:off x="457200" y="274638"/>
            <a:ext cx="8229600" cy="1143000"/>
          </a:xfrm>
        </p:spPr>
        <p:txBody>
          <a:bodyPr/>
          <a:lstStyle/>
          <a:p>
            <a:r>
              <a:rPr lang="en-US" dirty="0"/>
              <a:t>Access</a:t>
            </a:r>
          </a:p>
        </p:txBody>
      </p:sp>
      <p:pic>
        <p:nvPicPr>
          <p:cNvPr id="6" name="Picture 5">
            <a:extLst>
              <a:ext uri="{FF2B5EF4-FFF2-40B4-BE49-F238E27FC236}">
                <a16:creationId xmlns:a16="http://schemas.microsoft.com/office/drawing/2014/main" id="{20FAA0AE-4096-43B0-B8B3-91A0D07D6BF7}"/>
              </a:ext>
            </a:extLst>
          </p:cNvPr>
          <p:cNvPicPr>
            <a:picLocks noChangeAspect="1"/>
          </p:cNvPicPr>
          <p:nvPr/>
        </p:nvPicPr>
        <p:blipFill>
          <a:blip r:embed="rId2" cstate="print"/>
          <a:stretch>
            <a:fillRect/>
          </a:stretch>
        </p:blipFill>
        <p:spPr>
          <a:xfrm>
            <a:off x="533400" y="1450295"/>
            <a:ext cx="4616814" cy="4659463"/>
          </a:xfrm>
          <a:prstGeom prst="rect">
            <a:avLst/>
          </a:prstGeom>
          <a:ln>
            <a:solidFill>
              <a:schemeClr val="tx1"/>
            </a:solidFill>
          </a:ln>
        </p:spPr>
      </p:pic>
      <p:sp>
        <p:nvSpPr>
          <p:cNvPr id="7" name="TextBox 6">
            <a:extLst>
              <a:ext uri="{FF2B5EF4-FFF2-40B4-BE49-F238E27FC236}">
                <a16:creationId xmlns:a16="http://schemas.microsoft.com/office/drawing/2014/main" id="{051BFD6F-B82B-4680-B3E7-9BE4C59AC9E4}"/>
              </a:ext>
            </a:extLst>
          </p:cNvPr>
          <p:cNvSpPr txBox="1"/>
          <p:nvPr/>
        </p:nvSpPr>
        <p:spPr>
          <a:xfrm>
            <a:off x="5334000" y="2025700"/>
            <a:ext cx="3657600" cy="3416320"/>
          </a:xfrm>
          <a:prstGeom prst="rect">
            <a:avLst/>
          </a:prstGeom>
          <a:noFill/>
        </p:spPr>
        <p:txBody>
          <a:bodyPr wrap="square" rtlCol="0">
            <a:spAutoFit/>
          </a:bodyPr>
          <a:lstStyle/>
          <a:p>
            <a:r>
              <a:rPr lang="en-US" dirty="0"/>
              <a:t>In ‘Design View’, you set the fields for the table by specifying the ‘field name’</a:t>
            </a:r>
          </a:p>
          <a:p>
            <a:endParaRPr lang="en-US" dirty="0"/>
          </a:p>
          <a:p>
            <a:r>
              <a:rPr lang="en-US" dirty="0"/>
              <a:t>Specify the data type through the ‘Data Type’ column</a:t>
            </a:r>
          </a:p>
          <a:p>
            <a:endParaRPr lang="en-US" dirty="0"/>
          </a:p>
          <a:p>
            <a:r>
              <a:rPr lang="en-US" dirty="0"/>
              <a:t>There are many other constraints you can put on the data types (we’re not going to look at this right now)</a:t>
            </a:r>
          </a:p>
        </p:txBody>
      </p:sp>
    </p:spTree>
    <p:extLst>
      <p:ext uri="{BB962C8B-B14F-4D97-AF65-F5344CB8AC3E}">
        <p14:creationId xmlns:p14="http://schemas.microsoft.com/office/powerpoint/2010/main" val="187603193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A2BCC2-3AD3-46BA-B47C-36F34284B24B}"/>
              </a:ext>
            </a:extLst>
          </p:cNvPr>
          <p:cNvSpPr>
            <a:spLocks noGrp="1"/>
          </p:cNvSpPr>
          <p:nvPr>
            <p:ph type="title"/>
          </p:nvPr>
        </p:nvSpPr>
        <p:spPr>
          <a:xfrm>
            <a:off x="478971" y="52161"/>
            <a:ext cx="8229600" cy="1143000"/>
          </a:xfrm>
        </p:spPr>
        <p:txBody>
          <a:bodyPr/>
          <a:lstStyle/>
          <a:p>
            <a:r>
              <a:rPr lang="en-US" dirty="0"/>
              <a:t>Access</a:t>
            </a:r>
          </a:p>
        </p:txBody>
      </p:sp>
      <p:sp>
        <p:nvSpPr>
          <p:cNvPr id="4" name="Slide Number Placeholder 3">
            <a:extLst>
              <a:ext uri="{FF2B5EF4-FFF2-40B4-BE49-F238E27FC236}">
                <a16:creationId xmlns:a16="http://schemas.microsoft.com/office/drawing/2014/main" id="{E5F53AA1-D9EB-4468-BCB8-79095844C111}"/>
              </a:ext>
            </a:extLst>
          </p:cNvPr>
          <p:cNvSpPr>
            <a:spLocks noGrp="1"/>
          </p:cNvSpPr>
          <p:nvPr>
            <p:ph type="sldNum" sz="quarter" idx="12"/>
          </p:nvPr>
        </p:nvSpPr>
        <p:spPr/>
        <p:txBody>
          <a:bodyPr/>
          <a:lstStyle/>
          <a:p>
            <a:fld id="{E345EAD5-4C19-43E8-92AC-D4AD00C5745A}" type="slidenum">
              <a:rPr lang="en-US" smtClean="0"/>
              <a:pPr/>
              <a:t>45</a:t>
            </a:fld>
            <a:endParaRPr lang="en-US"/>
          </a:p>
        </p:txBody>
      </p:sp>
      <p:pic>
        <p:nvPicPr>
          <p:cNvPr id="5" name="Picture 4">
            <a:extLst>
              <a:ext uri="{FF2B5EF4-FFF2-40B4-BE49-F238E27FC236}">
                <a16:creationId xmlns:a16="http://schemas.microsoft.com/office/drawing/2014/main" id="{951B1618-7688-4D3C-821E-A43584F5DDA5}"/>
              </a:ext>
            </a:extLst>
          </p:cNvPr>
          <p:cNvPicPr>
            <a:picLocks noChangeAspect="1"/>
          </p:cNvPicPr>
          <p:nvPr/>
        </p:nvPicPr>
        <p:blipFill>
          <a:blip r:embed="rId2" cstate="print"/>
          <a:stretch>
            <a:fillRect/>
          </a:stretch>
        </p:blipFill>
        <p:spPr>
          <a:xfrm>
            <a:off x="478971" y="1195161"/>
            <a:ext cx="4714875" cy="5172075"/>
          </a:xfrm>
          <a:prstGeom prst="rect">
            <a:avLst/>
          </a:prstGeom>
          <a:ln>
            <a:solidFill>
              <a:schemeClr val="tx1"/>
            </a:solidFill>
          </a:ln>
        </p:spPr>
      </p:pic>
      <p:cxnSp>
        <p:nvCxnSpPr>
          <p:cNvPr id="7" name="Straight Arrow Connector 6">
            <a:extLst>
              <a:ext uri="{FF2B5EF4-FFF2-40B4-BE49-F238E27FC236}">
                <a16:creationId xmlns:a16="http://schemas.microsoft.com/office/drawing/2014/main" id="{81A73486-D0AF-4396-9C39-38320C357633}"/>
              </a:ext>
            </a:extLst>
          </p:cNvPr>
          <p:cNvCxnSpPr/>
          <p:nvPr/>
        </p:nvCxnSpPr>
        <p:spPr>
          <a:xfrm flipH="1" flipV="1">
            <a:off x="1524000" y="2514600"/>
            <a:ext cx="4419600" cy="1676400"/>
          </a:xfrm>
          <a:prstGeom prst="straightConnector1">
            <a:avLst/>
          </a:prstGeom>
          <a:ln w="3492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6A959756-1E1F-4F34-8581-14359A4501B9}"/>
              </a:ext>
            </a:extLst>
          </p:cNvPr>
          <p:cNvSpPr txBox="1"/>
          <p:nvPr/>
        </p:nvSpPr>
        <p:spPr>
          <a:xfrm>
            <a:off x="6096000" y="2338161"/>
            <a:ext cx="2743200" cy="2862322"/>
          </a:xfrm>
          <a:prstGeom prst="rect">
            <a:avLst/>
          </a:prstGeom>
          <a:noFill/>
        </p:spPr>
        <p:txBody>
          <a:bodyPr wrap="square" rtlCol="0">
            <a:spAutoFit/>
          </a:bodyPr>
          <a:lstStyle/>
          <a:p>
            <a:r>
              <a:rPr lang="en-US" dirty="0"/>
              <a:t>Create another table by going to the ‘Create’ tab and selecting ‘Table’</a:t>
            </a:r>
          </a:p>
          <a:p>
            <a:endParaRPr lang="en-US" dirty="0"/>
          </a:p>
          <a:p>
            <a:r>
              <a:rPr lang="en-US" dirty="0"/>
              <a:t>Repeat the same steps as before to create the fields and datatypes for the entity (table)</a:t>
            </a:r>
          </a:p>
        </p:txBody>
      </p:sp>
    </p:spTree>
    <p:extLst>
      <p:ext uri="{BB962C8B-B14F-4D97-AF65-F5344CB8AC3E}">
        <p14:creationId xmlns:p14="http://schemas.microsoft.com/office/powerpoint/2010/main" val="281504968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F93AF1-50DF-4C7F-8B61-46461C046B91}"/>
              </a:ext>
            </a:extLst>
          </p:cNvPr>
          <p:cNvSpPr>
            <a:spLocks noGrp="1"/>
          </p:cNvSpPr>
          <p:nvPr>
            <p:ph type="title"/>
          </p:nvPr>
        </p:nvSpPr>
        <p:spPr/>
        <p:txBody>
          <a:bodyPr/>
          <a:lstStyle/>
          <a:p>
            <a:r>
              <a:rPr lang="en-US" dirty="0"/>
              <a:t>Access</a:t>
            </a:r>
          </a:p>
        </p:txBody>
      </p:sp>
      <p:sp>
        <p:nvSpPr>
          <p:cNvPr id="4" name="Slide Number Placeholder 3">
            <a:extLst>
              <a:ext uri="{FF2B5EF4-FFF2-40B4-BE49-F238E27FC236}">
                <a16:creationId xmlns:a16="http://schemas.microsoft.com/office/drawing/2014/main" id="{76CA0277-49D9-465C-B2B2-6669E6AE8107}"/>
              </a:ext>
            </a:extLst>
          </p:cNvPr>
          <p:cNvSpPr>
            <a:spLocks noGrp="1"/>
          </p:cNvSpPr>
          <p:nvPr>
            <p:ph type="sldNum" sz="quarter" idx="12"/>
          </p:nvPr>
        </p:nvSpPr>
        <p:spPr/>
        <p:txBody>
          <a:bodyPr/>
          <a:lstStyle/>
          <a:p>
            <a:fld id="{E345EAD5-4C19-43E8-92AC-D4AD00C5745A}" type="slidenum">
              <a:rPr lang="en-US" smtClean="0"/>
              <a:pPr/>
              <a:t>46</a:t>
            </a:fld>
            <a:endParaRPr lang="en-US"/>
          </a:p>
        </p:txBody>
      </p:sp>
      <p:pic>
        <p:nvPicPr>
          <p:cNvPr id="5" name="Picture 4">
            <a:extLst>
              <a:ext uri="{FF2B5EF4-FFF2-40B4-BE49-F238E27FC236}">
                <a16:creationId xmlns:a16="http://schemas.microsoft.com/office/drawing/2014/main" id="{CC2C96E4-EB3B-462D-BA38-3E93930BD3DF}"/>
              </a:ext>
            </a:extLst>
          </p:cNvPr>
          <p:cNvPicPr>
            <a:picLocks noChangeAspect="1"/>
          </p:cNvPicPr>
          <p:nvPr/>
        </p:nvPicPr>
        <p:blipFill rotWithShape="1">
          <a:blip r:embed="rId2" cstate="print"/>
          <a:srcRect b="43770"/>
          <a:stretch/>
        </p:blipFill>
        <p:spPr>
          <a:xfrm>
            <a:off x="381000" y="1600200"/>
            <a:ext cx="4860963" cy="3429000"/>
          </a:xfrm>
          <a:prstGeom prst="rect">
            <a:avLst/>
          </a:prstGeom>
          <a:ln>
            <a:solidFill>
              <a:schemeClr val="tx1"/>
            </a:solidFill>
          </a:ln>
        </p:spPr>
      </p:pic>
      <p:sp>
        <p:nvSpPr>
          <p:cNvPr id="6" name="TextBox 5">
            <a:extLst>
              <a:ext uri="{FF2B5EF4-FFF2-40B4-BE49-F238E27FC236}">
                <a16:creationId xmlns:a16="http://schemas.microsoft.com/office/drawing/2014/main" id="{E1D0533A-8DD0-471E-848B-0ED30EB0C62F}"/>
              </a:ext>
            </a:extLst>
          </p:cNvPr>
          <p:cNvSpPr txBox="1"/>
          <p:nvPr/>
        </p:nvSpPr>
        <p:spPr>
          <a:xfrm>
            <a:off x="5619997" y="1828800"/>
            <a:ext cx="3048000" cy="1200329"/>
          </a:xfrm>
          <a:prstGeom prst="rect">
            <a:avLst/>
          </a:prstGeom>
          <a:noFill/>
        </p:spPr>
        <p:txBody>
          <a:bodyPr wrap="square" rtlCol="0">
            <a:spAutoFit/>
          </a:bodyPr>
          <a:lstStyle/>
          <a:p>
            <a:r>
              <a:rPr lang="en-US" dirty="0"/>
              <a:t>You can go back into the ‘Datasheet’ view in order to enter data into the table you created.</a:t>
            </a:r>
          </a:p>
        </p:txBody>
      </p:sp>
      <p:sp>
        <p:nvSpPr>
          <p:cNvPr id="3" name="TextBox 2">
            <a:extLst>
              <a:ext uri="{FF2B5EF4-FFF2-40B4-BE49-F238E27FC236}">
                <a16:creationId xmlns:a16="http://schemas.microsoft.com/office/drawing/2014/main" id="{926B01FC-9AA0-59A6-1F3C-A1BE5EAC7D8E}"/>
              </a:ext>
            </a:extLst>
          </p:cNvPr>
          <p:cNvSpPr txBox="1"/>
          <p:nvPr/>
        </p:nvSpPr>
        <p:spPr>
          <a:xfrm>
            <a:off x="457200" y="5486400"/>
            <a:ext cx="5549901" cy="923330"/>
          </a:xfrm>
          <a:prstGeom prst="rect">
            <a:avLst/>
          </a:prstGeom>
          <a:noFill/>
        </p:spPr>
        <p:txBody>
          <a:bodyPr wrap="square" rtlCol="0">
            <a:spAutoFit/>
          </a:bodyPr>
          <a:lstStyle/>
          <a:p>
            <a:r>
              <a:rPr lang="en-US" dirty="0"/>
              <a:t>Going back and forth between “Design” view and “Datasheet” view can be a good way to set up your tables.</a:t>
            </a:r>
          </a:p>
        </p:txBody>
      </p:sp>
      <p:pic>
        <p:nvPicPr>
          <p:cNvPr id="8" name="Picture 7">
            <a:extLst>
              <a:ext uri="{FF2B5EF4-FFF2-40B4-BE49-F238E27FC236}">
                <a16:creationId xmlns:a16="http://schemas.microsoft.com/office/drawing/2014/main" id="{55DB8DD1-2CD8-1EEF-9982-E408E6277838}"/>
              </a:ext>
            </a:extLst>
          </p:cNvPr>
          <p:cNvPicPr>
            <a:picLocks noChangeAspect="1"/>
          </p:cNvPicPr>
          <p:nvPr/>
        </p:nvPicPr>
        <p:blipFill>
          <a:blip r:embed="rId3"/>
          <a:stretch>
            <a:fillRect/>
          </a:stretch>
        </p:blipFill>
        <p:spPr>
          <a:xfrm>
            <a:off x="6311808" y="4219664"/>
            <a:ext cx="2336891" cy="2343530"/>
          </a:xfrm>
          <a:prstGeom prst="rect">
            <a:avLst/>
          </a:prstGeom>
        </p:spPr>
      </p:pic>
    </p:spTree>
    <p:extLst>
      <p:ext uri="{BB962C8B-B14F-4D97-AF65-F5344CB8AC3E}">
        <p14:creationId xmlns:p14="http://schemas.microsoft.com/office/powerpoint/2010/main" val="111306680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457200" y="2514600"/>
            <a:ext cx="7620000" cy="646331"/>
          </a:xfrm>
          <a:prstGeom prst="rect">
            <a:avLst/>
          </a:prstGeom>
        </p:spPr>
        <p:txBody>
          <a:bodyPr wrap="square">
            <a:spAutoFit/>
          </a:bodyPr>
          <a:lstStyle/>
          <a:p>
            <a:r>
              <a:rPr lang="en-US" dirty="0"/>
              <a:t>All Figures from: </a:t>
            </a:r>
            <a:r>
              <a:rPr lang="en-US" i="1" dirty="0"/>
              <a:t>Fundamentals of Information Systems, 5</a:t>
            </a:r>
            <a:r>
              <a:rPr lang="en-US" i="1" baseline="30000" dirty="0"/>
              <a:t>th</a:t>
            </a:r>
            <a:r>
              <a:rPr lang="en-US" i="1" dirty="0"/>
              <a:t> Ed., </a:t>
            </a:r>
            <a:r>
              <a:rPr lang="en-US" dirty="0"/>
              <a:t>by R. Stair and G. Reynolds (distributed teaching resources)</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larity">
  <a:themeElements>
    <a:clrScheme name="Clarity">
      <a:dk1>
        <a:srgbClr val="292934"/>
      </a:dk1>
      <a:lt1>
        <a:srgbClr val="FFFFFF"/>
      </a:lt1>
      <a:dk2>
        <a:srgbClr val="D2533C"/>
      </a:dk2>
      <a:lt2>
        <a:srgbClr val="F3F2DC"/>
      </a:lt2>
      <a:accent1>
        <a:srgbClr val="93A299"/>
      </a:accent1>
      <a:accent2>
        <a:srgbClr val="AD8F67"/>
      </a:accent2>
      <a:accent3>
        <a:srgbClr val="726056"/>
      </a:accent3>
      <a:accent4>
        <a:srgbClr val="4C5A6A"/>
      </a:accent4>
      <a:accent5>
        <a:srgbClr val="808DA0"/>
      </a:accent5>
      <a:accent6>
        <a:srgbClr val="79463D"/>
      </a:accent6>
      <a:hlink>
        <a:srgbClr val="0000FF"/>
      </a:hlink>
      <a:folHlink>
        <a:srgbClr val="800080"/>
      </a:folHlink>
    </a:clrScheme>
    <a:fontScheme name="Office Classic 2">
      <a:majorFont>
        <a:latin typeface="Arial"/>
        <a:ea typeface=""/>
        <a:cs typeface=""/>
        <a:font script="Jpan" typeface="ＭＳ Ｐゴシック"/>
        <a:font script="Hang" typeface="돋움"/>
        <a:font script="Hans" typeface="华文新魏"/>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돋움"/>
        <a:font script="Hans" typeface="华文新魏"/>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larity">
      <a:fillStyleLst>
        <a:solidFill>
          <a:schemeClr val="phClr"/>
        </a:solidFill>
        <a:gradFill rotWithShape="1">
          <a:gsLst>
            <a:gs pos="0">
              <a:schemeClr val="phClr">
                <a:tint val="50000"/>
                <a:shade val="86000"/>
                <a:satMod val="140000"/>
              </a:schemeClr>
            </a:gs>
            <a:gs pos="45000">
              <a:schemeClr val="phClr">
                <a:tint val="48000"/>
                <a:satMod val="150000"/>
              </a:schemeClr>
            </a:gs>
            <a:gs pos="100000">
              <a:schemeClr val="phClr">
                <a:tint val="28000"/>
                <a:satMod val="160000"/>
              </a:schemeClr>
            </a:gs>
          </a:gsLst>
          <a:path path="circle">
            <a:fillToRect l="100000" t="100000" r="100000" b="100000"/>
          </a:path>
        </a:gradFill>
        <a:gradFill rotWithShape="1">
          <a:gsLst>
            <a:gs pos="0">
              <a:schemeClr val="phClr">
                <a:shade val="70000"/>
                <a:satMod val="150000"/>
              </a:schemeClr>
            </a:gs>
            <a:gs pos="34000">
              <a:schemeClr val="phClr">
                <a:shade val="70000"/>
                <a:satMod val="140000"/>
              </a:schemeClr>
            </a:gs>
            <a:gs pos="70000">
              <a:schemeClr val="phClr">
                <a:tint val="100000"/>
                <a:shade val="90000"/>
                <a:satMod val="140000"/>
              </a:schemeClr>
            </a:gs>
            <a:gs pos="100000">
              <a:schemeClr val="phClr">
                <a:tint val="100000"/>
                <a:shade val="100000"/>
                <a:satMod val="100000"/>
              </a:schemeClr>
            </a:gs>
          </a:gsLst>
          <a:path path="circle">
            <a:fillToRect l="100000" t="100000" r="100000" b="100000"/>
          </a:path>
        </a:gradFill>
      </a:fillStyleLst>
      <a:lnStyleLst>
        <a:ln w="9525" cap="flat" cmpd="sng" algn="ctr">
          <a:solidFill>
            <a:schemeClr val="phClr"/>
          </a:solidFill>
          <a:prstDash val="solid"/>
        </a:ln>
        <a:ln w="26425" cap="flat" cmpd="sng" algn="ctr">
          <a:solidFill>
            <a:schemeClr val="phClr"/>
          </a:solidFill>
          <a:prstDash val="solid"/>
        </a:ln>
        <a:ln w="4445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hade val="30000"/>
                <a:satMod val="130000"/>
              </a:schemeClr>
            </a:contourClr>
          </a:sp3d>
        </a:effectStyle>
      </a:effectStyleLst>
      <a:bgFillStyleLst>
        <a:solidFill>
          <a:schemeClr val="phClr"/>
        </a:solidFill>
        <a:gradFill rotWithShape="1">
          <a:gsLst>
            <a:gs pos="0">
              <a:schemeClr val="phClr">
                <a:tint val="85000"/>
                <a:satMod val="180000"/>
              </a:schemeClr>
            </a:gs>
            <a:gs pos="40000">
              <a:schemeClr val="phClr">
                <a:tint val="95000"/>
                <a:shade val="85000"/>
                <a:satMod val="150000"/>
              </a:schemeClr>
            </a:gs>
            <a:gs pos="100000">
              <a:schemeClr val="phClr">
                <a:shade val="45000"/>
                <a:satMod val="200000"/>
              </a:schemeClr>
            </a:gs>
          </a:gsLst>
          <a:lin ang="5400000" scaled="0"/>
        </a:gradFill>
        <a:blipFill rotWithShape="1">
          <a:blip xmlns:r="http://schemas.openxmlformats.org/officeDocument/2006/relationships" r:embed="rId1">
            <a:duotone>
              <a:schemeClr val="phClr">
                <a:shade val="55000"/>
              </a:schemeClr>
              <a:schemeClr val="phClr">
                <a:tint val="97000"/>
                <a:satMod val="95000"/>
              </a:schemeClr>
            </a:duotone>
          </a:blip>
          <a:tile tx="0" ty="0" sx="70000" sy="70000" flip="none" algn="tl"/>
        </a:blip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Clarity.thmx</Template>
  <TotalTime>5537</TotalTime>
  <Words>2555</Words>
  <Application>Microsoft Office PowerPoint</Application>
  <PresentationFormat>On-screen Show (4:3)</PresentationFormat>
  <Paragraphs>433</Paragraphs>
  <Slides>47</Slides>
  <Notes>24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47</vt:i4>
      </vt:variant>
    </vt:vector>
  </HeadingPairs>
  <TitlesOfParts>
    <vt:vector size="53" baseType="lpstr">
      <vt:lpstr>Arial</vt:lpstr>
      <vt:lpstr>Calibri</vt:lpstr>
      <vt:lpstr>Tahoma</vt:lpstr>
      <vt:lpstr>Times New Roman</vt:lpstr>
      <vt:lpstr>Verdana</vt:lpstr>
      <vt:lpstr>Clarity</vt:lpstr>
      <vt:lpstr>Introduction to DATA STORAGE </vt:lpstr>
      <vt:lpstr>Demonstration</vt:lpstr>
      <vt:lpstr>Today</vt:lpstr>
      <vt:lpstr>1. Traditional Approach to Data Management</vt:lpstr>
      <vt:lpstr>2. Database Approach</vt:lpstr>
      <vt:lpstr>Relational Databases use Linked Tables that Capture Relationships</vt:lpstr>
      <vt:lpstr>Rough Visualization of Table Relationships</vt:lpstr>
      <vt:lpstr>Aspects of Relational Databases</vt:lpstr>
      <vt:lpstr>Aspects of Non-Relational Databases</vt:lpstr>
      <vt:lpstr>Our focus: Relational Databases</vt:lpstr>
      <vt:lpstr>A Manufacturing Example</vt:lpstr>
      <vt:lpstr>Manufacturing Example:  Traditional Data Management Approach</vt:lpstr>
      <vt:lpstr>PowerPoint Presentation</vt:lpstr>
      <vt:lpstr>Manufacturing Ex:</vt:lpstr>
      <vt:lpstr>Manufacturing Ex: Project Tab</vt:lpstr>
      <vt:lpstr>Manufacturing Ex: Department Tab</vt:lpstr>
      <vt:lpstr>Manufacturing Ex: Manager Tab</vt:lpstr>
      <vt:lpstr>Manufacturing Ex:   Adding a new project</vt:lpstr>
      <vt:lpstr>Manufacturing Ex:      Adding a new project (cont)</vt:lpstr>
      <vt:lpstr>Manufacturing Ex: Determining Bonuses</vt:lpstr>
      <vt:lpstr>Traditional Approach to Data Management:    Potential Issues</vt:lpstr>
      <vt:lpstr>Data Storage/Management Considerations</vt:lpstr>
      <vt:lpstr>The Database Approach applied to the Manufacturing Example</vt:lpstr>
      <vt:lpstr>The Database Approach applied to the Manufacturing Example</vt:lpstr>
      <vt:lpstr>Make Each Entity A Separate Table</vt:lpstr>
      <vt:lpstr>Determine Entity Relationships </vt:lpstr>
      <vt:lpstr>Tables Linked to Capture Relationships</vt:lpstr>
      <vt:lpstr>Rough Visualization of Table Relationships</vt:lpstr>
      <vt:lpstr>Database Approach Illustrated</vt:lpstr>
      <vt:lpstr>Data Element Concepts</vt:lpstr>
      <vt:lpstr>Data Element Concepts - Example</vt:lpstr>
      <vt:lpstr>Data Element Concepts - Example</vt:lpstr>
      <vt:lpstr>Relationships</vt:lpstr>
      <vt:lpstr>Relationships</vt:lpstr>
      <vt:lpstr>Relationships (Example)</vt:lpstr>
      <vt:lpstr>Relationships (Example continued)</vt:lpstr>
      <vt:lpstr>Microsoft Access</vt:lpstr>
      <vt:lpstr>Microsoft Access</vt:lpstr>
      <vt:lpstr>Entities (Tables)</vt:lpstr>
      <vt:lpstr>Fields (attributes)</vt:lpstr>
      <vt:lpstr>Manufacturing Example</vt:lpstr>
      <vt:lpstr>Let’s open Access...</vt:lpstr>
      <vt:lpstr>Access</vt:lpstr>
      <vt:lpstr>Access</vt:lpstr>
      <vt:lpstr>Access</vt:lpstr>
      <vt:lpstr>Access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Software</dc:title>
  <dc:creator>Rushmeier</dc:creator>
  <cp:lastModifiedBy>Frommer, Ian Dr. (EDU)</cp:lastModifiedBy>
  <cp:revision>279</cp:revision>
  <cp:lastPrinted>2019-02-04T15:54:47Z</cp:lastPrinted>
  <dcterms:created xsi:type="dcterms:W3CDTF">2001-08-22T18:42:13Z</dcterms:created>
  <dcterms:modified xsi:type="dcterms:W3CDTF">2026-09-16T16:54:52Z</dcterms:modified>
</cp:coreProperties>
</file>