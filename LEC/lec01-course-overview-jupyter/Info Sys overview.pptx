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56" r:id="rId2"/>
    <p:sldId id="285" r:id="rId3"/>
    <p:sldId id="257" r:id="rId4"/>
    <p:sldId id="284" r:id="rId5"/>
    <p:sldId id="277" r:id="rId6"/>
    <p:sldId id="259" r:id="rId7"/>
    <p:sldId id="262" r:id="rId8"/>
    <p:sldId id="263" r:id="rId9"/>
    <p:sldId id="261" r:id="rId10"/>
    <p:sldId id="264" r:id="rId11"/>
    <p:sldId id="288" r:id="rId12"/>
    <p:sldId id="291" r:id="rId13"/>
    <p:sldId id="292" r:id="rId14"/>
    <p:sldId id="293" r:id="rId15"/>
    <p:sldId id="289" r:id="rId16"/>
    <p:sldId id="290" r:id="rId17"/>
    <p:sldId id="294" r:id="rId18"/>
    <p:sldId id="295" r:id="rId19"/>
    <p:sldId id="265" r:id="rId20"/>
    <p:sldId id="267" r:id="rId21"/>
    <p:sldId id="268" r:id="rId22"/>
    <p:sldId id="269" r:id="rId23"/>
    <p:sldId id="270" r:id="rId24"/>
    <p:sldId id="271" r:id="rId25"/>
    <p:sldId id="272" r:id="rId26"/>
    <p:sldId id="286" r:id="rId27"/>
    <p:sldId id="273" r:id="rId28"/>
    <p:sldId id="275" r:id="rId29"/>
    <p:sldId id="274" r:id="rId30"/>
    <p:sldId id="276" r:id="rId31"/>
    <p:sldId id="280" r:id="rId32"/>
    <p:sldId id="287" r:id="rId33"/>
    <p:sldId id="282" r:id="rId34"/>
    <p:sldId id="279" r:id="rId35"/>
    <p:sldId id="283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486FBE-2892-4A94-A98D-6EDD1E8FEEFD}" v="14" dt="2026-08-24T16:33:54.8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837" autoAdjust="0"/>
  </p:normalViewPr>
  <p:slideViewPr>
    <p:cSldViewPr snapToGrid="0">
      <p:cViewPr varScale="1">
        <p:scale>
          <a:sx n="89" d="100"/>
          <a:sy n="89" d="100"/>
        </p:scale>
        <p:origin x="224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A3E8E5B1-0D91-4643-B70B-3D065C8674E0}"/>
    <pc:docChg chg="undo custSel addSld delSld modSld">
      <pc:chgData name="Frommer, Ian Dr. (EDU)" userId="28ca3ff0-544f-450a-928b-99e19cf49b89" providerId="ADAL" clId="{A3E8E5B1-0D91-4643-B70B-3D065C8674E0}" dt="2026-08-24T16:39:42.201" v="140" actId="313"/>
      <pc:docMkLst>
        <pc:docMk/>
      </pc:docMkLst>
      <pc:sldChg chg="addSp delSp modSp mod modAnim">
        <pc:chgData name="Frommer, Ian Dr. (EDU)" userId="28ca3ff0-544f-450a-928b-99e19cf49b89" providerId="ADAL" clId="{A3E8E5B1-0D91-4643-B70B-3D065C8674E0}" dt="2026-08-24T16:33:54.859" v="115"/>
        <pc:sldMkLst>
          <pc:docMk/>
          <pc:sldMk cId="1822385590" sldId="277"/>
        </pc:sldMkLst>
        <pc:spChg chg="mod">
          <ac:chgData name="Frommer, Ian Dr. (EDU)" userId="28ca3ff0-544f-450a-928b-99e19cf49b89" providerId="ADAL" clId="{A3E8E5B1-0D91-4643-B70B-3D065C8674E0}" dt="2026-08-24T16:32:47.768" v="90"/>
          <ac:spMkLst>
            <pc:docMk/>
            <pc:sldMk cId="1822385590" sldId="277"/>
            <ac:spMk id="2" creationId="{00000000-0000-0000-0000-000000000000}"/>
          </ac:spMkLst>
        </pc:spChg>
        <pc:spChg chg="mod">
          <ac:chgData name="Frommer, Ian Dr. (EDU)" userId="28ca3ff0-544f-450a-928b-99e19cf49b89" providerId="ADAL" clId="{A3E8E5B1-0D91-4643-B70B-3D065C8674E0}" dt="2026-08-24T16:33:30.928" v="108" actId="14100"/>
          <ac:spMkLst>
            <pc:docMk/>
            <pc:sldMk cId="1822385590" sldId="277"/>
            <ac:spMk id="3" creationId="{00000000-0000-0000-0000-000000000000}"/>
          </ac:spMkLst>
        </pc:spChg>
        <pc:spChg chg="del">
          <ac:chgData name="Frommer, Ian Dr. (EDU)" userId="28ca3ff0-544f-450a-928b-99e19cf49b89" providerId="ADAL" clId="{A3E8E5B1-0D91-4643-B70B-3D065C8674E0}" dt="2026-08-24T16:30:26.099" v="42" actId="478"/>
          <ac:spMkLst>
            <pc:docMk/>
            <pc:sldMk cId="1822385590" sldId="277"/>
            <ac:spMk id="4" creationId="{00000000-0000-0000-0000-000000000000}"/>
          </ac:spMkLst>
        </pc:spChg>
        <pc:spChg chg="add mod">
          <ac:chgData name="Frommer, Ian Dr. (EDU)" userId="28ca3ff0-544f-450a-928b-99e19cf49b89" providerId="ADAL" clId="{A3E8E5B1-0D91-4643-B70B-3D065C8674E0}" dt="2026-08-24T16:33:38.620" v="111" actId="1076"/>
          <ac:spMkLst>
            <pc:docMk/>
            <pc:sldMk cId="1822385590" sldId="277"/>
            <ac:spMk id="6" creationId="{A2D152FB-7572-6145-5A03-6496BB6DDA51}"/>
          </ac:spMkLst>
        </pc:spChg>
        <pc:spChg chg="add mod">
          <ac:chgData name="Frommer, Ian Dr. (EDU)" userId="28ca3ff0-544f-450a-928b-99e19cf49b89" providerId="ADAL" clId="{A3E8E5B1-0D91-4643-B70B-3D065C8674E0}" dt="2026-08-24T16:33:28.238" v="107" actId="1076"/>
          <ac:spMkLst>
            <pc:docMk/>
            <pc:sldMk cId="1822385590" sldId="277"/>
            <ac:spMk id="8" creationId="{2154DDD3-B234-1BF2-35C4-4DD610BE9C2D}"/>
          </ac:spMkLst>
        </pc:spChg>
      </pc:sldChg>
      <pc:sldChg chg="modSp mod">
        <pc:chgData name="Frommer, Ian Dr. (EDU)" userId="28ca3ff0-544f-450a-928b-99e19cf49b89" providerId="ADAL" clId="{A3E8E5B1-0D91-4643-B70B-3D065C8674E0}" dt="2026-08-24T16:10:28.254" v="1" actId="20577"/>
        <pc:sldMkLst>
          <pc:docMk/>
          <pc:sldMk cId="453359216" sldId="284"/>
        </pc:sldMkLst>
        <pc:spChg chg="mod">
          <ac:chgData name="Frommer, Ian Dr. (EDU)" userId="28ca3ff0-544f-450a-928b-99e19cf49b89" providerId="ADAL" clId="{A3E8E5B1-0D91-4643-B70B-3D065C8674E0}" dt="2026-08-24T16:10:25.101" v="0" actId="20577"/>
          <ac:spMkLst>
            <pc:docMk/>
            <pc:sldMk cId="453359216" sldId="284"/>
            <ac:spMk id="2" creationId="{00000000-0000-0000-0000-000000000000}"/>
          </ac:spMkLst>
        </pc:spChg>
        <pc:spChg chg="mod">
          <ac:chgData name="Frommer, Ian Dr. (EDU)" userId="28ca3ff0-544f-450a-928b-99e19cf49b89" providerId="ADAL" clId="{A3E8E5B1-0D91-4643-B70B-3D065C8674E0}" dt="2026-08-24T16:10:28.254" v="1" actId="20577"/>
          <ac:spMkLst>
            <pc:docMk/>
            <pc:sldMk cId="453359216" sldId="284"/>
            <ac:spMk id="3" creationId="{00000000-0000-0000-0000-000000000000}"/>
          </ac:spMkLst>
        </pc:spChg>
      </pc:sldChg>
      <pc:sldChg chg="modSp mod">
        <pc:chgData name="Frommer, Ian Dr. (EDU)" userId="28ca3ff0-544f-450a-928b-99e19cf49b89" providerId="ADAL" clId="{A3E8E5B1-0D91-4643-B70B-3D065C8674E0}" dt="2026-08-24T16:39:42.201" v="140" actId="313"/>
        <pc:sldMkLst>
          <pc:docMk/>
          <pc:sldMk cId="2939972058" sldId="293"/>
        </pc:sldMkLst>
        <pc:spChg chg="mod">
          <ac:chgData name="Frommer, Ian Dr. (EDU)" userId="28ca3ff0-544f-450a-928b-99e19cf49b89" providerId="ADAL" clId="{A3E8E5B1-0D91-4643-B70B-3D065C8674E0}" dt="2026-08-24T16:39:42.201" v="140" actId="313"/>
          <ac:spMkLst>
            <pc:docMk/>
            <pc:sldMk cId="2939972058" sldId="293"/>
            <ac:spMk id="3" creationId="{60E92718-0E33-C4CE-D486-4D44A5C54CE0}"/>
          </ac:spMkLst>
        </pc:spChg>
      </pc:sldChg>
      <pc:sldChg chg="addSp modSp new del mod">
        <pc:chgData name="Frommer, Ian Dr. (EDU)" userId="28ca3ff0-544f-450a-928b-99e19cf49b89" providerId="ADAL" clId="{A3E8E5B1-0D91-4643-B70B-3D065C8674E0}" dt="2026-08-24T16:34:09.700" v="116" actId="47"/>
        <pc:sldMkLst>
          <pc:docMk/>
          <pc:sldMk cId="2535333769" sldId="296"/>
        </pc:sldMkLst>
        <pc:spChg chg="mod">
          <ac:chgData name="Frommer, Ian Dr. (EDU)" userId="28ca3ff0-544f-450a-928b-99e19cf49b89" providerId="ADAL" clId="{A3E8E5B1-0D91-4643-B70B-3D065C8674E0}" dt="2026-08-24T16:30:10.264" v="40" actId="6549"/>
          <ac:spMkLst>
            <pc:docMk/>
            <pc:sldMk cId="2535333769" sldId="296"/>
            <ac:spMk id="3" creationId="{73924F81-1727-561C-DD5C-C216284E23BE}"/>
          </ac:spMkLst>
        </pc:spChg>
        <pc:spChg chg="add mod">
          <ac:chgData name="Frommer, Ian Dr. (EDU)" userId="28ca3ff0-544f-450a-928b-99e19cf49b89" providerId="ADAL" clId="{A3E8E5B1-0D91-4643-B70B-3D065C8674E0}" dt="2026-08-24T16:29:45.378" v="35" actId="20577"/>
          <ac:spMkLst>
            <pc:docMk/>
            <pc:sldMk cId="2535333769" sldId="296"/>
            <ac:spMk id="5" creationId="{0ED39340-4A9E-0403-15EF-A4C7A7471AC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2B000D-258F-46E4-8D84-2B0ED5A6CCBA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D8BA0B-055C-4376-A20D-C727A818B5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18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 pandemic spreads – how do we address? Who gets vaccines, how do we distribute, how far apart must people be…</a:t>
            </a:r>
          </a:p>
          <a:p>
            <a:pPr marL="171450" indent="-171450">
              <a:buFontTx/>
              <a:buChar char="-"/>
            </a:pPr>
            <a:r>
              <a:rPr lang="en-US" dirty="0"/>
              <a:t>Supply chains are disrupted – when/how much do we order</a:t>
            </a:r>
          </a:p>
          <a:p>
            <a:pPr marL="171450" indent="-171450">
              <a:buFontTx/>
              <a:buChar char="-"/>
            </a:pPr>
            <a:r>
              <a:rPr lang="en-US" dirty="0"/>
              <a:t>Inflation is high – what do we buy / not buy / invest / save…</a:t>
            </a:r>
          </a:p>
          <a:p>
            <a:pPr marL="171450" indent="-171450">
              <a:buFontTx/>
              <a:buChar char="-"/>
            </a:pPr>
            <a:r>
              <a:rPr lang="en-US" dirty="0"/>
              <a:t>Stock prices are down – sell? Hold?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D8BA0B-055C-4376-A20D-C727A818B55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665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D8BA0B-055C-4376-A20D-C727A818B55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81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D8BA0B-055C-4376-A20D-C727A818B55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27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Information system, </a:t>
            </a:r>
            <a:r>
              <a:rPr lang="en-US" dirty="0" err="1"/>
              <a:t>vba</a:t>
            </a:r>
            <a:r>
              <a:rPr lang="en-US" dirty="0"/>
              <a:t>, </a:t>
            </a:r>
            <a:r>
              <a:rPr lang="en-US" dirty="0" err="1"/>
              <a:t>dss</a:t>
            </a:r>
            <a:r>
              <a:rPr lang="en-US" dirty="0"/>
              <a:t>, visual analytics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D8BA0B-055C-4376-A20D-C727A818B55E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18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analytics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D8BA0B-055C-4376-A20D-C727A818B55E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040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Webscraping</a:t>
            </a:r>
            <a:r>
              <a:rPr lang="en-US" dirty="0"/>
              <a:t> in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D8BA0B-055C-4376-A20D-C727A818B55E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59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F87086-69E7-224D-8B9D-01B4C04BAB46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24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AAB9-A6D4-491F-A5BF-76212F732C0B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85C53-2F3C-45FA-BEB2-24EF1A7512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097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AAB9-A6D4-491F-A5BF-76212F732C0B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85C53-2F3C-45FA-BEB2-24EF1A7512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82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AAB9-A6D4-491F-A5BF-76212F732C0B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85C53-2F3C-45FA-BEB2-24EF1A7512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4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AAB9-A6D4-491F-A5BF-76212F732C0B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85C53-2F3C-45FA-BEB2-24EF1A7512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88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AAB9-A6D4-491F-A5BF-76212F732C0B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85C53-2F3C-45FA-BEB2-24EF1A7512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81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AAB9-A6D4-491F-A5BF-76212F732C0B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85C53-2F3C-45FA-BEB2-24EF1A7512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30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AAB9-A6D4-491F-A5BF-76212F732C0B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85C53-2F3C-45FA-BEB2-24EF1A7512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60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AAB9-A6D4-491F-A5BF-76212F732C0B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85C53-2F3C-45FA-BEB2-24EF1A7512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93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AAB9-A6D4-491F-A5BF-76212F732C0B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85C53-2F3C-45FA-BEB2-24EF1A7512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473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AAB9-A6D4-491F-A5BF-76212F732C0B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85C53-2F3C-45FA-BEB2-24EF1A7512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56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AAB9-A6D4-491F-A5BF-76212F732C0B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85C53-2F3C-45FA-BEB2-24EF1A7512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94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8AAB9-A6D4-491F-A5BF-76212F732C0B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85C53-2F3C-45FA-BEB2-24EF1A75122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220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ivery.io/blog/big-data-statistics-how-much-data-is-there-in-the-world/" TargetMode="External"/><Relationship Id="rId2" Type="http://schemas.openxmlformats.org/officeDocument/2006/relationships/hyperlink" Target="https://www.domo.com/learn/infographic/data-never-sleeps-5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datagovsg-blog/how-we-caught-the-circle-line-rogue-train-with-data-79405c86ab6a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Information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145855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We’ve got </a:t>
            </a:r>
            <a:r>
              <a:rPr lang="en-US" b="1" dirty="0"/>
              <a:t>Problems</a:t>
            </a:r>
            <a:r>
              <a:rPr lang="en-US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people/groups want to get things done, i.e. solve problems in their world.  </a:t>
            </a:r>
          </a:p>
          <a:p>
            <a:pPr lvl="1"/>
            <a:r>
              <a:rPr lang="en-US" dirty="0"/>
              <a:t>travel from one place to another as quickly as possible</a:t>
            </a:r>
          </a:p>
          <a:p>
            <a:pPr lvl="1"/>
            <a:r>
              <a:rPr lang="en-US" dirty="0"/>
              <a:t>invest savings for the future</a:t>
            </a:r>
          </a:p>
          <a:p>
            <a:pPr lvl="1"/>
            <a:r>
              <a:rPr lang="en-US" dirty="0"/>
              <a:t>plow the streets of a city  </a:t>
            </a:r>
          </a:p>
          <a:p>
            <a:pPr lvl="1"/>
            <a:r>
              <a:rPr lang="en-US" dirty="0"/>
              <a:t>schedule a team’s football games</a:t>
            </a:r>
          </a:p>
          <a:p>
            <a:pPr lvl="1"/>
            <a:r>
              <a:rPr lang="en-US" dirty="0"/>
              <a:t>select a group of employees meeting some set of criteria  </a:t>
            </a:r>
          </a:p>
          <a:p>
            <a:pPr lvl="1"/>
            <a:r>
              <a:rPr lang="en-US" dirty="0"/>
              <a:t>decide who receives loans from our banks.  </a:t>
            </a:r>
          </a:p>
          <a:p>
            <a:pPr marL="457200" lvl="1" indent="0">
              <a:buNone/>
            </a:pPr>
            <a:r>
              <a:rPr lang="en-US" dirty="0"/>
              <a:t>etc…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961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there is </a:t>
            </a:r>
            <a:r>
              <a:rPr lang="en-US" b="1" dirty="0"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97" y="1891762"/>
            <a:ext cx="7175453" cy="387300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Things happen in the world (and beyond), naturally, </a:t>
            </a:r>
          </a:p>
          <a:p>
            <a:pPr lvl="1"/>
            <a:r>
              <a:rPr lang="en-US" dirty="0"/>
              <a:t>we can observe them, record data concerning them (e.g. temperature)  </a:t>
            </a:r>
          </a:p>
          <a:p>
            <a:r>
              <a:rPr lang="en-US" dirty="0"/>
              <a:t>And people make choices, take action, etc. </a:t>
            </a:r>
          </a:p>
          <a:p>
            <a:pPr lvl="1"/>
            <a:r>
              <a:rPr lang="en-US" dirty="0"/>
              <a:t>we can record that data too (drive from A to B, live in city X, earn $Y, , go to website W, purchase item I online, etc.). </a:t>
            </a:r>
          </a:p>
          <a:p>
            <a:r>
              <a:rPr lang="en-US" dirty="0"/>
              <a:t>So data </a:t>
            </a:r>
            <a:r>
              <a:rPr lang="en-US" b="1" dirty="0"/>
              <a:t>is</a:t>
            </a:r>
            <a:r>
              <a:rPr lang="en-US" dirty="0"/>
              <a:t> because things happen and we can record that. 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309366" y="3004833"/>
            <a:ext cx="1422494" cy="8234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44655" y="1088232"/>
            <a:ext cx="1793749" cy="956666"/>
          </a:xfrm>
          <a:prstGeom prst="rect">
            <a:avLst/>
          </a:prstGeom>
        </p:spPr>
      </p:pic>
      <p:pic>
        <p:nvPicPr>
          <p:cNvPr id="7" name="Picture 6" descr="https://imagesvc.timeincapp.com/v3/mm/image?url=https%3A%2F%2Ftimedotcom.files.wordpress.com%2F2016%2F05%2Fcustomer-satisfaction-survey.jpeg&amp;w=800&amp;q=8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6191" y="5101035"/>
            <a:ext cx="2402213" cy="16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039CE2-27B0-E918-4CFE-6A5B34E590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8791" y="5312229"/>
            <a:ext cx="2609431" cy="13892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752C97-6984-FBEA-63F9-86799B158D31}"/>
              </a:ext>
            </a:extLst>
          </p:cNvPr>
          <p:cNvSpPr txBox="1"/>
          <p:nvPr/>
        </p:nvSpPr>
        <p:spPr>
          <a:xfrm>
            <a:off x="4371526" y="5188716"/>
            <a:ext cx="12939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Kaggle horse racing</a:t>
            </a:r>
          </a:p>
        </p:txBody>
      </p:sp>
    </p:spTree>
    <p:extLst>
      <p:ext uri="{BB962C8B-B14F-4D97-AF65-F5344CB8AC3E}">
        <p14:creationId xmlns:p14="http://schemas.microsoft.com/office/powerpoint/2010/main" val="3671418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there is </a:t>
            </a:r>
            <a:r>
              <a:rPr lang="en-US" b="1" dirty="0"/>
              <a:t>Big Data</a:t>
            </a:r>
            <a:r>
              <a:rPr lang="en-US" dirty="0"/>
              <a:t>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record and store a large </a:t>
            </a:r>
            <a:r>
              <a:rPr lang="en-US" b="1" dirty="0"/>
              <a:t>volume </a:t>
            </a:r>
            <a:r>
              <a:rPr lang="en-US" dirty="0"/>
              <a:t>of a wide </a:t>
            </a:r>
            <a:r>
              <a:rPr lang="en-US" b="1" dirty="0"/>
              <a:t>variety </a:t>
            </a:r>
            <a:r>
              <a:rPr lang="en-US" dirty="0"/>
              <a:t>of things, very quickly (high </a:t>
            </a:r>
            <a:r>
              <a:rPr lang="en-US" b="1" dirty="0"/>
              <a:t>velocity</a:t>
            </a:r>
            <a:r>
              <a:rPr lang="en-US" dirty="0"/>
              <a:t>)    </a:t>
            </a:r>
          </a:p>
          <a:p>
            <a:pPr marL="0" indent="0">
              <a:buNone/>
            </a:pPr>
            <a:r>
              <a:rPr lang="en-US" dirty="0"/>
              <a:t>   	→  “</a:t>
            </a:r>
            <a:r>
              <a:rPr lang="en-US" b="1" dirty="0"/>
              <a:t>the 3 Vs of big data”</a:t>
            </a:r>
          </a:p>
          <a:p>
            <a:r>
              <a:rPr lang="en-US" dirty="0"/>
              <a:t>lots of human-generated data now (a big reason: mobile computing), turning out to be very useful</a:t>
            </a:r>
          </a:p>
          <a:p>
            <a:r>
              <a:rPr lang="en-US" b="1" dirty="0"/>
              <a:t>algorithms</a:t>
            </a:r>
            <a:r>
              <a:rPr lang="en-US" dirty="0"/>
              <a:t> and </a:t>
            </a:r>
            <a:r>
              <a:rPr lang="en-US" b="1" dirty="0"/>
              <a:t>technology</a:t>
            </a:r>
            <a:r>
              <a:rPr lang="en-US" dirty="0"/>
              <a:t> have been developed to use </a:t>
            </a:r>
            <a:r>
              <a:rPr lang="en-US" b="1" dirty="0"/>
              <a:t>big data </a:t>
            </a:r>
            <a:r>
              <a:rPr lang="en-US" dirty="0"/>
              <a:t>productively, where traditional </a:t>
            </a:r>
            <a:r>
              <a:rPr lang="en-US" b="1" dirty="0"/>
              <a:t>databases</a:t>
            </a:r>
            <a:r>
              <a:rPr lang="en-US" dirty="0"/>
              <a:t> would fail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359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8943"/>
            <a:ext cx="7886700" cy="1325563"/>
          </a:xfrm>
        </p:spPr>
        <p:txBody>
          <a:bodyPr/>
          <a:lstStyle/>
          <a:p>
            <a:r>
              <a:rPr lang="en-US" dirty="0"/>
              <a:t>Big Data – How Big?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354014"/>
            <a:ext cx="7321251" cy="5064371"/>
          </a:xfrm>
        </p:spPr>
        <p:txBody>
          <a:bodyPr>
            <a:noAutofit/>
          </a:bodyPr>
          <a:lstStyle/>
          <a:p>
            <a:r>
              <a:rPr lang="en-US" sz="2400" dirty="0"/>
              <a:t>We are generating 402.74 quintillion bytes of data every day (compared to 2.5 in 2012)</a:t>
            </a:r>
          </a:p>
          <a:p>
            <a:r>
              <a:rPr lang="en-US" sz="2400" dirty="0"/>
              <a:t>Over the last 2 years, 90% of the world’s data was generated</a:t>
            </a:r>
          </a:p>
          <a:p>
            <a:endParaRPr lang="en-US" sz="1000" dirty="0"/>
          </a:p>
          <a:p>
            <a:r>
              <a:rPr lang="en-US" sz="2400" dirty="0"/>
              <a:t>Each minute, modern Internet activity includes:</a:t>
            </a:r>
          </a:p>
          <a:p>
            <a:pPr lvl="1"/>
            <a:r>
              <a:rPr lang="en-US" sz="2000" dirty="0"/>
              <a:t>over 347,000 DeepSeek AI queries, </a:t>
            </a:r>
          </a:p>
          <a:p>
            <a:pPr lvl="1"/>
            <a:r>
              <a:rPr lang="en-US" sz="2000" dirty="0"/>
              <a:t>138.9 million Instagram Reels viewed, </a:t>
            </a:r>
          </a:p>
          <a:p>
            <a:pPr lvl="1"/>
            <a:r>
              <a:rPr lang="en-US" sz="2000" dirty="0"/>
              <a:t>229 million minutes of Microsoft Teams meetings, </a:t>
            </a:r>
          </a:p>
          <a:p>
            <a:pPr lvl="1"/>
            <a:r>
              <a:rPr lang="en-US" sz="2000" dirty="0"/>
              <a:t>over 4.5 million YouTube videos watched</a:t>
            </a:r>
          </a:p>
          <a:p>
            <a:pPr lvl="1"/>
            <a:r>
              <a:rPr lang="en-US" sz="2000" dirty="0"/>
              <a:t>1.4 million Tinder swipes</a:t>
            </a:r>
          </a:p>
          <a:p>
            <a:pPr lvl="1"/>
            <a:r>
              <a:rPr lang="en-US" sz="2000" dirty="0"/>
              <a:t>1.04 million Slack messages</a:t>
            </a:r>
          </a:p>
          <a:p>
            <a:pPr lvl="1"/>
            <a:r>
              <a:rPr lang="en-US" sz="2000" dirty="0"/>
              <a:t>360,000 X posts</a:t>
            </a:r>
          </a:p>
          <a:p>
            <a:pPr lvl="1"/>
            <a:r>
              <a:rPr lang="en-US" sz="2000" dirty="0"/>
              <a:t>up to 100 new Spotify songs, and </a:t>
            </a:r>
          </a:p>
          <a:p>
            <a:pPr lvl="1"/>
            <a:r>
              <a:rPr lang="en-US" sz="2000" dirty="0"/>
              <a:t>4,080 compromised data records.</a:t>
            </a:r>
          </a:p>
          <a:p>
            <a:endParaRPr lang="en-US" sz="2400" dirty="0"/>
          </a:p>
          <a:p>
            <a:pPr lvl="1"/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D152FB-7572-6145-5A03-6496BB6DDA51}"/>
              </a:ext>
            </a:extLst>
          </p:cNvPr>
          <p:cNvSpPr txBox="1"/>
          <p:nvPr/>
        </p:nvSpPr>
        <p:spPr>
          <a:xfrm>
            <a:off x="6037731" y="5905949"/>
            <a:ext cx="30713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Source: </a:t>
            </a:r>
            <a:r>
              <a:rPr lang="en-US" sz="1400" dirty="0">
                <a:hlinkClick r:id="rId2"/>
              </a:rPr>
              <a:t>https://www.domo.com/learn/infographic/data-never-sleeps-5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4DDD3-B234-1BF2-35C4-4DD610BE9C2D}"/>
              </a:ext>
            </a:extLst>
          </p:cNvPr>
          <p:cNvSpPr txBox="1"/>
          <p:nvPr/>
        </p:nvSpPr>
        <p:spPr>
          <a:xfrm>
            <a:off x="7573385" y="1258645"/>
            <a:ext cx="145766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Source: </a:t>
            </a:r>
            <a:r>
              <a:rPr lang="en-US" sz="1400" dirty="0">
                <a:hlinkClick r:id="rId3"/>
              </a:rPr>
              <a:t>https://rivery.io/blog/big-data-statistics-how-much-data-is-there-in-the-world/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2238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&amp;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So we have:</a:t>
            </a:r>
          </a:p>
          <a:p>
            <a:pPr lvl="1"/>
            <a:r>
              <a:rPr lang="en-US" b="1" dirty="0"/>
              <a:t>data</a:t>
            </a:r>
            <a:r>
              <a:rPr lang="en-US" dirty="0"/>
              <a:t> – useless in and of itself, and</a:t>
            </a:r>
          </a:p>
          <a:p>
            <a:pPr lvl="1"/>
            <a:r>
              <a:rPr lang="en-US" b="1" dirty="0"/>
              <a:t>problems</a:t>
            </a:r>
            <a:r>
              <a:rPr lang="en-US" dirty="0"/>
              <a:t> to be solved  </a:t>
            </a:r>
          </a:p>
          <a:p>
            <a:r>
              <a:rPr lang="en-US" dirty="0"/>
              <a:t>What do we do?</a:t>
            </a:r>
          </a:p>
          <a:p>
            <a:pPr lvl="1"/>
            <a:r>
              <a:rPr lang="en-US" b="1" dirty="0"/>
              <a:t>Record/organize/store</a:t>
            </a:r>
            <a:r>
              <a:rPr lang="en-US" dirty="0"/>
              <a:t> the data  </a:t>
            </a:r>
          </a:p>
          <a:p>
            <a:pPr lvl="2"/>
            <a:r>
              <a:rPr lang="en-US" dirty="0"/>
              <a:t>The data is transformed to become </a:t>
            </a:r>
            <a:r>
              <a:rPr lang="en-US" b="1" dirty="0"/>
              <a:t>information</a:t>
            </a:r>
            <a:r>
              <a:rPr lang="en-US" dirty="0"/>
              <a:t> and maybe even </a:t>
            </a:r>
            <a:r>
              <a:rPr lang="en-US" b="1" dirty="0"/>
              <a:t>insight</a:t>
            </a:r>
          </a:p>
          <a:p>
            <a:pPr lvl="1"/>
            <a:r>
              <a:rPr lang="en-US" b="1" dirty="0"/>
              <a:t>Analyze</a:t>
            </a:r>
            <a:r>
              <a:rPr lang="en-US" dirty="0"/>
              <a:t> the data  </a:t>
            </a:r>
          </a:p>
          <a:p>
            <a:pPr lvl="1"/>
            <a:r>
              <a:rPr lang="en-US" b="1" dirty="0"/>
              <a:t>Make decisions </a:t>
            </a:r>
            <a:r>
              <a:rPr lang="en-US" dirty="0"/>
              <a:t>based on our analysis of the data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** So we can use the data to help solve our problems.  **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519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data/information figure in to Operations Research / Analytics?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let’s get our definitions straight:</a:t>
            </a:r>
          </a:p>
          <a:p>
            <a:pPr marL="0" indent="0">
              <a:buNone/>
            </a:pPr>
            <a:endParaRPr lang="en-US" sz="1050" dirty="0"/>
          </a:p>
          <a:p>
            <a:r>
              <a:rPr lang="en-US" b="1" dirty="0"/>
              <a:t>Operations Research (O.R.)</a:t>
            </a:r>
          </a:p>
          <a:p>
            <a:pPr lvl="1"/>
            <a:r>
              <a:rPr lang="en-US" dirty="0"/>
              <a:t>application of quantitative methods to aid in decision making</a:t>
            </a:r>
          </a:p>
          <a:p>
            <a:pPr lvl="1"/>
            <a:r>
              <a:rPr lang="en-US" dirty="0"/>
              <a:t>can help optimize under constraints, navigate competing objectives</a:t>
            </a:r>
          </a:p>
          <a:p>
            <a:r>
              <a:rPr lang="en-US" b="1" dirty="0"/>
              <a:t>Analytics</a:t>
            </a:r>
          </a:p>
          <a:p>
            <a:pPr lvl="1"/>
            <a:r>
              <a:rPr lang="en-US" dirty="0"/>
              <a:t>scientific process of transforming data into insight for making better decisions</a:t>
            </a:r>
          </a:p>
          <a:p>
            <a:endParaRPr lang="en-US" sz="1200" dirty="0"/>
          </a:p>
          <a:p>
            <a:r>
              <a:rPr lang="en-US" dirty="0"/>
              <a:t>The terms are sometimes used synonymously and do have much overlap.</a:t>
            </a:r>
          </a:p>
        </p:txBody>
      </p:sp>
    </p:spTree>
    <p:extLst>
      <p:ext uri="{BB962C8B-B14F-4D97-AF65-F5344CB8AC3E}">
        <p14:creationId xmlns:p14="http://schemas.microsoft.com/office/powerpoint/2010/main" val="2705149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Descriptive Analytics </a:t>
            </a:r>
            <a:r>
              <a:rPr lang="en-US" dirty="0"/>
              <a:t>- preparing, organizing and analyzing historical data, identifying any trends, to answer the question, “what has been happening?“</a:t>
            </a:r>
          </a:p>
          <a:p>
            <a:endParaRPr lang="en-US" sz="900" dirty="0"/>
          </a:p>
          <a:p>
            <a:r>
              <a:rPr lang="en-US" b="1" dirty="0"/>
              <a:t>Predictive Analytics </a:t>
            </a:r>
            <a:r>
              <a:rPr lang="en-US" dirty="0"/>
              <a:t>- using mathematical methods, historical data, and any assumptions about future circumstances to uncover relationships in data and answer the question, “what could happen?“</a:t>
            </a:r>
          </a:p>
          <a:p>
            <a:endParaRPr lang="en-US" sz="900" dirty="0"/>
          </a:p>
          <a:p>
            <a:r>
              <a:rPr lang="en-US" b="1" dirty="0"/>
              <a:t>Prescriptive Analytics </a:t>
            </a:r>
            <a:r>
              <a:rPr lang="en-US" dirty="0"/>
              <a:t>- answers “what should be done to optimize objectives given any constraints?", factoring in descriptive and predictive analytics (what's happened/will happen) and by using mathematical and fact-based optimization techniques</a:t>
            </a:r>
          </a:p>
        </p:txBody>
      </p:sp>
    </p:spTree>
    <p:extLst>
      <p:ext uri="{BB962C8B-B14F-4D97-AF65-F5344CB8AC3E}">
        <p14:creationId xmlns:p14="http://schemas.microsoft.com/office/powerpoint/2010/main" val="2301683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15865" y="299949"/>
            <a:ext cx="7712268" cy="223271"/>
          </a:xfrm>
        </p:spPr>
        <p:txBody>
          <a:bodyPr>
            <a:noAutofit/>
          </a:bodyPr>
          <a:lstStyle/>
          <a:p>
            <a:r>
              <a:rPr lang="en-US" sz="2800" b="0" i="0" u="none" strike="noStrike" baseline="0" dirty="0">
                <a:solidFill>
                  <a:srgbClr val="3333B3"/>
                </a:solidFill>
                <a:latin typeface="CMSS12"/>
              </a:rPr>
              <a:t>Example Problems in O.R./Analytics using Data</a:t>
            </a:r>
            <a:endParaRPr lang="en-US" sz="2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/>
          <a:srcRect t="8120"/>
          <a:stretch/>
        </p:blipFill>
        <p:spPr>
          <a:xfrm>
            <a:off x="176958" y="747423"/>
            <a:ext cx="8790083" cy="583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21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6349" y="233135"/>
            <a:ext cx="7971301" cy="635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755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BBF93-B5DC-E108-5467-1AEEA947E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 Disruption Data (sample)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2718-0E33-C4CE-D486-4D44A5C54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looking for patterns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E93075-EC45-2B39-3F6D-798809436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83" y="2342860"/>
            <a:ext cx="7557067" cy="269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594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100112-D4B7-19F1-29CE-97DAE1D33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53" y="1308797"/>
            <a:ext cx="6338733" cy="51106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DBBF93-B5DC-E108-5467-1AEEA947E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15604"/>
          </a:xfrm>
        </p:spPr>
        <p:txBody>
          <a:bodyPr/>
          <a:lstStyle/>
          <a:p>
            <a:r>
              <a:rPr lang="en-US" dirty="0"/>
              <a:t>Visualizing Train Disruption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2718-0E33-C4CE-D486-4D44A5C54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355552" cy="4627808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					looking for patterns…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021FCC-94C3-191D-435E-D1BC0DA5D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812" y="5660135"/>
            <a:ext cx="2903525" cy="103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623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100112-D4B7-19F1-29CE-97DAE1D33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678" y="4782290"/>
            <a:ext cx="2574524" cy="20757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DBBF93-B5DC-E108-5467-1AEEA947E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15604"/>
          </a:xfrm>
        </p:spPr>
        <p:txBody>
          <a:bodyPr/>
          <a:lstStyle/>
          <a:p>
            <a:r>
              <a:rPr lang="en-US" dirty="0"/>
              <a:t>Visualizing Train Disruption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2718-0E33-C4CE-D486-4D44A5C54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6210" y="1825625"/>
            <a:ext cx="2467992" cy="4627808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					looking for patterns…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88C48A-0BB3-F0D4-9611-988563F47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2193"/>
            <a:ext cx="6156345" cy="605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642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BBF93-B5DC-E108-5467-1AEEA947E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15604"/>
          </a:xfrm>
        </p:spPr>
        <p:txBody>
          <a:bodyPr/>
          <a:lstStyle/>
          <a:p>
            <a:r>
              <a:rPr lang="en-US" dirty="0"/>
              <a:t>Visualizing </a:t>
            </a:r>
            <a:r>
              <a:rPr lang="en-US" b="1" u="sng" dirty="0"/>
              <a:t>All</a:t>
            </a:r>
            <a:r>
              <a:rPr lang="en-US" b="1" dirty="0"/>
              <a:t> </a:t>
            </a:r>
            <a:r>
              <a:rPr lang="en-US" dirty="0"/>
              <a:t>Train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2718-0E33-C4CE-D486-4D44A5C54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1833" y="591672"/>
            <a:ext cx="1642368" cy="5861762"/>
          </a:xfrm>
        </p:spPr>
        <p:txBody>
          <a:bodyPr/>
          <a:lstStyle/>
          <a:p>
            <a:pPr marL="0" indent="0">
              <a:buNone/>
            </a:pPr>
            <a:endParaRPr lang="en-US" sz="2400" i="1" dirty="0"/>
          </a:p>
          <a:p>
            <a:pPr marL="0" indent="0">
              <a:buNone/>
            </a:pPr>
            <a:r>
              <a:rPr lang="en-US" sz="2400" i="1" dirty="0"/>
              <a:t>looking for patterns in a “</a:t>
            </a:r>
            <a:r>
              <a:rPr lang="en-US" sz="2400" b="1" i="1" dirty="0"/>
              <a:t>Marey chart”</a:t>
            </a:r>
            <a:r>
              <a:rPr lang="en-US" sz="2400" i="1" dirty="0"/>
              <a:t>…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sz="2000" i="1" dirty="0"/>
              <a:t>Each diagonal line represents a single train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88C48A-0BB3-F0D4-9611-988563F47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513" y="4927107"/>
            <a:ext cx="1844689" cy="18154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E1FDA3-AA42-D7F1-9490-C67A78C51A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15" r="7536"/>
          <a:stretch/>
        </p:blipFill>
        <p:spPr>
          <a:xfrm>
            <a:off x="137196" y="1185321"/>
            <a:ext cx="7002317" cy="530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97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C72A9-D74F-85AA-17AC-CD7402F5C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0" y="365126"/>
            <a:ext cx="2800350" cy="1325563"/>
          </a:xfrm>
        </p:spPr>
        <p:txBody>
          <a:bodyPr>
            <a:noAutofit/>
          </a:bodyPr>
          <a:lstStyle/>
          <a:p>
            <a:r>
              <a:rPr lang="en-US" sz="3200" dirty="0"/>
              <a:t>Visualizing Train Disruption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98A97-E3D5-05EE-9A54-2E38B342F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892" y="1857375"/>
            <a:ext cx="2348457" cy="4319588"/>
          </a:xfrm>
        </p:spPr>
        <p:txBody>
          <a:bodyPr/>
          <a:lstStyle/>
          <a:p>
            <a:r>
              <a:rPr lang="en-US" dirty="0"/>
              <a:t>Dots at (location, time) of disruptions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536317-C91D-49BB-B4A6-6092FC89F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921" y="104775"/>
            <a:ext cx="5706084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703057-7EFB-96C4-4BDF-703B073D46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15" r="7536"/>
          <a:stretch/>
        </p:blipFill>
        <p:spPr>
          <a:xfrm>
            <a:off x="6250813" y="5000625"/>
            <a:ext cx="2348457" cy="178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648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B0FC2-5F68-2B7F-0B17-4AAD2D82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BC303-AE95-3023-ABA0-8DD8C6D91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889A88-74FA-178B-59E2-41215C36A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176" y="4057074"/>
            <a:ext cx="2235362" cy="26866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DB39BB-7152-C2DF-F19F-BD2B6A567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14301"/>
            <a:ext cx="5706084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08BBF03-C8E2-FA60-9650-1731CB510405}"/>
              </a:ext>
            </a:extLst>
          </p:cNvPr>
          <p:cNvSpPr txBox="1">
            <a:spLocks/>
          </p:cNvSpPr>
          <p:nvPr/>
        </p:nvSpPr>
        <p:spPr>
          <a:xfrm>
            <a:off x="5715000" y="365126"/>
            <a:ext cx="28003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Visualizing Train Disruption Data</a:t>
            </a:r>
            <a:endParaRPr lang="en-US" sz="32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420477C-E98C-AB8E-82A7-9E98A647CAE0}"/>
              </a:ext>
            </a:extLst>
          </p:cNvPr>
          <p:cNvSpPr txBox="1">
            <a:spLocks/>
          </p:cNvSpPr>
          <p:nvPr/>
        </p:nvSpPr>
        <p:spPr>
          <a:xfrm>
            <a:off x="6166892" y="1857375"/>
            <a:ext cx="2348457" cy="4319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Same as previous plot but now includes train direction</a:t>
            </a:r>
          </a:p>
        </p:txBody>
      </p:sp>
    </p:spTree>
    <p:extLst>
      <p:ext uri="{BB962C8B-B14F-4D97-AF65-F5344CB8AC3E}">
        <p14:creationId xmlns:p14="http://schemas.microsoft.com/office/powerpoint/2010/main" val="582701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67ED5-BE57-5FD7-A0FD-8EBFBD380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63BA7D-21BF-5764-BD00-5C6163086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49" y="1194155"/>
            <a:ext cx="6800851" cy="50963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7A9193-6131-6C00-F593-8F69B48F2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341" y="4001294"/>
            <a:ext cx="2305659" cy="277111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CB0CD1D-E3CE-FAAD-5CE8-AD73E6D24BD6}"/>
              </a:ext>
            </a:extLst>
          </p:cNvPr>
          <p:cNvSpPr/>
          <p:nvPr/>
        </p:nvSpPr>
        <p:spPr>
          <a:xfrm>
            <a:off x="6934200" y="4238625"/>
            <a:ext cx="2209800" cy="590550"/>
          </a:xfrm>
          <a:custGeom>
            <a:avLst/>
            <a:gdLst>
              <a:gd name="csX0" fmla="*/ 0 w 2209800"/>
              <a:gd name="csY0" fmla="*/ 0 h 590550"/>
              <a:gd name="csX1" fmla="*/ 508254 w 2209800"/>
              <a:gd name="csY1" fmla="*/ 0 h 590550"/>
              <a:gd name="csX2" fmla="*/ 994410 w 2209800"/>
              <a:gd name="csY2" fmla="*/ 0 h 590550"/>
              <a:gd name="csX3" fmla="*/ 1524762 w 2209800"/>
              <a:gd name="csY3" fmla="*/ 0 h 590550"/>
              <a:gd name="csX4" fmla="*/ 2209800 w 2209800"/>
              <a:gd name="csY4" fmla="*/ 0 h 590550"/>
              <a:gd name="csX5" fmla="*/ 2209800 w 2209800"/>
              <a:gd name="csY5" fmla="*/ 590550 h 590550"/>
              <a:gd name="csX6" fmla="*/ 1679448 w 2209800"/>
              <a:gd name="csY6" fmla="*/ 590550 h 590550"/>
              <a:gd name="csX7" fmla="*/ 1104900 w 2209800"/>
              <a:gd name="csY7" fmla="*/ 590550 h 590550"/>
              <a:gd name="csX8" fmla="*/ 596646 w 2209800"/>
              <a:gd name="csY8" fmla="*/ 590550 h 590550"/>
              <a:gd name="csX9" fmla="*/ 0 w 2209800"/>
              <a:gd name="csY9" fmla="*/ 590550 h 590550"/>
              <a:gd name="csX10" fmla="*/ 0 w 2209800"/>
              <a:gd name="csY10" fmla="*/ 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209800" h="590550" extrusionOk="0">
                <a:moveTo>
                  <a:pt x="0" y="0"/>
                </a:moveTo>
                <a:cubicBezTo>
                  <a:pt x="150086" y="-58881"/>
                  <a:pt x="305466" y="36850"/>
                  <a:pt x="508254" y="0"/>
                </a:cubicBezTo>
                <a:cubicBezTo>
                  <a:pt x="711042" y="-36850"/>
                  <a:pt x="812774" y="41250"/>
                  <a:pt x="994410" y="0"/>
                </a:cubicBezTo>
                <a:cubicBezTo>
                  <a:pt x="1176046" y="-41250"/>
                  <a:pt x="1353342" y="29904"/>
                  <a:pt x="1524762" y="0"/>
                </a:cubicBezTo>
                <a:cubicBezTo>
                  <a:pt x="1696182" y="-29904"/>
                  <a:pt x="1929363" y="37946"/>
                  <a:pt x="2209800" y="0"/>
                </a:cubicBezTo>
                <a:cubicBezTo>
                  <a:pt x="2224312" y="202398"/>
                  <a:pt x="2147406" y="380981"/>
                  <a:pt x="2209800" y="590550"/>
                </a:cubicBezTo>
                <a:cubicBezTo>
                  <a:pt x="2034501" y="650600"/>
                  <a:pt x="1847982" y="536589"/>
                  <a:pt x="1679448" y="590550"/>
                </a:cubicBezTo>
                <a:cubicBezTo>
                  <a:pt x="1510914" y="644511"/>
                  <a:pt x="1365870" y="564676"/>
                  <a:pt x="1104900" y="590550"/>
                </a:cubicBezTo>
                <a:cubicBezTo>
                  <a:pt x="843930" y="616424"/>
                  <a:pt x="819706" y="556398"/>
                  <a:pt x="596646" y="590550"/>
                </a:cubicBezTo>
                <a:cubicBezTo>
                  <a:pt x="373586" y="624702"/>
                  <a:pt x="246861" y="583990"/>
                  <a:pt x="0" y="590550"/>
                </a:cubicBezTo>
                <a:cubicBezTo>
                  <a:pt x="-11409" y="340222"/>
                  <a:pt x="22264" y="268802"/>
                  <a:pt x="0" y="0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0933286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12DB6-1BB6-E8D3-137D-8FAA0EE52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09550"/>
            <a:ext cx="8172450" cy="1481139"/>
          </a:xfrm>
        </p:spPr>
        <p:txBody>
          <a:bodyPr>
            <a:normAutofit/>
          </a:bodyPr>
          <a:lstStyle/>
          <a:p>
            <a:r>
              <a:rPr lang="en-US" sz="3600" dirty="0"/>
              <a:t>Close-up on previous plot and connecting the dots…</a:t>
            </a:r>
          </a:p>
        </p:txBody>
      </p:sp>
    </p:spTree>
    <p:extLst>
      <p:ext uri="{BB962C8B-B14F-4D97-AF65-F5344CB8AC3E}">
        <p14:creationId xmlns:p14="http://schemas.microsoft.com/office/powerpoint/2010/main" val="368958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03C9B99-190A-1C85-77D7-68ABCA31C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033" y="4929908"/>
            <a:ext cx="2572934" cy="192809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AB3F2-17B6-1216-F100-1D5210045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5581649"/>
            <a:ext cx="5895383" cy="1123951"/>
          </a:xfrm>
        </p:spPr>
        <p:txBody>
          <a:bodyPr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3200" b="0" i="0" u="none" strike="noStrike" baseline="0" dirty="0">
                <a:latin typeface="CMSS10"/>
              </a:rPr>
              <a:t>Disruptions caused by a </a:t>
            </a:r>
            <a:r>
              <a:rPr lang="en-US" sz="3200" b="0" i="0" u="none" strike="noStrike" baseline="0" dirty="0">
                <a:highlight>
                  <a:srgbClr val="FFFF00"/>
                </a:highlight>
                <a:latin typeface="CMSS10"/>
              </a:rPr>
              <a:t>rogue train </a:t>
            </a:r>
            <a:r>
              <a:rPr lang="en-US" sz="3200" b="0" i="0" u="none" strike="noStrike" baseline="0" dirty="0">
                <a:latin typeface="CMSS10"/>
              </a:rPr>
              <a:t>(due to hardware problems) travelling in the opposite direction of the affected trains</a:t>
            </a:r>
            <a:r>
              <a:rPr lang="en-US" sz="1800" b="0" i="0" u="none" strike="noStrike" baseline="0" dirty="0">
                <a:latin typeface="CMSS10"/>
              </a:rPr>
              <a:t>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AD3DC9-D931-9D39-C08D-B18431BE0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" y="71942"/>
            <a:ext cx="7277100" cy="54532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EABB86-3237-BD93-7B39-DCB85D4DD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924" y="-298399"/>
            <a:ext cx="5076825" cy="1325563"/>
          </a:xfrm>
        </p:spPr>
        <p:txBody>
          <a:bodyPr/>
          <a:lstStyle/>
          <a:p>
            <a:r>
              <a:rPr lang="en-US" dirty="0"/>
              <a:t>Patterns?</a:t>
            </a:r>
          </a:p>
        </p:txBody>
      </p:sp>
    </p:spTree>
    <p:extLst>
      <p:ext uri="{BB962C8B-B14F-4D97-AF65-F5344CB8AC3E}">
        <p14:creationId xmlns:p14="http://schemas.microsoft.com/office/powerpoint/2010/main" val="3178322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6700" y="115870"/>
            <a:ext cx="8753296" cy="64881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C707F5-C65B-BF56-0021-6A1CD30B5A7A}"/>
              </a:ext>
            </a:extLst>
          </p:cNvPr>
          <p:cNvSpPr txBox="1"/>
          <p:nvPr/>
        </p:nvSpPr>
        <p:spPr>
          <a:xfrm>
            <a:off x="428625" y="3609975"/>
            <a:ext cx="8448675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b="0" i="0" u="none" strike="noStrike" baseline="0" dirty="0">
                <a:latin typeface="CMSS9"/>
              </a:rPr>
              <a:t>(To learn more, see </a:t>
            </a:r>
            <a:r>
              <a:rPr lang="en-US" sz="1400" dirty="0">
                <a:latin typeface="CMSS9"/>
                <a:hlinkClick r:id="rId4"/>
              </a:rPr>
              <a:t>https://medium.com/datagovsg-blog/how-we-caught-the-circle-line-rogue-train-with-data-79405c86ab6a</a:t>
            </a:r>
            <a:r>
              <a:rPr lang="en-US" sz="1400" dirty="0">
                <a:latin typeface="CMSS9"/>
              </a:rPr>
              <a:t>.  You may need to search “circle line” if you are redirected away from the article.)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4006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8500" y="216687"/>
            <a:ext cx="8543400" cy="59820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08500" y="6347156"/>
            <a:ext cx="6790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MSS9"/>
              </a:rPr>
              <a:t>(Source: </a:t>
            </a:r>
            <a:r>
              <a:rPr lang="en-US" i="1" dirty="0">
                <a:latin typeface="CMSSI9"/>
              </a:rPr>
              <a:t>Predictive Analytics </a:t>
            </a:r>
            <a:r>
              <a:rPr lang="en-US" dirty="0">
                <a:latin typeface="CMSS9"/>
              </a:rPr>
              <a:t>by Eric Siegel)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725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/>
          <a:srcRect r="5625" b="1018"/>
          <a:stretch/>
        </p:blipFill>
        <p:spPr>
          <a:xfrm>
            <a:off x="449581" y="243691"/>
            <a:ext cx="7577796" cy="655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4492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Prescriptive Analytics Example</a:t>
            </a:r>
            <a:r>
              <a:rPr lang="en-US" sz="4000" dirty="0">
                <a:solidFill>
                  <a:schemeClr val="accent1"/>
                </a:solidFill>
              </a:rPr>
              <a:t>: Electric power portfolio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electric power utility must </a:t>
            </a:r>
            <a:r>
              <a:rPr lang="en-US" b="1" dirty="0"/>
              <a:t>generate </a:t>
            </a:r>
            <a:r>
              <a:rPr lang="en-US" dirty="0"/>
              <a:t>and/or </a:t>
            </a:r>
            <a:r>
              <a:rPr lang="en-US" b="1" dirty="0"/>
              <a:t>obtain </a:t>
            </a:r>
            <a:r>
              <a:rPr lang="en-US" dirty="0"/>
              <a:t>power to meet its customers' </a:t>
            </a:r>
            <a:r>
              <a:rPr lang="en-US" b="1" dirty="0"/>
              <a:t>demand</a:t>
            </a:r>
            <a:r>
              <a:rPr lang="en-US" dirty="0"/>
              <a:t>.</a:t>
            </a:r>
          </a:p>
          <a:p>
            <a:r>
              <a:rPr lang="en-US" dirty="0"/>
              <a:t>The utility has a set of options from which to fill its power “</a:t>
            </a:r>
            <a:r>
              <a:rPr lang="en-US" b="1" dirty="0"/>
              <a:t>portfolio</a:t>
            </a:r>
            <a:r>
              <a:rPr lang="en-US" dirty="0"/>
              <a:t>".</a:t>
            </a:r>
          </a:p>
          <a:p>
            <a:r>
              <a:rPr lang="en-US" dirty="0"/>
              <a:t>Utilities generally </a:t>
            </a:r>
            <a:r>
              <a:rPr lang="en-US" b="1" dirty="0"/>
              <a:t>optimize </a:t>
            </a:r>
            <a:r>
              <a:rPr lang="en-US" dirty="0"/>
              <a:t>their portfolios in the sense of </a:t>
            </a:r>
            <a:r>
              <a:rPr lang="en-US" b="1" dirty="0"/>
              <a:t>minimizing cost </a:t>
            </a:r>
            <a:r>
              <a:rPr lang="en-US" dirty="0"/>
              <a:t>subject to numerous constraints.</a:t>
            </a:r>
          </a:p>
        </p:txBody>
      </p:sp>
    </p:spTree>
    <p:extLst>
      <p:ext uri="{BB962C8B-B14F-4D97-AF65-F5344CB8AC3E}">
        <p14:creationId xmlns:p14="http://schemas.microsoft.com/office/powerpoint/2010/main" val="1404977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8070" y="365126"/>
            <a:ext cx="8585928" cy="570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702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316" y="1072663"/>
            <a:ext cx="8659253" cy="174087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Formulated as Mixed Integer Program (see Lin Opt)</a:t>
            </a:r>
          </a:p>
          <a:p>
            <a:r>
              <a:rPr lang="en-US" dirty="0"/>
              <a:t>Decision Variables:  </a:t>
            </a:r>
            <a:r>
              <a:rPr lang="en-US" dirty="0" err="1"/>
              <a:t>x</a:t>
            </a:r>
            <a:r>
              <a:rPr lang="en-US" baseline="-25000" dirty="0" err="1"/>
              <a:t>a</a:t>
            </a:r>
            <a:r>
              <a:rPr lang="en-US" dirty="0"/>
              <a:t> =megawatts (MW) to purchase of asset a, etc.</a:t>
            </a:r>
          </a:p>
          <a:p>
            <a:r>
              <a:rPr lang="en-US" dirty="0"/>
              <a:t>Fairly complicated objective function and numerous constraints...</a:t>
            </a:r>
          </a:p>
          <a:p>
            <a:r>
              <a:rPr lang="en-US" b="1" dirty="0"/>
              <a:t>Decision support system </a:t>
            </a:r>
            <a:r>
              <a:rPr lang="en-US" dirty="0"/>
              <a:t>implemented in </a:t>
            </a:r>
            <a:r>
              <a:rPr lang="en-US" b="1" dirty="0"/>
              <a:t>Excel </a:t>
            </a:r>
            <a:r>
              <a:rPr lang="en-US" dirty="0"/>
              <a:t>using </a:t>
            </a:r>
            <a:r>
              <a:rPr lang="en-US" b="1" dirty="0"/>
              <a:t>VBA</a:t>
            </a:r>
            <a:r>
              <a:rPr lang="en-US" dirty="0"/>
              <a:t> (this course)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1316" y="312374"/>
            <a:ext cx="7893151" cy="6836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30785" y="2636642"/>
            <a:ext cx="7453682" cy="408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3855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9492" y="164133"/>
            <a:ext cx="8208258" cy="669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432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562" y="1825625"/>
            <a:ext cx="861756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Isaac Slavitt Dunkin’ Donuts Web Scraping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dirty="0" err="1"/>
              <a:t>Kaggle</a:t>
            </a:r>
            <a:r>
              <a:rPr lang="en-US" dirty="0"/>
              <a:t> Datasets and 							Machine Learning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CGA Capstone: Optimizing Placement of </a:t>
            </a:r>
          </a:p>
          <a:p>
            <a:pPr marL="0" indent="0">
              <a:buNone/>
            </a:pPr>
            <a:r>
              <a:rPr lang="en-US" dirty="0"/>
              <a:t>CG Recruiting Offices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54499" y="1643615"/>
            <a:ext cx="1992942" cy="8905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92008" y="5030958"/>
            <a:ext cx="2562296" cy="17505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/>
          <a:srcRect t="53843"/>
          <a:stretch/>
        </p:blipFill>
        <p:spPr>
          <a:xfrm>
            <a:off x="334108" y="2726669"/>
            <a:ext cx="4482221" cy="190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219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isaacslavitt.com/images/dd-dev-tool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21" y="3486317"/>
            <a:ext cx="5916365" cy="2314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937980" y="4451394"/>
            <a:ext cx="3854328" cy="22707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432046" y="128268"/>
            <a:ext cx="6543675" cy="2924175"/>
          </a:xfrm>
          <a:prstGeom prst="rect">
            <a:avLst/>
          </a:prstGeom>
        </p:spPr>
      </p:pic>
      <p:pic>
        <p:nvPicPr>
          <p:cNvPr id="1026" name="Picture 2" descr="http://isaacslavitt.com/images/dd-search-result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192" y="2162573"/>
            <a:ext cx="5858963" cy="11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57200" y="6072274"/>
            <a:ext cx="4522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Scrape the </a:t>
            </a:r>
            <a:r>
              <a:rPr lang="en-US" sz="2400" b="1" dirty="0"/>
              <a:t>html</a:t>
            </a:r>
            <a:r>
              <a:rPr lang="en-US" sz="2400" dirty="0"/>
              <a:t> page with </a:t>
            </a:r>
            <a:r>
              <a:rPr lang="en-US" sz="2400" b="1" dirty="0"/>
              <a:t>Python</a:t>
            </a:r>
            <a:endParaRPr lang="en-US" sz="2400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189285" y="5858996"/>
            <a:ext cx="158261" cy="3179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4871819" y="6176963"/>
            <a:ext cx="333227" cy="1412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9190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0"/>
            <a:ext cx="7886700" cy="701457"/>
          </a:xfrm>
        </p:spPr>
        <p:txBody>
          <a:bodyPr>
            <a:normAutofit/>
          </a:bodyPr>
          <a:lstStyle/>
          <a:p>
            <a:r>
              <a:rPr lang="en-US" sz="3200" dirty="0"/>
              <a:t>Isaac @ Dunkin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261946"/>
            <a:ext cx="2218592" cy="29150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Some results in a </a:t>
            </a:r>
            <a:r>
              <a:rPr lang="en-US" sz="2400" b="1" dirty="0"/>
              <a:t>Python pandas data frame </a:t>
            </a:r>
            <a:r>
              <a:rPr lang="en-US" sz="2400" dirty="0"/>
              <a:t>and visualized geographically with </a:t>
            </a:r>
            <a:r>
              <a:rPr lang="en-US" sz="2400" b="1" dirty="0"/>
              <a:t>Python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23392" y="2796978"/>
            <a:ext cx="6620608" cy="374751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5507" y="6488668"/>
            <a:ext cx="8651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Loads more to it</a:t>
            </a:r>
            <a:r>
              <a:rPr lang="en-US" dirty="0"/>
              <a:t>, see:  http://isaacslavitt.com/2014/01/08/dunkin-donuts-data-analysis/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600" y="801687"/>
            <a:ext cx="7696200" cy="2047875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V="1">
            <a:off x="1988528" y="4719454"/>
            <a:ext cx="331176" cy="1545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 rot="5400000" flipH="1" flipV="1">
            <a:off x="1572422" y="3365898"/>
            <a:ext cx="1227132" cy="394920"/>
          </a:xfrm>
          <a:prstGeom prst="bentConnector3">
            <a:avLst>
              <a:gd name="adj1" fmla="val -15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8096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350" y="-1"/>
            <a:ext cx="7886700" cy="1295401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Recent Capstone:  </a:t>
            </a:r>
            <a:r>
              <a:rPr lang="en-US" sz="3600" b="1" dirty="0"/>
              <a:t>Optimizing Placement And Staffing of U.S. Coast Guard Recruiting Offices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1384300"/>
            <a:ext cx="1663700" cy="48387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Problem Statement  </a:t>
            </a:r>
            <a:r>
              <a:rPr lang="en-US" i="1" dirty="0"/>
              <a:t>Maximize number of possible recruits based on Recruiting Office location and how many recruiters assigned to each office.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82349" y="1598694"/>
            <a:ext cx="7033501" cy="4805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0500" y="6403894"/>
            <a:ext cx="3902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Dayneko</a:t>
            </a:r>
            <a:r>
              <a:rPr lang="en-US" dirty="0"/>
              <a:t>, Franco, Rhodes, &amp; Stein, 2017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914900" y="5172788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8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r>
              <a:rPr lang="en-US" sz="800" dirty="0">
                <a:solidFill>
                  <a:srgbClr val="000000"/>
                </a:solidFill>
              </a:rPr>
              <a:t> </a:t>
            </a:r>
            <a:r>
              <a:rPr lang="en-US" b="1" dirty="0">
                <a:solidFill>
                  <a:srgbClr val="000000"/>
                </a:solidFill>
              </a:rPr>
              <a:t>Methodology: 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•Linear Program </a:t>
            </a:r>
          </a:p>
          <a:p>
            <a:r>
              <a:rPr lang="en-US" dirty="0">
                <a:solidFill>
                  <a:srgbClr val="000000"/>
                </a:solidFill>
              </a:rPr>
              <a:t>•Binary Decision Variables </a:t>
            </a:r>
          </a:p>
          <a:p>
            <a:r>
              <a:rPr lang="en-US" dirty="0">
                <a:solidFill>
                  <a:srgbClr val="000000"/>
                </a:solidFill>
              </a:rPr>
              <a:t>•Solved with Python through </a:t>
            </a:r>
            <a:r>
              <a:rPr lang="en-US" dirty="0" err="1">
                <a:solidFill>
                  <a:srgbClr val="000000"/>
                </a:solidFill>
              </a:rPr>
              <a:t>PuLP</a:t>
            </a:r>
            <a:r>
              <a:rPr lang="en-US" dirty="0">
                <a:solidFill>
                  <a:srgbClr val="0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01080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07325"/>
            <a:ext cx="7886700" cy="916966"/>
          </a:xfrm>
        </p:spPr>
        <p:txBody>
          <a:bodyPr>
            <a:normAutofit fontScale="90000"/>
          </a:bodyPr>
          <a:lstStyle/>
          <a:p>
            <a:r>
              <a:rPr lang="en-US" dirty="0"/>
              <a:t>Kaggle.com - </a:t>
            </a:r>
            <a:r>
              <a:rPr lang="en-US" sz="2800" dirty="0"/>
              <a:t>“the place to do data science projects”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/>
          <a:srcRect t="54150"/>
          <a:stretch/>
        </p:blipFill>
        <p:spPr>
          <a:xfrm>
            <a:off x="1359495" y="4026880"/>
            <a:ext cx="6217275" cy="2628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/>
          <a:srcRect b="61695"/>
          <a:stretch/>
        </p:blipFill>
        <p:spPr>
          <a:xfrm>
            <a:off x="1359495" y="1470127"/>
            <a:ext cx="6217275" cy="219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1756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 to this course:  </a:t>
            </a:r>
            <a:br>
              <a:rPr lang="en-US" dirty="0"/>
            </a:br>
            <a:r>
              <a:rPr lang="en-US" b="1" dirty="0"/>
              <a:t>  Information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81049" y="1877232"/>
            <a:ext cx="74403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Information system – “</a:t>
            </a:r>
            <a:r>
              <a:rPr lang="en-US" sz="2400" dirty="0"/>
              <a:t>an integrated set of components for </a:t>
            </a:r>
            <a:r>
              <a:rPr lang="en-US" sz="2400" b="1" dirty="0"/>
              <a:t>collecting, storing, </a:t>
            </a:r>
            <a:r>
              <a:rPr lang="en-US" sz="2400" dirty="0"/>
              <a:t>and</a:t>
            </a:r>
            <a:r>
              <a:rPr lang="en-US" sz="2400" b="1" dirty="0"/>
              <a:t> processing data </a:t>
            </a:r>
            <a:r>
              <a:rPr lang="en-US" sz="2400" dirty="0"/>
              <a:t> and for </a:t>
            </a:r>
            <a:r>
              <a:rPr lang="en-US" sz="2400" b="1" dirty="0"/>
              <a:t>providing information, knowledge</a:t>
            </a:r>
            <a:r>
              <a:rPr lang="en-US" sz="2400" dirty="0"/>
              <a:t>, and </a:t>
            </a:r>
            <a:r>
              <a:rPr lang="en-US" sz="2400" b="1" dirty="0"/>
              <a:t>digital products</a:t>
            </a:r>
            <a:r>
              <a:rPr lang="en-US" sz="2400" dirty="0"/>
              <a:t>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2549812" y="6323111"/>
            <a:ext cx="639297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A6A6A6"/>
                </a:solidFill>
              </a:rPr>
              <a:t>Source:  https://www.britannica.com/topic/information-system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81050" y="19780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81050" y="4001294"/>
            <a:ext cx="7440399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This semester will be broken into three modules: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Data collection, cleaning + processing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Data storage + databases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Decision support tools + data visualizations </a:t>
            </a:r>
          </a:p>
          <a:p>
            <a:r>
              <a:rPr lang="en-US" dirty="0"/>
              <a:t>(our approach to “providing information, knowledge, and digital products”)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914044" y="3392439"/>
            <a:ext cx="7325" cy="4811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401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Course Tools &amp; Approaches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82111" y="1690689"/>
            <a:ext cx="744039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Data collection, cleaning + processing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Pandas library in Python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Web scraping using Python and HTML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Data storage + databases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Access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SQL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connections to Excel, VBA, Python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Decision support tools + data visualizations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Excel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VBA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Python</a:t>
            </a:r>
          </a:p>
          <a:p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400" dirty="0"/>
              <a:t>and more…</a:t>
            </a:r>
          </a:p>
        </p:txBody>
      </p:sp>
    </p:spTree>
    <p:extLst>
      <p:ext uri="{BB962C8B-B14F-4D97-AF65-F5344CB8AC3E}">
        <p14:creationId xmlns:p14="http://schemas.microsoft.com/office/powerpoint/2010/main" val="16076696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Related areas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>
            <a:normAutofit/>
          </a:bodyPr>
          <a:lstStyle/>
          <a:p>
            <a:r>
              <a:rPr lang="en-US" b="1" dirty="0"/>
              <a:t>Data-driven decision making (DDD)</a:t>
            </a:r>
            <a:r>
              <a:rPr lang="en-US" dirty="0"/>
              <a:t> – the practice of basing decisions on the analysis of data, rather than purely on intuition  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Data science</a:t>
            </a:r>
            <a:r>
              <a:rPr lang="en-US" dirty="0"/>
              <a:t> – a set of fundamental principles that guide the extraction of knowledge from data with the ultimate goal of improving decision making 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4141" y="6176963"/>
            <a:ext cx="5369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Source: 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Science for Business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 Provost &amp; Fawcett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81454" y="3199564"/>
            <a:ext cx="6981092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“If we have data, let’s look at data, if all we have are opinions, let’s go with mine!” -- Jim Barksdale, former CEO of Netscape </a:t>
            </a:r>
          </a:p>
        </p:txBody>
      </p:sp>
    </p:spTree>
    <p:extLst>
      <p:ext uri="{BB962C8B-B14F-4D97-AF65-F5344CB8AC3E}">
        <p14:creationId xmlns:p14="http://schemas.microsoft.com/office/powerpoint/2010/main" val="26851544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33022" y="6438923"/>
            <a:ext cx="807117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A6A6A6"/>
                </a:solidFill>
              </a:rPr>
              <a:t>Source: https://www.forbes.com/sites/gilpress/2016/03/23/data-preparation-most-time-consuming-least-enjoyable-data-science-task-survey-says/#755cd9316f63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1" dirty="0"/>
              <a:t>What do data scientists spend their time doing?</a:t>
            </a:r>
            <a:endParaRPr lang="en-US" dirty="0"/>
          </a:p>
        </p:txBody>
      </p:sp>
      <p:pic>
        <p:nvPicPr>
          <p:cNvPr id="5" name="Picture 2" descr="Tim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7822"/>
          <a:stretch/>
        </p:blipFill>
        <p:spPr bwMode="auto">
          <a:xfrm>
            <a:off x="266700" y="2543198"/>
            <a:ext cx="3856892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271899" y="1239781"/>
            <a:ext cx="317311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Refining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Mining data for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Cleaning and organizing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Building training 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Collecting data 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Other</a:t>
            </a:r>
          </a:p>
          <a:p>
            <a:r>
              <a:rPr lang="en-US" dirty="0"/>
              <a:t>  </a:t>
            </a:r>
            <a:r>
              <a:rPr lang="en-US" b="1" dirty="0"/>
              <a:t>Match task to % of time</a:t>
            </a:r>
          </a:p>
        </p:txBody>
      </p:sp>
      <p:pic>
        <p:nvPicPr>
          <p:cNvPr id="7" name="Picture 2" descr="Tim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81" t="21998" r="21988"/>
          <a:stretch/>
        </p:blipFill>
        <p:spPr bwMode="auto">
          <a:xfrm>
            <a:off x="4229100" y="3271105"/>
            <a:ext cx="3024728" cy="3167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6705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trends </a:t>
            </a:r>
            <a:r>
              <a:rPr lang="en-US" sz="4000" dirty="0"/>
              <a:t>(for what it’s worth)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1157" y="1573823"/>
            <a:ext cx="8924122" cy="418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689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789</TotalTime>
  <Words>1388</Words>
  <Application>Microsoft Office PowerPoint</Application>
  <PresentationFormat>On-screen Show (4:3)</PresentationFormat>
  <Paragraphs>183</Paragraphs>
  <Slides>35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Calibri</vt:lpstr>
      <vt:lpstr>Calibri Light</vt:lpstr>
      <vt:lpstr>Cambria</vt:lpstr>
      <vt:lpstr>CMSS10</vt:lpstr>
      <vt:lpstr>CMSS12</vt:lpstr>
      <vt:lpstr>CMSS9</vt:lpstr>
      <vt:lpstr>CMSSI9</vt:lpstr>
      <vt:lpstr>Office Theme</vt:lpstr>
      <vt:lpstr>Information Systems</vt:lpstr>
      <vt:lpstr>We’ve got Problems…</vt:lpstr>
      <vt:lpstr>and there is Data</vt:lpstr>
      <vt:lpstr>And there is Big Data!</vt:lpstr>
      <vt:lpstr>Big Data – How Big?</vt:lpstr>
      <vt:lpstr>Data &amp; Problems</vt:lpstr>
      <vt:lpstr>How does data/information figure in to Operations Research / Analytics?</vt:lpstr>
      <vt:lpstr>Types of Analytics</vt:lpstr>
      <vt:lpstr>Example Problems in O.R./Analytics using Data</vt:lpstr>
      <vt:lpstr>PowerPoint Presentation</vt:lpstr>
      <vt:lpstr>Train Disruption Data (sample)</vt:lpstr>
      <vt:lpstr>Visualizing Train Disruption Data</vt:lpstr>
      <vt:lpstr>Visualizing Train Disruption Data</vt:lpstr>
      <vt:lpstr>Visualizing All Train Data</vt:lpstr>
      <vt:lpstr>Visualizing Train Disruption Data</vt:lpstr>
      <vt:lpstr>PowerPoint Presentation</vt:lpstr>
      <vt:lpstr>Close-up on previous plot and connecting the dots…</vt:lpstr>
      <vt:lpstr>Patterns?</vt:lpstr>
      <vt:lpstr>PowerPoint Presentation</vt:lpstr>
      <vt:lpstr>PowerPoint Presentation</vt:lpstr>
      <vt:lpstr>PowerPoint Presentation</vt:lpstr>
      <vt:lpstr>Prescriptive Analytics Example: Electric power portfolio optimization</vt:lpstr>
      <vt:lpstr>PowerPoint Presentation</vt:lpstr>
      <vt:lpstr>PowerPoint Presentation</vt:lpstr>
      <vt:lpstr>PowerPoint Presentation</vt:lpstr>
      <vt:lpstr>More examples</vt:lpstr>
      <vt:lpstr>PowerPoint Presentation</vt:lpstr>
      <vt:lpstr>Isaac @ Dunkin (cont.)</vt:lpstr>
      <vt:lpstr>Recent Capstone:  Optimizing Placement And Staffing of U.S. Coast Guard Recruiting Offices </vt:lpstr>
      <vt:lpstr>Kaggle.com - “the place to do data science projects”</vt:lpstr>
      <vt:lpstr>Back to this course:     Information Systems</vt:lpstr>
      <vt:lpstr>Some Course Tools &amp; Approaches</vt:lpstr>
      <vt:lpstr>Related areas</vt:lpstr>
      <vt:lpstr>What do data scientists spend their time doing?</vt:lpstr>
      <vt:lpstr>Google trends (for what it’s worth)</vt:lpstr>
    </vt:vector>
  </TitlesOfParts>
  <Company>USCGA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Systems</dc:title>
  <dc:creator>Frommer, Ian Dr. (EDU)</dc:creator>
  <cp:lastModifiedBy>Frommer, Ian Dr. (EDU)</cp:lastModifiedBy>
  <cp:revision>36</cp:revision>
  <dcterms:created xsi:type="dcterms:W3CDTF">2019-01-07T15:06:08Z</dcterms:created>
  <dcterms:modified xsi:type="dcterms:W3CDTF">2026-08-24T16:39:50Z</dcterms:modified>
</cp:coreProperties>
</file>