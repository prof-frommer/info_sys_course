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handoutMasterIdLst>
    <p:handoutMasterId r:id="rId11"/>
  </p:handoutMasterIdLst>
  <p:sldIdLst>
    <p:sldId id="280" r:id="rId2"/>
    <p:sldId id="281" r:id="rId3"/>
    <p:sldId id="282" r:id="rId4"/>
    <p:sldId id="283" r:id="rId5"/>
    <p:sldId id="284" r:id="rId6"/>
    <p:sldId id="285" r:id="rId7"/>
    <p:sldId id="286" r:id="rId8"/>
    <p:sldId id="267" r:id="rId9"/>
  </p:sldIdLst>
  <p:sldSz cx="9144000" cy="6858000" type="screen4x3"/>
  <p:notesSz cx="9296400" cy="70104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1FBF9F-35BD-4249-9BE5-5F495AAEEB1A}" v="11" dt="2026-08-25T12:59:05.5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2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2496" y="8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ommer, Ian Dr. (EDU)" userId="28ca3ff0-544f-450a-928b-99e19cf49b89" providerId="ADAL" clId="{A3E8E5B1-0D91-4643-B70B-3D065C8674E0}"/>
    <pc:docChg chg="undo custSel modSld">
      <pc:chgData name="Frommer, Ian Dr. (EDU)" userId="28ca3ff0-544f-450a-928b-99e19cf49b89" providerId="ADAL" clId="{A3E8E5B1-0D91-4643-B70B-3D065C8674E0}" dt="2026-08-25T12:59:33.164" v="223"/>
      <pc:docMkLst>
        <pc:docMk/>
      </pc:docMkLst>
      <pc:sldChg chg="addSp delSp modSp mod">
        <pc:chgData name="Frommer, Ian Dr. (EDU)" userId="28ca3ff0-544f-450a-928b-99e19cf49b89" providerId="ADAL" clId="{A3E8E5B1-0D91-4643-B70B-3D065C8674E0}" dt="2026-08-25T12:59:33.164" v="223"/>
        <pc:sldMkLst>
          <pc:docMk/>
          <pc:sldMk cId="4040525063" sldId="281"/>
        </pc:sldMkLst>
        <pc:spChg chg="add del mod">
          <ac:chgData name="Frommer, Ian Dr. (EDU)" userId="28ca3ff0-544f-450a-928b-99e19cf49b89" providerId="ADAL" clId="{A3E8E5B1-0D91-4643-B70B-3D065C8674E0}" dt="2026-08-25T12:59:33.164" v="223"/>
          <ac:spMkLst>
            <pc:docMk/>
            <pc:sldMk cId="4040525063" sldId="281"/>
            <ac:spMk id="4" creationId="{34186068-3291-DBBB-E851-33E36945791F}"/>
          </ac:spMkLst>
        </pc:spChg>
        <pc:spChg chg="mod">
          <ac:chgData name="Frommer, Ian Dr. (EDU)" userId="28ca3ff0-544f-450a-928b-99e19cf49b89" providerId="ADAL" clId="{A3E8E5B1-0D91-4643-B70B-3D065C8674E0}" dt="2026-08-25T12:59:31.889" v="221" actId="403"/>
          <ac:spMkLst>
            <pc:docMk/>
            <pc:sldMk cId="4040525063" sldId="281"/>
            <ac:spMk id="9" creationId="{00000000-0000-0000-0000-000000000000}"/>
          </ac:spMkLst>
        </pc:spChg>
      </pc:sldChg>
      <pc:sldChg chg="addSp delSp modSp mod">
        <pc:chgData name="Frommer, Ian Dr. (EDU)" userId="28ca3ff0-544f-450a-928b-99e19cf49b89" providerId="ADAL" clId="{A3E8E5B1-0D91-4643-B70B-3D065C8674E0}" dt="2026-08-24T17:17:16.022" v="5" actId="1076"/>
        <pc:sldMkLst>
          <pc:docMk/>
          <pc:sldMk cId="3706901608" sldId="283"/>
        </pc:sldMkLst>
        <pc:picChg chg="del">
          <ac:chgData name="Frommer, Ian Dr. (EDU)" userId="28ca3ff0-544f-450a-928b-99e19cf49b89" providerId="ADAL" clId="{A3E8E5B1-0D91-4643-B70B-3D065C8674E0}" dt="2026-08-24T17:16:59.902" v="0" actId="478"/>
          <ac:picMkLst>
            <pc:docMk/>
            <pc:sldMk cId="3706901608" sldId="283"/>
            <ac:picMk id="3" creationId="{00000000-0000-0000-0000-000000000000}"/>
          </ac:picMkLst>
        </pc:picChg>
        <pc:picChg chg="add mod">
          <ac:chgData name="Frommer, Ian Dr. (EDU)" userId="28ca3ff0-544f-450a-928b-99e19cf49b89" providerId="ADAL" clId="{A3E8E5B1-0D91-4643-B70B-3D065C8674E0}" dt="2026-08-24T17:17:16.022" v="5" actId="1076"/>
          <ac:picMkLst>
            <pc:docMk/>
            <pc:sldMk cId="3706901608" sldId="283"/>
            <ac:picMk id="6" creationId="{E6FF8CBA-BE99-DFA4-1353-5CD7EFFCAE3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5265809" y="1"/>
            <a:ext cx="4028440" cy="351737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AD26BD79-8CCC-4D1D-9135-5F2DDDC9A6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5265809" y="6658664"/>
            <a:ext cx="4028440" cy="351736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826C083C-C58C-4C55-8F47-F0ED2D9EE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42795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265809" y="0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A309E764-6B51-3647-AA90-23DDC6992D76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95600" y="525463"/>
            <a:ext cx="3505200" cy="2628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29640" y="3329940"/>
            <a:ext cx="7437120" cy="31546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265809" y="6658664"/>
            <a:ext cx="4028440" cy="3505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6F87086-69E7-224D-8B9D-01B4C04BAB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1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Markdown:</a:t>
            </a:r>
            <a:r>
              <a:rPr lang="en-US" baseline="0" dirty="0"/>
              <a:t> HTML, </a:t>
            </a:r>
            <a:r>
              <a:rPr lang="en-US" baseline="0" dirty="0" err="1"/>
              <a:t>LaTex</a:t>
            </a:r>
            <a:r>
              <a:rPr lang="en-US" baseline="0" dirty="0"/>
              <a:t>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F99BAC-56C1-2249-8B53-A23C1954413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117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Markdown:</a:t>
            </a:r>
            <a:r>
              <a:rPr lang="en-US" baseline="0" dirty="0"/>
              <a:t> HTML, </a:t>
            </a:r>
            <a:r>
              <a:rPr lang="en-US" baseline="0" dirty="0" err="1"/>
              <a:t>LaTex</a:t>
            </a:r>
            <a:r>
              <a:rPr lang="en-US" baseline="0" dirty="0"/>
              <a:t>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2F99BAC-56C1-2249-8B53-A23C1954413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6178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371600"/>
            <a:ext cx="7848600" cy="1927225"/>
          </a:xfrm>
        </p:spPr>
        <p:txBody>
          <a:bodyPr anchor="b">
            <a:no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505200"/>
            <a:ext cx="6400800" cy="1752600"/>
          </a:xfrm>
        </p:spPr>
        <p:txBody>
          <a:bodyPr/>
          <a:lstStyle>
            <a:lvl1pPr marL="0" indent="0" algn="l">
              <a:buNone/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85800" y="3398520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2362200"/>
            <a:ext cx="7772400" cy="2200275"/>
          </a:xfrm>
        </p:spPr>
        <p:txBody>
          <a:bodyPr anchor="b">
            <a:normAutofit/>
          </a:bodyPr>
          <a:lstStyle>
            <a:lvl1pPr algn="l">
              <a:defRPr sz="48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4626864"/>
            <a:ext cx="77724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731520" y="4599432"/>
            <a:ext cx="784860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73352"/>
            <a:ext cx="4038600" cy="471830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sz="2000" b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1676400"/>
            <a:ext cx="3931920" cy="639762"/>
          </a:xfrm>
          <a:noFill/>
          <a:ln>
            <a:noFill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none"/>
        </p:style>
        <p:txBody>
          <a:bodyPr anchor="ctr">
            <a:normAutofit/>
          </a:bodyPr>
          <a:lstStyle>
            <a:lvl1pPr marL="0" indent="0" algn="ctr">
              <a:buNone/>
              <a:defRPr lang="en-US" sz="2000" b="0" kern="1200" dirty="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438400"/>
            <a:ext cx="393192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/>
          <p:cNvCxnSpPr/>
          <p:nvPr/>
        </p:nvCxnSpPr>
        <p:spPr>
          <a:xfrm rot="5400000">
            <a:off x="2217817" y="4045823"/>
            <a:ext cx="4709160" cy="794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080"/>
            <a:ext cx="2139696" cy="1261872"/>
          </a:xfrm>
        </p:spPr>
        <p:txBody>
          <a:bodyPr anchor="b">
            <a:no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1800" y="792080"/>
            <a:ext cx="5715000" cy="55778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2130552"/>
            <a:ext cx="2139696" cy="424361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 rot="5400000">
            <a:off x="-13116" y="3580206"/>
            <a:ext cx="5577840" cy="1588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92480"/>
            <a:ext cx="2142680" cy="126492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858610" y="838201"/>
            <a:ext cx="5904390" cy="5500456"/>
          </a:xfrm>
          <a:solidFill>
            <a:schemeClr val="bg2"/>
          </a:solidFill>
          <a:ln w="76200">
            <a:solidFill>
              <a:srgbClr val="FFFFFF"/>
            </a:solidFill>
            <a:miter lim="800000"/>
          </a:ln>
          <a:effectLst>
            <a:outerShdw blurRad="50800" dist="12700" dir="5400000" algn="t" rotWithShape="0">
              <a:prstClr val="black">
                <a:alpha val="59000"/>
              </a:prstClr>
            </a:outerShdw>
          </a:effectLst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133600"/>
            <a:ext cx="2139696" cy="42428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609600"/>
            <a:ext cx="2057400" cy="5867400"/>
          </a:xfrm>
        </p:spPr>
        <p:txBody>
          <a:bodyPr vert="eaVert"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609600"/>
            <a:ext cx="60198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220786"/>
            <a:ext cx="9144000" cy="228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33400"/>
            <a:ext cx="8229600" cy="990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87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9144000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18288"/>
            <a:ext cx="28956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FFFFFF"/>
                </a:solidFill>
              </a:defRPr>
            </a:lvl1pPr>
          </a:lstStyle>
          <a:p>
            <a:fld id="{085A468E-2C0E-5A40-ACD7-4640A10B25AE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29000" y="18288"/>
            <a:ext cx="4114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0000" y="18288"/>
            <a:ext cx="1066800" cy="32918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1">
                <a:solidFill>
                  <a:srgbClr val="FFFFFF"/>
                </a:solidFill>
              </a:defRPr>
            </a:lvl1pPr>
          </a:lstStyle>
          <a:p>
            <a:fld id="{15946C16-6C1D-8944-A5D9-68555171BF3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000" kern="1200" spc="-1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spcBef>
          <a:spcPct val="20000"/>
        </a:spcBef>
        <a:buClr>
          <a:schemeClr val="accent1"/>
        </a:buClr>
        <a:buSzPct val="85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spcBef>
          <a:spcPct val="20000"/>
        </a:spcBef>
        <a:buClr>
          <a:schemeClr val="accent1"/>
        </a:buClr>
        <a:buSzPct val="9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37160" algn="l" defTabSz="914400" rtl="0" eaLnBrk="1" latinLnBrk="0" hangingPunct="1">
        <a:spcBef>
          <a:spcPct val="20000"/>
        </a:spcBef>
        <a:buClr>
          <a:schemeClr val="accent1"/>
        </a:buClr>
        <a:buSzPct val="100000"/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rkdownguide.org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nbviewer.jupyter.org/github/jupyter/notebook/blob/master/docs/source/examples/Notebook/Running%20Code.ipynb" TargetMode="External"/><Relationship Id="rId4" Type="http://schemas.openxmlformats.org/officeDocument/2006/relationships/hyperlink" Target="https://dillinger.io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97" y="3245729"/>
            <a:ext cx="4860638" cy="1311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515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457200" y="1524000"/>
            <a:ext cx="8229600" cy="4953000"/>
          </a:xfrm>
        </p:spPr>
        <p:txBody>
          <a:bodyPr>
            <a:normAutofit/>
          </a:bodyPr>
          <a:lstStyle/>
          <a:p>
            <a:r>
              <a:rPr lang="en-US" sz="2800" b="1" dirty="0"/>
              <a:t>What is it?</a:t>
            </a:r>
          </a:p>
          <a:p>
            <a:pPr lvl="1"/>
            <a:r>
              <a:rPr lang="en-US" sz="2400" dirty="0"/>
              <a:t>Interactive Notebook</a:t>
            </a:r>
          </a:p>
          <a:p>
            <a:pPr lvl="1"/>
            <a:endParaRPr lang="en-US" sz="1200" dirty="0"/>
          </a:p>
          <a:p>
            <a:pPr lvl="1"/>
            <a:r>
              <a:rPr lang="en-US" sz="2400" dirty="0"/>
              <a:t>Contains both Python code and Markdown (rich text); can include graphs produced by your code, pictures that enhance your report, etc.</a:t>
            </a:r>
          </a:p>
          <a:p>
            <a:pPr lvl="2"/>
            <a:r>
              <a:rPr lang="en-US" sz="2200" dirty="0"/>
              <a:t>Use Markdown as narrative text (different than Python comments)</a:t>
            </a:r>
          </a:p>
          <a:p>
            <a:pPr lvl="3"/>
            <a:r>
              <a:rPr lang="en-US" sz="2000" dirty="0"/>
              <a:t>excellent Markdown guide: </a:t>
            </a:r>
            <a:r>
              <a:rPr lang="en-US" sz="2000" dirty="0">
                <a:hlinkClick r:id="rId3"/>
              </a:rPr>
              <a:t>https://www.markdownguide.org/</a:t>
            </a:r>
            <a:endParaRPr lang="en-US" sz="2000" dirty="0"/>
          </a:p>
          <a:p>
            <a:pPr lvl="3"/>
            <a:r>
              <a:rPr lang="en-US" sz="2000" dirty="0"/>
              <a:t>online Markdown editor:  </a:t>
            </a:r>
            <a:r>
              <a:rPr lang="en-US" sz="2000" dirty="0">
                <a:hlinkClick r:id="rId4"/>
              </a:rPr>
              <a:t>https://dillinger.io/</a:t>
            </a:r>
            <a:r>
              <a:rPr lang="en-US" sz="2000" dirty="0"/>
              <a:t> -   useful for learning and writing Markdown- let’s take a quick look</a:t>
            </a:r>
          </a:p>
          <a:p>
            <a:pPr lvl="2"/>
            <a:endParaRPr lang="en-US" sz="2200" dirty="0"/>
          </a:p>
          <a:p>
            <a:pPr lvl="1"/>
            <a:endParaRPr lang="en-US" sz="2400" dirty="0">
              <a:hlinkClick r:id="rId5"/>
            </a:endParaRP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405250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endParaRPr lang="en-US" dirty="0"/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3200" b="1" dirty="0"/>
              <a:t>Why use it?</a:t>
            </a:r>
          </a:p>
          <a:p>
            <a:pPr lvl="1"/>
            <a:r>
              <a:rPr lang="en-US" sz="2800" dirty="0"/>
              <a:t>Its readability makes it great for presenting work </a:t>
            </a:r>
          </a:p>
          <a:p>
            <a:pPr lvl="1"/>
            <a:r>
              <a:rPr lang="en-US" sz="2800" dirty="0"/>
              <a:t>Can include exploratory phase</a:t>
            </a:r>
          </a:p>
          <a:p>
            <a:pPr lvl="2"/>
            <a:r>
              <a:rPr lang="en-US" sz="2400" dirty="0"/>
              <a:t>Can leave in code, even if not part of your final product to show your thought process</a:t>
            </a:r>
          </a:p>
          <a:p>
            <a:pPr lvl="1"/>
            <a:r>
              <a:rPr lang="en-US" sz="2800" dirty="0"/>
              <a:t>You can write code in snippets (“cells”)</a:t>
            </a:r>
          </a:p>
          <a:p>
            <a:pPr lvl="2"/>
            <a:r>
              <a:rPr lang="en-US" sz="2400" dirty="0"/>
              <a:t>Faster: eliminates the need to rerun entire program</a:t>
            </a:r>
          </a:p>
          <a:p>
            <a:pPr lvl="2"/>
            <a:r>
              <a:rPr lang="en-US" sz="2400" dirty="0"/>
              <a:t>Visualization:  see the data as you work</a:t>
            </a:r>
          </a:p>
          <a:p>
            <a:pPr lvl="1"/>
            <a:endParaRPr lang="en-US" sz="3200" dirty="0"/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732180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(cont’d)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457200" y="1600200"/>
            <a:ext cx="5187142" cy="4817225"/>
          </a:xfrm>
        </p:spPr>
        <p:txBody>
          <a:bodyPr>
            <a:normAutofit/>
          </a:bodyPr>
          <a:lstStyle/>
          <a:p>
            <a:r>
              <a:rPr lang="en-US" sz="2800" b="1" dirty="0"/>
              <a:t>How do you launch it?</a:t>
            </a:r>
          </a:p>
          <a:p>
            <a:pPr lvl="1"/>
            <a:r>
              <a:rPr lang="en-US" sz="2400" dirty="0"/>
              <a:t>Installation – already done if you have Anaconda (from CML)</a:t>
            </a:r>
          </a:p>
          <a:p>
            <a:pPr lvl="1"/>
            <a:r>
              <a:rPr lang="en-US" sz="2400" dirty="0"/>
              <a:t>Open terminal / command prompt and enter:</a:t>
            </a:r>
          </a:p>
          <a:p>
            <a:pPr marL="274320" lvl="1" indent="0">
              <a:buNone/>
            </a:pPr>
            <a:r>
              <a:rPr lang="en-US" sz="2400" dirty="0"/>
              <a:t>	</a:t>
            </a:r>
            <a:r>
              <a:rPr lang="en-US" sz="2800" dirty="0" err="1">
                <a:latin typeface="Courier"/>
                <a:cs typeface="Courier"/>
              </a:rPr>
              <a:t>jupyter</a:t>
            </a:r>
            <a:r>
              <a:rPr lang="en-US" sz="2800" dirty="0">
                <a:latin typeface="Courier"/>
                <a:cs typeface="Courier"/>
              </a:rPr>
              <a:t> notebook</a:t>
            </a:r>
            <a:endParaRPr lang="en-US" sz="2400" dirty="0">
              <a:latin typeface="Courier"/>
              <a:cs typeface="Courier"/>
            </a:endParaRPr>
          </a:p>
          <a:p>
            <a:pPr marL="274320" lvl="1" indent="0">
              <a:buNone/>
            </a:pPr>
            <a:r>
              <a:rPr lang="en-US" sz="2400" dirty="0"/>
              <a:t>   OR search for </a:t>
            </a:r>
            <a:r>
              <a:rPr lang="en-US" sz="2400" dirty="0" err="1"/>
              <a:t>Jupyter</a:t>
            </a:r>
            <a:r>
              <a:rPr lang="en-US" sz="2400" dirty="0"/>
              <a:t> Notebook 	in your start menu </a:t>
            </a:r>
            <a:r>
              <a:rPr lang="en-US" sz="2400" dirty="0">
                <a:sym typeface="Wingdings" panose="05000000000000000000" pitchFamily="2" charset="2"/>
              </a:rPr>
              <a:t></a:t>
            </a:r>
            <a:endParaRPr lang="en-US" sz="2400" dirty="0"/>
          </a:p>
          <a:p>
            <a:pPr marL="274320" lvl="1" indent="0">
              <a:buNone/>
            </a:pPr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E14B25-CAD5-D635-3288-F8B2E1324302}"/>
              </a:ext>
            </a:extLst>
          </p:cNvPr>
          <p:cNvSpPr txBox="1"/>
          <p:nvPr/>
        </p:nvSpPr>
        <p:spPr>
          <a:xfrm>
            <a:off x="671120" y="5494095"/>
            <a:ext cx="43268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 use the newer, more flexible </a:t>
            </a:r>
          </a:p>
          <a:p>
            <a:r>
              <a:rPr lang="en-US" b="1" dirty="0"/>
              <a:t>Jupyter Lab </a:t>
            </a:r>
            <a:r>
              <a:rPr lang="en-US" dirty="0"/>
              <a:t>– not shown in these slides</a:t>
            </a:r>
          </a:p>
          <a:p>
            <a:r>
              <a:rPr lang="en-US" dirty="0"/>
              <a:t>but we will show in class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FF8CBA-BE99-DFA4-1353-5CD7EFFCA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7859" y="2342819"/>
            <a:ext cx="3797393" cy="419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901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– Try it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Launch </a:t>
            </a:r>
            <a:r>
              <a:rPr lang="en-US" sz="2800" dirty="0" err="1"/>
              <a:t>Jupyter</a:t>
            </a:r>
            <a:endParaRPr lang="en-US" sz="2800" dirty="0"/>
          </a:p>
          <a:p>
            <a:pPr lvl="1"/>
            <a:r>
              <a:rPr lang="en-US" dirty="0"/>
              <a:t>Navigation will open in your web browser</a:t>
            </a:r>
          </a:p>
          <a:p>
            <a:pPr marL="274320" lvl="1" indent="0">
              <a:buNone/>
            </a:pPr>
            <a:r>
              <a:rPr lang="en-US" dirty="0"/>
              <a:t>   (</a:t>
            </a:r>
            <a:r>
              <a:rPr lang="en-US" sz="1600" i="1" dirty="0"/>
              <a:t>Note: you do NOT need internet access to use </a:t>
            </a:r>
            <a:r>
              <a:rPr lang="en-US" sz="1600" i="1" dirty="0" err="1"/>
              <a:t>Jupyter</a:t>
            </a:r>
            <a:r>
              <a:rPr lang="en-US" sz="1600" i="1" dirty="0"/>
              <a:t>)</a:t>
            </a:r>
            <a:endParaRPr lang="en-US" sz="2800" dirty="0"/>
          </a:p>
          <a:p>
            <a:r>
              <a:rPr lang="en-US" sz="2800" dirty="0"/>
              <a:t>Create a path to save your IS files in</a:t>
            </a:r>
          </a:p>
          <a:p>
            <a:r>
              <a:rPr lang="en-US" sz="2800" dirty="0"/>
              <a:t>Open a new </a:t>
            </a:r>
            <a:r>
              <a:rPr lang="en-US" sz="2800" dirty="0" err="1"/>
              <a:t>ipynb</a:t>
            </a:r>
            <a:endParaRPr lang="en-US" sz="2800" dirty="0"/>
          </a:p>
          <a:p>
            <a:endParaRPr lang="en-US" sz="2400" dirty="0"/>
          </a:p>
          <a:p>
            <a:pPr marL="274320" lvl="1" indent="0">
              <a:buNone/>
            </a:pPr>
            <a:endParaRPr lang="en-US" sz="2400" dirty="0"/>
          </a:p>
        </p:txBody>
      </p:sp>
      <p:pic>
        <p:nvPicPr>
          <p:cNvPr id="4" name="Picture 3" descr="Screen Shot 2017-12-24 at 8.12.38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578" y="4273412"/>
            <a:ext cx="8442222" cy="220358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7293695" y="5335895"/>
            <a:ext cx="543105" cy="237557"/>
          </a:xfrm>
          <a:prstGeom prst="ellipse">
            <a:avLst/>
          </a:prstGeom>
          <a:noFill/>
          <a:ln w="28575" cmpd="sng">
            <a:solidFill>
              <a:schemeClr val="tx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6454588" y="3288618"/>
            <a:ext cx="1190036" cy="2013702"/>
          </a:xfrm>
          <a:prstGeom prst="straightConnector1">
            <a:avLst/>
          </a:prstGeom>
          <a:ln>
            <a:solidFill>
              <a:srgbClr val="D2533C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293695" y="5967346"/>
            <a:ext cx="543105" cy="237557"/>
          </a:xfrm>
          <a:prstGeom prst="ellipse">
            <a:avLst/>
          </a:prstGeom>
          <a:noFill/>
          <a:ln w="28575" cmpd="sng">
            <a:solidFill>
              <a:schemeClr val="tx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/>
          <p:cNvCxnSpPr/>
          <p:nvPr/>
        </p:nvCxnSpPr>
        <p:spPr>
          <a:xfrm>
            <a:off x="3649070" y="3620323"/>
            <a:ext cx="3995554" cy="2347023"/>
          </a:xfrm>
          <a:prstGeom prst="straightConnector1">
            <a:avLst/>
          </a:prstGeom>
          <a:ln>
            <a:solidFill>
              <a:srgbClr val="D2533C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18570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– Try it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This will open a new .</a:t>
            </a:r>
            <a:r>
              <a:rPr lang="en-US" sz="2800" dirty="0" err="1"/>
              <a:t>ipynb</a:t>
            </a:r>
            <a:r>
              <a:rPr lang="en-US" sz="2800" dirty="0"/>
              <a:t> file.  You can change the name of the file here.</a:t>
            </a:r>
          </a:p>
          <a:p>
            <a:endParaRPr lang="en-US" sz="2400" dirty="0"/>
          </a:p>
          <a:p>
            <a:pPr marL="274320" lvl="1" indent="0">
              <a:buNone/>
            </a:pPr>
            <a:endParaRPr lang="en-US" sz="2400" dirty="0"/>
          </a:p>
        </p:txBody>
      </p:sp>
      <p:pic>
        <p:nvPicPr>
          <p:cNvPr id="3" name="Picture 2" descr="Screen Shot 2017-12-24 at 8.07.45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082" y="3948685"/>
            <a:ext cx="7580718" cy="145633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1896688" y="3948685"/>
            <a:ext cx="543105" cy="237557"/>
          </a:xfrm>
          <a:prstGeom prst="ellipse">
            <a:avLst/>
          </a:prstGeom>
          <a:noFill/>
          <a:ln w="28575" cmpd="sng">
            <a:solidFill>
              <a:schemeClr val="tx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2247617" y="2494849"/>
            <a:ext cx="0" cy="1453836"/>
          </a:xfrm>
          <a:prstGeom prst="straightConnector1">
            <a:avLst/>
          </a:prstGeom>
          <a:ln>
            <a:solidFill>
              <a:srgbClr val="D2533C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8"/>
          <p:cNvSpPr txBox="1">
            <a:spLocks/>
          </p:cNvSpPr>
          <p:nvPr/>
        </p:nvSpPr>
        <p:spPr>
          <a:xfrm>
            <a:off x="601000" y="5488668"/>
            <a:ext cx="6060989" cy="1140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You can add a cell using the + button in the toolbar</a:t>
            </a:r>
          </a:p>
          <a:p>
            <a:endParaRPr lang="en-US" dirty="0"/>
          </a:p>
          <a:p>
            <a:pPr marL="274320" lvl="1" indent="0">
              <a:buFont typeface="Arial" pitchFamily="34" charset="0"/>
              <a:buNone/>
            </a:pPr>
            <a:endParaRPr lang="en-US" sz="2400" dirty="0"/>
          </a:p>
        </p:txBody>
      </p:sp>
      <p:sp>
        <p:nvSpPr>
          <p:cNvPr id="12" name="Content Placeholder 8"/>
          <p:cNvSpPr txBox="1">
            <a:spLocks/>
          </p:cNvSpPr>
          <p:nvPr/>
        </p:nvSpPr>
        <p:spPr>
          <a:xfrm>
            <a:off x="2851232" y="2624569"/>
            <a:ext cx="6060989" cy="1140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85000"/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90000"/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88720" indent="-13716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SzPct val="100000"/>
              <a:buFont typeface="Arial" pitchFamily="34" charset="0"/>
              <a:buChar char="•"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37160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55448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73736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920240" indent="-182880" algn="l" defTabSz="914400" rtl="0" eaLnBrk="1" latinLnBrk="0" hangingPunct="1">
              <a:spcBef>
                <a:spcPct val="20000"/>
              </a:spcBef>
              <a:buClr>
                <a:schemeClr val="accent1"/>
              </a:buClr>
              <a:buFont typeface="Arial" pitchFamily="34" charset="0"/>
              <a:buChar char="•"/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dirty="0"/>
              <a:t>The cell type can be change</a:t>
            </a:r>
          </a:p>
        </p:txBody>
      </p:sp>
      <p:sp>
        <p:nvSpPr>
          <p:cNvPr id="13" name="Oval 12"/>
          <p:cNvSpPr/>
          <p:nvPr/>
        </p:nvSpPr>
        <p:spPr>
          <a:xfrm rot="10385799">
            <a:off x="1338026" y="4371566"/>
            <a:ext cx="239624" cy="266570"/>
          </a:xfrm>
          <a:prstGeom prst="ellipse">
            <a:avLst/>
          </a:prstGeom>
          <a:noFill/>
          <a:ln w="28575" cmpd="sng">
            <a:solidFill>
              <a:schemeClr val="tx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1213341" y="4651571"/>
            <a:ext cx="244498" cy="924921"/>
          </a:xfrm>
          <a:prstGeom prst="straightConnector1">
            <a:avLst/>
          </a:prstGeom>
          <a:ln>
            <a:solidFill>
              <a:srgbClr val="D2533C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49033" y="4358131"/>
            <a:ext cx="933236" cy="237557"/>
          </a:xfrm>
          <a:prstGeom prst="ellipse">
            <a:avLst/>
          </a:prstGeom>
          <a:noFill/>
          <a:ln w="28575" cmpd="sng">
            <a:solidFill>
              <a:schemeClr val="tx2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/>
          <p:nvPr/>
        </p:nvCxnSpPr>
        <p:spPr>
          <a:xfrm flipH="1">
            <a:off x="3499962" y="3061860"/>
            <a:ext cx="321496" cy="1296271"/>
          </a:xfrm>
          <a:prstGeom prst="straightConnector1">
            <a:avLst/>
          </a:prstGeom>
          <a:ln>
            <a:solidFill>
              <a:srgbClr val="D2533C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8156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– Try it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Control + Enter OR        to execute cells</a:t>
            </a:r>
          </a:p>
          <a:p>
            <a:r>
              <a:rPr lang="en-US" sz="2400" dirty="0">
                <a:latin typeface="Courier"/>
                <a:cs typeface="Courier"/>
              </a:rPr>
              <a:t>In[#]</a:t>
            </a:r>
            <a:r>
              <a:rPr lang="en-US" sz="2400" dirty="0"/>
              <a:t> and </a:t>
            </a:r>
            <a:r>
              <a:rPr lang="en-US" dirty="0">
                <a:latin typeface="Courier"/>
                <a:cs typeface="Courier"/>
              </a:rPr>
              <a:t>Out[#]</a:t>
            </a:r>
            <a:r>
              <a:rPr lang="en-US" sz="2400" dirty="0"/>
              <a:t> indicates the order in which the cell was executed </a:t>
            </a:r>
          </a:p>
          <a:p>
            <a:pPr marL="274320" lvl="1" indent="0">
              <a:buNone/>
            </a:pPr>
            <a:r>
              <a:rPr lang="en-US" sz="1800" b="1" i="1" dirty="0">
                <a:solidFill>
                  <a:srgbClr val="FF0000"/>
                </a:solidFill>
              </a:rPr>
              <a:t>Note: ORDER MATTERS!</a:t>
            </a:r>
          </a:p>
          <a:p>
            <a:r>
              <a:rPr lang="en-US" dirty="0"/>
              <a:t>From toolbar can also: save, copy/cut cells, rearrange cells, interrupt kernel, restart kernel</a:t>
            </a:r>
            <a:endParaRPr lang="en-US" sz="2400" dirty="0"/>
          </a:p>
          <a:p>
            <a:pPr marL="274320" lvl="1" indent="0">
              <a:buNone/>
            </a:pPr>
            <a:endParaRPr lang="en-US" sz="2400" dirty="0"/>
          </a:p>
        </p:txBody>
      </p:sp>
      <p:pic>
        <p:nvPicPr>
          <p:cNvPr id="3" name="Picture 2" descr="Screen Shot 2017-12-24 at 8.22.21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833" y="4097887"/>
            <a:ext cx="8038968" cy="2217647"/>
          </a:xfrm>
          <a:prstGeom prst="rect">
            <a:avLst/>
          </a:prstGeom>
        </p:spPr>
      </p:pic>
      <p:pic>
        <p:nvPicPr>
          <p:cNvPr id="4" name="Picture 3" descr="Screen Shot 2017-12-24 at 8.27.08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0624" y="1600200"/>
            <a:ext cx="549867" cy="528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7076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– You 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Work on the Jupyter worksheet in Homework 1 for the remainder of class; whatever you do not finish </a:t>
            </a:r>
            <a:r>
              <a:rPr lang="en-US" b="1" dirty="0"/>
              <a:t>complete for homework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843903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rity">
  <a:themeElements>
    <a:clrScheme name="Clarity">
      <a:dk1>
        <a:srgbClr val="292934"/>
      </a:dk1>
      <a:lt1>
        <a:srgbClr val="FFFFFF"/>
      </a:lt1>
      <a:dk2>
        <a:srgbClr val="D2533C"/>
      </a:dk2>
      <a:lt2>
        <a:srgbClr val="F3F2DC"/>
      </a:lt2>
      <a:accent1>
        <a:srgbClr val="93A299"/>
      </a:accent1>
      <a:accent2>
        <a:srgbClr val="AD8F67"/>
      </a:accent2>
      <a:accent3>
        <a:srgbClr val="726056"/>
      </a:accent3>
      <a:accent4>
        <a:srgbClr val="4C5A6A"/>
      </a:accent4>
      <a:accent5>
        <a:srgbClr val="808DA0"/>
      </a:accent5>
      <a:accent6>
        <a:srgbClr val="79463D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돋움"/>
        <a:font script="Hans" typeface="华文新魏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larity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86000"/>
                <a:satMod val="140000"/>
              </a:schemeClr>
            </a:gs>
            <a:gs pos="45000">
              <a:schemeClr val="phClr">
                <a:tint val="48000"/>
                <a:satMod val="150000"/>
              </a:schemeClr>
            </a:gs>
            <a:gs pos="100000">
              <a:schemeClr val="phClr">
                <a:tint val="28000"/>
                <a:satMod val="16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70000"/>
                <a:satMod val="150000"/>
              </a:schemeClr>
            </a:gs>
            <a:gs pos="34000">
              <a:schemeClr val="phClr">
                <a:shade val="70000"/>
                <a:satMod val="140000"/>
              </a:schemeClr>
            </a:gs>
            <a:gs pos="70000">
              <a:schemeClr val="phClr">
                <a:tint val="100000"/>
                <a:shade val="90000"/>
                <a:satMod val="140000"/>
              </a:schemeClr>
            </a:gs>
            <a:gs pos="100000">
              <a:schemeClr val="phClr">
                <a:tint val="100000"/>
                <a:shade val="100000"/>
                <a:sat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6425" cap="flat" cmpd="sng" algn="ctr">
          <a:solidFill>
            <a:schemeClr val="phClr"/>
          </a:solidFill>
          <a:prstDash val="solid"/>
        </a:ln>
        <a:ln w="444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hade val="30000"/>
                <a:satMod val="13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5000"/>
                <a:satMod val="180000"/>
              </a:schemeClr>
            </a:gs>
            <a:gs pos="40000">
              <a:schemeClr val="phClr">
                <a:tint val="95000"/>
                <a:shade val="85000"/>
                <a:satMod val="150000"/>
              </a:schemeClr>
            </a:gs>
            <a:gs pos="100000">
              <a:schemeClr val="phClr">
                <a:shade val="45000"/>
                <a:satMod val="20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55000"/>
              </a:schemeClr>
              <a:schemeClr val="phClr">
                <a:tint val="97000"/>
                <a:satMod val="95000"/>
              </a:schemeClr>
            </a:duotone>
          </a:blip>
          <a:tile tx="0" ty="0" sx="70000" sy="7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Clarity.thmx</Template>
  <TotalTime>980</TotalTime>
  <Words>377</Words>
  <Application>Microsoft Office PowerPoint</Application>
  <PresentationFormat>On-screen Show (4:3)</PresentationFormat>
  <Paragraphs>47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Courier</vt:lpstr>
      <vt:lpstr>Wingdings</vt:lpstr>
      <vt:lpstr>Clarity</vt:lpstr>
      <vt:lpstr>PowerPoint Presentation</vt:lpstr>
      <vt:lpstr>Jupyter</vt:lpstr>
      <vt:lpstr>Jupyter</vt:lpstr>
      <vt:lpstr>Jupyter (cont’d)</vt:lpstr>
      <vt:lpstr>Jupyter – Try it</vt:lpstr>
      <vt:lpstr>Jupyter – Try it</vt:lpstr>
      <vt:lpstr>Jupyter – Try it</vt:lpstr>
      <vt:lpstr>Jupyter – You Try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 Information Systems</dc:title>
  <dc:creator>Dana Tomc</dc:creator>
  <cp:lastModifiedBy>Frommer, Ian Dr. (EDU)</cp:lastModifiedBy>
  <cp:revision>32</cp:revision>
  <cp:lastPrinted>2018-01-07T19:24:42Z</cp:lastPrinted>
  <dcterms:created xsi:type="dcterms:W3CDTF">2018-01-01T12:39:56Z</dcterms:created>
  <dcterms:modified xsi:type="dcterms:W3CDTF">2026-08-25T12:59:35Z</dcterms:modified>
</cp:coreProperties>
</file>