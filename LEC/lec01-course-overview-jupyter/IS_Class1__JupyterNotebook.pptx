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67" r:id="rId9"/>
  </p:sldIdLst>
  <p:sldSz cx="9144000" cy="6858000" type="screen4x3"/>
  <p:notesSz cx="9296400" cy="701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1FBF9F-35BD-4249-9BE5-5F495AAEEB1A}" v="1" dt="2026-08-24T17:19:16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2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4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A3E8E5B1-0D91-4643-B70B-3D065C8674E0}"/>
    <pc:docChg chg="custSel modSld">
      <pc:chgData name="Frommer, Ian Dr. (EDU)" userId="28ca3ff0-544f-450a-928b-99e19cf49b89" providerId="ADAL" clId="{A3E8E5B1-0D91-4643-B70B-3D065C8674E0}" dt="2026-08-24T17:20:49.350" v="131" actId="1076"/>
      <pc:docMkLst>
        <pc:docMk/>
      </pc:docMkLst>
      <pc:sldChg chg="addSp modSp mod">
        <pc:chgData name="Frommer, Ian Dr. (EDU)" userId="28ca3ff0-544f-450a-928b-99e19cf49b89" providerId="ADAL" clId="{A3E8E5B1-0D91-4643-B70B-3D065C8674E0}" dt="2026-08-24T17:20:49.350" v="131" actId="1076"/>
        <pc:sldMkLst>
          <pc:docMk/>
          <pc:sldMk cId="4040525063" sldId="281"/>
        </pc:sldMkLst>
        <pc:spChg chg="add mod">
          <ac:chgData name="Frommer, Ian Dr. (EDU)" userId="28ca3ff0-544f-450a-928b-99e19cf49b89" providerId="ADAL" clId="{A3E8E5B1-0D91-4643-B70B-3D065C8674E0}" dt="2026-08-24T17:20:49.350" v="131" actId="1076"/>
          <ac:spMkLst>
            <pc:docMk/>
            <pc:sldMk cId="4040525063" sldId="281"/>
            <ac:spMk id="4" creationId="{34186068-3291-DBBB-E851-33E36945791F}"/>
          </ac:spMkLst>
        </pc:spChg>
      </pc:sldChg>
      <pc:sldChg chg="addSp delSp modSp mod">
        <pc:chgData name="Frommer, Ian Dr. (EDU)" userId="28ca3ff0-544f-450a-928b-99e19cf49b89" providerId="ADAL" clId="{A3E8E5B1-0D91-4643-B70B-3D065C8674E0}" dt="2026-08-24T17:17:16.022" v="5" actId="1076"/>
        <pc:sldMkLst>
          <pc:docMk/>
          <pc:sldMk cId="3706901608" sldId="283"/>
        </pc:sldMkLst>
        <pc:picChg chg="del">
          <ac:chgData name="Frommer, Ian Dr. (EDU)" userId="28ca3ff0-544f-450a-928b-99e19cf49b89" providerId="ADAL" clId="{A3E8E5B1-0D91-4643-B70B-3D065C8674E0}" dt="2026-08-24T17:16:59.902" v="0" actId="478"/>
          <ac:picMkLst>
            <pc:docMk/>
            <pc:sldMk cId="3706901608" sldId="283"/>
            <ac:picMk id="3" creationId="{00000000-0000-0000-0000-000000000000}"/>
          </ac:picMkLst>
        </pc:picChg>
        <pc:picChg chg="add mod">
          <ac:chgData name="Frommer, Ian Dr. (EDU)" userId="28ca3ff0-544f-450a-928b-99e19cf49b89" providerId="ADAL" clId="{A3E8E5B1-0D91-4643-B70B-3D065C8674E0}" dt="2026-08-24T17:17:16.022" v="5" actId="1076"/>
          <ac:picMkLst>
            <pc:docMk/>
            <pc:sldMk cId="3706901608" sldId="283"/>
            <ac:picMk id="6" creationId="{E6FF8CBA-BE99-DFA4-1353-5CD7EFFCAE3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D26BD79-8CCC-4D1D-9135-5F2DDDC9A65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26C083C-C58C-4C55-8F47-F0ED2D9EE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279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309E764-6B51-3647-AA90-23DDC6992D7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6F87086-69E7-224D-8B9D-01B4C04BA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1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Markdown:</a:t>
            </a:r>
            <a:r>
              <a:rPr lang="en-US" baseline="0" dirty="0"/>
              <a:t> HTML, </a:t>
            </a:r>
            <a:r>
              <a:rPr lang="en-US" baseline="0" dirty="0" err="1"/>
              <a:t>LaTex</a:t>
            </a:r>
            <a:r>
              <a:rPr lang="en-US" baseline="0" dirty="0"/>
              <a:t>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F99BAC-56C1-2249-8B53-A23C195441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17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Markdown:</a:t>
            </a:r>
            <a:r>
              <a:rPr lang="en-US" baseline="0" dirty="0"/>
              <a:t> HTML, </a:t>
            </a:r>
            <a:r>
              <a:rPr lang="en-US" baseline="0" dirty="0" err="1"/>
              <a:t>LaTex</a:t>
            </a:r>
            <a:r>
              <a:rPr lang="en-US" baseline="0" dirty="0"/>
              <a:t>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F99BAC-56C1-2249-8B53-A23C195441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17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468E-2C0E-5A40-ACD7-4640A10B25A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46C16-6C1D-8944-A5D9-68555171BF3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468E-2C0E-5A40-ACD7-4640A10B25A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46C16-6C1D-8944-A5D9-68555171BF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468E-2C0E-5A40-ACD7-4640A10B25A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46C16-6C1D-8944-A5D9-68555171BF3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468E-2C0E-5A40-ACD7-4640A10B25A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46C16-6C1D-8944-A5D9-68555171BF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468E-2C0E-5A40-ACD7-4640A10B25A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46C16-6C1D-8944-A5D9-68555171BF3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468E-2C0E-5A40-ACD7-4640A10B25A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46C16-6C1D-8944-A5D9-68555171BF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468E-2C0E-5A40-ACD7-4640A10B25A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46C16-6C1D-8944-A5D9-68555171BF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468E-2C0E-5A40-ACD7-4640A10B25A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46C16-6C1D-8944-A5D9-68555171BF3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468E-2C0E-5A40-ACD7-4640A10B25A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46C16-6C1D-8944-A5D9-68555171BF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468E-2C0E-5A40-ACD7-4640A10B25A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46C16-6C1D-8944-A5D9-68555171BF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468E-2C0E-5A40-ACD7-4640A10B25A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46C16-6C1D-8944-A5D9-68555171BF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085A468E-2C0E-5A40-ACD7-4640A10B25A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15946C16-6C1D-8944-A5D9-68555171BF3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bviewer.jupyter.org/github/jupyter/notebook/blob/master/docs/source/examples/Notebook/Running%20Code.ipyn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llinger.io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97" y="3245729"/>
            <a:ext cx="4860638" cy="131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515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53000"/>
          </a:xfrm>
        </p:spPr>
        <p:txBody>
          <a:bodyPr>
            <a:normAutofit/>
          </a:bodyPr>
          <a:lstStyle/>
          <a:p>
            <a:r>
              <a:rPr lang="en-US" sz="2800" b="1" dirty="0"/>
              <a:t>What is it?</a:t>
            </a:r>
          </a:p>
          <a:p>
            <a:endParaRPr lang="en-US" sz="2800" b="1" dirty="0"/>
          </a:p>
          <a:p>
            <a:pPr lvl="1"/>
            <a:r>
              <a:rPr lang="en-US" sz="2400" dirty="0"/>
              <a:t>Interactive Notebook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Contains both Python code and Markdown (rich text); can include graphs produced by your code, pictures that enhance your report, etc.</a:t>
            </a:r>
          </a:p>
          <a:p>
            <a:pPr lvl="2"/>
            <a:r>
              <a:rPr lang="en-US" sz="2200" dirty="0"/>
              <a:t>Use Markdown as narrative text (different than Python comments)</a:t>
            </a:r>
          </a:p>
          <a:p>
            <a:pPr lvl="1"/>
            <a:endParaRPr lang="en-US" sz="2400" dirty="0">
              <a:hlinkClick r:id="rId3"/>
            </a:endParaRPr>
          </a:p>
          <a:p>
            <a:pPr lvl="1"/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186068-3291-DBBB-E851-33E36945791F}"/>
              </a:ext>
            </a:extLst>
          </p:cNvPr>
          <p:cNvSpPr txBox="1"/>
          <p:nvPr/>
        </p:nvSpPr>
        <p:spPr>
          <a:xfrm>
            <a:off x="1863306" y="5749036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online Markdown editor:  </a:t>
            </a:r>
            <a:r>
              <a:rPr lang="en-US" dirty="0">
                <a:hlinkClick r:id="rId4"/>
              </a:rPr>
              <a:t>https://dillinger.io/</a:t>
            </a:r>
            <a:br>
              <a:rPr lang="en-US" dirty="0"/>
            </a:br>
            <a:r>
              <a:rPr lang="en-US" dirty="0"/>
              <a:t>  useful for learning and writing Markdown</a:t>
            </a:r>
          </a:p>
          <a:p>
            <a:r>
              <a:rPr lang="en-US" dirty="0"/>
              <a:t>   let’s take a quick look</a:t>
            </a:r>
          </a:p>
        </p:txBody>
      </p:sp>
    </p:spTree>
    <p:extLst>
      <p:ext uri="{BB962C8B-B14F-4D97-AF65-F5344CB8AC3E}">
        <p14:creationId xmlns:p14="http://schemas.microsoft.com/office/powerpoint/2010/main" val="404052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Why use it?</a:t>
            </a:r>
          </a:p>
          <a:p>
            <a:pPr lvl="1"/>
            <a:r>
              <a:rPr lang="en-US" sz="2800" dirty="0"/>
              <a:t>Its readability makes it great for presenting work </a:t>
            </a:r>
          </a:p>
          <a:p>
            <a:pPr lvl="1"/>
            <a:r>
              <a:rPr lang="en-US" sz="2800" dirty="0"/>
              <a:t>Can include exploratory phase</a:t>
            </a:r>
          </a:p>
          <a:p>
            <a:pPr lvl="2"/>
            <a:r>
              <a:rPr lang="en-US" sz="2400" dirty="0"/>
              <a:t>Can leave in code, even if not part of your final product to show your thought process</a:t>
            </a:r>
          </a:p>
          <a:p>
            <a:pPr lvl="1"/>
            <a:r>
              <a:rPr lang="en-US" sz="2800" dirty="0"/>
              <a:t>You can write code in snippets (“cells”)</a:t>
            </a:r>
          </a:p>
          <a:p>
            <a:pPr lvl="2"/>
            <a:r>
              <a:rPr lang="en-US" sz="2400" dirty="0"/>
              <a:t>Faster: eliminates the need to rerun entire program</a:t>
            </a:r>
          </a:p>
          <a:p>
            <a:pPr lvl="2"/>
            <a:r>
              <a:rPr lang="en-US" sz="2400" dirty="0"/>
              <a:t>Visualization:  see the data as you work</a:t>
            </a:r>
          </a:p>
          <a:p>
            <a:pPr lvl="1"/>
            <a:endParaRPr lang="en-US" sz="3200" dirty="0"/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32180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(cont’d)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600200"/>
            <a:ext cx="5187142" cy="4817225"/>
          </a:xfrm>
        </p:spPr>
        <p:txBody>
          <a:bodyPr>
            <a:normAutofit/>
          </a:bodyPr>
          <a:lstStyle/>
          <a:p>
            <a:r>
              <a:rPr lang="en-US" sz="2800" b="1" dirty="0"/>
              <a:t>How do you launch it?</a:t>
            </a:r>
          </a:p>
          <a:p>
            <a:pPr lvl="1"/>
            <a:r>
              <a:rPr lang="en-US" sz="2400" dirty="0"/>
              <a:t>Installation – already done if you have Anaconda (from CML)</a:t>
            </a:r>
          </a:p>
          <a:p>
            <a:pPr lvl="1"/>
            <a:r>
              <a:rPr lang="en-US" sz="2400" dirty="0"/>
              <a:t>Open terminal / command prompt and enter:</a:t>
            </a:r>
          </a:p>
          <a:p>
            <a:pPr marL="274320" lvl="1" indent="0">
              <a:buNone/>
            </a:pPr>
            <a:r>
              <a:rPr lang="en-US" sz="2400" dirty="0"/>
              <a:t>	</a:t>
            </a:r>
            <a:r>
              <a:rPr lang="en-US" sz="2800" dirty="0" err="1">
                <a:latin typeface="Courier"/>
                <a:cs typeface="Courier"/>
              </a:rPr>
              <a:t>jupyter</a:t>
            </a:r>
            <a:r>
              <a:rPr lang="en-US" sz="2800" dirty="0">
                <a:latin typeface="Courier"/>
                <a:cs typeface="Courier"/>
              </a:rPr>
              <a:t> notebook</a:t>
            </a:r>
            <a:endParaRPr lang="en-US" sz="2400" dirty="0">
              <a:latin typeface="Courier"/>
              <a:cs typeface="Courier"/>
            </a:endParaRPr>
          </a:p>
          <a:p>
            <a:pPr marL="274320" lvl="1" indent="0">
              <a:buNone/>
            </a:pPr>
            <a:r>
              <a:rPr lang="en-US" sz="2400" dirty="0"/>
              <a:t>   OR search for </a:t>
            </a:r>
            <a:r>
              <a:rPr lang="en-US" sz="2400" dirty="0" err="1"/>
              <a:t>Jupyter</a:t>
            </a:r>
            <a:r>
              <a:rPr lang="en-US" sz="2400" dirty="0"/>
              <a:t> Notebook 	in your start menu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endParaRPr lang="en-US" sz="2400" dirty="0"/>
          </a:p>
          <a:p>
            <a:pPr marL="274320" lvl="1" indent="0">
              <a:buNone/>
            </a:pP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14B25-CAD5-D635-3288-F8B2E1324302}"/>
              </a:ext>
            </a:extLst>
          </p:cNvPr>
          <p:cNvSpPr txBox="1"/>
          <p:nvPr/>
        </p:nvSpPr>
        <p:spPr>
          <a:xfrm>
            <a:off x="671120" y="5494095"/>
            <a:ext cx="43268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 use the newer, more flexible </a:t>
            </a:r>
          </a:p>
          <a:p>
            <a:r>
              <a:rPr lang="en-US" b="1" dirty="0"/>
              <a:t>Jupyter Lab </a:t>
            </a:r>
            <a:r>
              <a:rPr lang="en-US" dirty="0"/>
              <a:t>– not shown in these slides</a:t>
            </a:r>
          </a:p>
          <a:p>
            <a:r>
              <a:rPr lang="en-US" dirty="0"/>
              <a:t>but we will show in 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FF8CBA-BE99-DFA4-1353-5CD7EFFCA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859" y="2342819"/>
            <a:ext cx="3797393" cy="41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0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– Try it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Launch </a:t>
            </a:r>
            <a:r>
              <a:rPr lang="en-US" sz="2800" dirty="0" err="1"/>
              <a:t>Jupyter</a:t>
            </a:r>
            <a:endParaRPr lang="en-US" sz="2800" dirty="0"/>
          </a:p>
          <a:p>
            <a:pPr lvl="1"/>
            <a:r>
              <a:rPr lang="en-US" dirty="0"/>
              <a:t>Navigation will open in your web browser</a:t>
            </a:r>
          </a:p>
          <a:p>
            <a:pPr marL="274320" lvl="1" indent="0">
              <a:buNone/>
            </a:pPr>
            <a:r>
              <a:rPr lang="en-US" dirty="0"/>
              <a:t>   (</a:t>
            </a:r>
            <a:r>
              <a:rPr lang="en-US" sz="1600" i="1" dirty="0"/>
              <a:t>Note: you do NOT need internet access to use </a:t>
            </a:r>
            <a:r>
              <a:rPr lang="en-US" sz="1600" i="1" dirty="0" err="1"/>
              <a:t>Jupyter</a:t>
            </a:r>
            <a:r>
              <a:rPr lang="en-US" sz="1600" i="1" dirty="0"/>
              <a:t>)</a:t>
            </a:r>
            <a:endParaRPr lang="en-US" sz="2800" dirty="0"/>
          </a:p>
          <a:p>
            <a:r>
              <a:rPr lang="en-US" sz="2800" dirty="0"/>
              <a:t>Create a path to save your IS files in</a:t>
            </a:r>
          </a:p>
          <a:p>
            <a:r>
              <a:rPr lang="en-US" sz="2800" dirty="0"/>
              <a:t>Open a new </a:t>
            </a:r>
            <a:r>
              <a:rPr lang="en-US" sz="2800" dirty="0" err="1"/>
              <a:t>ipynb</a:t>
            </a:r>
            <a:endParaRPr lang="en-US" sz="2800" dirty="0"/>
          </a:p>
          <a:p>
            <a:endParaRPr lang="en-US" sz="2400" dirty="0"/>
          </a:p>
          <a:p>
            <a:pPr marL="274320" lvl="1" indent="0">
              <a:buNone/>
            </a:pPr>
            <a:endParaRPr lang="en-US" sz="2400" dirty="0"/>
          </a:p>
        </p:txBody>
      </p:sp>
      <p:pic>
        <p:nvPicPr>
          <p:cNvPr id="4" name="Picture 3" descr="Screen Shot 2017-12-24 at 8.12.3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78" y="4273412"/>
            <a:ext cx="8442222" cy="220358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293695" y="5335895"/>
            <a:ext cx="543105" cy="237557"/>
          </a:xfrm>
          <a:prstGeom prst="ellipse">
            <a:avLst/>
          </a:prstGeom>
          <a:noFill/>
          <a:ln w="28575" cmpd="sng">
            <a:solidFill>
              <a:schemeClr val="tx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454588" y="3288618"/>
            <a:ext cx="1190036" cy="2013702"/>
          </a:xfrm>
          <a:prstGeom prst="straightConnector1">
            <a:avLst/>
          </a:prstGeom>
          <a:ln>
            <a:solidFill>
              <a:srgbClr val="D2533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293695" y="5967346"/>
            <a:ext cx="543105" cy="237557"/>
          </a:xfrm>
          <a:prstGeom prst="ellipse">
            <a:avLst/>
          </a:prstGeom>
          <a:noFill/>
          <a:ln w="28575" cmpd="sng">
            <a:solidFill>
              <a:schemeClr val="tx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649070" y="3620323"/>
            <a:ext cx="3995554" cy="2347023"/>
          </a:xfrm>
          <a:prstGeom prst="straightConnector1">
            <a:avLst/>
          </a:prstGeom>
          <a:ln>
            <a:solidFill>
              <a:srgbClr val="D2533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857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– Try it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This will open a new .</a:t>
            </a:r>
            <a:r>
              <a:rPr lang="en-US" sz="2800" dirty="0" err="1"/>
              <a:t>ipynb</a:t>
            </a:r>
            <a:r>
              <a:rPr lang="en-US" sz="2800" dirty="0"/>
              <a:t> file.  You can change the name of the file here.</a:t>
            </a:r>
          </a:p>
          <a:p>
            <a:endParaRPr lang="en-US" sz="2400" dirty="0"/>
          </a:p>
          <a:p>
            <a:pPr marL="274320" lvl="1" indent="0">
              <a:buNone/>
            </a:pPr>
            <a:endParaRPr lang="en-US" sz="2400" dirty="0"/>
          </a:p>
        </p:txBody>
      </p:sp>
      <p:pic>
        <p:nvPicPr>
          <p:cNvPr id="3" name="Picture 2" descr="Screen Shot 2017-12-24 at 8.07.4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082" y="3948685"/>
            <a:ext cx="7580718" cy="145633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896688" y="3948685"/>
            <a:ext cx="543105" cy="237557"/>
          </a:xfrm>
          <a:prstGeom prst="ellipse">
            <a:avLst/>
          </a:prstGeom>
          <a:noFill/>
          <a:ln w="28575" cmpd="sng">
            <a:solidFill>
              <a:schemeClr val="tx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247617" y="2494849"/>
            <a:ext cx="0" cy="1453836"/>
          </a:xfrm>
          <a:prstGeom prst="straightConnector1">
            <a:avLst/>
          </a:prstGeom>
          <a:ln>
            <a:solidFill>
              <a:srgbClr val="D2533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/>
          <p:cNvSpPr txBox="1">
            <a:spLocks/>
          </p:cNvSpPr>
          <p:nvPr/>
        </p:nvSpPr>
        <p:spPr>
          <a:xfrm>
            <a:off x="601000" y="5488668"/>
            <a:ext cx="6060989" cy="1140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You can add a cell using the + button in the toolbar</a:t>
            </a:r>
          </a:p>
          <a:p>
            <a:endParaRPr lang="en-US" dirty="0"/>
          </a:p>
          <a:p>
            <a:pPr marL="274320" lvl="1" indent="0"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2" name="Content Placeholder 8"/>
          <p:cNvSpPr txBox="1">
            <a:spLocks/>
          </p:cNvSpPr>
          <p:nvPr/>
        </p:nvSpPr>
        <p:spPr>
          <a:xfrm>
            <a:off x="2851232" y="2624569"/>
            <a:ext cx="6060989" cy="1140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The cell type can be change</a:t>
            </a:r>
          </a:p>
        </p:txBody>
      </p:sp>
      <p:sp>
        <p:nvSpPr>
          <p:cNvPr id="13" name="Oval 12"/>
          <p:cNvSpPr/>
          <p:nvPr/>
        </p:nvSpPr>
        <p:spPr>
          <a:xfrm rot="10385799">
            <a:off x="1338026" y="4371566"/>
            <a:ext cx="239624" cy="266570"/>
          </a:xfrm>
          <a:prstGeom prst="ellipse">
            <a:avLst/>
          </a:prstGeom>
          <a:noFill/>
          <a:ln w="28575" cmpd="sng">
            <a:solidFill>
              <a:schemeClr val="tx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1213341" y="4651571"/>
            <a:ext cx="244498" cy="924921"/>
          </a:xfrm>
          <a:prstGeom prst="straightConnector1">
            <a:avLst/>
          </a:prstGeom>
          <a:ln>
            <a:solidFill>
              <a:srgbClr val="D2533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149033" y="4358131"/>
            <a:ext cx="933236" cy="237557"/>
          </a:xfrm>
          <a:prstGeom prst="ellipse">
            <a:avLst/>
          </a:prstGeom>
          <a:noFill/>
          <a:ln w="28575" cmpd="sng">
            <a:solidFill>
              <a:schemeClr val="tx2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499962" y="3061860"/>
            <a:ext cx="321496" cy="1296271"/>
          </a:xfrm>
          <a:prstGeom prst="straightConnector1">
            <a:avLst/>
          </a:prstGeom>
          <a:ln>
            <a:solidFill>
              <a:srgbClr val="D2533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156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– Try it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Control + Enter OR        to execute cells</a:t>
            </a:r>
          </a:p>
          <a:p>
            <a:r>
              <a:rPr lang="en-US" sz="2400" dirty="0">
                <a:latin typeface="Courier"/>
                <a:cs typeface="Courier"/>
              </a:rPr>
              <a:t>In[#]</a:t>
            </a:r>
            <a:r>
              <a:rPr lang="en-US" sz="2400" dirty="0"/>
              <a:t> and </a:t>
            </a:r>
            <a:r>
              <a:rPr lang="en-US" dirty="0">
                <a:latin typeface="Courier"/>
                <a:cs typeface="Courier"/>
              </a:rPr>
              <a:t>Out[#]</a:t>
            </a:r>
            <a:r>
              <a:rPr lang="en-US" sz="2400" dirty="0"/>
              <a:t> indicates the order in which the cell was executed </a:t>
            </a:r>
          </a:p>
          <a:p>
            <a:pPr marL="274320" lvl="1" indent="0"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Note: ORDER MATTERS!</a:t>
            </a:r>
          </a:p>
          <a:p>
            <a:r>
              <a:rPr lang="en-US" dirty="0"/>
              <a:t>From toolbar can also: save, copy/cut cells, rearrange cells, interrupt kernel, restart kernel</a:t>
            </a:r>
            <a:endParaRPr lang="en-US" sz="2400" dirty="0"/>
          </a:p>
          <a:p>
            <a:pPr marL="274320" lvl="1" indent="0">
              <a:buNone/>
            </a:pPr>
            <a:endParaRPr lang="en-US" sz="2400" dirty="0"/>
          </a:p>
        </p:txBody>
      </p:sp>
      <p:pic>
        <p:nvPicPr>
          <p:cNvPr id="3" name="Picture 2" descr="Screen Shot 2017-12-24 at 8.22.2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33" y="4097887"/>
            <a:ext cx="8038968" cy="2217647"/>
          </a:xfrm>
          <a:prstGeom prst="rect">
            <a:avLst/>
          </a:prstGeom>
        </p:spPr>
      </p:pic>
      <p:pic>
        <p:nvPicPr>
          <p:cNvPr id="4" name="Picture 3" descr="Screen Shot 2017-12-24 at 8.27.08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624" y="1600200"/>
            <a:ext cx="549867" cy="52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07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– You 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Work on the Jupyter worksheet in Homework 1 for the remainder of class; whatever you do not finish </a:t>
            </a:r>
            <a:r>
              <a:rPr lang="en-US" b="1" dirty="0"/>
              <a:t>complete for homework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43903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979</TotalTime>
  <Words>367</Words>
  <Application>Microsoft Office PowerPoint</Application>
  <PresentationFormat>On-screen Show (4:3)</PresentationFormat>
  <Paragraphs>47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</vt:lpstr>
      <vt:lpstr>Wingdings</vt:lpstr>
      <vt:lpstr>Clarity</vt:lpstr>
      <vt:lpstr>PowerPoint Presentation</vt:lpstr>
      <vt:lpstr>Jupyter</vt:lpstr>
      <vt:lpstr>Jupyter</vt:lpstr>
      <vt:lpstr>Jupyter (cont’d)</vt:lpstr>
      <vt:lpstr>Jupyter – Try it</vt:lpstr>
      <vt:lpstr>Jupyter – Try it</vt:lpstr>
      <vt:lpstr>Jupyter – Try it</vt:lpstr>
      <vt:lpstr>Jupyter – You 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 Information Systems</dc:title>
  <dc:creator>Dana Tomc</dc:creator>
  <cp:lastModifiedBy>Frommer, Ian Dr. (EDU)</cp:lastModifiedBy>
  <cp:revision>32</cp:revision>
  <cp:lastPrinted>2018-01-07T19:24:42Z</cp:lastPrinted>
  <dcterms:created xsi:type="dcterms:W3CDTF">2018-01-01T12:39:56Z</dcterms:created>
  <dcterms:modified xsi:type="dcterms:W3CDTF">2026-08-24T17:20:54Z</dcterms:modified>
</cp:coreProperties>
</file>