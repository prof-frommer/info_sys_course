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39" r:id="rId1"/>
  </p:sldMasterIdLst>
  <p:notesMasterIdLst>
    <p:notesMasterId r:id="rId12"/>
  </p:notesMasterIdLst>
  <p:sldIdLst>
    <p:sldId id="267" r:id="rId2"/>
    <p:sldId id="277" r:id="rId3"/>
    <p:sldId id="268" r:id="rId4"/>
    <p:sldId id="271" r:id="rId5"/>
    <p:sldId id="275" r:id="rId6"/>
    <p:sldId id="272" r:id="rId7"/>
    <p:sldId id="276" r:id="rId8"/>
    <p:sldId id="273" r:id="rId9"/>
    <p:sldId id="274" r:id="rId10"/>
    <p:sldId id="278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182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ommer, Ian Dr. (EDU)" userId="28ca3ff0-544f-450a-928b-99e19cf49b89" providerId="ADAL" clId="{89C4BA3D-2EB0-456B-AAA5-DC89AB6C4C47}"/>
    <pc:docChg chg="custSel modSld">
      <pc:chgData name="Frommer, Ian Dr. (EDU)" userId="28ca3ff0-544f-450a-928b-99e19cf49b89" providerId="ADAL" clId="{89C4BA3D-2EB0-456B-AAA5-DC89AB6C4C47}" dt="2023-08-23T17:50:22.633" v="184" actId="20577"/>
      <pc:docMkLst>
        <pc:docMk/>
      </pc:docMkLst>
      <pc:sldChg chg="modSp mod">
        <pc:chgData name="Frommer, Ian Dr. (EDU)" userId="28ca3ff0-544f-450a-928b-99e19cf49b89" providerId="ADAL" clId="{89C4BA3D-2EB0-456B-AAA5-DC89AB6C4C47}" dt="2023-08-23T17:50:22.633" v="184" actId="20577"/>
        <pc:sldMkLst>
          <pc:docMk/>
          <pc:sldMk cId="1978414047" sldId="278"/>
        </pc:sldMkLst>
        <pc:spChg chg="mod">
          <ac:chgData name="Frommer, Ian Dr. (EDU)" userId="28ca3ff0-544f-450a-928b-99e19cf49b89" providerId="ADAL" clId="{89C4BA3D-2EB0-456B-AAA5-DC89AB6C4C47}" dt="2023-08-23T17:50:22.633" v="184" actId="20577"/>
          <ac:spMkLst>
            <pc:docMk/>
            <pc:sldMk cId="1978414047" sldId="278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14141B-6F02-4849-B911-A760B827C6D1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F99BAC-56C1-2249-8B53-A23C1954413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682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Markdown:</a:t>
            </a:r>
            <a:r>
              <a:rPr lang="en-US" baseline="0" dirty="0"/>
              <a:t> HTML, </a:t>
            </a:r>
            <a:r>
              <a:rPr lang="en-US" baseline="0" dirty="0" err="1"/>
              <a:t>LaTex</a:t>
            </a:r>
            <a:r>
              <a:rPr lang="en-US" baseline="0" dirty="0"/>
              <a:t>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F99BAC-56C1-2249-8B53-A23C1954413F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55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B3CC-F982-40F9-8DD6-BCC9AFBF44BD}" type="datetime1">
              <a:rPr lang="en-US" smtClean="0"/>
              <a:pPr/>
              <a:t>8/23/2023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DAE5B-B07C-441A-8026-C23A427A74DC}" type="datetime1">
              <a:rPr lang="en-US" smtClean="0"/>
              <a:pPr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5B1FEA-406A-7749-A5C3-DDCB5F67A4C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28671922-62D5-6145-B78A-53A244D2CF06}" type="datetimeFigureOut">
              <a:rPr lang="en-US" smtClean="0"/>
              <a:pPr/>
              <a:t>8/23/2023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CBA5C87E-8AFA-FA46-BA3D-975564CEF99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0" r:id="rId1"/>
    <p:sldLayoutId id="2147484041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pandas.pydata.org/pandas-docs/stable/tutorials.html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nbviewer.jupyter.org/github/jupyter/notebook/blob/master/docs/source/examples/Notebook/Running%20Code.ipynb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ata.cityofnewyork.us/dataset/311-Service-Requests-From-2011/fpz8-jqf4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reen Shot 2017-12-24 at 8.31.0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69" y="4688140"/>
            <a:ext cx="2977700" cy="164198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734" y="832478"/>
            <a:ext cx="6864546" cy="343227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377690" y="4852801"/>
            <a:ext cx="451273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Reference:</a:t>
            </a:r>
          </a:p>
          <a:p>
            <a:r>
              <a:rPr lang="en-US" dirty="0">
                <a:hlinkClick r:id="rId4"/>
              </a:rPr>
              <a:t>https://pandas.pydata.org/pandas-docs/stable/tutorials.html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5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571625" y="4192359"/>
            <a:ext cx="7696200" cy="20478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3850"/>
            <a:ext cx="8229600" cy="866775"/>
          </a:xfrm>
        </p:spPr>
        <p:txBody>
          <a:bodyPr/>
          <a:lstStyle/>
          <a:p>
            <a:r>
              <a:rPr lang="en-US" dirty="0" err="1"/>
              <a:t>DataFrames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7650" y="1190625"/>
            <a:ext cx="8743950" cy="5667375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Recall these tables we saw last time:</a:t>
            </a:r>
          </a:p>
          <a:p>
            <a:pPr>
              <a:buNone/>
            </a:pPr>
            <a:r>
              <a:rPr lang="en-US" sz="2000" i="1" dirty="0"/>
              <a:t>  Singapore </a:t>
            </a:r>
          </a:p>
          <a:p>
            <a:pPr>
              <a:buNone/>
            </a:pPr>
            <a:r>
              <a:rPr lang="en-US" sz="2000" i="1" dirty="0"/>
              <a:t>train incidents: </a:t>
            </a:r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r>
              <a:rPr lang="en-US" sz="2000" i="1" dirty="0"/>
              <a:t>  Dunkin’</a:t>
            </a:r>
          </a:p>
          <a:p>
            <a:pPr>
              <a:buNone/>
            </a:pPr>
            <a:r>
              <a:rPr lang="en-US" sz="2000" i="1" dirty="0"/>
              <a:t>locations:</a:t>
            </a:r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i="1" dirty="0"/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200" dirty="0"/>
              <a:t>Tables of data with attached row and column labels are called </a:t>
            </a:r>
            <a:r>
              <a:rPr lang="en-US" sz="2200" b="1" dirty="0" err="1"/>
              <a:t>DataFrames</a:t>
            </a:r>
            <a:endParaRPr lang="en-US" sz="2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7065" y="1809750"/>
            <a:ext cx="6319735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Pandas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Python library used for data “wrangling” and analysis</a:t>
            </a:r>
          </a:p>
          <a:p>
            <a:r>
              <a:rPr lang="en-US" dirty="0"/>
              <a:t>Provides efficient implementation of </a:t>
            </a:r>
            <a:r>
              <a:rPr lang="en-US" b="1" dirty="0" err="1"/>
              <a:t>DataFrames</a:t>
            </a:r>
            <a:endParaRPr lang="en-US" b="1" dirty="0"/>
          </a:p>
          <a:p>
            <a:r>
              <a:rPr lang="en-US" dirty="0"/>
              <a:t>Offers powerful data operations familiar to users of both:</a:t>
            </a:r>
          </a:p>
          <a:p>
            <a:pPr lvl="1"/>
            <a:r>
              <a:rPr lang="en-US" dirty="0"/>
              <a:t>Spreadsheet programs and</a:t>
            </a:r>
          </a:p>
          <a:p>
            <a:pPr lvl="1"/>
            <a:r>
              <a:rPr lang="en-US" dirty="0"/>
              <a:t>Database frameworks</a:t>
            </a:r>
          </a:p>
          <a:p>
            <a:r>
              <a:rPr lang="en-US" dirty="0"/>
              <a:t>Often used by Data Scientists</a:t>
            </a:r>
          </a:p>
          <a:p>
            <a:pPr lvl="1"/>
            <a:endParaRPr lang="en-US" sz="2400" dirty="0"/>
          </a:p>
          <a:p>
            <a:pPr lvl="1"/>
            <a:endParaRPr lang="en-US" sz="2400" dirty="0">
              <a:hlinkClick r:id="rId3"/>
            </a:endParaRPr>
          </a:p>
          <a:p>
            <a:pPr lvl="1"/>
            <a:endParaRPr lang="en-US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/>
          <a:srcRect r="27450" b="43095"/>
          <a:stretch>
            <a:fillRect/>
          </a:stretch>
        </p:blipFill>
        <p:spPr>
          <a:xfrm>
            <a:off x="4747384" y="3417685"/>
            <a:ext cx="4383475" cy="2025606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4989366" y="3959768"/>
            <a:ext cx="1807028" cy="40277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61256" y="4291786"/>
            <a:ext cx="4728109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To use Pandas, import the library, typically as follows:</a:t>
            </a:r>
          </a:p>
          <a:p>
            <a:pPr>
              <a:buNone/>
            </a:pPr>
            <a:endParaRPr lang="en-US" sz="2000" dirty="0">
              <a:latin typeface="Courier"/>
              <a:cs typeface="Courier"/>
            </a:endParaRPr>
          </a:p>
          <a:p>
            <a:pPr>
              <a:buNone/>
            </a:pPr>
            <a:r>
              <a:rPr lang="en-US" sz="2800" dirty="0">
                <a:latin typeface="Courier"/>
                <a:cs typeface="Courier"/>
              </a:rPr>
              <a:t>	import pandas as pd</a:t>
            </a:r>
            <a:endParaRPr lang="en-US" sz="2400" dirty="0">
              <a:latin typeface="Courier"/>
              <a:cs typeface="Courier"/>
            </a:endParaRPr>
          </a:p>
          <a:p>
            <a:pPr>
              <a:buNone/>
            </a:pPr>
            <a:endParaRPr lang="en-US" sz="1400" dirty="0"/>
          </a:p>
          <a:p>
            <a:pPr>
              <a:buNone/>
            </a:pPr>
            <a:r>
              <a:rPr lang="en-US" dirty="0"/>
              <a:t>(use </a:t>
            </a:r>
            <a:r>
              <a:rPr lang="en-US" dirty="0">
                <a:latin typeface="Courier"/>
                <a:cs typeface="Courier"/>
              </a:rPr>
              <a:t>pd</a:t>
            </a:r>
            <a:r>
              <a:rPr lang="en-US" dirty="0"/>
              <a:t> as an alias to </a:t>
            </a:r>
            <a:r>
              <a:rPr lang="en-US" dirty="0">
                <a:latin typeface="Courier"/>
                <a:cs typeface="Courier"/>
              </a:rPr>
              <a:t>pandas</a:t>
            </a:r>
            <a:r>
              <a:rPr lang="en-US" dirty="0"/>
              <a:t> – much simpler to type!)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725C8F-4883-D75B-C94D-4D5F07363123}"/>
              </a:ext>
            </a:extLst>
          </p:cNvPr>
          <p:cNvSpPr txBox="1"/>
          <p:nvPr/>
        </p:nvSpPr>
        <p:spPr>
          <a:xfrm>
            <a:off x="5448693" y="5806910"/>
            <a:ext cx="335594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if pandas is not found, install it in an Anaconda prompt by typing “pip install pandas”</a:t>
            </a:r>
          </a:p>
        </p:txBody>
      </p:sp>
    </p:spTree>
    <p:extLst>
      <p:ext uri="{BB962C8B-B14F-4D97-AF65-F5344CB8AC3E}">
        <p14:creationId xmlns:p14="http://schemas.microsoft.com/office/powerpoint/2010/main" val="12526920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1. Creating a Pandas </a:t>
            </a:r>
            <a:r>
              <a:rPr lang="en-US" sz="3600" dirty="0" err="1"/>
              <a:t>DataFrame</a:t>
            </a:r>
            <a:endParaRPr lang="en-US" sz="3600" dirty="0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158"/>
          </a:xfrm>
        </p:spPr>
        <p:txBody>
          <a:bodyPr>
            <a:normAutofit lnSpcReduction="10000"/>
          </a:bodyPr>
          <a:lstStyle/>
          <a:p>
            <a:pPr lvl="1">
              <a:buNone/>
            </a:pPr>
            <a:r>
              <a:rPr lang="en-US" sz="2400" b="1" dirty="0"/>
              <a:t>There are many methods.  Here are some: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Using a </a:t>
            </a:r>
            <a:r>
              <a:rPr lang="en-US" sz="2400" b="1" dirty="0" err="1"/>
              <a:t>numpy</a:t>
            </a:r>
            <a:r>
              <a:rPr lang="en-US" sz="2400" b="1" dirty="0"/>
              <a:t>* array </a:t>
            </a:r>
            <a:r>
              <a:rPr lang="en-US" sz="2400" dirty="0"/>
              <a:t>of your data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dirty="0"/>
              <a:t>Using a </a:t>
            </a:r>
            <a:r>
              <a:rPr lang="en-US" sz="2400" b="1" dirty="0"/>
              <a:t>dictionary</a:t>
            </a:r>
            <a:r>
              <a:rPr lang="en-US" sz="2400" dirty="0"/>
              <a:t> of your data</a:t>
            </a:r>
          </a:p>
          <a:p>
            <a:pPr marL="731520" lvl="1" indent="-457200">
              <a:buFont typeface="+mj-lt"/>
              <a:buAutoNum type="arabicPeriod"/>
            </a:pPr>
            <a:r>
              <a:rPr lang="en-US" sz="2400" b="1" dirty="0"/>
              <a:t>Importing</a:t>
            </a:r>
            <a:r>
              <a:rPr lang="en-US" sz="2400" dirty="0"/>
              <a:t> data into a </a:t>
            </a:r>
            <a:r>
              <a:rPr lang="en-US" sz="2400" dirty="0" err="1"/>
              <a:t>DataFrame</a:t>
            </a:r>
            <a:r>
              <a:rPr lang="en-US" sz="2400" dirty="0"/>
              <a:t> from a </a:t>
            </a:r>
            <a:r>
              <a:rPr lang="en-US" sz="2400" b="1" dirty="0" err="1"/>
              <a:t>csv</a:t>
            </a:r>
            <a:r>
              <a:rPr lang="en-US" sz="2400" dirty="0"/>
              <a:t> file</a:t>
            </a:r>
          </a:p>
          <a:p>
            <a:pPr marL="731520" lvl="1" indent="-457200">
              <a:buNone/>
            </a:pPr>
            <a:endParaRPr lang="en-US" sz="2400" dirty="0">
              <a:latin typeface="Courier"/>
              <a:cs typeface="Courier"/>
            </a:endParaRPr>
          </a:p>
          <a:p>
            <a:pPr marL="731520" lvl="1" indent="-457200">
              <a:buNone/>
            </a:pP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df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 = </a:t>
            </a:r>
            <a:r>
              <a:rPr lang="en-US" sz="2000" dirty="0" err="1">
                <a:latin typeface="Courier New" pitchFamily="49" charset="0"/>
                <a:cs typeface="Courier New" pitchFamily="49" charset="0"/>
              </a:rPr>
              <a:t>pd.read_csv</a:t>
            </a:r>
            <a:r>
              <a:rPr lang="en-US" sz="2000" dirty="0">
                <a:latin typeface="Courier New" pitchFamily="49" charset="0"/>
                <a:cs typeface="Courier New" pitchFamily="49" charset="0"/>
              </a:rPr>
              <a:t>(‘filename.csv’)</a:t>
            </a:r>
          </a:p>
          <a:p>
            <a:pPr marL="731520" lvl="1" indent="-457200">
              <a:buNone/>
            </a:pPr>
            <a:r>
              <a:rPr lang="en-US" dirty="0">
                <a:cs typeface="Courier"/>
              </a:rPr>
              <a:t>  Example: </a:t>
            </a:r>
          </a:p>
          <a:p>
            <a:pPr marL="731520" lvl="1" indent="-457200">
              <a:buNone/>
            </a:pPr>
            <a:r>
              <a:rPr lang="en-US" sz="1600" dirty="0">
                <a:cs typeface="Courier"/>
                <a:hlinkClick r:id="rId2"/>
              </a:rPr>
              <a:t>https://data.cityofnewyork.us/dataset/311-Service-Requests-From-2011/fpz8-jqf4</a:t>
            </a:r>
            <a:endParaRPr lang="en-US" sz="1600" dirty="0">
              <a:cs typeface="Courier"/>
            </a:endParaRPr>
          </a:p>
          <a:p>
            <a:pPr marL="548640" lvl="2" indent="0">
              <a:buNone/>
            </a:pPr>
            <a:endParaRPr lang="en-US" sz="2200" dirty="0"/>
          </a:p>
          <a:p>
            <a:pPr marL="548640" lvl="2" indent="0">
              <a:buNone/>
            </a:pPr>
            <a:endParaRPr lang="en-US" sz="2200" dirty="0"/>
          </a:p>
          <a:p>
            <a:pPr marL="548640" lvl="2" indent="0">
              <a:buNone/>
            </a:pPr>
            <a:endParaRPr lang="en-US" sz="2200" dirty="0"/>
          </a:p>
          <a:p>
            <a:pPr marL="548640" lvl="2" indent="0">
              <a:buNone/>
            </a:pPr>
            <a:r>
              <a:rPr lang="en-US" sz="2200" dirty="0"/>
              <a:t>* </a:t>
            </a:r>
            <a:r>
              <a:rPr lang="en-US" sz="2200" b="1" dirty="0" err="1"/>
              <a:t>numpy</a:t>
            </a:r>
            <a:r>
              <a:rPr lang="en-US" sz="2200" dirty="0"/>
              <a:t> is a Python library with support for mathematical functions, array manipulation, and more</a:t>
            </a:r>
          </a:p>
        </p:txBody>
      </p:sp>
    </p:spTree>
    <p:extLst>
      <p:ext uri="{BB962C8B-B14F-4D97-AF65-F5344CB8AC3E}">
        <p14:creationId xmlns:p14="http://schemas.microsoft.com/office/powerpoint/2010/main" val="2995507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Pandas</a:t>
            </a:r>
            <a:br>
              <a:rPr lang="en-US" dirty="0"/>
            </a:br>
            <a:r>
              <a:rPr lang="en-US" sz="3600" dirty="0"/>
              <a:t>2. Inspecting the data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158"/>
          </a:xfrm>
        </p:spPr>
        <p:txBody>
          <a:bodyPr>
            <a:normAutofit/>
          </a:bodyPr>
          <a:lstStyle/>
          <a:p>
            <a:pPr lvl="1"/>
            <a:endParaRPr lang="en-US" sz="2400" b="1" dirty="0"/>
          </a:p>
          <a:p>
            <a:pPr lvl="1"/>
            <a:endParaRPr lang="en-US" sz="2400" b="1" dirty="0"/>
          </a:p>
          <a:p>
            <a:pPr lvl="1"/>
            <a:r>
              <a:rPr lang="en-US" sz="2400" b="1" dirty="0"/>
              <a:t>Looking at the first / last few rows:</a:t>
            </a:r>
          </a:p>
          <a:p>
            <a:pPr marL="548640" lvl="2" indent="0">
              <a:buNone/>
            </a:pPr>
            <a:r>
              <a:rPr lang="en-US" sz="2200" dirty="0"/>
              <a:t>	</a:t>
            </a:r>
            <a:r>
              <a:rPr lang="en-US" sz="2000" dirty="0" err="1">
                <a:latin typeface="Courier"/>
                <a:cs typeface="Courier"/>
              </a:rPr>
              <a:t>df.head</a:t>
            </a:r>
            <a:r>
              <a:rPr lang="en-US" sz="2000" dirty="0">
                <a:latin typeface="Courier"/>
                <a:cs typeface="Courier"/>
              </a:rPr>
              <a:t>()		</a:t>
            </a:r>
            <a:r>
              <a:rPr lang="en-US" sz="2000" dirty="0" err="1">
                <a:latin typeface="Courier"/>
                <a:cs typeface="Courier"/>
              </a:rPr>
              <a:t>df.tail</a:t>
            </a:r>
            <a:r>
              <a:rPr lang="en-US" sz="2000" dirty="0">
                <a:latin typeface="Courier"/>
                <a:cs typeface="Courier"/>
              </a:rPr>
              <a:t>()</a:t>
            </a:r>
          </a:p>
          <a:p>
            <a:pPr lvl="1"/>
            <a:endParaRPr lang="en-US" sz="2200" b="1" dirty="0"/>
          </a:p>
          <a:p>
            <a:pPr lvl="1"/>
            <a:r>
              <a:rPr lang="en-US" sz="2200" b="1" dirty="0"/>
              <a:t>To see a summary of the data</a:t>
            </a:r>
          </a:p>
          <a:p>
            <a:pPr marL="548640" lvl="2" indent="0">
              <a:buNone/>
            </a:pPr>
            <a:r>
              <a:rPr lang="en-US" sz="2000" dirty="0">
                <a:latin typeface="Courier"/>
                <a:cs typeface="Courier"/>
              </a:rPr>
              <a:t>	</a:t>
            </a:r>
            <a:r>
              <a:rPr lang="en-US" sz="2000" dirty="0" err="1">
                <a:latin typeface="Courier"/>
                <a:cs typeface="Courier"/>
              </a:rPr>
              <a:t>df.info</a:t>
            </a:r>
            <a:r>
              <a:rPr lang="en-US" sz="2000" dirty="0">
                <a:latin typeface="Courier"/>
                <a:cs typeface="Courier"/>
              </a:rPr>
              <a:t>()</a:t>
            </a:r>
          </a:p>
          <a:p>
            <a:pPr marL="548640" lvl="2" indent="0">
              <a:buNone/>
            </a:pPr>
            <a:endParaRPr lang="en-US" sz="2000" dirty="0"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808589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Pandas</a:t>
            </a:r>
            <a:br>
              <a:rPr lang="en-US" dirty="0"/>
            </a:br>
            <a:r>
              <a:rPr lang="en-US" sz="3600" dirty="0"/>
              <a:t>3. Selecting rows / columns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158"/>
          </a:xfrm>
        </p:spPr>
        <p:txBody>
          <a:bodyPr>
            <a:normAutofit/>
          </a:bodyPr>
          <a:lstStyle/>
          <a:p>
            <a:pPr lvl="1"/>
            <a:endParaRPr lang="en-US" sz="2400" b="1" dirty="0"/>
          </a:p>
          <a:p>
            <a:pPr lvl="1"/>
            <a:r>
              <a:rPr lang="en-US" sz="2400" b="1" dirty="0"/>
              <a:t>Select rows:</a:t>
            </a: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[#:#]</a:t>
            </a:r>
          </a:p>
          <a:p>
            <a:pPr marL="548640" lvl="2" indent="0">
              <a:buNone/>
            </a:pPr>
            <a:endParaRPr lang="en-US" sz="2200" dirty="0">
              <a:latin typeface="Courier"/>
              <a:cs typeface="Courier"/>
            </a:endParaRPr>
          </a:p>
          <a:p>
            <a:pPr lvl="1"/>
            <a:r>
              <a:rPr lang="en-US" sz="2400" b="1" dirty="0"/>
              <a:t>Select columns:</a:t>
            </a: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[‘column name’]</a:t>
            </a:r>
          </a:p>
          <a:p>
            <a:pPr marL="548640" lvl="2" indent="0">
              <a:buNone/>
            </a:pPr>
            <a:r>
              <a:rPr lang="en-US" sz="2000" b="1" dirty="0"/>
              <a:t>To select several columns:</a:t>
            </a: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[[‘column name 1’, ‘column name 2’]]</a:t>
            </a:r>
          </a:p>
          <a:p>
            <a:pPr marL="548640" lvl="2" indent="0">
              <a:buNone/>
            </a:pPr>
            <a:endParaRPr lang="en-US" sz="2200" dirty="0">
              <a:latin typeface="Courier"/>
              <a:cs typeface="Courier"/>
            </a:endParaRPr>
          </a:p>
          <a:p>
            <a:pPr marL="548640" lvl="2" indent="0">
              <a:buNone/>
            </a:pPr>
            <a:r>
              <a:rPr lang="en-US" sz="2200" dirty="0">
                <a:cs typeface="Courier"/>
              </a:rPr>
              <a:t>(Note the double brackets in this case.)</a:t>
            </a:r>
          </a:p>
        </p:txBody>
      </p:sp>
    </p:spTree>
    <p:extLst>
      <p:ext uri="{BB962C8B-B14F-4D97-AF65-F5344CB8AC3E}">
        <p14:creationId xmlns:p14="http://schemas.microsoft.com/office/powerpoint/2010/main" val="230507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Pandas</a:t>
            </a:r>
            <a:br>
              <a:rPr lang="en-US" dirty="0"/>
            </a:br>
            <a:r>
              <a:rPr lang="en-US" sz="3600" dirty="0"/>
              <a:t>4. Column Operations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68158"/>
          </a:xfrm>
        </p:spPr>
        <p:txBody>
          <a:bodyPr>
            <a:normAutofit/>
          </a:bodyPr>
          <a:lstStyle/>
          <a:p>
            <a:pPr lvl="1"/>
            <a:r>
              <a:rPr lang="en-US" sz="2400" b="1" dirty="0"/>
              <a:t>Sorting rows:</a:t>
            </a: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df.sort_values</a:t>
            </a:r>
            <a:r>
              <a:rPr lang="en-US" sz="2200" dirty="0">
                <a:latin typeface="Courier"/>
                <a:cs typeface="Courier"/>
              </a:rPr>
              <a:t>(by=“Col Name”)</a:t>
            </a: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dirty="0">
                <a:cs typeface="Courier"/>
              </a:rPr>
              <a:t>Note: an optional parameter is ascending = True/False</a:t>
            </a:r>
            <a:endParaRPr lang="en-US" sz="2200" dirty="0">
              <a:latin typeface="Courier"/>
              <a:cs typeface="Courier"/>
            </a:endParaRPr>
          </a:p>
          <a:p>
            <a:pPr marL="548640" lvl="2" indent="0">
              <a:buNone/>
            </a:pPr>
            <a:endParaRPr lang="en-US" sz="2200" dirty="0">
              <a:latin typeface="Courier"/>
              <a:cs typeface="Courier"/>
            </a:endParaRPr>
          </a:p>
          <a:p>
            <a:pPr lvl="1"/>
            <a:r>
              <a:rPr lang="en-US" sz="2400" b="1" dirty="0"/>
              <a:t>Creating a new column:</a:t>
            </a: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[‘new col name’] = density</a:t>
            </a:r>
          </a:p>
          <a:p>
            <a:pPr marL="548640" lvl="2" indent="0">
              <a:buNone/>
            </a:pPr>
            <a:r>
              <a:rPr lang="en-US" sz="2200" dirty="0">
                <a:cs typeface="Courier"/>
              </a:rPr>
              <a:t>	</a:t>
            </a:r>
            <a:r>
              <a:rPr lang="en-US" dirty="0">
                <a:cs typeface="Courier"/>
              </a:rPr>
              <a:t>Note: the new column can be some function of the other columns</a:t>
            </a:r>
            <a:endParaRPr lang="en-US" sz="2000" dirty="0">
              <a:cs typeface="Courier"/>
            </a:endParaRPr>
          </a:p>
          <a:p>
            <a:pPr marL="548640" lvl="2" indent="0">
              <a:buNone/>
            </a:pPr>
            <a:endParaRPr lang="en-US" sz="2200" dirty="0">
              <a:latin typeface="Courier"/>
              <a:cs typeface="Courier"/>
            </a:endParaRPr>
          </a:p>
          <a:p>
            <a:pPr lvl="1"/>
            <a:r>
              <a:rPr lang="en-US" sz="2400" b="1" dirty="0">
                <a:cs typeface="Courier"/>
              </a:rPr>
              <a:t>Unique values</a:t>
            </a:r>
            <a:endParaRPr lang="en-US" sz="2400" dirty="0">
              <a:latin typeface="Courier"/>
              <a:cs typeface="Courier"/>
            </a:endParaRP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[‘col name’].unique()</a:t>
            </a:r>
          </a:p>
        </p:txBody>
      </p:sp>
    </p:spTree>
    <p:extLst>
      <p:ext uri="{BB962C8B-B14F-4D97-AF65-F5344CB8AC3E}">
        <p14:creationId xmlns:p14="http://schemas.microsoft.com/office/powerpoint/2010/main" val="2614116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Pandas</a:t>
            </a:r>
            <a:br>
              <a:rPr lang="en-US" dirty="0"/>
            </a:br>
            <a:r>
              <a:rPr lang="en-US" sz="3600" dirty="0"/>
              <a:t>5. Counting values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199" y="1600200"/>
            <a:ext cx="8556707" cy="5068158"/>
          </a:xfrm>
        </p:spPr>
        <p:txBody>
          <a:bodyPr>
            <a:normAutofit/>
          </a:bodyPr>
          <a:lstStyle/>
          <a:p>
            <a:pPr lvl="1"/>
            <a:endParaRPr lang="en-US" sz="2400" b="1" dirty="0"/>
          </a:p>
          <a:p>
            <a:pPr lvl="1"/>
            <a:r>
              <a:rPr lang="en-US" sz="2400" b="1" dirty="0"/>
              <a:t>To count the values in a given column:</a:t>
            </a: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[’col name'].</a:t>
            </a:r>
            <a:r>
              <a:rPr lang="en-US" sz="2200" dirty="0" err="1">
                <a:latin typeface="Courier"/>
                <a:cs typeface="Courier"/>
              </a:rPr>
              <a:t>value_counts</a:t>
            </a:r>
            <a:r>
              <a:rPr lang="en-US" sz="2200" dirty="0">
                <a:latin typeface="Courier"/>
                <a:cs typeface="Courier"/>
              </a:rPr>
              <a:t>()</a:t>
            </a:r>
          </a:p>
          <a:p>
            <a:pPr marL="548640" lvl="2" indent="0">
              <a:buNone/>
            </a:pPr>
            <a:endParaRPr lang="en-US" sz="2200" dirty="0">
              <a:latin typeface="Courier"/>
              <a:cs typeface="Courier"/>
            </a:endParaRPr>
          </a:p>
          <a:p>
            <a:pPr marL="548640" lvl="2" indent="0">
              <a:buNone/>
            </a:pPr>
            <a:r>
              <a:rPr lang="en-US" sz="2000" b="1" dirty="0"/>
              <a:t>To plot those values:</a:t>
            </a:r>
          </a:p>
          <a:p>
            <a:pPr marL="548640" lvl="2" indent="0">
              <a:buNone/>
            </a:pPr>
            <a:r>
              <a:rPr lang="en-US" sz="21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[’col name'].</a:t>
            </a:r>
            <a:r>
              <a:rPr lang="en-US" sz="2200" dirty="0" err="1">
                <a:latin typeface="Courier"/>
                <a:cs typeface="Courier"/>
              </a:rPr>
              <a:t>value_counts</a:t>
            </a:r>
            <a:r>
              <a:rPr lang="en-US" sz="2200" dirty="0">
                <a:latin typeface="Courier"/>
                <a:cs typeface="Courier"/>
              </a:rPr>
              <a:t>().plot()</a:t>
            </a:r>
          </a:p>
          <a:p>
            <a:pPr marL="548640" lvl="2" indent="0">
              <a:buNone/>
            </a:pPr>
            <a:endParaRPr lang="en-US" sz="2200" dirty="0">
              <a:latin typeface="Courier"/>
              <a:cs typeface="Courier"/>
            </a:endParaRPr>
          </a:p>
          <a:p>
            <a:pPr marL="548640" lvl="2" indent="0">
              <a:buNone/>
            </a:pPr>
            <a:r>
              <a:rPr lang="en-US" sz="2200" dirty="0">
                <a:cs typeface="Courier"/>
              </a:rPr>
              <a:t>Note: to make plots show up inline with your Jupyter notebook, it may be necessary to include in the cell before your plot command:  </a:t>
            </a:r>
            <a:r>
              <a:rPr lang="en-US" sz="2200" dirty="0">
                <a:latin typeface="Courier"/>
                <a:cs typeface="Courier"/>
              </a:rPr>
              <a:t>%matplotlib inline</a:t>
            </a:r>
            <a:r>
              <a:rPr lang="en-US" sz="2200" dirty="0">
                <a:cs typeface="Courier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95159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Pandas</a:t>
            </a:r>
            <a:br>
              <a:rPr lang="en-US" dirty="0"/>
            </a:br>
            <a:r>
              <a:rPr lang="en-US" sz="3600" dirty="0"/>
              <a:t>6.  Isolating columns with a particular value</a:t>
            </a:r>
            <a:br>
              <a:rPr lang="en-US" sz="3600" dirty="0"/>
            </a:br>
            <a:r>
              <a:rPr lang="en-US" sz="3600" dirty="0"/>
              <a:t>(aka “filtering”)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199" y="1600200"/>
            <a:ext cx="8556707" cy="5068158"/>
          </a:xfrm>
        </p:spPr>
        <p:txBody>
          <a:bodyPr>
            <a:normAutofit/>
          </a:bodyPr>
          <a:lstStyle/>
          <a:p>
            <a:pPr lvl="1"/>
            <a:endParaRPr lang="en-US" sz="2400" b="1" dirty="0"/>
          </a:p>
          <a:p>
            <a:pPr lvl="1"/>
            <a:r>
              <a:rPr lang="en-US" sz="2400" b="1" dirty="0"/>
              <a:t>To subset the data based on a column value:</a:t>
            </a:r>
          </a:p>
          <a:p>
            <a:pPr marL="548640" lvl="2" indent="0">
              <a:buNone/>
            </a:pPr>
            <a:r>
              <a:rPr lang="en-US" sz="2200" dirty="0">
                <a:latin typeface="Courier"/>
                <a:cs typeface="Courier"/>
              </a:rPr>
              <a:t>	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 </a:t>
            </a:r>
            <a:r>
              <a:rPr lang="en-US" sz="2200" dirty="0" err="1">
                <a:latin typeface="Courier"/>
                <a:cs typeface="Courier"/>
              </a:rPr>
              <a:t>df</a:t>
            </a:r>
            <a:r>
              <a:rPr lang="en-US" sz="2200" dirty="0">
                <a:latin typeface="Courier"/>
                <a:cs typeface="Courier"/>
              </a:rPr>
              <a:t>[’col name'] == ’value’]</a:t>
            </a:r>
          </a:p>
        </p:txBody>
      </p:sp>
      <p:sp>
        <p:nvSpPr>
          <p:cNvPr id="4" name="Left Brace 3"/>
          <p:cNvSpPr/>
          <p:nvPr/>
        </p:nvSpPr>
        <p:spPr>
          <a:xfrm rot="16200000">
            <a:off x="3863079" y="1040878"/>
            <a:ext cx="634966" cy="416310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487205" y="3439913"/>
            <a:ext cx="3545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returns True/False if that row contains that value or not</a:t>
            </a:r>
          </a:p>
        </p:txBody>
      </p:sp>
      <p:sp>
        <p:nvSpPr>
          <p:cNvPr id="7" name="Left Brace 6"/>
          <p:cNvSpPr/>
          <p:nvPr/>
        </p:nvSpPr>
        <p:spPr>
          <a:xfrm rot="16200000">
            <a:off x="3604123" y="2063374"/>
            <a:ext cx="634966" cy="5069085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2099009" y="5144735"/>
            <a:ext cx="35455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returns a Pandas </a:t>
            </a:r>
            <a:r>
              <a:rPr lang="en-US" dirty="0" err="1"/>
              <a:t>dataframe</a:t>
            </a:r>
            <a:r>
              <a:rPr lang="en-US" dirty="0"/>
              <a:t> of all rows that contain that value</a:t>
            </a:r>
          </a:p>
        </p:txBody>
      </p:sp>
    </p:spTree>
    <p:extLst>
      <p:ext uri="{BB962C8B-B14F-4D97-AF65-F5344CB8AC3E}">
        <p14:creationId xmlns:p14="http://schemas.microsoft.com/office/powerpoint/2010/main" val="246849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Printing a </a:t>
            </a:r>
            <a:r>
              <a:rPr lang="en-US" dirty="0" err="1"/>
              <a:t>Jupyter</a:t>
            </a:r>
            <a:r>
              <a:rPr lang="en-US" dirty="0"/>
              <a:t>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Jupyter</a:t>
            </a:r>
            <a:r>
              <a:rPr lang="en-US" dirty="0"/>
              <a:t> Notebooks can be exported to various file types (html, pdf, …)</a:t>
            </a:r>
          </a:p>
          <a:p>
            <a:r>
              <a:rPr lang="en-US" dirty="0"/>
              <a:t>One method of printing that works reasonably well from Chrome and some other browsers is</a:t>
            </a:r>
          </a:p>
          <a:p>
            <a:pPr lvl="1"/>
            <a:r>
              <a:rPr lang="en-US" dirty="0"/>
              <a:t>File : Print from </a:t>
            </a:r>
            <a:r>
              <a:rPr lang="en-US" dirty="0" err="1"/>
              <a:t>Jupyter’s</a:t>
            </a:r>
            <a:r>
              <a:rPr lang="en-US" dirty="0"/>
              <a:t> menu</a:t>
            </a:r>
          </a:p>
          <a:p>
            <a:pPr lvl="1"/>
            <a:r>
              <a:rPr lang="en-US" dirty="0"/>
              <a:t>Choose Save as PDF</a:t>
            </a:r>
          </a:p>
          <a:p>
            <a:pPr lvl="1"/>
            <a:r>
              <a:rPr lang="en-US" dirty="0"/>
              <a:t>You then have a PDF you can keep and print</a:t>
            </a:r>
          </a:p>
          <a:p>
            <a:r>
              <a:rPr lang="en-US" dirty="0"/>
              <a:t>Note – sometimes the notebook may get very long if you have displayed a large data frame within it.  You can compact it by deleting output cells showing the full </a:t>
            </a:r>
            <a:r>
              <a:rPr lang="en-US"/>
              <a:t>data frame.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8414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Clarity.thmx</Template>
  <TotalTime>4847</TotalTime>
  <Words>603</Words>
  <Application>Microsoft Office PowerPoint</Application>
  <PresentationFormat>On-screen Show (4:3)</PresentationFormat>
  <Paragraphs>101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</vt:lpstr>
      <vt:lpstr>Courier New</vt:lpstr>
      <vt:lpstr>Clarity</vt:lpstr>
      <vt:lpstr>PowerPoint Presentation</vt:lpstr>
      <vt:lpstr>DataFrames</vt:lpstr>
      <vt:lpstr>Pandas</vt:lpstr>
      <vt:lpstr>1. Creating a Pandas DataFrame</vt:lpstr>
      <vt:lpstr>Pandas 2. Inspecting the data</vt:lpstr>
      <vt:lpstr>Pandas 3. Selecting rows / columns</vt:lpstr>
      <vt:lpstr>Pandas 4. Column Operations</vt:lpstr>
      <vt:lpstr>Pandas 5. Counting values</vt:lpstr>
      <vt:lpstr>Pandas 6.  Isolating columns with a particular value (aka “filtering”)</vt:lpstr>
      <vt:lpstr>Printing a Jupyter Notebook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 to Jupyter and  Pandas with Python</dc:title>
  <dc:creator>Dana Tomc</dc:creator>
  <cp:lastModifiedBy>Frommer, Ian Dr. (EDU)</cp:lastModifiedBy>
  <cp:revision>39</cp:revision>
  <dcterms:created xsi:type="dcterms:W3CDTF">2017-12-24T11:56:15Z</dcterms:created>
  <dcterms:modified xsi:type="dcterms:W3CDTF">2023-08-23T17:50:28Z</dcterms:modified>
</cp:coreProperties>
</file>