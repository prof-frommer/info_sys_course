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7" r:id="rId2"/>
    <p:sldId id="307" r:id="rId3"/>
    <p:sldId id="312" r:id="rId4"/>
    <p:sldId id="313" r:id="rId5"/>
    <p:sldId id="314" r:id="rId6"/>
    <p:sldId id="299" r:id="rId7"/>
    <p:sldId id="298" r:id="rId8"/>
    <p:sldId id="300" r:id="rId9"/>
    <p:sldId id="302" r:id="rId10"/>
    <p:sldId id="303" r:id="rId11"/>
    <p:sldId id="311" r:id="rId12"/>
    <p:sldId id="315" r:id="rId13"/>
    <p:sldId id="30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2F6DA-6172-466F-BFDD-9F02A460C7B8}" v="1" dt="2026-10-05T19:26:30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23" autoAdjust="0"/>
  </p:normalViewPr>
  <p:slideViewPr>
    <p:cSldViewPr snapToGrid="0" snapToObjects="1">
      <p:cViewPr varScale="1">
        <p:scale>
          <a:sx n="97" d="100"/>
          <a:sy n="97" d="100"/>
        </p:scale>
        <p:origin x="200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modSld">
      <pc:chgData name="Frommer, Ian Dr. (EDU)" userId="28ca3ff0-544f-450a-928b-99e19cf49b89" providerId="ADAL" clId="{A3E8E5B1-0D91-4643-B70B-3D065C8674E0}" dt="2026-10-05T19:58:59.126" v="150" actId="20577"/>
      <pc:docMkLst>
        <pc:docMk/>
      </pc:docMkLst>
      <pc:sldChg chg="modSp mod">
        <pc:chgData name="Frommer, Ian Dr. (EDU)" userId="28ca3ff0-544f-450a-928b-99e19cf49b89" providerId="ADAL" clId="{A3E8E5B1-0D91-4643-B70B-3D065C8674E0}" dt="2026-10-05T17:45:39.728" v="0" actId="20577"/>
        <pc:sldMkLst>
          <pc:docMk/>
          <pc:sldMk cId="2475985088" sldId="257"/>
        </pc:sldMkLst>
        <pc:spChg chg="mod">
          <ac:chgData name="Frommer, Ian Dr. (EDU)" userId="28ca3ff0-544f-450a-928b-99e19cf49b89" providerId="ADAL" clId="{A3E8E5B1-0D91-4643-B70B-3D065C8674E0}" dt="2026-10-05T17:45:39.728" v="0" actId="20577"/>
          <ac:spMkLst>
            <pc:docMk/>
            <pc:sldMk cId="2475985088" sldId="257"/>
            <ac:spMk id="262146" creationId="{00000000-0000-0000-0000-000000000000}"/>
          </ac:spMkLst>
        </pc:spChg>
      </pc:sldChg>
      <pc:sldChg chg="addSp modSp mod">
        <pc:chgData name="Frommer, Ian Dr. (EDU)" userId="28ca3ff0-544f-450a-928b-99e19cf49b89" providerId="ADAL" clId="{A3E8E5B1-0D91-4643-B70B-3D065C8674E0}" dt="2026-10-05T19:26:50.939" v="46" actId="1076"/>
        <pc:sldMkLst>
          <pc:docMk/>
          <pc:sldMk cId="1092329385" sldId="298"/>
        </pc:sldMkLst>
        <pc:spChg chg="add mod">
          <ac:chgData name="Frommer, Ian Dr. (EDU)" userId="28ca3ff0-544f-450a-928b-99e19cf49b89" providerId="ADAL" clId="{A3E8E5B1-0D91-4643-B70B-3D065C8674E0}" dt="2026-10-05T19:26:50.939" v="46" actId="1076"/>
          <ac:spMkLst>
            <pc:docMk/>
            <pc:sldMk cId="1092329385" sldId="298"/>
            <ac:spMk id="5" creationId="{39C06AB6-CB55-A5E3-D896-5E9D96870C21}"/>
          </ac:spMkLst>
        </pc:spChg>
      </pc:sldChg>
      <pc:sldChg chg="modSp mod">
        <pc:chgData name="Frommer, Ian Dr. (EDU)" userId="28ca3ff0-544f-450a-928b-99e19cf49b89" providerId="ADAL" clId="{A3E8E5B1-0D91-4643-B70B-3D065C8674E0}" dt="2026-10-05T19:58:59.126" v="150" actId="20577"/>
        <pc:sldMkLst>
          <pc:docMk/>
          <pc:sldMk cId="1799839091" sldId="304"/>
        </pc:sldMkLst>
        <pc:spChg chg="mod">
          <ac:chgData name="Frommer, Ian Dr. (EDU)" userId="28ca3ff0-544f-450a-928b-99e19cf49b89" providerId="ADAL" clId="{A3E8E5B1-0D91-4643-B70B-3D065C8674E0}" dt="2026-10-05T19:58:59.126" v="150" actId="20577"/>
          <ac:spMkLst>
            <pc:docMk/>
            <pc:sldMk cId="1799839091" sldId="304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10-05T19:25:41.863" v="19" actId="6549"/>
        <pc:sldMkLst>
          <pc:docMk/>
          <pc:sldMk cId="646051525" sldId="314"/>
        </pc:sldMkLst>
        <pc:spChg chg="mod">
          <ac:chgData name="Frommer, Ian Dr. (EDU)" userId="28ca3ff0-544f-450a-928b-99e19cf49b89" providerId="ADAL" clId="{A3E8E5B1-0D91-4643-B70B-3D065C8674E0}" dt="2026-10-05T19:25:41.863" v="19" actId="6549"/>
          <ac:spMkLst>
            <pc:docMk/>
            <pc:sldMk cId="646051525" sldId="314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5B7DB-71EF-414F-9229-2DF03268179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2D455-A579-48F9-B196-4AF92D311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4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E5F19-4F90-8B48-A21B-2B05369B7F3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7557B-27E6-714E-8DF7-07E79EF3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12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56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Who are Michelle’s female customers</a:t>
            </a:r>
          </a:p>
          <a:p>
            <a:pPr marL="0" indent="0">
              <a:buNone/>
            </a:pPr>
            <a:r>
              <a:rPr lang="en-US" dirty="0"/>
              <a:t>SELECT [First Name], [Last Name]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Gender = 'F';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</a:t>
            </a:r>
            <a:r>
              <a:rPr lang="en-US" baseline="0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female customers are there?</a:t>
            </a:r>
          </a:p>
          <a:p>
            <a:pPr marL="0" indent="0">
              <a:buNone/>
            </a:pPr>
            <a:r>
              <a:rPr lang="en-US" dirty="0"/>
              <a:t>SELECT Count(Gender)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Gender = 'F';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item name and quantity associated with order 483?</a:t>
            </a:r>
          </a:p>
          <a:p>
            <a:pPr marL="0" indent="0">
              <a:buNone/>
            </a:pPr>
            <a:r>
              <a:rPr lang="en-US" dirty="0"/>
              <a:t>SELECT [Item Name], Quantity</a:t>
            </a:r>
          </a:p>
          <a:p>
            <a:pPr marL="0" indent="0">
              <a:buNone/>
            </a:pPr>
            <a:r>
              <a:rPr lang="en-US" dirty="0"/>
              <a:t>FROM Items</a:t>
            </a:r>
          </a:p>
          <a:p>
            <a:pPr marL="0" indent="0">
              <a:buNone/>
            </a:pPr>
            <a:r>
              <a:rPr lang="en-US" dirty="0"/>
              <a:t>INNER JOIN [Order Line Item]</a:t>
            </a:r>
          </a:p>
          <a:p>
            <a:pPr marL="0" indent="0">
              <a:buNone/>
            </a:pPr>
            <a:r>
              <a:rPr lang="en-US" dirty="0"/>
              <a:t>ON Items.[Item ID] = [Order Line Item].[Item ID]</a:t>
            </a:r>
          </a:p>
          <a:p>
            <a:pPr marL="0" indent="0">
              <a:buNone/>
            </a:pPr>
            <a:r>
              <a:rPr lang="en-US" dirty="0"/>
              <a:t>WHERE [Order ID] = '483';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 What</a:t>
            </a:r>
            <a:r>
              <a:rPr lang="en-US" baseline="0" dirty="0"/>
              <a:t> is the total quantity each item has been ordered?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[Item Name], Items.[Item ID], Sum(Quantity)</a:t>
            </a:r>
          </a:p>
          <a:p>
            <a:pPr marL="0" indent="0">
              <a:buNone/>
            </a:pPr>
            <a:r>
              <a:rPr lang="en-US" dirty="0"/>
              <a:t>FROM Items</a:t>
            </a:r>
          </a:p>
          <a:p>
            <a:pPr marL="0" indent="0">
              <a:buNone/>
            </a:pPr>
            <a:r>
              <a:rPr lang="en-US" dirty="0"/>
              <a:t>INNER JOIN [Order Line Item]</a:t>
            </a:r>
          </a:p>
          <a:p>
            <a:pPr marL="0" indent="0">
              <a:buNone/>
            </a:pPr>
            <a:r>
              <a:rPr lang="en-US" dirty="0"/>
              <a:t>ON Items.[Item ID] = [Order Line Item].[Item ID]</a:t>
            </a:r>
          </a:p>
          <a:p>
            <a:pPr marL="0" indent="0">
              <a:buNone/>
            </a:pPr>
            <a:r>
              <a:rPr lang="en-US" dirty="0"/>
              <a:t>GROUP BY [Item Name], Items.[Item ID];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61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76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7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5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Point out that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0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4FEF-C2BA-405C-940A-0938B86B92B3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72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5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C-5880-40B2-BCE1-89D9874E17C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73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163F-9706-41DA-BEEC-9D55578F1725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1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6E7A7-AA1E-4950-A61E-48C7D28E80B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9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98C29-0FBE-4E3D-B015-97B59C0080D2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048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93D-B61E-4215-B242-BF4C72556C47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8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8419-802B-407E-8929-770ED3D6658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0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C94F-360B-4B6D-81AD-989F75F85BBF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63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E860-0FF2-422C-838C-1022CDDC119C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223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10/5/2026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B01C-0DE6-4A7A-B272-9B00FB4447FB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334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fld id="{201744FC-BD29-453B-8F5A-0A30F90FC68A}" type="datetimeFigureOut">
              <a:rPr lang="en-US" smtClean="0">
                <a:latin typeface="Arial"/>
              </a:rPr>
              <a:pPr defTabSz="914400"/>
              <a:t>10/5/2026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defTabSz="914400"/>
            <a:fld id="{A005A5E8-4213-488D-8019-D06882925F76}" type="slidenum">
              <a:rPr lang="en-US" smtClean="0">
                <a:latin typeface="Arial"/>
              </a:rPr>
              <a:pPr defTabSz="914400"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01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-course.eu/sql_python.ph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– Part III</a:t>
            </a:r>
            <a:br>
              <a:rPr lang="en-US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598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Review/Practice SQL statements (SELECT, JOIN, etc.)</a:t>
            </a:r>
          </a:p>
          <a:p>
            <a:r>
              <a:rPr lang="en-US" dirty="0"/>
              <a:t>Become familiar with new SQL statements</a:t>
            </a:r>
          </a:p>
          <a:p>
            <a:pPr lvl="1"/>
            <a:r>
              <a:rPr lang="en-US" dirty="0"/>
              <a:t>Creating tables, inserting data into tables</a:t>
            </a:r>
          </a:p>
          <a:p>
            <a:r>
              <a:rPr lang="en-US" dirty="0"/>
              <a:t>Integrate Python with SQL</a:t>
            </a:r>
          </a:p>
          <a:p>
            <a:pPr lvl="1"/>
            <a:r>
              <a:rPr lang="en-US" dirty="0"/>
              <a:t>SQLite</a:t>
            </a:r>
          </a:p>
          <a:p>
            <a:pPr lvl="1"/>
            <a:r>
              <a:rPr lang="en-US" dirty="0"/>
              <a:t>Pandas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References:</a:t>
            </a:r>
          </a:p>
          <a:p>
            <a:r>
              <a:rPr lang="en-US" sz="1800" dirty="0">
                <a:hlinkClick r:id="rId3"/>
              </a:rPr>
              <a:t>https://www.python-course.eu/sql_python.php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649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REVIEW: Feline Novelties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Your friend, Michelle, started her own business selling specialty cat toys and treats on a monthly basis to her friends locally.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Customers can sign up for monthly boxes to contain cat toys, treats, and other goodies geared towards cats.  Customers pay a monthly fee that is debited to their credit cards and automatically receive a box of goodies.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She recently expanded to sell items outside of the monthly boxes.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3</a:t>
            </a:fld>
            <a:endParaRPr lang="en-US">
              <a:latin typeface="Arial"/>
            </a:endParaRPr>
          </a:p>
        </p:txBody>
      </p:sp>
      <p:pic>
        <p:nvPicPr>
          <p:cNvPr id="5" name="Picture 2" descr="Image result for grumpy c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66" y="533400"/>
            <a:ext cx="1508838" cy="150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470635" y="1415534"/>
            <a:ext cx="149271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See handout</a:t>
            </a:r>
          </a:p>
        </p:txBody>
      </p:sp>
    </p:spTree>
    <p:extLst>
      <p:ext uri="{BB962C8B-B14F-4D97-AF65-F5344CB8AC3E}">
        <p14:creationId xmlns:p14="http://schemas.microsoft.com/office/powerpoint/2010/main" val="235897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2238"/>
            <a:ext cx="8229600" cy="4434762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Who are Michelle’s female customers? (Give the first and last name)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How many female customers are there?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What is the item name and quantity associated with order 483?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What is the total quantity each item has been ordered? (Give the item name and total quantity)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4</a:t>
            </a:fld>
            <a:endParaRPr lang="en-US">
              <a:latin typeface="Arial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REVIEW: Feline Novelties</a:t>
            </a:r>
          </a:p>
        </p:txBody>
      </p:sp>
      <p:pic>
        <p:nvPicPr>
          <p:cNvPr id="7" name="Picture 2" descr="Image result for grumpy c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66" y="533400"/>
            <a:ext cx="1508838" cy="150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470635" y="1424678"/>
            <a:ext cx="149271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See handout</a:t>
            </a:r>
          </a:p>
        </p:txBody>
      </p:sp>
    </p:spTree>
    <p:extLst>
      <p:ext uri="{BB962C8B-B14F-4D97-AF65-F5344CB8AC3E}">
        <p14:creationId xmlns:p14="http://schemas.microsoft.com/office/powerpoint/2010/main" val="371716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2238"/>
            <a:ext cx="8229600" cy="4434762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Who are Michelle’s female customers? (Give the first and last name)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How many female customers are there?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What is the item name and quantity associated with order 483?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What is the total quantity each item has been ordered? (Give the item name and total quantity)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the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Feline.accdb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 posted in the course repo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statements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answer the questions above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with a partner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Run/verify using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5</a:t>
            </a:fld>
            <a:endParaRPr lang="en-US">
              <a:latin typeface="Arial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REVIEW: Feline Novelties</a:t>
            </a:r>
            <a:br>
              <a:rPr lang="en-US" dirty="0"/>
            </a:br>
            <a:r>
              <a:rPr lang="en-US" sz="2700" dirty="0"/>
              <a:t>Variation of Case 1 from textbook</a:t>
            </a:r>
            <a:endParaRPr lang="en-US" dirty="0"/>
          </a:p>
        </p:txBody>
      </p:sp>
      <p:pic>
        <p:nvPicPr>
          <p:cNvPr id="7" name="Picture 2" descr="Image result for grumpy c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66" y="533400"/>
            <a:ext cx="1508838" cy="150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470635" y="1339334"/>
            <a:ext cx="149271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See handout</a:t>
            </a:r>
          </a:p>
        </p:txBody>
      </p:sp>
    </p:spTree>
    <p:extLst>
      <p:ext uri="{BB962C8B-B14F-4D97-AF65-F5344CB8AC3E}">
        <p14:creationId xmlns:p14="http://schemas.microsoft.com/office/powerpoint/2010/main" val="646051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SQL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8256"/>
            <a:ext cx="8229600" cy="4428744"/>
          </a:xfrm>
        </p:spPr>
        <p:txBody>
          <a:bodyPr/>
          <a:lstStyle/>
          <a:p>
            <a:r>
              <a:rPr lang="en-US" dirty="0"/>
              <a:t>Open a new .</a:t>
            </a:r>
            <a:r>
              <a:rPr lang="en-US" dirty="0" err="1"/>
              <a:t>accdb</a:t>
            </a:r>
            <a:r>
              <a:rPr lang="en-US" dirty="0"/>
              <a:t> file</a:t>
            </a:r>
          </a:p>
          <a:p>
            <a:r>
              <a:rPr lang="en-US" dirty="0"/>
              <a:t>Look at the SQL statements provided </a:t>
            </a:r>
            <a:r>
              <a:rPr lang="en-US" b="1" dirty="0"/>
              <a:t>on handout</a:t>
            </a:r>
            <a:r>
              <a:rPr lang="en-US" dirty="0"/>
              <a:t> (which you have not yet learned about)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Read through the SQL statements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Think about what will happen once the statement is run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Discuss with a partner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Try it in Access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6</a:t>
            </a:fld>
            <a:endParaRPr lang="en-US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A6CE6-E0D8-E9A3-093F-B4BDCBD3D15D}"/>
              </a:ext>
            </a:extLst>
          </p:cNvPr>
          <p:cNvSpPr txBox="1"/>
          <p:nvPr/>
        </p:nvSpPr>
        <p:spPr>
          <a:xfrm>
            <a:off x="6096000" y="1287226"/>
            <a:ext cx="2267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F0"/>
                </a:solidFill>
              </a:rPr>
              <a:t>Read, Think, Discuss, Try</a:t>
            </a:r>
          </a:p>
        </p:txBody>
      </p:sp>
    </p:spTree>
    <p:extLst>
      <p:ext uri="{BB962C8B-B14F-4D97-AF65-F5344CB8AC3E}">
        <p14:creationId xmlns:p14="http://schemas.microsoft.com/office/powerpoint/2010/main" val="137539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Statement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employee ( 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staff_number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INTEGER PRIMARY KEY, 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VARCHAR(20), 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VARCHAR(30),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gender CHAR(1),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joining DATE,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birth_date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DATE);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7</a:t>
            </a:fld>
            <a:endParaRPr lang="en-US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06AB6-CB55-A5E3-D896-5E9D96870C21}"/>
              </a:ext>
            </a:extLst>
          </p:cNvPr>
          <p:cNvSpPr txBox="1"/>
          <p:nvPr/>
        </p:nvSpPr>
        <p:spPr>
          <a:xfrm>
            <a:off x="5604386" y="764232"/>
            <a:ext cx="3403496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Queries on the handout</a:t>
            </a:r>
          </a:p>
        </p:txBody>
      </p:sp>
    </p:spTree>
    <p:extLst>
      <p:ext uri="{BB962C8B-B14F-4D97-AF65-F5344CB8AC3E}">
        <p14:creationId xmlns:p14="http://schemas.microsoft.com/office/powerpoint/2010/main" val="109232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Statement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staff_number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gender, joining,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birth_date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("123", "Frank", "Schiller", "m", "1999-01-23", "1955-08-17");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388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Statement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staff_number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gender)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("345", "Lisa", "Kim", "f");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150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Statement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("346", "Manuel", NULL, "m", "2010-10-31", "1983-03-12");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224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Statement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</a:t>
            </a:r>
          </a:p>
          <a:p>
            <a:pPr>
              <a:lnSpc>
                <a:spcPts val="3075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("123", "Fred", "Sacher", "m", "1999-03-13", "1945-12-17");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452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AD9E-EEAF-F8D1-42C1-9859592C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 for SQL Statement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38359-55B6-3FB5-8B0A-66250F744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Either this: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UPDATE employee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"Fred",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"Sacher",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gender = "m",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joining = "1999-03-13",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birth_date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"1945-12-17"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staff_number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123;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 these 2 queries separately: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employee 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staff_number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123;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("123", "Fred", "Sacher", "m", "1999-03-13", "1945-12-17");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15357-0364-09E0-D29D-2B377D45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69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up: Python and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 are familiar with SQL (and Python!), let’s integrate the two.</a:t>
            </a:r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-python-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blank.ipynb</a:t>
            </a:r>
            <a:r>
              <a:rPr lang="en-US" dirty="0"/>
              <a:t> posted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-python</a:t>
            </a:r>
            <a:r>
              <a:rPr lang="en-US" dirty="0"/>
              <a:t> </a:t>
            </a:r>
            <a:r>
              <a:rPr lang="en-US" dirty="0" err="1"/>
              <a:t>lec</a:t>
            </a:r>
            <a:r>
              <a:rPr lang="en-US" dirty="0"/>
              <a:t> folder </a:t>
            </a:r>
            <a:r>
              <a:rPr lang="en-US"/>
              <a:t>of the course </a:t>
            </a:r>
            <a:r>
              <a:rPr lang="en-US" dirty="0"/>
              <a:t>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9839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814</Words>
  <Application>Microsoft Office PowerPoint</Application>
  <PresentationFormat>On-screen Show (4:3)</PresentationFormat>
  <Paragraphs>134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Symbol</vt:lpstr>
      <vt:lpstr>Clarity</vt:lpstr>
      <vt:lpstr>SQL – Part III </vt:lpstr>
      <vt:lpstr>Today</vt:lpstr>
      <vt:lpstr>REVIEW: Feline Novelties</vt:lpstr>
      <vt:lpstr>REVIEW: Feline Novelties</vt:lpstr>
      <vt:lpstr>REVIEW: Feline Novelties Variation of Case 1 from textbook</vt:lpstr>
      <vt:lpstr>New SQL Statements</vt:lpstr>
      <vt:lpstr>SQL Statement 1</vt:lpstr>
      <vt:lpstr>SQL Statement 2</vt:lpstr>
      <vt:lpstr>SQL Statement 3</vt:lpstr>
      <vt:lpstr>SQL Statement 4</vt:lpstr>
      <vt:lpstr>SQL Statement 5</vt:lpstr>
      <vt:lpstr>Workarounds for SQL Statement 5</vt:lpstr>
      <vt:lpstr>Next up: Python and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Dana Tomc</dc:creator>
  <cp:lastModifiedBy>Frommer, Ian Dr. (EDU)</cp:lastModifiedBy>
  <cp:revision>95</cp:revision>
  <cp:lastPrinted>2019-02-21T13:50:14Z</cp:lastPrinted>
  <dcterms:created xsi:type="dcterms:W3CDTF">2018-02-19T17:56:15Z</dcterms:created>
  <dcterms:modified xsi:type="dcterms:W3CDTF">2026-10-05T19:59:00Z</dcterms:modified>
</cp:coreProperties>
</file>