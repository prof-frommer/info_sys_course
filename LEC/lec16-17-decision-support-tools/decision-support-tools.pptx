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3" r:id="rId1"/>
  </p:sldMasterIdLst>
  <p:notesMasterIdLst>
    <p:notesMasterId r:id="rId15"/>
  </p:notesMasterIdLst>
  <p:handoutMasterIdLst>
    <p:handoutMasterId r:id="rId16"/>
  </p:handoutMasterIdLst>
  <p:sldIdLst>
    <p:sldId id="282" r:id="rId2"/>
    <p:sldId id="287" r:id="rId3"/>
    <p:sldId id="256" r:id="rId4"/>
    <p:sldId id="272" r:id="rId5"/>
    <p:sldId id="274" r:id="rId6"/>
    <p:sldId id="273" r:id="rId7"/>
    <p:sldId id="269" r:id="rId8"/>
    <p:sldId id="270" r:id="rId9"/>
    <p:sldId id="271" r:id="rId10"/>
    <p:sldId id="288" r:id="rId11"/>
    <p:sldId id="275" r:id="rId12"/>
    <p:sldId id="276" r:id="rId13"/>
    <p:sldId id="257" r:id="rId14"/>
  </p:sldIdLst>
  <p:sldSz cx="9144000" cy="6858000" type="screen4x3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>
          <p15:clr>
            <a:srgbClr val="A4A3A4"/>
          </p15:clr>
        </p15:guide>
        <p15:guide id="2" pos="30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39" autoAdjust="0"/>
    <p:restoredTop sz="86965" autoAdjust="0"/>
  </p:normalViewPr>
  <p:slideViewPr>
    <p:cSldViewPr>
      <p:cViewPr varScale="1">
        <p:scale>
          <a:sx n="96" d="100"/>
          <a:sy n="96" d="100"/>
        </p:scale>
        <p:origin x="172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882" y="-84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A3E8E5B1-0D91-4643-B70B-3D065C8674E0}"/>
    <pc:docChg chg="custSel modSld">
      <pc:chgData name="Frommer, Ian Dr. (EDU)" userId="28ca3ff0-544f-450a-928b-99e19cf49b89" providerId="ADAL" clId="{A3E8E5B1-0D91-4643-B70B-3D065C8674E0}" dt="2026-10-22T14:55:31.556" v="37" actId="6549"/>
      <pc:docMkLst>
        <pc:docMk/>
      </pc:docMkLst>
      <pc:sldChg chg="modSp mod">
        <pc:chgData name="Frommer, Ian Dr. (EDU)" userId="28ca3ff0-544f-450a-928b-99e19cf49b89" providerId="ADAL" clId="{A3E8E5B1-0D91-4643-B70B-3D065C8674E0}" dt="2026-10-22T14:54:52.548" v="31" actId="6549"/>
        <pc:sldMkLst>
          <pc:docMk/>
          <pc:sldMk cId="0" sldId="256"/>
        </pc:sldMkLst>
        <pc:spChg chg="mod">
          <ac:chgData name="Frommer, Ian Dr. (EDU)" userId="28ca3ff0-544f-450a-928b-99e19cf49b89" providerId="ADAL" clId="{A3E8E5B1-0D91-4643-B70B-3D065C8674E0}" dt="2026-10-22T14:54:39.617" v="10" actId="20577"/>
          <ac:spMkLst>
            <pc:docMk/>
            <pc:sldMk cId="0" sldId="256"/>
            <ac:spMk id="6" creationId="{5136FAB4-5584-4222-BC8B-37AA636A6A3C}"/>
          </ac:spMkLst>
        </pc:spChg>
        <pc:spChg chg="mod">
          <ac:chgData name="Frommer, Ian Dr. (EDU)" userId="28ca3ff0-544f-450a-928b-99e19cf49b89" providerId="ADAL" clId="{A3E8E5B1-0D91-4643-B70B-3D065C8674E0}" dt="2026-10-22T14:54:52.548" v="31" actId="6549"/>
          <ac:spMkLst>
            <pc:docMk/>
            <pc:sldMk cId="0" sldId="256"/>
            <ac:spMk id="7" creationId="{2B4D0D22-4361-4362-83CE-D512A3AE2A78}"/>
          </ac:spMkLst>
        </pc:spChg>
      </pc:sldChg>
      <pc:sldChg chg="modSp mod">
        <pc:chgData name="Frommer, Ian Dr. (EDU)" userId="28ca3ff0-544f-450a-928b-99e19cf49b89" providerId="ADAL" clId="{A3E8E5B1-0D91-4643-B70B-3D065C8674E0}" dt="2026-10-22T14:55:31.556" v="37" actId="6549"/>
        <pc:sldMkLst>
          <pc:docMk/>
          <pc:sldMk cId="4196267263" sldId="274"/>
        </pc:sldMkLst>
        <pc:spChg chg="mod">
          <ac:chgData name="Frommer, Ian Dr. (EDU)" userId="28ca3ff0-544f-450a-928b-99e19cf49b89" providerId="ADAL" clId="{A3E8E5B1-0D91-4643-B70B-3D065C8674E0}" dt="2026-10-22T14:55:31.556" v="37" actId="6549"/>
          <ac:spMkLst>
            <pc:docMk/>
            <pc:sldMk cId="4196267263" sldId="274"/>
            <ac:spMk id="5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A80B91-EB71-4E1D-B075-6198752453EA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88FAD8A8-E9E5-4DCE-BEF8-A031A50C30F6}">
      <dgm:prSet phldrT="[Text]"/>
      <dgm:spPr/>
      <dgm:t>
        <a:bodyPr/>
        <a:lstStyle/>
        <a:p>
          <a:r>
            <a:rPr lang="en-US" dirty="0"/>
            <a:t>Program accepts input from user OR accesses data in system’s files</a:t>
          </a:r>
        </a:p>
      </dgm:t>
    </dgm:pt>
    <dgm:pt modelId="{FD013ADA-A94C-438C-BCD8-18FF75359860}" type="parTrans" cxnId="{7211D317-8CC2-4830-8F28-524002FADB71}">
      <dgm:prSet/>
      <dgm:spPr/>
      <dgm:t>
        <a:bodyPr/>
        <a:lstStyle/>
        <a:p>
          <a:endParaRPr lang="en-US"/>
        </a:p>
      </dgm:t>
    </dgm:pt>
    <dgm:pt modelId="{A953C098-0BF2-491B-9F3B-79F014EEC610}" type="sibTrans" cxnId="{7211D317-8CC2-4830-8F28-524002FADB71}">
      <dgm:prSet/>
      <dgm:spPr/>
      <dgm:t>
        <a:bodyPr/>
        <a:lstStyle/>
        <a:p>
          <a:endParaRPr lang="en-US"/>
        </a:p>
      </dgm:t>
    </dgm:pt>
    <dgm:pt modelId="{033F41F8-5376-421C-99A9-A112FF661D52}">
      <dgm:prSet phldrT="[Text]"/>
      <dgm:spPr/>
      <dgm:t>
        <a:bodyPr/>
        <a:lstStyle/>
        <a:p>
          <a:r>
            <a:rPr lang="en-US" dirty="0"/>
            <a:t>Program runs input and any other necessary data through the model</a:t>
          </a:r>
        </a:p>
      </dgm:t>
    </dgm:pt>
    <dgm:pt modelId="{E1963D3B-6ADF-420D-8D6B-6D426A122F36}" type="parTrans" cxnId="{959C50CF-42E4-493A-BFCC-844E1D0C60A3}">
      <dgm:prSet/>
      <dgm:spPr/>
      <dgm:t>
        <a:bodyPr/>
        <a:lstStyle/>
        <a:p>
          <a:endParaRPr lang="en-US"/>
        </a:p>
      </dgm:t>
    </dgm:pt>
    <dgm:pt modelId="{A656581D-E32B-4BFD-8AE7-D4D4F73B8739}" type="sibTrans" cxnId="{959C50CF-42E4-493A-BFCC-844E1D0C60A3}">
      <dgm:prSet/>
      <dgm:spPr/>
      <dgm:t>
        <a:bodyPr/>
        <a:lstStyle/>
        <a:p>
          <a:endParaRPr lang="en-US"/>
        </a:p>
      </dgm:t>
    </dgm:pt>
    <dgm:pt modelId="{9F618C23-432A-492B-86BC-9B05060A002B}">
      <dgm:prSet phldrT="[Text]"/>
      <dgm:spPr/>
      <dgm:t>
        <a:bodyPr/>
        <a:lstStyle/>
        <a:p>
          <a:r>
            <a:rPr lang="en-US" dirty="0"/>
            <a:t>Program outputs information the user needs to solve a problem</a:t>
          </a:r>
        </a:p>
      </dgm:t>
    </dgm:pt>
    <dgm:pt modelId="{2CBDF100-E925-41DF-851A-907FC9093775}" type="parTrans" cxnId="{EEB933FB-04CB-4B88-B86E-C238FA2AFDC3}">
      <dgm:prSet/>
      <dgm:spPr/>
      <dgm:t>
        <a:bodyPr/>
        <a:lstStyle/>
        <a:p>
          <a:endParaRPr lang="en-US"/>
        </a:p>
      </dgm:t>
    </dgm:pt>
    <dgm:pt modelId="{B92A0361-A527-4028-B4EB-B39868D2F8BF}" type="sibTrans" cxnId="{EEB933FB-04CB-4B88-B86E-C238FA2AFDC3}">
      <dgm:prSet/>
      <dgm:spPr/>
      <dgm:t>
        <a:bodyPr/>
        <a:lstStyle/>
        <a:p>
          <a:endParaRPr lang="en-US"/>
        </a:p>
      </dgm:t>
    </dgm:pt>
    <dgm:pt modelId="{5E2C74A1-4CF9-4862-984C-5F1498F8335D}" type="pres">
      <dgm:prSet presAssocID="{93A80B91-EB71-4E1D-B075-6198752453EA}" presName="CompostProcess" presStyleCnt="0">
        <dgm:presLayoutVars>
          <dgm:dir/>
          <dgm:resizeHandles val="exact"/>
        </dgm:presLayoutVars>
      </dgm:prSet>
      <dgm:spPr/>
    </dgm:pt>
    <dgm:pt modelId="{E1B58950-AE44-4696-9334-54603442AF9C}" type="pres">
      <dgm:prSet presAssocID="{93A80B91-EB71-4E1D-B075-6198752453EA}" presName="arrow" presStyleLbl="bgShp" presStyleIdx="0" presStyleCnt="1"/>
      <dgm:spPr/>
    </dgm:pt>
    <dgm:pt modelId="{B96FA195-9BF2-4A38-B28D-B05CA890AB66}" type="pres">
      <dgm:prSet presAssocID="{93A80B91-EB71-4E1D-B075-6198752453EA}" presName="linearProcess" presStyleCnt="0"/>
      <dgm:spPr/>
    </dgm:pt>
    <dgm:pt modelId="{A0AAE2E9-8908-487A-A825-1188B87FAB57}" type="pres">
      <dgm:prSet presAssocID="{88FAD8A8-E9E5-4DCE-BEF8-A031A50C30F6}" presName="textNode" presStyleLbl="node1" presStyleIdx="0" presStyleCnt="3">
        <dgm:presLayoutVars>
          <dgm:bulletEnabled val="1"/>
        </dgm:presLayoutVars>
      </dgm:prSet>
      <dgm:spPr/>
    </dgm:pt>
    <dgm:pt modelId="{8730D86E-90CE-441F-A698-B0A671804D49}" type="pres">
      <dgm:prSet presAssocID="{A953C098-0BF2-491B-9F3B-79F014EEC610}" presName="sibTrans" presStyleCnt="0"/>
      <dgm:spPr/>
    </dgm:pt>
    <dgm:pt modelId="{CD945065-00F2-42C6-A574-1EE59ECD3D5C}" type="pres">
      <dgm:prSet presAssocID="{033F41F8-5376-421C-99A9-A112FF661D52}" presName="textNode" presStyleLbl="node1" presStyleIdx="1" presStyleCnt="3">
        <dgm:presLayoutVars>
          <dgm:bulletEnabled val="1"/>
        </dgm:presLayoutVars>
      </dgm:prSet>
      <dgm:spPr/>
    </dgm:pt>
    <dgm:pt modelId="{2C127A65-2200-4CB6-96C9-66A1E77F42E3}" type="pres">
      <dgm:prSet presAssocID="{A656581D-E32B-4BFD-8AE7-D4D4F73B8739}" presName="sibTrans" presStyleCnt="0"/>
      <dgm:spPr/>
    </dgm:pt>
    <dgm:pt modelId="{E2B83F0D-53BC-456D-A203-C58FA6890C24}" type="pres">
      <dgm:prSet presAssocID="{9F618C23-432A-492B-86BC-9B05060A002B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7211D317-8CC2-4830-8F28-524002FADB71}" srcId="{93A80B91-EB71-4E1D-B075-6198752453EA}" destId="{88FAD8A8-E9E5-4DCE-BEF8-A031A50C30F6}" srcOrd="0" destOrd="0" parTransId="{FD013ADA-A94C-438C-BCD8-18FF75359860}" sibTransId="{A953C098-0BF2-491B-9F3B-79F014EEC610}"/>
    <dgm:cxn modelId="{808CAB32-3851-4016-A483-62CDAA8D3738}" type="presOf" srcId="{93A80B91-EB71-4E1D-B075-6198752453EA}" destId="{5E2C74A1-4CF9-4862-984C-5F1498F8335D}" srcOrd="0" destOrd="0" presId="urn:microsoft.com/office/officeart/2005/8/layout/hProcess9"/>
    <dgm:cxn modelId="{73702A3D-7281-4C72-AEC5-8ACFDD95BC6B}" type="presOf" srcId="{9F618C23-432A-492B-86BC-9B05060A002B}" destId="{E2B83F0D-53BC-456D-A203-C58FA6890C24}" srcOrd="0" destOrd="0" presId="urn:microsoft.com/office/officeart/2005/8/layout/hProcess9"/>
    <dgm:cxn modelId="{27B54654-BB0D-435A-9D91-4FEC57865879}" type="presOf" srcId="{033F41F8-5376-421C-99A9-A112FF661D52}" destId="{CD945065-00F2-42C6-A574-1EE59ECD3D5C}" srcOrd="0" destOrd="0" presId="urn:microsoft.com/office/officeart/2005/8/layout/hProcess9"/>
    <dgm:cxn modelId="{433B53A8-7A34-419A-BA98-6809B4A00A64}" type="presOf" srcId="{88FAD8A8-E9E5-4DCE-BEF8-A031A50C30F6}" destId="{A0AAE2E9-8908-487A-A825-1188B87FAB57}" srcOrd="0" destOrd="0" presId="urn:microsoft.com/office/officeart/2005/8/layout/hProcess9"/>
    <dgm:cxn modelId="{959C50CF-42E4-493A-BFCC-844E1D0C60A3}" srcId="{93A80B91-EB71-4E1D-B075-6198752453EA}" destId="{033F41F8-5376-421C-99A9-A112FF661D52}" srcOrd="1" destOrd="0" parTransId="{E1963D3B-6ADF-420D-8D6B-6D426A122F36}" sibTransId="{A656581D-E32B-4BFD-8AE7-D4D4F73B8739}"/>
    <dgm:cxn modelId="{EEB933FB-04CB-4B88-B86E-C238FA2AFDC3}" srcId="{93A80B91-EB71-4E1D-B075-6198752453EA}" destId="{9F618C23-432A-492B-86BC-9B05060A002B}" srcOrd="2" destOrd="0" parTransId="{2CBDF100-E925-41DF-851A-907FC9093775}" sibTransId="{B92A0361-A527-4028-B4EB-B39868D2F8BF}"/>
    <dgm:cxn modelId="{C7629352-5FB7-4724-A28F-E7C09A1EF4F6}" type="presParOf" srcId="{5E2C74A1-4CF9-4862-984C-5F1498F8335D}" destId="{E1B58950-AE44-4696-9334-54603442AF9C}" srcOrd="0" destOrd="0" presId="urn:microsoft.com/office/officeart/2005/8/layout/hProcess9"/>
    <dgm:cxn modelId="{05F3D7F7-DD57-43B7-97A5-12A81F8F3CDE}" type="presParOf" srcId="{5E2C74A1-4CF9-4862-984C-5F1498F8335D}" destId="{B96FA195-9BF2-4A38-B28D-B05CA890AB66}" srcOrd="1" destOrd="0" presId="urn:microsoft.com/office/officeart/2005/8/layout/hProcess9"/>
    <dgm:cxn modelId="{AEA7D3FC-84D6-46FF-9A8A-790FD9DAE45F}" type="presParOf" srcId="{B96FA195-9BF2-4A38-B28D-B05CA890AB66}" destId="{A0AAE2E9-8908-487A-A825-1188B87FAB57}" srcOrd="0" destOrd="0" presId="urn:microsoft.com/office/officeart/2005/8/layout/hProcess9"/>
    <dgm:cxn modelId="{A31BC910-14C0-4108-85FD-D0A715DA0B8F}" type="presParOf" srcId="{B96FA195-9BF2-4A38-B28D-B05CA890AB66}" destId="{8730D86E-90CE-441F-A698-B0A671804D49}" srcOrd="1" destOrd="0" presId="urn:microsoft.com/office/officeart/2005/8/layout/hProcess9"/>
    <dgm:cxn modelId="{0B107EF7-848F-4669-93C4-568F6C08F960}" type="presParOf" srcId="{B96FA195-9BF2-4A38-B28D-B05CA890AB66}" destId="{CD945065-00F2-42C6-A574-1EE59ECD3D5C}" srcOrd="2" destOrd="0" presId="urn:microsoft.com/office/officeart/2005/8/layout/hProcess9"/>
    <dgm:cxn modelId="{BE34B6E3-75E8-4B9F-89F1-053425614AFF}" type="presParOf" srcId="{B96FA195-9BF2-4A38-B28D-B05CA890AB66}" destId="{2C127A65-2200-4CB6-96C9-66A1E77F42E3}" srcOrd="3" destOrd="0" presId="urn:microsoft.com/office/officeart/2005/8/layout/hProcess9"/>
    <dgm:cxn modelId="{A4C0EF12-86C5-4D29-96D0-D276FDDC6A57}" type="presParOf" srcId="{B96FA195-9BF2-4A38-B28D-B05CA890AB66}" destId="{E2B83F0D-53BC-456D-A203-C58FA6890C24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58950-AE44-4696-9334-54603442AF9C}">
      <dsp:nvSpPr>
        <dsp:cNvPr id="0" name=""/>
        <dsp:cNvSpPr/>
      </dsp:nvSpPr>
      <dsp:spPr>
        <a:xfrm>
          <a:off x="582929" y="0"/>
          <a:ext cx="6606540" cy="36322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AAE2E9-8908-487A-A825-1188B87FAB57}">
      <dsp:nvSpPr>
        <dsp:cNvPr id="0" name=""/>
        <dsp:cNvSpPr/>
      </dsp:nvSpPr>
      <dsp:spPr>
        <a:xfrm>
          <a:off x="8349" y="1089660"/>
          <a:ext cx="2501741" cy="145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Program accepts input from user OR accesses data in system’s files</a:t>
          </a:r>
        </a:p>
      </dsp:txBody>
      <dsp:txXfrm>
        <a:off x="79273" y="1160584"/>
        <a:ext cx="2359893" cy="1311032"/>
      </dsp:txXfrm>
    </dsp:sp>
    <dsp:sp modelId="{CD945065-00F2-42C6-A574-1EE59ECD3D5C}">
      <dsp:nvSpPr>
        <dsp:cNvPr id="0" name=""/>
        <dsp:cNvSpPr/>
      </dsp:nvSpPr>
      <dsp:spPr>
        <a:xfrm>
          <a:off x="2635329" y="1089660"/>
          <a:ext cx="2501741" cy="145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Program runs input and any other necessary data through the model</a:t>
          </a:r>
        </a:p>
      </dsp:txBody>
      <dsp:txXfrm>
        <a:off x="2706253" y="1160584"/>
        <a:ext cx="2359893" cy="1311032"/>
      </dsp:txXfrm>
    </dsp:sp>
    <dsp:sp modelId="{E2B83F0D-53BC-456D-A203-C58FA6890C24}">
      <dsp:nvSpPr>
        <dsp:cNvPr id="0" name=""/>
        <dsp:cNvSpPr/>
      </dsp:nvSpPr>
      <dsp:spPr>
        <a:xfrm>
          <a:off x="5262309" y="1089660"/>
          <a:ext cx="2501741" cy="145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Program outputs information the user needs to solve a problem</a:t>
          </a:r>
        </a:p>
      </dsp:txBody>
      <dsp:txXfrm>
        <a:off x="5333233" y="1160584"/>
        <a:ext cx="2359893" cy="13110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0680" y="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94944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40680" y="694944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Times New Roman" pitchFamily="18" charset="0"/>
              </a:defRPr>
            </a:lvl1pPr>
          </a:lstStyle>
          <a:p>
            <a:fld id="{6C87EF7B-BAD5-466B-88CC-737F2B684B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360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ahoma" pitchFamily="34" charset="0"/>
              </a:defRPr>
            </a:lvl1pPr>
          </a:lstStyle>
          <a:p>
            <a:endParaRPr lang="en-US"/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680" y="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ahoma" pitchFamily="34" charset="0"/>
              </a:defRPr>
            </a:lvl1pPr>
          </a:lstStyle>
          <a:p>
            <a:endParaRPr lang="en-US"/>
          </a:p>
        </p:txBody>
      </p:sp>
      <p:sp>
        <p:nvSpPr>
          <p:cNvPr id="2375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71800" y="549275"/>
            <a:ext cx="36576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375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0160" y="3474720"/>
            <a:ext cx="7040880" cy="3291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75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944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ahoma" pitchFamily="34" charset="0"/>
              </a:defRPr>
            </a:lvl1pPr>
          </a:lstStyle>
          <a:p>
            <a:endParaRPr lang="en-US"/>
          </a:p>
        </p:txBody>
      </p:sp>
      <p:sp>
        <p:nvSpPr>
          <p:cNvPr id="2375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680" y="694944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ahoma" pitchFamily="34" charset="0"/>
              </a:defRPr>
            </a:lvl1pPr>
          </a:lstStyle>
          <a:p>
            <a:fld id="{60DFA87B-D22B-4447-BB2F-F863025D467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487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Sometimes the program will recommend a solution to the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10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902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02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 system, </a:t>
            </a:r>
            <a:r>
              <a:rPr lang="en-US" dirty="0" err="1"/>
              <a:t>vba</a:t>
            </a:r>
            <a:r>
              <a:rPr lang="en-US" dirty="0"/>
              <a:t>, </a:t>
            </a:r>
            <a:r>
              <a:rPr lang="en-US" dirty="0" err="1"/>
              <a:t>dss</a:t>
            </a:r>
            <a:r>
              <a:rPr lang="en-US" dirty="0"/>
              <a:t>, visual analytics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D8BA0B-055C-4376-A20D-C727A818B55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18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analytics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D8BA0B-055C-4376-A20D-C727A818B55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040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67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025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944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4FEF-C2BA-405C-940A-0938B86B92B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Fundamentals of Information Systems, Fourth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B8EC-5880-40B2-BCE1-89D9874E17C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Fundamentals of Information Systems, Fourth Edition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E163F-9706-41DA-BEEC-9D55578F17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Fundamentals of Information Systems, Fourth Edition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6E7A7-AA1E-4950-A61E-48C7D28E80B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Fundamentals of Information Systems, Fourth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98C29-0FBE-4E3D-B015-97B59C0080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Fundamentals of Information Systems, Fourth Edition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593D-B61E-4215-B242-BF4C72556C4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Fundamentals of Information Systems, Fourth Edition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8419-802B-407E-8929-770ED3D6658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Fundamentals of Information Systems, Fourth Edition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EC94F-360B-4B6D-81AD-989F75F85B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Fundamentals of Information Systems, Fourth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E860-0FF2-422C-838C-1022CDDC11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Fundamentals of Information Systems, Fourth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B01C-0DE6-4A7A-B272-9B00FB4447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01744FC-BD29-453B-8F5A-0A30F90FC68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A005A5E8-4213-488D-8019-D06882925F7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676C1-F009-41B1-B734-1D56E864C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232"/>
            <a:ext cx="8229600" cy="990600"/>
          </a:xfrm>
        </p:spPr>
        <p:txBody>
          <a:bodyPr/>
          <a:lstStyle/>
          <a:p>
            <a:r>
              <a:rPr lang="en-US" dirty="0"/>
              <a:t>Flashback to Day 1 of this Course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8B81D-1230-4AE6-ADAF-78EA11F42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B04217-C7CC-4964-9D42-CBBFCDB80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8" y="1447800"/>
            <a:ext cx="6943724" cy="51807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110710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from Day 1:</a:t>
            </a:r>
            <a:br>
              <a:rPr lang="en-US" dirty="0"/>
            </a:br>
            <a:r>
              <a:rPr lang="en-US" dirty="0"/>
              <a:t>  Some Course Tools &amp; Approaches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AB4E2F-4746-4A65-8F07-156EBE411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828800"/>
            <a:ext cx="7038975" cy="47434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48BE70-67D7-4509-B53F-3FE9DD0FAFAD}"/>
              </a:ext>
            </a:extLst>
          </p:cNvPr>
          <p:cNvSpPr/>
          <p:nvPr/>
        </p:nvSpPr>
        <p:spPr>
          <a:xfrm>
            <a:off x="685799" y="4800600"/>
            <a:ext cx="7391401" cy="177165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D46E5B-6D08-40E6-8D2F-4D867B637D04}"/>
              </a:ext>
            </a:extLst>
          </p:cNvPr>
          <p:cNvSpPr txBox="1"/>
          <p:nvPr/>
        </p:nvSpPr>
        <p:spPr>
          <a:xfrm rot="3410789">
            <a:off x="7882405" y="4513076"/>
            <a:ext cx="14950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We are here now</a:t>
            </a:r>
          </a:p>
        </p:txBody>
      </p:sp>
    </p:spTree>
    <p:extLst>
      <p:ext uri="{BB962C8B-B14F-4D97-AF65-F5344CB8AC3E}">
        <p14:creationId xmlns:p14="http://schemas.microsoft.com/office/powerpoint/2010/main" val="1607669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3:</a:t>
            </a:r>
            <a:br>
              <a:rPr lang="en-US" dirty="0"/>
            </a:br>
            <a:r>
              <a:rPr lang="en-US" sz="4000" dirty="0"/>
              <a:t>Decision Support Systems</a:t>
            </a:r>
            <a:br>
              <a:rPr lang="en-US" sz="4000" dirty="0"/>
            </a:br>
            <a:r>
              <a:rPr lang="en-US" sz="4000" dirty="0"/>
              <a:t>AND DATA VISUALIZATION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36FAB4-5584-4222-BC8B-37AA636A6A3C}"/>
              </a:ext>
            </a:extLst>
          </p:cNvPr>
          <p:cNvSpPr txBox="1"/>
          <p:nvPr/>
        </p:nvSpPr>
        <p:spPr>
          <a:xfrm>
            <a:off x="457200" y="3737302"/>
            <a:ext cx="8305800" cy="3046988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US" sz="3200" b="1" dirty="0"/>
              <a:t>Today</a:t>
            </a:r>
            <a:r>
              <a:rPr lang="en-US" sz="32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Begin Tutorial C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b="1" dirty="0"/>
              <a:t>Next class</a:t>
            </a:r>
            <a:r>
              <a:rPr lang="en-US" sz="32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Continue Tutorial 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Begin HW 7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4D0D22-4361-4362-83CE-D512A3AE2A78}"/>
              </a:ext>
            </a:extLst>
          </p:cNvPr>
          <p:cNvSpPr txBox="1"/>
          <p:nvPr/>
        </p:nvSpPr>
        <p:spPr>
          <a:xfrm>
            <a:off x="2590800" y="5562600"/>
            <a:ext cx="4343400" cy="1077218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en-US" sz="3200" b="1" dirty="0"/>
              <a:t>After that: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VBA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9654"/>
            <a:ext cx="7886700" cy="1325563"/>
          </a:xfrm>
        </p:spPr>
        <p:txBody>
          <a:bodyPr/>
          <a:lstStyle/>
          <a:p>
            <a:r>
              <a:rPr lang="en-US" sz="5400" dirty="0"/>
              <a:t>Decision Support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041451"/>
            <a:ext cx="7924800" cy="43148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Decision Support System (DSS) is a computer program that can represent a problem a user needs to solve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069560323"/>
              </p:ext>
            </p:extLst>
          </p:nvPr>
        </p:nvGraphicFramePr>
        <p:xfrm>
          <a:off x="609600" y="2916333"/>
          <a:ext cx="7772400" cy="363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74574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9654"/>
            <a:ext cx="7886700" cy="1325563"/>
          </a:xfrm>
        </p:spPr>
        <p:txBody>
          <a:bodyPr/>
          <a:lstStyle/>
          <a:p>
            <a:r>
              <a:rPr lang="en-US" sz="5400" dirty="0"/>
              <a:t>Decision Support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1626" y="2133600"/>
            <a:ext cx="7924800" cy="4298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DSS can be thought of as “what if” analysis</a:t>
            </a:r>
          </a:p>
          <a:p>
            <a:r>
              <a:rPr lang="en-US" dirty="0"/>
              <a:t>Coast Guard accession model:  How big should the class </a:t>
            </a:r>
            <a:r>
              <a:rPr lang="en-US"/>
              <a:t>of 2031 </a:t>
            </a:r>
            <a:r>
              <a:rPr lang="en-US" dirty="0"/>
              <a:t>be?</a:t>
            </a:r>
          </a:p>
          <a:p>
            <a:pPr lvl="1"/>
            <a:r>
              <a:rPr lang="en-US" dirty="0"/>
              <a:t>Factors at play:</a:t>
            </a:r>
            <a:br>
              <a:rPr lang="en-US" dirty="0"/>
            </a:br>
            <a:r>
              <a:rPr lang="en-US" i="1" dirty="0"/>
              <a:t>What if</a:t>
            </a:r>
            <a:r>
              <a:rPr lang="en-US" dirty="0"/>
              <a:t> the economy is good/bad?</a:t>
            </a:r>
            <a:br>
              <a:rPr lang="en-US" dirty="0"/>
            </a:br>
            <a:r>
              <a:rPr lang="en-US" i="1" dirty="0"/>
              <a:t>What if </a:t>
            </a:r>
            <a:r>
              <a:rPr lang="en-US" dirty="0"/>
              <a:t>the preceding classes are small/large?</a:t>
            </a:r>
            <a:br>
              <a:rPr lang="en-US" dirty="0"/>
            </a:br>
            <a:r>
              <a:rPr lang="en-US" i="1" dirty="0"/>
              <a:t>What if </a:t>
            </a:r>
            <a:r>
              <a:rPr lang="en-US" dirty="0"/>
              <a:t>the historic retention rate at CGA Is high/low?</a:t>
            </a:r>
            <a:br>
              <a:rPr lang="en-US" dirty="0"/>
            </a:br>
            <a:r>
              <a:rPr lang="en-US" i="1" dirty="0"/>
              <a:t>What if</a:t>
            </a:r>
            <a:r>
              <a:rPr lang="en-US" dirty="0"/>
              <a:t> the OCS classes are small/large?</a:t>
            </a:r>
          </a:p>
          <a:p>
            <a:r>
              <a:rPr lang="en-US" dirty="0"/>
              <a:t>DSS inform decisions / policy for decision makers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267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9654"/>
            <a:ext cx="7886700" cy="1325563"/>
          </a:xfrm>
        </p:spPr>
        <p:txBody>
          <a:bodyPr/>
          <a:lstStyle/>
          <a:p>
            <a:r>
              <a:rPr lang="en-US" sz="5400" dirty="0"/>
              <a:t>Decision Support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550" y="2133600"/>
            <a:ext cx="7924800" cy="4298950"/>
          </a:xfrm>
        </p:spPr>
        <p:txBody>
          <a:bodyPr>
            <a:normAutofit/>
          </a:bodyPr>
          <a:lstStyle/>
          <a:p>
            <a:r>
              <a:rPr lang="en-US" dirty="0"/>
              <a:t>Can be written in software or any programming language that lets a programmer represent a problem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will be using Microsoft Excel to build a DSS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05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0"/>
            <a:ext cx="8229600" cy="99060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Prescriptive Analytics Example</a:t>
            </a:r>
            <a:r>
              <a:rPr lang="en-US" sz="4000" dirty="0">
                <a:solidFill>
                  <a:srgbClr val="0070C0"/>
                </a:solidFill>
              </a:rPr>
              <a:t>: Electric power portfolio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52800"/>
            <a:ext cx="8229600" cy="2895600"/>
          </a:xfrm>
        </p:spPr>
        <p:txBody>
          <a:bodyPr/>
          <a:lstStyle/>
          <a:p>
            <a:r>
              <a:rPr lang="en-US" dirty="0"/>
              <a:t>An electric power utility must </a:t>
            </a:r>
            <a:r>
              <a:rPr lang="en-US" b="1" dirty="0"/>
              <a:t>generate </a:t>
            </a:r>
            <a:r>
              <a:rPr lang="en-US" dirty="0"/>
              <a:t>and/or </a:t>
            </a:r>
            <a:r>
              <a:rPr lang="en-US" b="1" dirty="0"/>
              <a:t>obtain </a:t>
            </a:r>
            <a:r>
              <a:rPr lang="en-US" dirty="0"/>
              <a:t>power to meet its customers' </a:t>
            </a:r>
            <a:r>
              <a:rPr lang="en-US" b="1" dirty="0"/>
              <a:t>demand</a:t>
            </a:r>
            <a:r>
              <a:rPr lang="en-US" dirty="0"/>
              <a:t>.</a:t>
            </a:r>
          </a:p>
          <a:p>
            <a:r>
              <a:rPr lang="en-US" dirty="0"/>
              <a:t>The utility has a set of options from which to fill its power “</a:t>
            </a:r>
            <a:r>
              <a:rPr lang="en-US" b="1" dirty="0"/>
              <a:t>portfolio</a:t>
            </a:r>
            <a:r>
              <a:rPr lang="en-US" dirty="0"/>
              <a:t>".</a:t>
            </a:r>
          </a:p>
          <a:p>
            <a:r>
              <a:rPr lang="en-US" dirty="0"/>
              <a:t>Utilities generally </a:t>
            </a:r>
            <a:r>
              <a:rPr lang="en-US" b="1" dirty="0"/>
              <a:t>optimize </a:t>
            </a:r>
            <a:r>
              <a:rPr lang="en-US" dirty="0"/>
              <a:t>their portfolios in the sense of </a:t>
            </a:r>
            <a:r>
              <a:rPr lang="en-US" b="1" dirty="0"/>
              <a:t>minimizing cost </a:t>
            </a:r>
            <a:r>
              <a:rPr lang="en-US" dirty="0"/>
              <a:t>subject to numerous constraints.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42967-1D90-40C2-9374-1766099C4672}"/>
              </a:ext>
            </a:extLst>
          </p:cNvPr>
          <p:cNvSpPr txBox="1"/>
          <p:nvPr/>
        </p:nvSpPr>
        <p:spPr>
          <a:xfrm>
            <a:off x="685800" y="685800"/>
            <a:ext cx="53559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/>
              <a:t>An example DSS from day 1</a:t>
            </a:r>
          </a:p>
        </p:txBody>
      </p:sp>
    </p:spTree>
    <p:extLst>
      <p:ext uri="{BB962C8B-B14F-4D97-AF65-F5344CB8AC3E}">
        <p14:creationId xmlns:p14="http://schemas.microsoft.com/office/powerpoint/2010/main" val="1404977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2780" y="564292"/>
            <a:ext cx="8905337" cy="591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702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316" y="1072663"/>
            <a:ext cx="8659253" cy="174087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Formulated as Mixed Integer Program (see Lin Opt)</a:t>
            </a:r>
          </a:p>
          <a:p>
            <a:r>
              <a:rPr lang="en-US" dirty="0"/>
              <a:t>Decision Variables:  </a:t>
            </a:r>
            <a:r>
              <a:rPr lang="en-US" dirty="0" err="1"/>
              <a:t>x</a:t>
            </a:r>
            <a:r>
              <a:rPr lang="en-US" baseline="-25000" dirty="0" err="1"/>
              <a:t>a</a:t>
            </a:r>
            <a:r>
              <a:rPr lang="en-US" dirty="0"/>
              <a:t> =megawatts (MW) to purchase of asset a, etc.</a:t>
            </a:r>
          </a:p>
          <a:p>
            <a:r>
              <a:rPr lang="en-US" dirty="0"/>
              <a:t>Fairly complicated objective function and numerous constraints...</a:t>
            </a:r>
          </a:p>
          <a:p>
            <a:r>
              <a:rPr lang="en-US" b="1" dirty="0"/>
              <a:t>Decision support system </a:t>
            </a:r>
            <a:r>
              <a:rPr lang="en-US" dirty="0"/>
              <a:t>implemented in </a:t>
            </a:r>
            <a:r>
              <a:rPr lang="en-US" b="1" dirty="0"/>
              <a:t>Excel </a:t>
            </a:r>
            <a:r>
              <a:rPr lang="en-US" dirty="0"/>
              <a:t>using </a:t>
            </a:r>
            <a:r>
              <a:rPr lang="en-US" b="1" dirty="0"/>
              <a:t>VBA</a:t>
            </a:r>
            <a:r>
              <a:rPr lang="en-US" dirty="0"/>
              <a:t> (this course)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1316" y="312374"/>
            <a:ext cx="7893151" cy="6836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30785" y="2636642"/>
            <a:ext cx="7453682" cy="408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385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9492" y="164133"/>
            <a:ext cx="8208258" cy="669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432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9654"/>
            <a:ext cx="7886700" cy="1325563"/>
          </a:xfrm>
        </p:spPr>
        <p:txBody>
          <a:bodyPr>
            <a:noAutofit/>
          </a:bodyPr>
          <a:lstStyle/>
          <a:p>
            <a:r>
              <a:rPr lang="en-US" sz="4800" dirty="0"/>
              <a:t>Building a DSS:  Tutorial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550" y="1865217"/>
            <a:ext cx="7924800" cy="47641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Tutorial C</a:t>
            </a:r>
            <a:r>
              <a:rPr lang="en-US" sz="2800" dirty="0"/>
              <a:t>:</a:t>
            </a:r>
          </a:p>
          <a:p>
            <a:r>
              <a:rPr lang="en-US" sz="2800" dirty="0"/>
              <a:t>A company makes strategic decisions based on:</a:t>
            </a:r>
          </a:p>
          <a:p>
            <a:pPr lvl="1"/>
            <a:r>
              <a:rPr lang="en-US" sz="2400" dirty="0"/>
              <a:t>its net income and </a:t>
            </a:r>
          </a:p>
          <a:p>
            <a:pPr lvl="1"/>
            <a:r>
              <a:rPr lang="en-US" sz="2400" dirty="0"/>
              <a:t>cash flow</a:t>
            </a:r>
          </a:p>
          <a:p>
            <a:r>
              <a:rPr lang="en-US" sz="2800" dirty="0"/>
              <a:t>Senior management wants to know these for the next two years.  You generate them based on:</a:t>
            </a:r>
          </a:p>
          <a:p>
            <a:pPr lvl="1"/>
            <a:r>
              <a:rPr lang="en-US" sz="2400" dirty="0"/>
              <a:t>Year 1 data</a:t>
            </a:r>
          </a:p>
          <a:p>
            <a:pPr lvl="1"/>
            <a:r>
              <a:rPr lang="en-US" sz="2400" dirty="0"/>
              <a:t>Economic outlook</a:t>
            </a:r>
          </a:p>
          <a:p>
            <a:pPr lvl="1"/>
            <a:r>
              <a:rPr lang="en-US" sz="2400" dirty="0"/>
              <a:t>Trend of cost of goods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455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550" y="1865217"/>
            <a:ext cx="7924800" cy="48403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You develop a DSS tool that enables user to:</a:t>
            </a:r>
          </a:p>
          <a:p>
            <a:r>
              <a:rPr lang="en-US" dirty="0"/>
              <a:t>see outputs as various </a:t>
            </a:r>
            <a:r>
              <a:rPr lang="en-US" i="1" dirty="0"/>
              <a:t>what if</a:t>
            </a:r>
            <a:r>
              <a:rPr lang="en-US" dirty="0"/>
              <a:t> input variables are changed</a:t>
            </a:r>
          </a:p>
          <a:p>
            <a:r>
              <a:rPr lang="en-US" dirty="0"/>
              <a:t>make informed decisions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b="1" dirty="0"/>
              <a:t>HW 7</a:t>
            </a:r>
            <a:r>
              <a:rPr lang="en-US" dirty="0"/>
              <a:t>:</a:t>
            </a:r>
          </a:p>
          <a:p>
            <a:r>
              <a:rPr lang="en-US" dirty="0"/>
              <a:t>Complete this DSS</a:t>
            </a:r>
          </a:p>
          <a:p>
            <a:r>
              <a:rPr lang="en-US" dirty="0"/>
              <a:t>Create another one (case 6 in your textbook)</a:t>
            </a:r>
          </a:p>
          <a:p>
            <a:r>
              <a:rPr lang="en-US" dirty="0"/>
              <a:t>Read section </a:t>
            </a:r>
            <a:r>
              <a:rPr lang="en-US"/>
              <a:t>on Pivot Tables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B1ADF5F-B116-4564-8166-308790946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9654"/>
            <a:ext cx="7886700" cy="1325563"/>
          </a:xfrm>
        </p:spPr>
        <p:txBody>
          <a:bodyPr>
            <a:noAutofit/>
          </a:bodyPr>
          <a:lstStyle/>
          <a:p>
            <a:r>
              <a:rPr lang="en-US" sz="4800" dirty="0"/>
              <a:t>Building a DSS:  Tutorial C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185CEBDA-FA4C-457C-A802-1CBF64AF8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783883"/>
              </p:ext>
            </p:extLst>
          </p:nvPr>
        </p:nvGraphicFramePr>
        <p:xfrm>
          <a:off x="742950" y="3657600"/>
          <a:ext cx="7658100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0">
                  <a:extLst>
                    <a:ext uri="{9D8B030D-6E8A-4147-A177-3AD203B41FA5}">
                      <a16:colId xmlns:a16="http://schemas.microsoft.com/office/drawing/2014/main" val="3604845771"/>
                    </a:ext>
                  </a:extLst>
                </a:gridCol>
                <a:gridCol w="3829050">
                  <a:extLst>
                    <a:ext uri="{9D8B030D-6E8A-4147-A177-3AD203B41FA5}">
                      <a16:colId xmlns:a16="http://schemas.microsoft.com/office/drawing/2014/main" val="3986992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/>
                        <a:t>Inputs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economic outlook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cost of goods trends 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/>
                        <a:t>Outputs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net income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cash on hand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486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22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Tutorial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Info &amp; Hints</a:t>
            </a:r>
          </a:p>
          <a:p>
            <a:r>
              <a:rPr lang="en-US" dirty="0"/>
              <a:t>4 parts</a:t>
            </a:r>
          </a:p>
          <a:p>
            <a:pPr lvl="1"/>
            <a:r>
              <a:rPr lang="en-US" dirty="0"/>
              <a:t>see list on p89</a:t>
            </a:r>
          </a:p>
          <a:p>
            <a:pPr lvl="1"/>
            <a:r>
              <a:rPr lang="en-US" dirty="0"/>
              <a:t>only required to do 1</a:t>
            </a:r>
            <a:r>
              <a:rPr lang="en-US" baseline="30000" dirty="0"/>
              <a:t>st</a:t>
            </a:r>
            <a:r>
              <a:rPr lang="en-US" dirty="0"/>
              <a:t> 2 (so pp 89-101)</a:t>
            </a:r>
          </a:p>
          <a:p>
            <a:r>
              <a:rPr lang="en-US" dirty="0"/>
              <a:t>To make it more educational, </a:t>
            </a:r>
          </a:p>
          <a:p>
            <a:pPr lvl="1"/>
            <a:r>
              <a:rPr lang="en-US" dirty="0"/>
              <a:t>instead of copying the formulas straight from the book, try to figure out what the formula is going to be based on the descriptions</a:t>
            </a:r>
          </a:p>
          <a:p>
            <a:pPr lvl="1"/>
            <a:r>
              <a:rPr lang="en-US" dirty="0"/>
              <a:t>E.g. sales = units sold * sales price per unit</a:t>
            </a:r>
          </a:p>
          <a:p>
            <a:r>
              <a:rPr lang="en-US" dirty="0"/>
              <a:t>In </a:t>
            </a:r>
            <a:r>
              <a:rPr lang="en-US" b="1" dirty="0"/>
              <a:t>Scenario Manager</a:t>
            </a:r>
            <a:r>
              <a:rPr lang="en-US" dirty="0"/>
              <a:t>, to get better row labels in the summary, give those cells names in the name manager.</a:t>
            </a:r>
          </a:p>
          <a:p>
            <a:r>
              <a:rPr lang="en-US" b="1" dirty="0"/>
              <a:t>TutC.xlsx </a:t>
            </a:r>
            <a:r>
              <a:rPr lang="en-US" dirty="0"/>
              <a:t>skeleton file available on Canvas in case you want to start from there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2983</TotalTime>
  <Words>588</Words>
  <Application>Microsoft Office PowerPoint</Application>
  <PresentationFormat>On-screen Show (4:3)</PresentationFormat>
  <Paragraphs>92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Tahoma</vt:lpstr>
      <vt:lpstr>Times New Roman</vt:lpstr>
      <vt:lpstr>Clarity</vt:lpstr>
      <vt:lpstr>Flashback to Day 1 of this Course</vt:lpstr>
      <vt:lpstr>More from Day 1:   Some Course Tools &amp; Approaches</vt:lpstr>
      <vt:lpstr>Module 3: Decision Support Systems AND DATA VISUALIZATION</vt:lpstr>
      <vt:lpstr>Decision Support System</vt:lpstr>
      <vt:lpstr>Decision Support System</vt:lpstr>
      <vt:lpstr>Decision Support System</vt:lpstr>
      <vt:lpstr>Prescriptive Analytics Example: Electric power portfolio optimization</vt:lpstr>
      <vt:lpstr>PowerPoint Presentation</vt:lpstr>
      <vt:lpstr>PowerPoint Presentation</vt:lpstr>
      <vt:lpstr>PowerPoint Presentation</vt:lpstr>
      <vt:lpstr>Building a DSS:  Tutorial C</vt:lpstr>
      <vt:lpstr>Building a DSS:  Tutorial C</vt:lpstr>
      <vt:lpstr>Start Tutorial 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</dc:title>
  <dc:subject/>
  <dc:creator>Rushmeier</dc:creator>
  <cp:lastModifiedBy>Frommer, Ian Dr. (EDU)</cp:lastModifiedBy>
  <cp:revision>262</cp:revision>
  <cp:lastPrinted>1999-08-30T21:12:41Z</cp:lastPrinted>
  <dcterms:created xsi:type="dcterms:W3CDTF">2001-08-22T18:42:13Z</dcterms:created>
  <dcterms:modified xsi:type="dcterms:W3CDTF">2026-10-22T14:55:39Z</dcterms:modified>
</cp:coreProperties>
</file>