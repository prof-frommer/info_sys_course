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7" r:id="rId2"/>
    <p:sldId id="320" r:id="rId3"/>
    <p:sldId id="331" r:id="rId4"/>
    <p:sldId id="321" r:id="rId5"/>
    <p:sldId id="327" r:id="rId6"/>
    <p:sldId id="324" r:id="rId7"/>
    <p:sldId id="323" r:id="rId8"/>
    <p:sldId id="325" r:id="rId9"/>
    <p:sldId id="322" r:id="rId10"/>
    <p:sldId id="326" r:id="rId11"/>
    <p:sldId id="329" r:id="rId12"/>
    <p:sldId id="332" r:id="rId13"/>
    <p:sldId id="333" r:id="rId14"/>
    <p:sldId id="33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AEDA23-54A5-42BC-A01E-EECD77779B7A}" v="2" dt="2026-09-23T17:30:43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01" autoAdjust="0"/>
    <p:restoredTop sz="83235" autoAdjust="0"/>
  </p:normalViewPr>
  <p:slideViewPr>
    <p:cSldViewPr snapToGrid="0" snapToObjects="1">
      <p:cViewPr varScale="1">
        <p:scale>
          <a:sx n="103" d="100"/>
          <a:sy n="103" d="100"/>
        </p:scale>
        <p:origin x="1074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custSel delSld modSld">
      <pc:chgData name="Frommer, Ian Dr. (EDU)" userId="28ca3ff0-544f-450a-928b-99e19cf49b89" providerId="ADAL" clId="{A3E8E5B1-0D91-4643-B70B-3D065C8674E0}" dt="2026-09-23T17:30:46.921" v="55" actId="20577"/>
      <pc:docMkLst>
        <pc:docMk/>
      </pc:docMkLst>
      <pc:sldChg chg="delSp modSp mod">
        <pc:chgData name="Frommer, Ian Dr. (EDU)" userId="28ca3ff0-544f-450a-928b-99e19cf49b89" providerId="ADAL" clId="{A3E8E5B1-0D91-4643-B70B-3D065C8674E0}" dt="2026-09-23T16:35:56.978" v="21"/>
        <pc:sldMkLst>
          <pc:docMk/>
          <pc:sldMk cId="2475985088" sldId="257"/>
        </pc:sldMkLst>
        <pc:spChg chg="del mod">
          <ac:chgData name="Frommer, Ian Dr. (EDU)" userId="28ca3ff0-544f-450a-928b-99e19cf49b89" providerId="ADAL" clId="{A3E8E5B1-0D91-4643-B70B-3D065C8674E0}" dt="2026-09-23T16:35:56.978" v="21"/>
          <ac:spMkLst>
            <pc:docMk/>
            <pc:sldMk cId="2475985088" sldId="257"/>
            <ac:spMk id="2" creationId="{00000000-0000-0000-0000-000000000000}"/>
          </ac:spMkLst>
        </pc:spChg>
        <pc:spChg chg="mod">
          <ac:chgData name="Frommer, Ian Dr. (EDU)" userId="28ca3ff0-544f-450a-928b-99e19cf49b89" providerId="ADAL" clId="{A3E8E5B1-0D91-4643-B70B-3D065C8674E0}" dt="2026-09-23T16:35:52.617" v="18" actId="20577"/>
          <ac:spMkLst>
            <pc:docMk/>
            <pc:sldMk cId="2475985088" sldId="257"/>
            <ac:spMk id="262146" creationId="{00000000-0000-0000-0000-000000000000}"/>
          </ac:spMkLst>
        </pc:spChg>
      </pc:sldChg>
      <pc:sldChg chg="del">
        <pc:chgData name="Frommer, Ian Dr. (EDU)" userId="28ca3ff0-544f-450a-928b-99e19cf49b89" providerId="ADAL" clId="{A3E8E5B1-0D91-4643-B70B-3D065C8674E0}" dt="2026-09-23T16:38:26.903" v="22" actId="47"/>
        <pc:sldMkLst>
          <pc:docMk/>
          <pc:sldMk cId="655143150" sldId="278"/>
        </pc:sldMkLst>
      </pc:sldChg>
      <pc:sldChg chg="del">
        <pc:chgData name="Frommer, Ian Dr. (EDU)" userId="28ca3ff0-544f-450a-928b-99e19cf49b89" providerId="ADAL" clId="{A3E8E5B1-0D91-4643-B70B-3D065C8674E0}" dt="2026-09-23T16:38:26.903" v="22" actId="47"/>
        <pc:sldMkLst>
          <pc:docMk/>
          <pc:sldMk cId="1977493954" sldId="280"/>
        </pc:sldMkLst>
      </pc:sldChg>
      <pc:sldChg chg="del">
        <pc:chgData name="Frommer, Ian Dr. (EDU)" userId="28ca3ff0-544f-450a-928b-99e19cf49b89" providerId="ADAL" clId="{A3E8E5B1-0D91-4643-B70B-3D065C8674E0}" dt="2026-09-23T16:38:26.903" v="22" actId="47"/>
        <pc:sldMkLst>
          <pc:docMk/>
          <pc:sldMk cId="4046738892" sldId="281"/>
        </pc:sldMkLst>
      </pc:sldChg>
      <pc:sldChg chg="del">
        <pc:chgData name="Frommer, Ian Dr. (EDU)" userId="28ca3ff0-544f-450a-928b-99e19cf49b89" providerId="ADAL" clId="{A3E8E5B1-0D91-4643-B70B-3D065C8674E0}" dt="2026-09-23T16:38:26.903" v="22" actId="47"/>
        <pc:sldMkLst>
          <pc:docMk/>
          <pc:sldMk cId="2630577512" sldId="282"/>
        </pc:sldMkLst>
      </pc:sldChg>
      <pc:sldChg chg="del">
        <pc:chgData name="Frommer, Ian Dr. (EDU)" userId="28ca3ff0-544f-450a-928b-99e19cf49b89" providerId="ADAL" clId="{A3E8E5B1-0D91-4643-B70B-3D065C8674E0}" dt="2026-09-23T16:49:04.655" v="23" actId="47"/>
        <pc:sldMkLst>
          <pc:docMk/>
          <pc:sldMk cId="2532530433" sldId="318"/>
        </pc:sldMkLst>
      </pc:sldChg>
      <pc:sldChg chg="modSp mod">
        <pc:chgData name="Frommer, Ian Dr. (EDU)" userId="28ca3ff0-544f-450a-928b-99e19cf49b89" providerId="ADAL" clId="{A3E8E5B1-0D91-4643-B70B-3D065C8674E0}" dt="2026-09-23T17:30:35.981" v="42" actId="27636"/>
        <pc:sldMkLst>
          <pc:docMk/>
          <pc:sldMk cId="930205913" sldId="326"/>
        </pc:sldMkLst>
        <pc:spChg chg="mod">
          <ac:chgData name="Frommer, Ian Dr. (EDU)" userId="28ca3ff0-544f-450a-928b-99e19cf49b89" providerId="ADAL" clId="{A3E8E5B1-0D91-4643-B70B-3D065C8674E0}" dt="2026-09-23T17:30:35.981" v="42" actId="27636"/>
          <ac:spMkLst>
            <pc:docMk/>
            <pc:sldMk cId="930205913" sldId="326"/>
            <ac:spMk id="2" creationId="{00000000-0000-0000-0000-000000000000}"/>
          </ac:spMkLst>
        </pc:spChg>
      </pc:sldChg>
      <pc:sldChg chg="del">
        <pc:chgData name="Frommer, Ian Dr. (EDU)" userId="28ca3ff0-544f-450a-928b-99e19cf49b89" providerId="ADAL" clId="{A3E8E5B1-0D91-4643-B70B-3D065C8674E0}" dt="2026-09-23T17:25:53.810" v="24" actId="2696"/>
        <pc:sldMkLst>
          <pc:docMk/>
          <pc:sldMk cId="3531109861" sldId="328"/>
        </pc:sldMkLst>
      </pc:sldChg>
      <pc:sldChg chg="modSp mod">
        <pc:chgData name="Frommer, Ian Dr. (EDU)" userId="28ca3ff0-544f-450a-928b-99e19cf49b89" providerId="ADAL" clId="{A3E8E5B1-0D91-4643-B70B-3D065C8674E0}" dt="2026-09-23T17:30:46.921" v="55" actId="20577"/>
        <pc:sldMkLst>
          <pc:docMk/>
          <pc:sldMk cId="1480200537" sldId="329"/>
        </pc:sldMkLst>
        <pc:spChg chg="mod">
          <ac:chgData name="Frommer, Ian Dr. (EDU)" userId="28ca3ff0-544f-450a-928b-99e19cf49b89" providerId="ADAL" clId="{A3E8E5B1-0D91-4643-B70B-3D065C8674E0}" dt="2026-09-23T17:30:46.921" v="55" actId="20577"/>
          <ac:spMkLst>
            <pc:docMk/>
            <pc:sldMk cId="1480200537" sldId="329"/>
            <ac:spMk id="3" creationId="{00000000-0000-0000-0000-000000000000}"/>
          </ac:spMkLst>
        </pc:spChg>
      </pc:sldChg>
      <pc:sldChg chg="del">
        <pc:chgData name="Frommer, Ian Dr. (EDU)" userId="28ca3ff0-544f-450a-928b-99e19cf49b89" providerId="ADAL" clId="{A3E8E5B1-0D91-4643-B70B-3D065C8674E0}" dt="2026-09-23T17:25:53.810" v="24" actId="2696"/>
        <pc:sldMkLst>
          <pc:docMk/>
          <pc:sldMk cId="2148290662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E5F19-4F90-8B48-A21B-2B05369B7F3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7557B-27E6-714E-8DF7-07E79EF3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7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58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04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</a:t>
            </a:r>
            <a:r>
              <a:rPr lang="en-US" baseline="0" dirty="0"/>
              <a:t> some of these, at least *’d 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20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4FEF-C2BA-405C-940A-0938B86B92B3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72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5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C-5880-40B2-BCE1-89D9874E17C0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73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163F-9706-41DA-BEEC-9D55578F1725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1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6E7A7-AA1E-4950-A61E-48C7D28E80B4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59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98C29-0FBE-4E3D-B015-97B59C0080D2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048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93D-B61E-4215-B242-BF4C72556C47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38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8419-802B-407E-8929-770ED3D66584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90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C94F-360B-4B6D-81AD-989F75F85BBF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63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E860-0FF2-422C-838C-1022CDDC119C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2230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9/23/2026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B01C-0DE6-4A7A-B272-9B00FB4447FB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3344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42275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90600"/>
            <a:ext cx="792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619500"/>
            <a:ext cx="792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609600" y="6245225"/>
            <a:ext cx="57150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EDC2C-22CC-4E48-B39E-90B7B45D9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7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 defTabSz="914400"/>
            <a:fld id="{201744FC-BD29-453B-8F5A-0A30F90FC68A}" type="datetimeFigureOut">
              <a:rPr lang="en-US" smtClean="0">
                <a:latin typeface="Arial"/>
              </a:rPr>
              <a:pPr defTabSz="914400"/>
              <a:t>9/23/2026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defTabSz="914400"/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 defTabSz="914400"/>
            <a:fld id="{A005A5E8-4213-488D-8019-D06882925F76}" type="slidenum">
              <a:rPr lang="en-US" smtClean="0">
                <a:latin typeface="Arial"/>
              </a:rPr>
              <a:pPr defTabSz="914400"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01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Access tutorial</a:t>
            </a:r>
            <a:br>
              <a:rPr lang="en-US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7598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294E-FCF8-4D05-9221-8EA1437B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760" y="27589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Next up - Learn by reading &amp; doing</a:t>
            </a:r>
            <a:br>
              <a:rPr lang="en-US" sz="4800" dirty="0"/>
            </a:br>
            <a:r>
              <a:rPr lang="en-US" sz="3200" dirty="0"/>
              <a:t>YOU work through Tutorial B in the 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9BE91-F39F-4232-936B-4F5719F22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689538"/>
            <a:ext cx="8610600" cy="4950372"/>
          </a:xfrm>
        </p:spPr>
        <p:txBody>
          <a:bodyPr>
            <a:noAutofit/>
          </a:bodyPr>
          <a:lstStyle/>
          <a:p>
            <a:r>
              <a:rPr lang="en-US" sz="2800" dirty="0"/>
              <a:t>Start in class today, finish for HW 5</a:t>
            </a:r>
          </a:p>
          <a:p>
            <a:r>
              <a:rPr lang="en-US" sz="2800" dirty="0"/>
              <a:t>Tutorial B introduces you to these basics of Access:</a:t>
            </a:r>
          </a:p>
          <a:p>
            <a:pPr lvl="1"/>
            <a:r>
              <a:rPr lang="en-US" b="1" dirty="0"/>
              <a:t>queries</a:t>
            </a:r>
            <a:r>
              <a:rPr lang="en-US" dirty="0"/>
              <a:t>, </a:t>
            </a:r>
          </a:p>
          <a:p>
            <a:pPr lvl="1"/>
            <a:r>
              <a:rPr lang="en-US" b="1" dirty="0"/>
              <a:t>forms</a:t>
            </a:r>
            <a:r>
              <a:rPr lang="en-US" dirty="0"/>
              <a:t> and </a:t>
            </a:r>
          </a:p>
          <a:p>
            <a:pPr lvl="1"/>
            <a:r>
              <a:rPr lang="en-US" b="1" dirty="0"/>
              <a:t>reports</a:t>
            </a:r>
            <a:r>
              <a:rPr lang="en-US" dirty="0"/>
              <a:t> </a:t>
            </a:r>
          </a:p>
          <a:p>
            <a:pPr marL="274320" lvl="1" indent="0">
              <a:buNone/>
            </a:pPr>
            <a:r>
              <a:rPr lang="en-US" dirty="0"/>
              <a:t>through an example. </a:t>
            </a:r>
          </a:p>
          <a:p>
            <a:r>
              <a:rPr lang="en-US" sz="2800" b="1" dirty="0"/>
              <a:t>Learning on your own</a:t>
            </a:r>
          </a:p>
          <a:p>
            <a:pPr lvl="1"/>
            <a:r>
              <a:rPr lang="en-US" sz="2400" dirty="0"/>
              <a:t>I will </a:t>
            </a:r>
            <a:r>
              <a:rPr lang="en-US" sz="2400" b="1" dirty="0"/>
              <a:t>not</a:t>
            </a:r>
            <a:r>
              <a:rPr lang="en-US" sz="2400" dirty="0"/>
              <a:t> be </a:t>
            </a:r>
            <a:r>
              <a:rPr lang="en-US" sz="2400" b="1" dirty="0"/>
              <a:t>teaching</a:t>
            </a:r>
            <a:r>
              <a:rPr lang="en-US" sz="2400" dirty="0"/>
              <a:t> this material.  </a:t>
            </a:r>
          </a:p>
          <a:p>
            <a:pPr lvl="1"/>
            <a:r>
              <a:rPr lang="en-US" sz="2400" dirty="0"/>
              <a:t>You are being tasked with </a:t>
            </a:r>
            <a:r>
              <a:rPr lang="en-US" sz="2400" b="1" dirty="0"/>
              <a:t>learning it on your own </a:t>
            </a:r>
            <a:r>
              <a:rPr lang="en-US" sz="2400" dirty="0"/>
              <a:t>through this Tutorial.  </a:t>
            </a:r>
            <a:r>
              <a:rPr lang="en-US" sz="2400" b="1" u="sng" dirty="0"/>
              <a:t>Read the book very carefully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See </a:t>
            </a:r>
            <a:r>
              <a:rPr lang="en-US" sz="2400" b="1" dirty="0"/>
              <a:t>Troubleshooting</a:t>
            </a:r>
            <a:r>
              <a:rPr lang="en-US" sz="2400" dirty="0"/>
              <a:t> on pages 49-51</a:t>
            </a:r>
          </a:p>
          <a:p>
            <a:pPr lvl="1"/>
            <a:r>
              <a:rPr lang="en-US" sz="2400" dirty="0"/>
              <a:t>Feel free to ask me any questions you may have.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1DBEE-EA7D-48DD-BC04-A8C06102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78399" y="2799644"/>
            <a:ext cx="23198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There is much more functionality in Access that what is in the Tutorial.</a:t>
            </a:r>
          </a:p>
        </p:txBody>
      </p:sp>
    </p:spTree>
    <p:extLst>
      <p:ext uri="{BB962C8B-B14F-4D97-AF65-F5344CB8AC3E}">
        <p14:creationId xmlns:p14="http://schemas.microsoft.com/office/powerpoint/2010/main" val="46637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B97A-76E3-53F0-9650-74C8A3A7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 -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25715-F284-0FB8-4D60-82020E757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u="sng" dirty="0"/>
              <a:t>Section					   # of pages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Creating Tables 					5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Creating Queries 					16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Seven Practice Queries 				4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Creating Reports 			</a:t>
            </a:r>
            <a:r>
              <a:rPr lang="en-US"/>
              <a:t>		5</a:t>
            </a:r>
            <a:endParaRPr lang="en-US" dirty="0"/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Importing Data 					3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Making Forms 					2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Forming Relationships 				1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Troubleshooting Common Problems 		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 you work through the examples, make educated guesses and try them before reading the recipes in the book.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5B1AC-879D-C632-E9A5-4A868256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877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30375"/>
            <a:ext cx="7886700" cy="132556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dirty="0"/>
              <a:t>Access Query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47799"/>
            <a:ext cx="7886700" cy="5071241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/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query</a:t>
            </a:r>
            <a:r>
              <a:rPr lang="en-US" dirty="0"/>
              <a:t> is a question you ask about the data stored in a database table.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Access responds by displaying the data according to your question. </a:t>
            </a:r>
          </a:p>
          <a:p>
            <a:pPr marL="0" indent="0" eaLnBrk="1" hangingPunct="1">
              <a:buNone/>
            </a:pPr>
            <a:endParaRPr lang="en-US" dirty="0"/>
          </a:p>
          <a:p>
            <a:pPr>
              <a:defRPr/>
            </a:pPr>
            <a:r>
              <a:rPr lang="en-US" dirty="0"/>
              <a:t>For example</a:t>
            </a:r>
          </a:p>
          <a:p>
            <a:pPr lvl="1">
              <a:defRPr/>
            </a:pPr>
            <a:r>
              <a:rPr lang="en-US" dirty="0"/>
              <a:t>if you want to see all the customers from New York …</a:t>
            </a:r>
          </a:p>
          <a:p>
            <a:pPr lvl="1">
              <a:defRPr/>
            </a:pPr>
            <a:r>
              <a:rPr lang="en-US" dirty="0"/>
              <a:t>… you formulate a query to display only the records whose state field matches with NY</a:t>
            </a:r>
          </a:p>
          <a:p>
            <a:pPr lvl="1" eaLnBrk="1" hangingPunct="1"/>
            <a:endParaRPr lang="en-US" dirty="0"/>
          </a:p>
          <a:p>
            <a:r>
              <a:rPr lang="en-US" dirty="0"/>
              <a:t>Access provides GUI to create queries</a:t>
            </a:r>
          </a:p>
          <a:p>
            <a:endParaRPr lang="en-US" dirty="0"/>
          </a:p>
          <a:p>
            <a:r>
              <a:rPr lang="en-US" dirty="0"/>
              <a:t>Queries are implemented as SQL statements</a:t>
            </a:r>
          </a:p>
          <a:p>
            <a:pPr lvl="1"/>
            <a:r>
              <a:rPr lang="en-US" dirty="0"/>
              <a:t>SQL = Structured Query Language</a:t>
            </a:r>
          </a:p>
          <a:p>
            <a:pPr lvl="1"/>
            <a:r>
              <a:rPr lang="en-US" dirty="0"/>
              <a:t>More on SQL next week…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93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Access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6700"/>
            <a:ext cx="8229600" cy="4876800"/>
          </a:xfrm>
        </p:spPr>
        <p:txBody>
          <a:bodyPr/>
          <a:lstStyle/>
          <a:p>
            <a:r>
              <a:rPr lang="en-US" dirty="0"/>
              <a:t>You can create a </a:t>
            </a:r>
            <a:r>
              <a:rPr lang="en-US" b="1" dirty="0">
                <a:solidFill>
                  <a:srgbClr val="FF0000"/>
                </a:solidFill>
              </a:rPr>
              <a:t>report</a:t>
            </a:r>
            <a:r>
              <a:rPr lang="en-US" dirty="0"/>
              <a:t>, which is a printed version of your data, that is formatted according to your specifications.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5</a:t>
            </a:fld>
            <a:endParaRPr lang="en-US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431844"/>
            <a:ext cx="6942137" cy="427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5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-838200" y="533400"/>
            <a:ext cx="8229600" cy="9906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dirty="0"/>
              <a:t>Access Report (</a:t>
            </a:r>
            <a:r>
              <a:rPr lang="en-US" sz="4000" dirty="0" err="1"/>
              <a:t>cont</a:t>
            </a:r>
            <a:r>
              <a:rPr lang="en-US" sz="4000" dirty="0"/>
              <a:t>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5308600" cy="4876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Data in a report can come </a:t>
            </a:r>
            <a:r>
              <a:rPr lang="en-US" b="1" dirty="0"/>
              <a:t>from</a:t>
            </a:r>
            <a:r>
              <a:rPr lang="en-US" dirty="0"/>
              <a:t> a </a:t>
            </a:r>
            <a:r>
              <a:rPr lang="en-US" b="1" dirty="0"/>
              <a:t>single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</a:t>
            </a:r>
            <a:r>
              <a:rPr lang="en-US" b="1" dirty="0"/>
              <a:t>or</a:t>
            </a:r>
            <a:r>
              <a:rPr lang="en-US" dirty="0"/>
              <a:t> </a:t>
            </a:r>
            <a:r>
              <a:rPr lang="en-US" b="1" dirty="0"/>
              <a:t>multiple</a:t>
            </a:r>
            <a:r>
              <a:rPr lang="en-US" dirty="0"/>
              <a:t> tables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Report can be </a:t>
            </a:r>
            <a:r>
              <a:rPr lang="en-US" b="1" dirty="0"/>
              <a:t>based on a table or on a query</a:t>
            </a:r>
          </a:p>
          <a:p>
            <a:pPr lvl="1" eaLnBrk="1" hangingPunct="1"/>
            <a:r>
              <a:rPr lang="en-US" dirty="0"/>
              <a:t>if based on a query, it will contain the same fields that were selected for the query</a:t>
            </a:r>
          </a:p>
          <a:p>
            <a:pPr lvl="1" eaLnBrk="1" hangingPunct="1"/>
            <a:endParaRPr lang="en-US" dirty="0"/>
          </a:p>
          <a:p>
            <a:r>
              <a:rPr lang="en-US" dirty="0"/>
              <a:t>Access provides a </a:t>
            </a:r>
            <a:r>
              <a:rPr lang="en-US" b="1" dirty="0"/>
              <a:t>GUI to format </a:t>
            </a:r>
            <a:r>
              <a:rPr lang="en-US" dirty="0"/>
              <a:t>the </a:t>
            </a:r>
            <a:r>
              <a:rPr lang="en-US" b="1" dirty="0"/>
              <a:t>report</a:t>
            </a:r>
          </a:p>
          <a:p>
            <a:pPr lvl="1" eaLnBrk="1" hangingPunct="1"/>
            <a:endParaRPr lang="en-US" dirty="0"/>
          </a:p>
          <a:p>
            <a:pPr eaLnBrk="1" hangingPunct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173" t="21229"/>
          <a:stretch/>
        </p:blipFill>
        <p:spPr>
          <a:xfrm>
            <a:off x="5765800" y="2628900"/>
            <a:ext cx="3062733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09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23900"/>
            <a:ext cx="8042275" cy="6096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4000" dirty="0"/>
              <a:t>Access Form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85900"/>
            <a:ext cx="7924800" cy="838200"/>
          </a:xfrm>
        </p:spPr>
        <p:txBody>
          <a:bodyPr/>
          <a:lstStyle/>
          <a:p>
            <a:pPr eaLnBrk="1" hangingPunct="1"/>
            <a:r>
              <a:rPr lang="en-US" sz="2000" dirty="0"/>
              <a:t>A </a:t>
            </a:r>
            <a:r>
              <a:rPr lang="en-US" sz="2000" b="1" dirty="0">
                <a:solidFill>
                  <a:srgbClr val="FF0000"/>
                </a:solidFill>
              </a:rPr>
              <a:t>form</a:t>
            </a:r>
            <a:r>
              <a:rPr lang="en-US" sz="2000" dirty="0"/>
              <a:t> allows you to view your data one record at a time in a way that makes it easy to enter or use the data</a:t>
            </a:r>
          </a:p>
          <a:p>
            <a:pPr eaLnBrk="1" hangingPunct="1"/>
            <a:endParaRPr lang="en-US" sz="1800" dirty="0"/>
          </a:p>
        </p:txBody>
      </p:sp>
      <p:pic>
        <p:nvPicPr>
          <p:cNvPr id="7172" name="Picture 6" descr="Fig01-15"/>
          <p:cNvPicPr>
            <a:picLocks noChangeAspect="1" noChangeArrowheads="1"/>
          </p:cNvPicPr>
          <p:nvPr/>
        </p:nvPicPr>
        <p:blipFill>
          <a:blip r:embed="rId2"/>
          <a:srcRect l="23334" t="39099" r="30833" b="21626"/>
          <a:stretch>
            <a:fillRect/>
          </a:stretch>
        </p:blipFill>
        <p:spPr bwMode="auto">
          <a:xfrm>
            <a:off x="1371600" y="2679700"/>
            <a:ext cx="5265738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34436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dirty="0"/>
              <a:t>Creating Tables, Forms, </a:t>
            </a:r>
            <a:br>
              <a:rPr lang="en-US" dirty="0"/>
            </a:br>
            <a:r>
              <a:rPr lang="en-US" dirty="0"/>
              <a:t>Reports and Queries</a:t>
            </a:r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8889" y="2376664"/>
            <a:ext cx="7061200" cy="4458317"/>
          </a:xfrm>
          <a:noFill/>
        </p:spPr>
      </p:pic>
      <p:sp>
        <p:nvSpPr>
          <p:cNvPr id="2" name="Rectangle 1"/>
          <p:cNvSpPr/>
          <p:nvPr/>
        </p:nvSpPr>
        <p:spPr>
          <a:xfrm>
            <a:off x="299156" y="1709146"/>
            <a:ext cx="83876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Use Access’ ‘Create’ tab – it has a creation tool for each type of item</a:t>
            </a:r>
          </a:p>
        </p:txBody>
      </p:sp>
    </p:spTree>
    <p:extLst>
      <p:ext uri="{BB962C8B-B14F-4D97-AF65-F5344CB8AC3E}">
        <p14:creationId xmlns:p14="http://schemas.microsoft.com/office/powerpoint/2010/main" val="3172406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1E09-DA80-401B-82F0-4874E682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325563"/>
          </a:xfrm>
        </p:spPr>
        <p:txBody>
          <a:bodyPr/>
          <a:lstStyle/>
          <a:p>
            <a:pPr algn="ctr"/>
            <a:r>
              <a:rPr lang="en-US" dirty="0"/>
              <a:t>Optional for now 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5A635-62A5-487B-B7EB-37E25D330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0548"/>
            <a:ext cx="7886700" cy="5255028"/>
          </a:xfrm>
        </p:spPr>
        <p:txBody>
          <a:bodyPr/>
          <a:lstStyle/>
          <a:p>
            <a:r>
              <a:rPr lang="en-US" dirty="0"/>
              <a:t>As you’re familiarizing yourself with Queries in Access, notice that there is a “SQL View”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“SQL View” allows you to see the SQL statements generated in the background.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5B7DB-0F9A-4C06-A13E-4096EE4BD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9D07C-00A9-44C9-B272-8050FBB1D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12" y="3412724"/>
            <a:ext cx="3795788" cy="24050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C62EB9-01FA-40EB-A7EA-758A1EAC4CA9}"/>
              </a:ext>
            </a:extLst>
          </p:cNvPr>
          <p:cNvSpPr/>
          <p:nvPr/>
        </p:nvSpPr>
        <p:spPr>
          <a:xfrm>
            <a:off x="533400" y="3352800"/>
            <a:ext cx="990600" cy="1066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8294CF-8E81-4875-97BB-518521311858}"/>
              </a:ext>
            </a:extLst>
          </p:cNvPr>
          <p:cNvCxnSpPr>
            <a:cxnSpLocks/>
          </p:cNvCxnSpPr>
          <p:nvPr/>
        </p:nvCxnSpPr>
        <p:spPr>
          <a:xfrm flipH="1" flipV="1">
            <a:off x="1066800" y="4114800"/>
            <a:ext cx="4343400" cy="114300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EF7229-60BE-4726-BF26-C20726178EC8}"/>
              </a:ext>
            </a:extLst>
          </p:cNvPr>
          <p:cNvSpPr txBox="1"/>
          <p:nvPr/>
        </p:nvSpPr>
        <p:spPr>
          <a:xfrm>
            <a:off x="5410200" y="4724400"/>
            <a:ext cx="2743200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Choose “SQL View” in order to see the SQL statements generated by your queries</a:t>
            </a:r>
          </a:p>
        </p:txBody>
      </p:sp>
    </p:spTree>
    <p:extLst>
      <p:ext uri="{BB962C8B-B14F-4D97-AF65-F5344CB8AC3E}">
        <p14:creationId xmlns:p14="http://schemas.microsoft.com/office/powerpoint/2010/main" val="423320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Additional resources in Course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lvl="1"/>
            <a:r>
              <a:rPr lang="en-US" sz="3600" dirty="0"/>
              <a:t>Access Tables.ppt</a:t>
            </a:r>
          </a:p>
          <a:p>
            <a:pPr lvl="1"/>
            <a:r>
              <a:rPr lang="en-US" sz="3600" dirty="0"/>
              <a:t>Access Queries.ppt **</a:t>
            </a:r>
          </a:p>
          <a:p>
            <a:pPr lvl="1"/>
            <a:r>
              <a:rPr lang="en-US" sz="3600" dirty="0"/>
              <a:t>Access Forms.ppt</a:t>
            </a:r>
          </a:p>
          <a:p>
            <a:pPr lvl="1"/>
            <a:r>
              <a:rPr lang="en-US" sz="3600" dirty="0"/>
              <a:t>Access Advanced Queries.ppt</a:t>
            </a:r>
          </a:p>
          <a:p>
            <a:pPr lvl="1"/>
            <a:r>
              <a:rPr lang="en-US" sz="3600" dirty="0"/>
              <a:t>Access User Interface.ppt </a:t>
            </a:r>
          </a:p>
          <a:p>
            <a:pPr marL="548640" lvl="2" indent="0">
              <a:buNone/>
            </a:pPr>
            <a:r>
              <a:rPr lang="en-US" dirty="0"/>
              <a:t>** Switchboard in Access– not used this semester, but cool to know about </a:t>
            </a:r>
          </a:p>
          <a:p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0205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often</a:t>
            </a:r>
          </a:p>
          <a:p>
            <a:r>
              <a:rPr lang="en-US" dirty="0"/>
              <a:t>When quitting, select, File : Close.</a:t>
            </a:r>
          </a:p>
          <a:p>
            <a:r>
              <a:rPr lang="en-US" dirty="0"/>
              <a:t>To </a:t>
            </a:r>
            <a:r>
              <a:rPr lang="en-US" b="1" dirty="0"/>
              <a:t>import Excel data </a:t>
            </a:r>
            <a:r>
              <a:rPr lang="en-US" dirty="0"/>
              <a:t>if you are using </a:t>
            </a:r>
            <a:r>
              <a:rPr lang="en-US" b="1" dirty="0"/>
              <a:t>Access 2019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External Data </a:t>
            </a:r>
            <a:r>
              <a:rPr lang="en-US" dirty="0"/>
              <a:t>tab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New Data Source </a:t>
            </a:r>
            <a:r>
              <a:rPr lang="en-US" dirty="0"/>
              <a:t>in the </a:t>
            </a:r>
            <a:r>
              <a:rPr lang="en-US" b="1" dirty="0"/>
              <a:t>Import &amp; Link </a:t>
            </a:r>
            <a:r>
              <a:rPr lang="en-US" dirty="0"/>
              <a:t>group</a:t>
            </a:r>
          </a:p>
          <a:p>
            <a:pPr lvl="1"/>
            <a:r>
              <a:rPr lang="en-US" dirty="0"/>
              <a:t>In drop-down list, choose </a:t>
            </a:r>
            <a:r>
              <a:rPr lang="en-US" b="1" dirty="0"/>
              <a:t>From File – Excel</a:t>
            </a:r>
          </a:p>
          <a:p>
            <a:pPr lvl="1"/>
            <a:r>
              <a:rPr lang="en-US" dirty="0"/>
              <a:t>Browse to find file you want to import</a:t>
            </a:r>
          </a:p>
          <a:p>
            <a:pPr lvl="2"/>
            <a:r>
              <a:rPr lang="en-US" dirty="0"/>
              <a:t>I posted </a:t>
            </a:r>
            <a:r>
              <a:rPr lang="en-US" b="1" dirty="0"/>
              <a:t>employee.xlsx </a:t>
            </a:r>
            <a:r>
              <a:rPr lang="en-US" dirty="0"/>
              <a:t>and </a:t>
            </a:r>
            <a:r>
              <a:rPr lang="en-US" b="1" dirty="0"/>
              <a:t>insurance.xlsx </a:t>
            </a:r>
            <a:r>
              <a:rPr lang="en-US"/>
              <a:t>to course repo </a:t>
            </a:r>
            <a:r>
              <a:rPr lang="en-US" dirty="0"/>
              <a:t>to save you the trouble of typing all those records in</a:t>
            </a:r>
          </a:p>
          <a:p>
            <a:pPr lvl="1"/>
            <a:r>
              <a:rPr lang="en-US" dirty="0"/>
              <a:t>Make sure first radio button is selected to import the source data in a new table in the current database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11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0200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5FBF-33E5-74E9-22F2-9F389B5A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8406"/>
            <a:ext cx="8229600" cy="990600"/>
          </a:xfrm>
        </p:spPr>
        <p:txBody>
          <a:bodyPr/>
          <a:lstStyle/>
          <a:p>
            <a:r>
              <a:rPr lang="en-US" dirty="0"/>
              <a:t>More Access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F4C59-FA4A-8760-57C6-14E05AD6F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9006"/>
            <a:ext cx="8229600" cy="5393486"/>
          </a:xfrm>
        </p:spPr>
        <p:txBody>
          <a:bodyPr>
            <a:normAutofit lnSpcReduction="10000"/>
          </a:bodyPr>
          <a:lstStyle/>
          <a:p>
            <a:pPr marL="468630" indent="-285750"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save a table in a database as its own file – do save as : save object as.  Seems useful – can reuse a table in multiple databases.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Try out various tasks on the Access ribbons, experiment, figure out what they do, as with learning any program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query-design – each column is a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 / table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pair with optional criteria.  </a:t>
            </a:r>
          </a:p>
          <a:p>
            <a:pPr marL="1017270" lvl="2" indent="-285750"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e.g. 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get employee last names for employees living in MD and showing their last name and state, need column for last name and state with MD in the </a:t>
            </a:r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criteria</a:t>
            </a: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state (or can not show state as well).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use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multiple criteria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use </a:t>
            </a:r>
            <a:r>
              <a:rPr lang="en-US" sz="1800" b="1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field in latter criteria as in: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link tables through a query – known as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we </a:t>
            </a:r>
          </a:p>
          <a:p>
            <a:pPr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will be doing more of this soon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create new columns to show that are functions of </a:t>
            </a:r>
          </a:p>
          <a:p>
            <a:pPr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existing ones.  E.g. the 10% raise query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Right-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query column to adjust properties like format of column (e.g. I changed 10% raise column to currency)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341E3-A8D3-AAD2-FD44-FB1C249E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12</a:t>
            </a:fld>
            <a:endParaRPr lang="en-US"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CFA968-7AA4-594B-251D-254C8E7B7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954" y="4055749"/>
            <a:ext cx="2311938" cy="117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1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D76E-409A-1A1C-E928-9CE5AE882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More Access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0F733-41AF-76EE-E316-1355DB2A8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071905"/>
          </a:xfrm>
        </p:spPr>
        <p:txBody>
          <a:bodyPr>
            <a:normAutofit lnSpcReduction="10000"/>
          </a:bodyPr>
          <a:lstStyle/>
          <a:p>
            <a:pPr marL="468630" indent="-285750">
              <a:lnSpc>
                <a:spcPct val="107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Totals query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this is like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groupby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&amp; aggregate in pandas</a:t>
            </a:r>
          </a:p>
          <a:p>
            <a:pPr marL="868680" lvl="1" indent="-22860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perform the following functions:  sum, count, average, min, var,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stdev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where (field has specific criteria)</a:t>
            </a:r>
          </a:p>
          <a:p>
            <a:pPr marL="868680" lvl="1" indent="-22860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Totals (sigma icon) button in Create toolbar – adds Total row to query.</a:t>
            </a:r>
          </a:p>
          <a:p>
            <a:pPr marL="868680" lvl="1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change name of column heading in resulting query, prefix the Field in the query with the desired name and : .</a:t>
            </a:r>
          </a:p>
          <a:p>
            <a:pPr marL="46863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Parameter query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basic idea: instead of specifying one of the fields in the query, you allow the user to input it in an input box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sort – click ‘group &amp; sort’ then ‘add a group’ button to choose what to sort by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 get totals, etc.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toggle between ‘layout view’ for editing and ‘report view’ for viewing.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Staircase effect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to avoid, drag 1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field entry up a row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hw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ex., needed to run a query to combine fields from different tables and then make a report off of this.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E4767-A574-4A09-4A9A-A395ED47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2761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61B1-6281-10EC-E2DF-94983BA1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Still More Access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F0D8-DE27-5249-EB41-D61004ACD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can get today’s date via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Date()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can do date arithmetic.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Forms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 the tutorial, if you have trouble getting the book’s instructions to work with 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subform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, try this: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After clicking the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subform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button as instructed, click and drag below the last field in the form creating a white rectangle.  </a:t>
            </a:r>
          </a:p>
          <a:p>
            <a:pPr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Then open up the properties sheet, click on the Data tab</a:t>
            </a:r>
          </a:p>
          <a:p>
            <a:pPr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hange Source object to the table with the info needed (Hours Worked in this case) </a:t>
            </a:r>
          </a:p>
          <a:p>
            <a:pPr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Then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 the Link Master Fields, chose Employee ID. 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196BC-3902-E5C0-173E-959A0454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14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75458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1134</Words>
  <Application>Microsoft Office PowerPoint</Application>
  <PresentationFormat>On-screen Show (4:3)</PresentationFormat>
  <Paragraphs>124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Symbol</vt:lpstr>
      <vt:lpstr>Wingdings</vt:lpstr>
      <vt:lpstr>Clarity</vt:lpstr>
      <vt:lpstr>Access tutorial </vt:lpstr>
      <vt:lpstr>Next up - Learn by reading &amp; doing YOU work through Tutorial B in the textbook</vt:lpstr>
      <vt:lpstr>Tutorial B - Parts</vt:lpstr>
      <vt:lpstr>Access Query</vt:lpstr>
      <vt:lpstr>Access Report</vt:lpstr>
      <vt:lpstr>Access Report (cont)</vt:lpstr>
      <vt:lpstr>Access Form</vt:lpstr>
      <vt:lpstr>Creating Tables, Forms,  Reports and Queries</vt:lpstr>
      <vt:lpstr>Optional for now - </vt:lpstr>
      <vt:lpstr>Additional resources in Course Repo</vt:lpstr>
      <vt:lpstr>Tutorial Tips</vt:lpstr>
      <vt:lpstr>More Access Tips</vt:lpstr>
      <vt:lpstr>Even More Access Tips</vt:lpstr>
      <vt:lpstr>Still More Access Tips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Dana Tomc</dc:creator>
  <cp:lastModifiedBy>Frommer, Ian Dr. (EDU)</cp:lastModifiedBy>
  <cp:revision>81</cp:revision>
  <dcterms:created xsi:type="dcterms:W3CDTF">2018-02-19T17:56:15Z</dcterms:created>
  <dcterms:modified xsi:type="dcterms:W3CDTF">2026-09-23T17:30:50Z</dcterms:modified>
</cp:coreProperties>
</file>