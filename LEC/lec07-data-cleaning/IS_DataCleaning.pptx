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039" r:id="rId1"/>
  </p:sldMasterIdLst>
  <p:notesMasterIdLst>
    <p:notesMasterId r:id="rId24"/>
  </p:notesMasterIdLst>
  <p:handoutMasterIdLst>
    <p:handoutMasterId r:id="rId25"/>
  </p:handoutMasterIdLst>
  <p:sldIdLst>
    <p:sldId id="294" r:id="rId2"/>
    <p:sldId id="292" r:id="rId3"/>
    <p:sldId id="293" r:id="rId4"/>
    <p:sldId id="256" r:id="rId5"/>
    <p:sldId id="257" r:id="rId6"/>
    <p:sldId id="258" r:id="rId7"/>
    <p:sldId id="284" r:id="rId8"/>
    <p:sldId id="260" r:id="rId9"/>
    <p:sldId id="259" r:id="rId10"/>
    <p:sldId id="277" r:id="rId11"/>
    <p:sldId id="278" r:id="rId12"/>
    <p:sldId id="280" r:id="rId13"/>
    <p:sldId id="281" r:id="rId14"/>
    <p:sldId id="282" r:id="rId15"/>
    <p:sldId id="283" r:id="rId16"/>
    <p:sldId id="285" r:id="rId17"/>
    <p:sldId id="288" r:id="rId18"/>
    <p:sldId id="286" r:id="rId19"/>
    <p:sldId id="287" r:id="rId20"/>
    <p:sldId id="289" r:id="rId21"/>
    <p:sldId id="290" r:id="rId22"/>
    <p:sldId id="291" r:id="rId23"/>
  </p:sldIdLst>
  <p:sldSz cx="9144000" cy="6858000" type="screen4x3"/>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8889" autoAdjust="0"/>
  </p:normalViewPr>
  <p:slideViewPr>
    <p:cSldViewPr snapToGrid="0" snapToObjects="1">
      <p:cViewPr varScale="1">
        <p:scale>
          <a:sx n="110" d="100"/>
          <a:sy n="110" d="100"/>
        </p:scale>
        <p:origin x="1644" y="108"/>
      </p:cViewPr>
      <p:guideLst>
        <p:guide orient="horz" pos="2160"/>
        <p:guide pos="2880"/>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rommer, Ian Dr. (EDU)" userId="28ca3ff0-544f-450a-928b-99e19cf49b89" providerId="ADAL" clId="{A3E8E5B1-0D91-4643-B70B-3D065C8674E0}"/>
    <pc:docChg chg="modSld">
      <pc:chgData name="Frommer, Ian Dr. (EDU)" userId="28ca3ff0-544f-450a-928b-99e19cf49b89" providerId="ADAL" clId="{A3E8E5B1-0D91-4643-B70B-3D065C8674E0}" dt="2026-09-15T14:28:05.337" v="23" actId="27107"/>
      <pc:docMkLst>
        <pc:docMk/>
      </pc:docMkLst>
      <pc:sldChg chg="modSp mod">
        <pc:chgData name="Frommer, Ian Dr. (EDU)" userId="28ca3ff0-544f-450a-928b-99e19cf49b89" providerId="ADAL" clId="{A3E8E5B1-0D91-4643-B70B-3D065C8674E0}" dt="2026-09-15T14:28:05.337" v="23" actId="27107"/>
        <pc:sldMkLst>
          <pc:docMk/>
          <pc:sldMk cId="0" sldId="290"/>
        </pc:sldMkLst>
        <pc:spChg chg="mod">
          <ac:chgData name="Frommer, Ian Dr. (EDU)" userId="28ca3ff0-544f-450a-928b-99e19cf49b89" providerId="ADAL" clId="{A3E8E5B1-0D91-4643-B70B-3D065C8674E0}" dt="2026-09-15T14:28:05.337" v="23" actId="27107"/>
          <ac:spMkLst>
            <pc:docMk/>
            <pc:sldMk cId="0" sldId="290"/>
            <ac:spMk id="3"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5179484" y="0"/>
            <a:ext cx="3962400" cy="344091"/>
          </a:xfrm>
          <a:prstGeom prst="rect">
            <a:avLst/>
          </a:prstGeom>
        </p:spPr>
        <p:txBody>
          <a:bodyPr vert="horz" lIns="91440" tIns="45720" rIns="91440" bIns="45720" rtlCol="0"/>
          <a:lstStyle>
            <a:lvl1pPr algn="r">
              <a:defRPr sz="1200"/>
            </a:lvl1pPr>
          </a:lstStyle>
          <a:p>
            <a:fld id="{C1E10D61-07BA-4836-876E-752AC6CC04DD}" type="datetimeFigureOut">
              <a:rPr lang="en-US" smtClean="0"/>
              <a:pPr/>
              <a:t>9/15/2026</a:t>
            </a:fld>
            <a:endParaRPr lang="en-US"/>
          </a:p>
        </p:txBody>
      </p:sp>
      <p:sp>
        <p:nvSpPr>
          <p:cNvPr id="4" name="Footer Placeholder 3"/>
          <p:cNvSpPr>
            <a:spLocks noGrp="1"/>
          </p:cNvSpPr>
          <p:nvPr>
            <p:ph type="ftr" sz="quarter" idx="2"/>
          </p:nvPr>
        </p:nvSpPr>
        <p:spPr>
          <a:xfrm>
            <a:off x="0" y="6513910"/>
            <a:ext cx="3962400" cy="34409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5179484" y="6513910"/>
            <a:ext cx="3962400" cy="344090"/>
          </a:xfrm>
          <a:prstGeom prst="rect">
            <a:avLst/>
          </a:prstGeom>
        </p:spPr>
        <p:txBody>
          <a:bodyPr vert="horz" lIns="91440" tIns="45720" rIns="91440" bIns="45720" rtlCol="0" anchor="b"/>
          <a:lstStyle>
            <a:lvl1pPr algn="r">
              <a:defRPr sz="1200"/>
            </a:lvl1pPr>
          </a:lstStyle>
          <a:p>
            <a:fld id="{D38E9073-4D50-4BDA-A55D-F36D8B02286B}" type="slidenum">
              <a:rPr lang="en-US" smtClean="0"/>
              <a:pPr/>
              <a:t>‹#›</a:t>
            </a:fld>
            <a:endParaRPr lang="en-US"/>
          </a:p>
        </p:txBody>
      </p:sp>
    </p:spTree>
    <p:extLst>
      <p:ext uri="{BB962C8B-B14F-4D97-AF65-F5344CB8AC3E}">
        <p14:creationId xmlns:p14="http://schemas.microsoft.com/office/powerpoint/2010/main" val="203427087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79484" y="0"/>
            <a:ext cx="3962400" cy="342900"/>
          </a:xfrm>
          <a:prstGeom prst="rect">
            <a:avLst/>
          </a:prstGeom>
        </p:spPr>
        <p:txBody>
          <a:bodyPr vert="horz" lIns="91440" tIns="45720" rIns="91440" bIns="45720" rtlCol="0"/>
          <a:lstStyle>
            <a:lvl1pPr algn="r">
              <a:defRPr sz="1200"/>
            </a:lvl1pPr>
          </a:lstStyle>
          <a:p>
            <a:fld id="{9214141B-6F02-4849-B911-A760B827C6D1}" type="datetimeFigureOut">
              <a:rPr lang="en-US" smtClean="0"/>
              <a:pPr/>
              <a:t>9/15/2026</a:t>
            </a:fld>
            <a:endParaRPr lang="en-US"/>
          </a:p>
        </p:txBody>
      </p:sp>
      <p:sp>
        <p:nvSpPr>
          <p:cNvPr id="4" name="Slide Image Placeholder 3"/>
          <p:cNvSpPr>
            <a:spLocks noGrp="1" noRot="1" noChangeAspect="1"/>
          </p:cNvSpPr>
          <p:nvPr>
            <p:ph type="sldImg" idx="2"/>
          </p:nvPr>
        </p:nvSpPr>
        <p:spPr>
          <a:xfrm>
            <a:off x="2857500" y="514350"/>
            <a:ext cx="3429000" cy="25717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257550"/>
            <a:ext cx="7315200" cy="30861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910"/>
            <a:ext cx="3962400" cy="3429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79484" y="6513910"/>
            <a:ext cx="3962400" cy="342900"/>
          </a:xfrm>
          <a:prstGeom prst="rect">
            <a:avLst/>
          </a:prstGeom>
        </p:spPr>
        <p:txBody>
          <a:bodyPr vert="horz" lIns="91440" tIns="45720" rIns="91440" bIns="45720" rtlCol="0" anchor="b"/>
          <a:lstStyle>
            <a:lvl1pPr algn="r">
              <a:defRPr sz="1200"/>
            </a:lvl1pPr>
          </a:lstStyle>
          <a:p>
            <a:fld id="{D2F99BAC-56C1-2249-8B53-A23C1954413F}" type="slidenum">
              <a:rPr lang="en-US" smtClean="0"/>
              <a:pPr/>
              <a:t>‹#›</a:t>
            </a:fld>
            <a:endParaRPr lang="en-US"/>
          </a:p>
        </p:txBody>
      </p:sp>
    </p:spTree>
    <p:extLst>
      <p:ext uri="{BB962C8B-B14F-4D97-AF65-F5344CB8AC3E}">
        <p14:creationId xmlns:p14="http://schemas.microsoft.com/office/powerpoint/2010/main" val="1380768232"/>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Markdown:</a:t>
            </a:r>
            <a:r>
              <a:rPr lang="en-US" baseline="0" dirty="0"/>
              <a:t> HTML, </a:t>
            </a:r>
            <a:r>
              <a:rPr lang="en-US" baseline="0" dirty="0" err="1"/>
              <a:t>LaTex</a:t>
            </a:r>
            <a:r>
              <a:rPr lang="en-US" baseline="0" dirty="0"/>
              <a:t>, </a:t>
            </a:r>
            <a:endParaRPr lang="en-US" dirty="0"/>
          </a:p>
        </p:txBody>
      </p:sp>
      <p:sp>
        <p:nvSpPr>
          <p:cNvPr id="4" name="Slide Number Placeholder 3"/>
          <p:cNvSpPr>
            <a:spLocks noGrp="1"/>
          </p:cNvSpPr>
          <p:nvPr>
            <p:ph type="sldNum" sz="quarter" idx="10"/>
          </p:nvPr>
        </p:nvSpPr>
        <p:spPr/>
        <p:txBody>
          <a:bodyPr/>
          <a:lstStyle/>
          <a:p>
            <a:fld id="{D2F99BAC-56C1-2249-8B53-A23C1954413F}" type="slidenum">
              <a:rPr lang="en-US" smtClean="0"/>
              <a:pPr/>
              <a:t>6</a:t>
            </a:fld>
            <a:endParaRPr lang="en-US"/>
          </a:p>
        </p:txBody>
      </p:sp>
    </p:spTree>
    <p:extLst>
      <p:ext uri="{BB962C8B-B14F-4D97-AF65-F5344CB8AC3E}">
        <p14:creationId xmlns:p14="http://schemas.microsoft.com/office/powerpoint/2010/main" val="41229550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Markdown:</a:t>
            </a:r>
            <a:r>
              <a:rPr lang="en-US" baseline="0" dirty="0"/>
              <a:t> HTML, </a:t>
            </a:r>
            <a:r>
              <a:rPr lang="en-US" baseline="0" dirty="0" err="1"/>
              <a:t>LaTex</a:t>
            </a:r>
            <a:r>
              <a:rPr lang="en-US" baseline="0" dirty="0"/>
              <a:t>, </a:t>
            </a:r>
            <a:endParaRPr lang="en-US" dirty="0"/>
          </a:p>
        </p:txBody>
      </p:sp>
      <p:sp>
        <p:nvSpPr>
          <p:cNvPr id="4" name="Slide Number Placeholder 3"/>
          <p:cNvSpPr>
            <a:spLocks noGrp="1"/>
          </p:cNvSpPr>
          <p:nvPr>
            <p:ph type="sldNum" sz="quarter" idx="10"/>
          </p:nvPr>
        </p:nvSpPr>
        <p:spPr/>
        <p:txBody>
          <a:bodyPr/>
          <a:lstStyle/>
          <a:p>
            <a:fld id="{D2F99BAC-56C1-2249-8B53-A23C1954413F}" type="slidenum">
              <a:rPr lang="en-US" smtClean="0"/>
              <a:pPr/>
              <a:t>8</a:t>
            </a:fld>
            <a:endParaRPr lang="en-US"/>
          </a:p>
        </p:txBody>
      </p:sp>
    </p:spTree>
    <p:extLst>
      <p:ext uri="{BB962C8B-B14F-4D97-AF65-F5344CB8AC3E}">
        <p14:creationId xmlns:p14="http://schemas.microsoft.com/office/powerpoint/2010/main" val="41229550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Think</a:t>
            </a:r>
            <a:r>
              <a:rPr lang="en-US" baseline="0" dirty="0"/>
              <a:t> through assumptions and justify choices</a:t>
            </a:r>
          </a:p>
          <a:p>
            <a:r>
              <a:rPr lang="en-US" baseline="0" dirty="0"/>
              <a:t>A key objective of this is communicating what you are doing.</a:t>
            </a:r>
            <a:endParaRPr lang="en-US" dirty="0"/>
          </a:p>
        </p:txBody>
      </p:sp>
      <p:sp>
        <p:nvSpPr>
          <p:cNvPr id="4" name="Slide Number Placeholder 3"/>
          <p:cNvSpPr>
            <a:spLocks noGrp="1"/>
          </p:cNvSpPr>
          <p:nvPr>
            <p:ph type="sldNum" sz="quarter" idx="10"/>
          </p:nvPr>
        </p:nvSpPr>
        <p:spPr/>
        <p:txBody>
          <a:bodyPr/>
          <a:lstStyle/>
          <a:p>
            <a:fld id="{D2F99BAC-56C1-2249-8B53-A23C1954413F}" type="slidenum">
              <a:rPr lang="en-US" smtClean="0"/>
              <a:pPr/>
              <a:t>17</a:t>
            </a:fld>
            <a:endParaRPr lang="en-US"/>
          </a:p>
        </p:txBody>
      </p:sp>
    </p:spTree>
    <p:extLst>
      <p:ext uri="{BB962C8B-B14F-4D97-AF65-F5344CB8AC3E}">
        <p14:creationId xmlns:p14="http://schemas.microsoft.com/office/powerpoint/2010/main" val="14168829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baseline="0" dirty="0"/>
              <a:t>No right or wrong answers</a:t>
            </a:r>
          </a:p>
          <a:p>
            <a:pPr marL="171450" indent="-171450">
              <a:buFontTx/>
              <a:buChar char="-"/>
            </a:pPr>
            <a:r>
              <a:rPr lang="en-US" baseline="0" dirty="0"/>
              <a:t>Articulate what you are doing and why</a:t>
            </a:r>
          </a:p>
          <a:p>
            <a:pPr marL="171450" indent="-171450">
              <a:buFontTx/>
              <a:buChar char="-"/>
            </a:pPr>
            <a:r>
              <a:rPr lang="en-US" baseline="0" dirty="0"/>
              <a:t>Can use anything we learned or any other ideas you have, as long as it makes sense </a:t>
            </a:r>
          </a:p>
          <a:p>
            <a:pPr marL="171450" indent="-171450">
              <a:buFontTx/>
              <a:buChar char="-"/>
            </a:pPr>
            <a:r>
              <a:rPr lang="en-US" baseline="0" dirty="0"/>
              <a:t>We are not trying to answer the NY DOT’s questions, but we are using them to guide us in our data cleaning step</a:t>
            </a:r>
            <a:endParaRPr lang="en-US" dirty="0"/>
          </a:p>
        </p:txBody>
      </p:sp>
      <p:sp>
        <p:nvSpPr>
          <p:cNvPr id="4" name="Slide Number Placeholder 3"/>
          <p:cNvSpPr>
            <a:spLocks noGrp="1"/>
          </p:cNvSpPr>
          <p:nvPr>
            <p:ph type="sldNum" sz="quarter" idx="10"/>
          </p:nvPr>
        </p:nvSpPr>
        <p:spPr/>
        <p:txBody>
          <a:bodyPr/>
          <a:lstStyle/>
          <a:p>
            <a:fld id="{D2F99BAC-56C1-2249-8B53-A23C1954413F}" type="slidenum">
              <a:rPr lang="en-US" smtClean="0"/>
              <a:pPr/>
              <a:t>18</a:t>
            </a:fld>
            <a:endParaRPr lang="en-US"/>
          </a:p>
        </p:txBody>
      </p:sp>
    </p:spTree>
    <p:extLst>
      <p:ext uri="{BB962C8B-B14F-4D97-AF65-F5344CB8AC3E}">
        <p14:creationId xmlns:p14="http://schemas.microsoft.com/office/powerpoint/2010/main" val="23976745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371600"/>
            <a:ext cx="7848600" cy="1927225"/>
          </a:xfrm>
        </p:spPr>
        <p:txBody>
          <a:bodyPr anchor="b">
            <a:noAutofit/>
          </a:bodyPr>
          <a:lstStyle>
            <a:lvl1pPr>
              <a:defRPr sz="5400" cap="all" baseline="0"/>
            </a:lvl1pPr>
          </a:lstStyle>
          <a:p>
            <a:r>
              <a:rPr lang="en-US"/>
              <a:t>Click to edit Master title style</a:t>
            </a:r>
            <a:endParaRPr lang="en-US" dirty="0"/>
          </a:p>
        </p:txBody>
      </p:sp>
      <p:sp>
        <p:nvSpPr>
          <p:cNvPr id="3" name="Subtitle 2"/>
          <p:cNvSpPr>
            <a:spLocks noGrp="1"/>
          </p:cNvSpPr>
          <p:nvPr>
            <p:ph type="subTitle" idx="1"/>
          </p:nvPr>
        </p:nvSpPr>
        <p:spPr>
          <a:xfrm>
            <a:off x="685800" y="3505200"/>
            <a:ext cx="6400800" cy="1752600"/>
          </a:xfrm>
        </p:spPr>
        <p:txBody>
          <a:bodyPr/>
          <a:lstStyle>
            <a:lvl1pPr marL="0" indent="0" algn="l">
              <a:buNone/>
              <a:defRPr>
                <a:solidFill>
                  <a:schemeClr val="tx1">
                    <a:lumMod val="75000"/>
                    <a:lumOff val="2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ACDB3CC-F982-40F9-8DD6-BCC9AFBF44BD}" type="datetime1">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754ED01-E2A0-4C1E-8E21-014B99041579}" type="slidenum">
              <a:rPr lang="en-US" smtClean="0"/>
              <a:pPr/>
              <a:t>‹#›</a:t>
            </a:fld>
            <a:endParaRPr lang="en-US"/>
          </a:p>
        </p:txBody>
      </p:sp>
      <p:cxnSp>
        <p:nvCxnSpPr>
          <p:cNvPr id="8" name="Straight Connector 7"/>
          <p:cNvCxnSpPr/>
          <p:nvPr/>
        </p:nvCxnSpPr>
        <p:spPr>
          <a:xfrm>
            <a:off x="685800" y="3398520"/>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8671922-62D5-6145-B78A-53A244D2CF06}" type="datetimeFigureOut">
              <a:rPr lang="en-US" smtClean="0"/>
              <a:pPr/>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BA5C87E-8AFA-FA46-BA3D-975564CEF99F}"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13" y="2362200"/>
            <a:ext cx="7772400" cy="2200275"/>
          </a:xfrm>
        </p:spPr>
        <p:txBody>
          <a:bodyPr anchor="b">
            <a:normAutofit/>
          </a:bodyPr>
          <a:lstStyle>
            <a:lvl1pPr algn="l">
              <a:defRPr sz="4800" b="0" cap="all"/>
            </a:lvl1pPr>
          </a:lstStyle>
          <a:p>
            <a:r>
              <a:rPr lang="en-US"/>
              <a:t>Click to edit Master title style</a:t>
            </a:r>
            <a:endParaRPr lang="en-US" dirty="0"/>
          </a:p>
        </p:txBody>
      </p:sp>
      <p:sp>
        <p:nvSpPr>
          <p:cNvPr id="3" name="Text Placeholder 2"/>
          <p:cNvSpPr>
            <a:spLocks noGrp="1"/>
          </p:cNvSpPr>
          <p:nvPr>
            <p:ph type="body" idx="1"/>
          </p:nvPr>
        </p:nvSpPr>
        <p:spPr>
          <a:xfrm>
            <a:off x="722313" y="4626864"/>
            <a:ext cx="7772400" cy="1500187"/>
          </a:xfrm>
        </p:spPr>
        <p:txBody>
          <a:bodyPr anchor="t">
            <a:normAutofit/>
          </a:bodyPr>
          <a:lstStyle>
            <a:lvl1pPr marL="0" indent="0">
              <a:buNone/>
              <a:defRPr sz="24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4DDAE5B-B07C-441A-8026-C23A427A74DC}" type="datetime1">
              <a:rPr lang="en-US" smtClean="0"/>
              <a:pPr/>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C5B1FEA-406A-7749-A5C3-DDCB5F67A4CE}" type="slidenum">
              <a:rPr lang="en-US" smtClean="0"/>
              <a:pPr/>
              <a:t>‹#›</a:t>
            </a:fld>
            <a:endParaRPr lang="en-US"/>
          </a:p>
        </p:txBody>
      </p:sp>
      <p:cxnSp>
        <p:nvCxnSpPr>
          <p:cNvPr id="7" name="Straight Connector 6"/>
          <p:cNvCxnSpPr/>
          <p:nvPr/>
        </p:nvCxnSpPr>
        <p:spPr>
          <a:xfrm>
            <a:off x="731520" y="4599432"/>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8671922-62D5-6145-B78A-53A244D2CF06}" type="datetimeFigureOut">
              <a:rPr lang="en-US" smtClean="0"/>
              <a:pPr/>
              <a:t>9/15/2026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BA5C87E-8AFA-FA46-BA3D-975564CEF99F}"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45720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75488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lang="en-US" sz="2000" b="0" kern="1200" dirty="0" smtClean="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75488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8671922-62D5-6145-B78A-53A244D2CF06}" type="datetimeFigureOut">
              <a:rPr lang="en-US" smtClean="0"/>
              <a:pPr/>
              <a:t>9/15/2026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BA5C87E-8AFA-FA46-BA3D-975564CEF99F}" type="slidenum">
              <a:rPr lang="en-US" smtClean="0"/>
              <a:pPr/>
              <a:t>‹#›</a:t>
            </a:fld>
            <a:endParaRPr lang="en-US"/>
          </a:p>
        </p:txBody>
      </p:sp>
      <p:cxnSp>
        <p:nvCxnSpPr>
          <p:cNvPr id="11" name="Straight Connector 10"/>
          <p:cNvCxnSpPr/>
          <p:nvPr/>
        </p:nvCxnSpPr>
        <p:spPr>
          <a:xfrm rot="5400000">
            <a:off x="2217817" y="4045823"/>
            <a:ext cx="4709160" cy="794"/>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8671922-62D5-6145-B78A-53A244D2CF06}" type="datetimeFigureOut">
              <a:rPr lang="en-US" smtClean="0"/>
              <a:pPr/>
              <a:t>9/15/2026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BA5C87E-8AFA-FA46-BA3D-975564CEF99F}"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8671922-62D5-6145-B78A-53A244D2CF06}" type="datetimeFigureOut">
              <a:rPr lang="en-US" smtClean="0"/>
              <a:pPr/>
              <a:t>9/15/2026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BA5C87E-8AFA-FA46-BA3D-975564CEF99F}"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92080"/>
            <a:ext cx="2139696" cy="1261872"/>
          </a:xfrm>
        </p:spPr>
        <p:txBody>
          <a:bodyPr anchor="b">
            <a:no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2971800" y="792080"/>
            <a:ext cx="5715000" cy="55778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1" y="2130552"/>
            <a:ext cx="2139696" cy="424361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8671922-62D5-6145-B78A-53A244D2CF06}" type="datetimeFigureOut">
              <a:rPr lang="en-US" smtClean="0"/>
              <a:pPr/>
              <a:t>9/15/2026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754ED01-E2A0-4C1E-8E21-014B99041579}" type="slidenum">
              <a:rPr lang="en-US" smtClean="0"/>
              <a:pPr/>
              <a:t>‹#›</a:t>
            </a:fld>
            <a:endParaRPr lang="en-US" dirty="0"/>
          </a:p>
        </p:txBody>
      </p:sp>
      <p:cxnSp>
        <p:nvCxnSpPr>
          <p:cNvPr id="9" name="Straight Connector 8"/>
          <p:cNvCxnSpPr/>
          <p:nvPr/>
        </p:nvCxnSpPr>
        <p:spPr>
          <a:xfrm rot="5400000">
            <a:off x="-13116" y="3580206"/>
            <a:ext cx="557784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92480"/>
            <a:ext cx="2142680" cy="1264920"/>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p:cNvSpPr>
          <p:nvPr>
            <p:ph type="pic" idx="1"/>
          </p:nvPr>
        </p:nvSpPr>
        <p:spPr>
          <a:xfrm>
            <a:off x="2858610" y="838201"/>
            <a:ext cx="5904390" cy="5500456"/>
          </a:xfrm>
          <a:solidFill>
            <a:schemeClr val="bg2"/>
          </a:solidFill>
          <a:ln w="76200">
            <a:solidFill>
              <a:srgbClr val="FFFFFF"/>
            </a:solidFill>
            <a:miter lim="800000"/>
          </a:ln>
          <a:effectLst>
            <a:outerShdw blurRad="50800" dist="12700" dir="5400000" algn="t" rotWithShape="0">
              <a:prstClr val="black">
                <a:alpha val="59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Drag picture to placeholder or click icon to add</a:t>
            </a:r>
            <a:endParaRPr lang="en-US" dirty="0"/>
          </a:p>
        </p:txBody>
      </p:sp>
      <p:sp>
        <p:nvSpPr>
          <p:cNvPr id="4" name="Text Placeholder 3"/>
          <p:cNvSpPr>
            <a:spLocks noGrp="1"/>
          </p:cNvSpPr>
          <p:nvPr>
            <p:ph type="body" sz="half" idx="2"/>
          </p:nvPr>
        </p:nvSpPr>
        <p:spPr>
          <a:xfrm>
            <a:off x="457200" y="2133600"/>
            <a:ext cx="2139696" cy="424281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8671922-62D5-6145-B78A-53A244D2CF06}" type="datetimeFigureOut">
              <a:rPr lang="en-US" smtClean="0"/>
              <a:pPr/>
              <a:t>9/15/2026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BA5C87E-8AFA-FA46-BA3D-975564CEF99F}"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8671922-62D5-6145-B78A-53A244D2CF06}" type="datetimeFigureOut">
              <a:rPr lang="en-US" smtClean="0"/>
              <a:pPr/>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BA5C87E-8AFA-FA46-BA3D-975564CEF99F}"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609600"/>
            <a:ext cx="2057400" cy="5867400"/>
          </a:xfrm>
        </p:spPr>
        <p:txBody>
          <a:bodyPr vert="eaVert" anchor="b"/>
          <a:lstStyle/>
          <a:p>
            <a:r>
              <a:rPr lang="en-US"/>
              <a:t>Click to edit Master title style</a:t>
            </a:r>
            <a:endParaRPr lang="en-US" dirty="0"/>
          </a:p>
        </p:txBody>
      </p:sp>
      <p:sp>
        <p:nvSpPr>
          <p:cNvPr id="3" name="Vertical Text Placeholder 2"/>
          <p:cNvSpPr>
            <a:spLocks noGrp="1"/>
          </p:cNvSpPr>
          <p:nvPr>
            <p:ph type="body" orient="vert" idx="1"/>
          </p:nvPr>
        </p:nvSpPr>
        <p:spPr>
          <a:xfrm>
            <a:off x="457200" y="609600"/>
            <a:ext cx="6019800" cy="5867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8671922-62D5-6145-B78A-53A244D2CF06}" type="datetimeFigureOut">
              <a:rPr lang="en-US" smtClean="0"/>
              <a:pPr/>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BA5C87E-8AFA-FA46-BA3D-975564CEF99F}"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a:xfrm>
            <a:off x="0" y="220786"/>
            <a:ext cx="9144000" cy="228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457200" y="533400"/>
            <a:ext cx="8229600" cy="990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57200" y="1600200"/>
            <a:ext cx="8229600" cy="4876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p:cNvSpPr/>
          <p:nvPr/>
        </p:nvSpPr>
        <p:spPr>
          <a:xfrm>
            <a:off x="0" y="0"/>
            <a:ext cx="9144000" cy="3657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2"/>
          </p:nvPr>
        </p:nvSpPr>
        <p:spPr>
          <a:xfrm>
            <a:off x="457200" y="18288"/>
            <a:ext cx="2895600" cy="329184"/>
          </a:xfrm>
          <a:prstGeom prst="rect">
            <a:avLst/>
          </a:prstGeom>
        </p:spPr>
        <p:txBody>
          <a:bodyPr vert="horz" lIns="91440" tIns="45720" rIns="91440" bIns="45720" rtlCol="0" anchor="ctr"/>
          <a:lstStyle>
            <a:lvl1pPr algn="l">
              <a:defRPr sz="1200">
                <a:solidFill>
                  <a:srgbClr val="FFFFFF"/>
                </a:solidFill>
              </a:defRPr>
            </a:lvl1pPr>
          </a:lstStyle>
          <a:p>
            <a:fld id="{28671922-62D5-6145-B78A-53A244D2CF06}" type="datetimeFigureOut">
              <a:rPr lang="en-US" smtClean="0"/>
              <a:pPr/>
              <a:t>9/15/2026</a:t>
            </a:fld>
            <a:endParaRPr lang="en-US"/>
          </a:p>
        </p:txBody>
      </p:sp>
      <p:sp>
        <p:nvSpPr>
          <p:cNvPr id="5" name="Footer Placeholder 4"/>
          <p:cNvSpPr>
            <a:spLocks noGrp="1"/>
          </p:cNvSpPr>
          <p:nvPr>
            <p:ph type="ftr" sz="quarter" idx="3"/>
          </p:nvPr>
        </p:nvSpPr>
        <p:spPr>
          <a:xfrm>
            <a:off x="3429000" y="18288"/>
            <a:ext cx="4114800" cy="329184"/>
          </a:xfrm>
          <a:prstGeom prst="rect">
            <a:avLst/>
          </a:prstGeom>
        </p:spPr>
        <p:txBody>
          <a:bodyPr vert="horz" lIns="91440" tIns="45720" rIns="91440" bIns="45720" rtlCol="0" anchor="ctr"/>
          <a:lstStyle>
            <a:lvl1pPr algn="ctr">
              <a:defRPr sz="1200">
                <a:solidFill>
                  <a:srgbClr val="FFFFFF"/>
                </a:solidFill>
              </a:defRPr>
            </a:lvl1pPr>
          </a:lstStyle>
          <a:p>
            <a:endParaRPr lang="en-US"/>
          </a:p>
        </p:txBody>
      </p:sp>
      <p:sp>
        <p:nvSpPr>
          <p:cNvPr id="6" name="Slide Number Placeholder 5"/>
          <p:cNvSpPr>
            <a:spLocks noGrp="1"/>
          </p:cNvSpPr>
          <p:nvPr>
            <p:ph type="sldNum" sz="quarter" idx="4"/>
          </p:nvPr>
        </p:nvSpPr>
        <p:spPr>
          <a:xfrm>
            <a:off x="7620000" y="18288"/>
            <a:ext cx="1066800" cy="329184"/>
          </a:xfrm>
          <a:prstGeom prst="rect">
            <a:avLst/>
          </a:prstGeom>
        </p:spPr>
        <p:txBody>
          <a:bodyPr vert="horz" lIns="91440" tIns="45720" rIns="91440" bIns="45720" rtlCol="0" anchor="ctr"/>
          <a:lstStyle>
            <a:lvl1pPr algn="l">
              <a:defRPr sz="1400" b="1">
                <a:solidFill>
                  <a:srgbClr val="FFFFFF"/>
                </a:solidFill>
              </a:defRPr>
            </a:lvl1pPr>
          </a:lstStyle>
          <a:p>
            <a:fld id="{CBA5C87E-8AFA-FA46-BA3D-975564CEF99F}"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4040" r:id="rId1"/>
    <p:sldLayoutId id="2147484041" r:id="rId2"/>
    <p:sldLayoutId id="2147484042" r:id="rId3"/>
    <p:sldLayoutId id="2147484043" r:id="rId4"/>
    <p:sldLayoutId id="2147484044" r:id="rId5"/>
    <p:sldLayoutId id="2147484045" r:id="rId6"/>
    <p:sldLayoutId id="2147484046" r:id="rId7"/>
    <p:sldLayoutId id="2147484047" r:id="rId8"/>
    <p:sldLayoutId id="2147484048" r:id="rId9"/>
    <p:sldLayoutId id="2147484049" r:id="rId10"/>
    <p:sldLayoutId id="2147484050" r:id="rId11"/>
  </p:sldLayoutIdLst>
  <p:txStyles>
    <p:titleStyle>
      <a:lvl1pPr algn="l" defTabSz="914400" rtl="0" eaLnBrk="1" latinLnBrk="0" hangingPunct="1">
        <a:spcBef>
          <a:spcPct val="0"/>
        </a:spcBef>
        <a:buNone/>
        <a:defRPr sz="4000" kern="1200" spc="-100" baseline="0">
          <a:solidFill>
            <a:schemeClr val="tx2"/>
          </a:solidFill>
          <a:latin typeface="+mj-lt"/>
          <a:ea typeface="+mj-ea"/>
          <a:cs typeface="+mj-cs"/>
        </a:defRPr>
      </a:lvl1pPr>
    </p:titleStyle>
    <p:body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pandas.pydata.org/pandas-docs/stable/user_guide/missing_data.html" TargetMode="External"/><Relationship Id="rId2" Type="http://schemas.openxmlformats.org/officeDocument/2006/relationships/hyperlink" Target="https://tomaugspurger.github.io/modern-5-tidy.html"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automatetheboringstuff.com/2e/chapter7/"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75DAF9-2C33-2F6C-346A-A27EBF5CD1DB}"/>
              </a:ext>
            </a:extLst>
          </p:cNvPr>
          <p:cNvSpPr>
            <a:spLocks noGrp="1"/>
          </p:cNvSpPr>
          <p:nvPr>
            <p:ph type="title"/>
          </p:nvPr>
        </p:nvSpPr>
        <p:spPr>
          <a:xfrm>
            <a:off x="457200" y="236810"/>
            <a:ext cx="8229600" cy="990600"/>
          </a:xfrm>
        </p:spPr>
        <p:txBody>
          <a:bodyPr/>
          <a:lstStyle/>
          <a:p>
            <a:r>
              <a:rPr lang="en-US" dirty="0"/>
              <a:t>NYC Bus Breakdown Data</a:t>
            </a:r>
          </a:p>
        </p:txBody>
      </p:sp>
      <p:pic>
        <p:nvPicPr>
          <p:cNvPr id="7" name="Picture 6">
            <a:extLst>
              <a:ext uri="{FF2B5EF4-FFF2-40B4-BE49-F238E27FC236}">
                <a16:creationId xmlns:a16="http://schemas.microsoft.com/office/drawing/2014/main" id="{F02A81FB-7CE3-6505-74E0-48D370113BD2}"/>
              </a:ext>
            </a:extLst>
          </p:cNvPr>
          <p:cNvPicPr>
            <a:picLocks noChangeAspect="1"/>
          </p:cNvPicPr>
          <p:nvPr/>
        </p:nvPicPr>
        <p:blipFill>
          <a:blip r:embed="rId2"/>
          <a:stretch>
            <a:fillRect/>
          </a:stretch>
        </p:blipFill>
        <p:spPr>
          <a:xfrm>
            <a:off x="1859972" y="1351673"/>
            <a:ext cx="5424055" cy="5314108"/>
          </a:xfrm>
          <a:prstGeom prst="rect">
            <a:avLst/>
          </a:prstGeom>
        </p:spPr>
      </p:pic>
    </p:spTree>
    <p:extLst>
      <p:ext uri="{BB962C8B-B14F-4D97-AF65-F5344CB8AC3E}">
        <p14:creationId xmlns:p14="http://schemas.microsoft.com/office/powerpoint/2010/main" val="21823082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p:cNvSpPr>
            <a:spLocks noGrp="1"/>
          </p:cNvSpPr>
          <p:nvPr>
            <p:ph idx="1"/>
          </p:nvPr>
        </p:nvSpPr>
        <p:spPr>
          <a:xfrm>
            <a:off x="457200" y="3772987"/>
            <a:ext cx="8229600" cy="3136383"/>
          </a:xfrm>
        </p:spPr>
        <p:txBody>
          <a:bodyPr>
            <a:normAutofit lnSpcReduction="10000"/>
          </a:bodyPr>
          <a:lstStyle/>
          <a:p>
            <a:pPr>
              <a:spcAft>
                <a:spcPts val="600"/>
              </a:spcAft>
            </a:pPr>
            <a:r>
              <a:rPr lang="en-US" sz="2800" dirty="0"/>
              <a:t>How much time does it typically take between a bus delay/breakdown and it being reported?</a:t>
            </a:r>
          </a:p>
          <a:p>
            <a:pPr>
              <a:spcAft>
                <a:spcPts val="600"/>
              </a:spcAft>
            </a:pPr>
            <a:r>
              <a:rPr lang="en-US" sz="2800" dirty="0"/>
              <a:t>On average, how long are the bus delays/breakdowns?</a:t>
            </a:r>
          </a:p>
          <a:p>
            <a:pPr>
              <a:spcAft>
                <a:spcPts val="600"/>
              </a:spcAft>
            </a:pPr>
            <a:r>
              <a:rPr lang="en-US" sz="2800" dirty="0"/>
              <a:t>How many delays/breakdowns did First Steps Bus Company have during the 2016-2017 versus the 2017-2018 school year?</a:t>
            </a:r>
          </a:p>
        </p:txBody>
      </p:sp>
      <p:pic>
        <p:nvPicPr>
          <p:cNvPr id="3" name="Picture 2"/>
          <p:cNvPicPr>
            <a:picLocks noChangeAspect="1"/>
          </p:cNvPicPr>
          <p:nvPr/>
        </p:nvPicPr>
        <p:blipFill rotWithShape="1">
          <a:blip r:embed="rId2"/>
          <a:srcRect t="11846"/>
          <a:stretch/>
        </p:blipFill>
        <p:spPr>
          <a:xfrm>
            <a:off x="-194843" y="256854"/>
            <a:ext cx="9205279" cy="3256908"/>
          </a:xfrm>
          <a:prstGeom prst="rect">
            <a:avLst/>
          </a:prstGeom>
        </p:spPr>
      </p:pic>
    </p:spTree>
    <p:extLst>
      <p:ext uri="{BB962C8B-B14F-4D97-AF65-F5344CB8AC3E}">
        <p14:creationId xmlns:p14="http://schemas.microsoft.com/office/powerpoint/2010/main" val="21363233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p:cNvSpPr>
            <a:spLocks noGrp="1"/>
          </p:cNvSpPr>
          <p:nvPr>
            <p:ph idx="1"/>
          </p:nvPr>
        </p:nvSpPr>
        <p:spPr>
          <a:xfrm>
            <a:off x="580490" y="3690794"/>
            <a:ext cx="8229600" cy="3187754"/>
          </a:xfrm>
        </p:spPr>
        <p:txBody>
          <a:bodyPr>
            <a:normAutofit fontScale="92500"/>
          </a:bodyPr>
          <a:lstStyle/>
          <a:p>
            <a:pPr>
              <a:spcAft>
                <a:spcPts val="600"/>
              </a:spcAft>
            </a:pPr>
            <a:r>
              <a:rPr lang="en-US" sz="2800" dirty="0"/>
              <a:t>What bus company had the most Mechanical Problems in this dataset?</a:t>
            </a:r>
          </a:p>
          <a:p>
            <a:pPr>
              <a:spcAft>
                <a:spcPts val="600"/>
              </a:spcAft>
            </a:pPr>
            <a:r>
              <a:rPr lang="en-US" sz="2800" dirty="0"/>
              <a:t>How many incidents are recorded where more than one school is affected by a bus delay or breakdown?</a:t>
            </a:r>
          </a:p>
          <a:p>
            <a:pPr>
              <a:spcAft>
                <a:spcPts val="600"/>
              </a:spcAft>
            </a:pPr>
            <a:r>
              <a:rPr lang="en-US" sz="2800" dirty="0"/>
              <a:t>What are the number of occurrences, by month, that a delay is caused by Heavy Traffic?  Display this using a bar chart.</a:t>
            </a:r>
            <a:endParaRPr lang="en-US" dirty="0"/>
          </a:p>
        </p:txBody>
      </p:sp>
      <p:pic>
        <p:nvPicPr>
          <p:cNvPr id="3" name="Picture 2"/>
          <p:cNvPicPr>
            <a:picLocks noChangeAspect="1"/>
          </p:cNvPicPr>
          <p:nvPr/>
        </p:nvPicPr>
        <p:blipFill rotWithShape="1">
          <a:blip r:embed="rId2"/>
          <a:srcRect t="11846"/>
          <a:stretch/>
        </p:blipFill>
        <p:spPr>
          <a:xfrm>
            <a:off x="-194843" y="256853"/>
            <a:ext cx="9338844" cy="3359649"/>
          </a:xfrm>
          <a:prstGeom prst="rect">
            <a:avLst/>
          </a:prstGeom>
        </p:spPr>
      </p:pic>
    </p:spTree>
    <p:extLst>
      <p:ext uri="{BB962C8B-B14F-4D97-AF65-F5344CB8AC3E}">
        <p14:creationId xmlns:p14="http://schemas.microsoft.com/office/powerpoint/2010/main" val="27725653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br>
              <a:rPr lang="en-US" dirty="0"/>
            </a:br>
            <a:r>
              <a:rPr lang="en-US" sz="4900" b="1" dirty="0"/>
              <a:t>Data Cleaning</a:t>
            </a:r>
          </a:p>
        </p:txBody>
      </p:sp>
      <p:sp>
        <p:nvSpPr>
          <p:cNvPr id="3" name="Subtitle 2"/>
          <p:cNvSpPr>
            <a:spLocks noGrp="1"/>
          </p:cNvSpPr>
          <p:nvPr>
            <p:ph type="subTitle" idx="1"/>
          </p:nvPr>
        </p:nvSpPr>
        <p:spPr/>
        <p:txBody>
          <a:bodyPr>
            <a:normAutofit/>
          </a:bodyPr>
          <a:lstStyle/>
          <a:p>
            <a:r>
              <a:rPr lang="en-US" dirty="0"/>
              <a:t>Information Systems</a:t>
            </a:r>
          </a:p>
        </p:txBody>
      </p:sp>
    </p:spTree>
    <p:extLst>
      <p:ext uri="{BB962C8B-B14F-4D97-AF65-F5344CB8AC3E}">
        <p14:creationId xmlns:p14="http://schemas.microsoft.com/office/powerpoint/2010/main" val="24468952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Class Objectives</a:t>
            </a:r>
          </a:p>
        </p:txBody>
      </p:sp>
      <p:sp>
        <p:nvSpPr>
          <p:cNvPr id="3" name="Content Placeholder 2"/>
          <p:cNvSpPr>
            <a:spLocks noGrp="1"/>
          </p:cNvSpPr>
          <p:nvPr>
            <p:ph idx="1"/>
          </p:nvPr>
        </p:nvSpPr>
        <p:spPr/>
        <p:txBody>
          <a:bodyPr/>
          <a:lstStyle/>
          <a:p>
            <a:r>
              <a:rPr lang="en-US" dirty="0"/>
              <a:t>Understand the importance of data cleaning</a:t>
            </a:r>
          </a:p>
          <a:p>
            <a:r>
              <a:rPr lang="en-US" dirty="0"/>
              <a:t>Apply data cleaning techniques to facilitate data analysis</a:t>
            </a:r>
          </a:p>
        </p:txBody>
      </p:sp>
    </p:spTree>
    <p:extLst>
      <p:ext uri="{BB962C8B-B14F-4D97-AF65-F5344CB8AC3E}">
        <p14:creationId xmlns:p14="http://schemas.microsoft.com/office/powerpoint/2010/main" val="32834767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Data cleaning (or data cleansing)</a:t>
            </a:r>
          </a:p>
        </p:txBody>
      </p:sp>
      <p:sp>
        <p:nvSpPr>
          <p:cNvPr id="9" name="Content Placeholder 8"/>
          <p:cNvSpPr>
            <a:spLocks noGrp="1"/>
          </p:cNvSpPr>
          <p:nvPr>
            <p:ph idx="1"/>
          </p:nvPr>
        </p:nvSpPr>
        <p:spPr>
          <a:xfrm>
            <a:off x="457200" y="1524000"/>
            <a:ext cx="8229600" cy="4953000"/>
          </a:xfrm>
        </p:spPr>
        <p:txBody>
          <a:bodyPr>
            <a:normAutofit/>
          </a:bodyPr>
          <a:lstStyle/>
          <a:p>
            <a:pPr marL="0" indent="0">
              <a:buNone/>
            </a:pPr>
            <a:endParaRPr lang="en-US" sz="2800" b="1" dirty="0"/>
          </a:p>
          <a:p>
            <a:pPr marL="0" indent="0">
              <a:buNone/>
            </a:pPr>
            <a:r>
              <a:rPr lang="en-US" sz="2800" b="1" dirty="0"/>
              <a:t>What is it?</a:t>
            </a:r>
          </a:p>
          <a:p>
            <a:r>
              <a:rPr lang="en-US" sz="2800" dirty="0"/>
              <a:t>discovering and then correcting and/or removing of errors and/or inconsistencies in a dataset</a:t>
            </a:r>
          </a:p>
          <a:p>
            <a:pPr marL="0" indent="0">
              <a:buNone/>
            </a:pPr>
            <a:endParaRPr lang="en-US" sz="2800" dirty="0"/>
          </a:p>
          <a:p>
            <a:pPr marL="0" indent="0">
              <a:buNone/>
            </a:pPr>
            <a:r>
              <a:rPr lang="en-US" sz="2800" b="1" dirty="0"/>
              <a:t>Why do it?</a:t>
            </a:r>
          </a:p>
          <a:p>
            <a:r>
              <a:rPr lang="en-US" sz="2800" dirty="0"/>
              <a:t>its correcting/removing actions result in data sets that have consistency across records </a:t>
            </a:r>
          </a:p>
          <a:p>
            <a:r>
              <a:rPr lang="en-US" sz="2800" dirty="0"/>
              <a:t>this allows data to be analyzed, questions about data to be answered, etc.</a:t>
            </a:r>
          </a:p>
        </p:txBody>
      </p:sp>
    </p:spTree>
    <p:extLst>
      <p:ext uri="{BB962C8B-B14F-4D97-AF65-F5344CB8AC3E}">
        <p14:creationId xmlns:p14="http://schemas.microsoft.com/office/powerpoint/2010/main" val="27063230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533022" y="6438923"/>
            <a:ext cx="8071177" cy="430887"/>
          </a:xfrm>
          <a:prstGeom prst="rect">
            <a:avLst/>
          </a:prstGeom>
        </p:spPr>
        <p:txBody>
          <a:bodyPr wrap="square">
            <a:spAutoFit/>
          </a:bodyPr>
          <a:lstStyle/>
          <a:p>
            <a:r>
              <a:rPr lang="en-US" sz="1100" dirty="0">
                <a:solidFill>
                  <a:srgbClr val="A6A6A6"/>
                </a:solidFill>
              </a:rPr>
              <a:t>Source: https://www.forbes.com/sites/gilpress/2016/03/23/data-preparation-most-time-consuming-least-enjoyable-data-science-task-survey-says/#755cd9316f63</a:t>
            </a:r>
          </a:p>
        </p:txBody>
      </p:sp>
      <p:pic>
        <p:nvPicPr>
          <p:cNvPr id="1026" name="Picture 2" descr="Tim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492988"/>
            <a:ext cx="9144000" cy="38957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29525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Data cleaning</a:t>
            </a:r>
            <a:br>
              <a:rPr lang="en-US" dirty="0"/>
            </a:br>
            <a:r>
              <a:rPr lang="en-US" sz="3100" dirty="0"/>
              <a:t>Type of errors</a:t>
            </a:r>
            <a:endParaRPr lang="en-US" dirty="0"/>
          </a:p>
        </p:txBody>
      </p:sp>
      <p:sp>
        <p:nvSpPr>
          <p:cNvPr id="9" name="Content Placeholder 8"/>
          <p:cNvSpPr>
            <a:spLocks noGrp="1"/>
          </p:cNvSpPr>
          <p:nvPr>
            <p:ph idx="1"/>
          </p:nvPr>
        </p:nvSpPr>
        <p:spPr/>
        <p:txBody>
          <a:bodyPr>
            <a:noAutofit/>
          </a:bodyPr>
          <a:lstStyle/>
          <a:p>
            <a:pPr lvl="1"/>
            <a:r>
              <a:rPr lang="en-US" sz="2800" dirty="0"/>
              <a:t>Missing records</a:t>
            </a:r>
          </a:p>
          <a:p>
            <a:pPr lvl="1"/>
            <a:r>
              <a:rPr lang="en-US" sz="2800" dirty="0"/>
              <a:t>Duplicate records</a:t>
            </a:r>
          </a:p>
          <a:p>
            <a:pPr lvl="1"/>
            <a:r>
              <a:rPr lang="en-US" sz="2800" dirty="0"/>
              <a:t>Nonsensical entries</a:t>
            </a:r>
          </a:p>
          <a:p>
            <a:pPr lvl="1"/>
            <a:r>
              <a:rPr lang="en-US" sz="2800" dirty="0"/>
              <a:t>Inconsistent entries</a:t>
            </a:r>
          </a:p>
          <a:p>
            <a:pPr lvl="1"/>
            <a:r>
              <a:rPr lang="en-US" sz="2800" dirty="0"/>
              <a:t>Formatting</a:t>
            </a:r>
          </a:p>
          <a:p>
            <a:pPr lvl="1"/>
            <a:r>
              <a:rPr lang="en-US" sz="2800" dirty="0"/>
              <a:t>And more…</a:t>
            </a:r>
          </a:p>
          <a:p>
            <a:pPr marL="274320" lvl="1" indent="0">
              <a:buNone/>
            </a:pPr>
            <a:endParaRPr lang="en-US" sz="2800" dirty="0"/>
          </a:p>
          <a:p>
            <a:pPr marL="274320" lvl="1" indent="0">
              <a:buNone/>
            </a:pPr>
            <a:r>
              <a:rPr lang="en-US" sz="2800" dirty="0"/>
              <a:t>How did these errors occur?</a:t>
            </a:r>
            <a:endParaRPr lang="en-US" sz="3200" dirty="0"/>
          </a:p>
          <a:p>
            <a:pPr lvl="1"/>
            <a:endParaRPr lang="en-US" sz="2800" dirty="0"/>
          </a:p>
        </p:txBody>
      </p:sp>
    </p:spTree>
    <p:extLst>
      <p:ext uri="{BB962C8B-B14F-4D97-AF65-F5344CB8AC3E}">
        <p14:creationId xmlns:p14="http://schemas.microsoft.com/office/powerpoint/2010/main" val="34131568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Data cleaning</a:t>
            </a:r>
            <a:br>
              <a:rPr lang="en-US" dirty="0"/>
            </a:br>
            <a:r>
              <a:rPr lang="en-US" sz="3100" dirty="0"/>
              <a:t>Missing records</a:t>
            </a:r>
            <a:endParaRPr lang="en-US" dirty="0"/>
          </a:p>
        </p:txBody>
      </p:sp>
      <p:sp>
        <p:nvSpPr>
          <p:cNvPr id="9" name="Content Placeholder 8"/>
          <p:cNvSpPr>
            <a:spLocks noGrp="1"/>
          </p:cNvSpPr>
          <p:nvPr>
            <p:ph idx="1"/>
          </p:nvPr>
        </p:nvSpPr>
        <p:spPr/>
        <p:txBody>
          <a:bodyPr>
            <a:normAutofit/>
          </a:bodyPr>
          <a:lstStyle/>
          <a:p>
            <a:pPr marL="0" indent="0">
              <a:buNone/>
            </a:pPr>
            <a:endParaRPr lang="en-US" sz="2800" dirty="0"/>
          </a:p>
          <a:p>
            <a:pPr marL="0" indent="0">
              <a:buNone/>
            </a:pPr>
            <a:endParaRPr lang="en-US" sz="2800" dirty="0"/>
          </a:p>
          <a:p>
            <a:pPr marL="0" indent="0">
              <a:buNone/>
            </a:pPr>
            <a:endParaRPr lang="en-US" sz="2800" dirty="0"/>
          </a:p>
          <a:p>
            <a:pPr marL="0" indent="0">
              <a:buNone/>
            </a:pPr>
            <a:endParaRPr lang="en-US" sz="2800" dirty="0"/>
          </a:p>
          <a:p>
            <a:pPr marL="0" indent="0">
              <a:buNone/>
            </a:pPr>
            <a:endParaRPr lang="en-US" sz="2800" dirty="0"/>
          </a:p>
          <a:p>
            <a:r>
              <a:rPr lang="en-US" sz="2800" dirty="0"/>
              <a:t>What could be some reasons for missing records?</a:t>
            </a:r>
          </a:p>
          <a:p>
            <a:pPr marL="274320" lvl="1" indent="0">
              <a:buNone/>
            </a:pPr>
            <a:endParaRPr lang="en-US" sz="2400" dirty="0"/>
          </a:p>
        </p:txBody>
      </p:sp>
      <p:graphicFrame>
        <p:nvGraphicFramePr>
          <p:cNvPr id="3" name="Table 2"/>
          <p:cNvGraphicFramePr>
            <a:graphicFrameLocks noGrp="1"/>
          </p:cNvGraphicFramePr>
          <p:nvPr>
            <p:extLst>
              <p:ext uri="{D42A27DB-BD31-4B8C-83A1-F6EECF244321}">
                <p14:modId xmlns:p14="http://schemas.microsoft.com/office/powerpoint/2010/main" val="2837884534"/>
              </p:ext>
            </p:extLst>
          </p:nvPr>
        </p:nvGraphicFramePr>
        <p:xfrm>
          <a:off x="1260230" y="1930054"/>
          <a:ext cx="6096000" cy="1752600"/>
        </p:xfrm>
        <a:graphic>
          <a:graphicData uri="http://schemas.openxmlformats.org/drawingml/2006/table">
            <a:tbl>
              <a:tblPr firstRow="1" bandRow="1">
                <a:tableStyleId>{5C22544A-7EE6-4342-B048-85BDC9FD1C3A}</a:tableStyleId>
              </a:tblPr>
              <a:tblGrid>
                <a:gridCol w="1799493">
                  <a:extLst>
                    <a:ext uri="{9D8B030D-6E8A-4147-A177-3AD203B41FA5}">
                      <a16:colId xmlns:a16="http://schemas.microsoft.com/office/drawing/2014/main" val="3280937929"/>
                    </a:ext>
                  </a:extLst>
                </a:gridCol>
                <a:gridCol w="1248507">
                  <a:extLst>
                    <a:ext uri="{9D8B030D-6E8A-4147-A177-3AD203B41FA5}">
                      <a16:colId xmlns:a16="http://schemas.microsoft.com/office/drawing/2014/main" val="788647224"/>
                    </a:ext>
                  </a:extLst>
                </a:gridCol>
                <a:gridCol w="1524000">
                  <a:extLst>
                    <a:ext uri="{9D8B030D-6E8A-4147-A177-3AD203B41FA5}">
                      <a16:colId xmlns:a16="http://schemas.microsoft.com/office/drawing/2014/main" val="1470417563"/>
                    </a:ext>
                  </a:extLst>
                </a:gridCol>
                <a:gridCol w="1524000">
                  <a:extLst>
                    <a:ext uri="{9D8B030D-6E8A-4147-A177-3AD203B41FA5}">
                      <a16:colId xmlns:a16="http://schemas.microsoft.com/office/drawing/2014/main" val="2061590200"/>
                    </a:ext>
                  </a:extLst>
                </a:gridCol>
              </a:tblGrid>
              <a:tr h="370840">
                <a:tc>
                  <a:txBody>
                    <a:bodyPr/>
                    <a:lstStyle/>
                    <a:p>
                      <a:r>
                        <a:rPr lang="en-US" dirty="0"/>
                        <a:t>Name</a:t>
                      </a:r>
                    </a:p>
                  </a:txBody>
                  <a:tcPr/>
                </a:tc>
                <a:tc>
                  <a:txBody>
                    <a:bodyPr/>
                    <a:lstStyle/>
                    <a:p>
                      <a:r>
                        <a:rPr lang="en-US" dirty="0"/>
                        <a:t>DOB</a:t>
                      </a:r>
                    </a:p>
                  </a:txBody>
                  <a:tcPr/>
                </a:tc>
                <a:tc>
                  <a:txBody>
                    <a:bodyPr/>
                    <a:lstStyle/>
                    <a:p>
                      <a:r>
                        <a:rPr lang="en-US" dirty="0"/>
                        <a:t>Income</a:t>
                      </a:r>
                    </a:p>
                  </a:txBody>
                  <a:tcPr/>
                </a:tc>
                <a:tc>
                  <a:txBody>
                    <a:bodyPr/>
                    <a:lstStyle/>
                    <a:p>
                      <a:r>
                        <a:rPr lang="en-US" dirty="0"/>
                        <a:t>Martial Status</a:t>
                      </a:r>
                    </a:p>
                  </a:txBody>
                  <a:tcPr/>
                </a:tc>
                <a:extLst>
                  <a:ext uri="{0D108BD9-81ED-4DB2-BD59-A6C34878D82A}">
                    <a16:rowId xmlns:a16="http://schemas.microsoft.com/office/drawing/2014/main" val="1207137028"/>
                  </a:ext>
                </a:extLst>
              </a:tr>
              <a:tr h="370840">
                <a:tc>
                  <a:txBody>
                    <a:bodyPr/>
                    <a:lstStyle/>
                    <a:p>
                      <a:r>
                        <a:rPr lang="en-US" dirty="0"/>
                        <a:t>John Smith</a:t>
                      </a:r>
                    </a:p>
                  </a:txBody>
                  <a:tcPr/>
                </a:tc>
                <a:tc>
                  <a:txBody>
                    <a:bodyPr/>
                    <a:lstStyle/>
                    <a:p>
                      <a:r>
                        <a:rPr lang="en-US" dirty="0"/>
                        <a:t>5/4/1973</a:t>
                      </a:r>
                    </a:p>
                  </a:txBody>
                  <a:tcPr/>
                </a:tc>
                <a:tc>
                  <a:txBody>
                    <a:bodyPr/>
                    <a:lstStyle/>
                    <a:p>
                      <a:r>
                        <a:rPr lang="en-US" dirty="0" err="1"/>
                        <a:t>NaN</a:t>
                      </a:r>
                      <a:endParaRPr lang="en-US" dirty="0"/>
                    </a:p>
                  </a:txBody>
                  <a:tcPr/>
                </a:tc>
                <a:tc>
                  <a:txBody>
                    <a:bodyPr/>
                    <a:lstStyle/>
                    <a:p>
                      <a:r>
                        <a:rPr lang="en-US" dirty="0"/>
                        <a:t>Single</a:t>
                      </a:r>
                    </a:p>
                  </a:txBody>
                  <a:tcPr/>
                </a:tc>
                <a:extLst>
                  <a:ext uri="{0D108BD9-81ED-4DB2-BD59-A6C34878D82A}">
                    <a16:rowId xmlns:a16="http://schemas.microsoft.com/office/drawing/2014/main" val="597072979"/>
                  </a:ext>
                </a:extLst>
              </a:tr>
              <a:tr h="370840">
                <a:tc>
                  <a:txBody>
                    <a:bodyPr/>
                    <a:lstStyle/>
                    <a:p>
                      <a:r>
                        <a:rPr lang="en-US" dirty="0"/>
                        <a:t>Mary Johnson</a:t>
                      </a:r>
                    </a:p>
                  </a:txBody>
                  <a:tcPr/>
                </a:tc>
                <a:tc>
                  <a:txBody>
                    <a:bodyPr/>
                    <a:lstStyle/>
                    <a:p>
                      <a:endParaRPr lang="en-US" dirty="0"/>
                    </a:p>
                  </a:txBody>
                  <a:tcPr/>
                </a:tc>
                <a:tc>
                  <a:txBody>
                    <a:bodyPr/>
                    <a:lstStyle/>
                    <a:p>
                      <a:r>
                        <a:rPr lang="en-US" dirty="0"/>
                        <a:t>$70,000</a:t>
                      </a:r>
                    </a:p>
                  </a:txBody>
                  <a:tcPr/>
                </a:tc>
                <a:tc>
                  <a:txBody>
                    <a:bodyPr/>
                    <a:lstStyle/>
                    <a:p>
                      <a:r>
                        <a:rPr lang="en-US" dirty="0"/>
                        <a:t>Married</a:t>
                      </a:r>
                    </a:p>
                  </a:txBody>
                  <a:tcPr/>
                </a:tc>
                <a:extLst>
                  <a:ext uri="{0D108BD9-81ED-4DB2-BD59-A6C34878D82A}">
                    <a16:rowId xmlns:a16="http://schemas.microsoft.com/office/drawing/2014/main" val="4113540568"/>
                  </a:ext>
                </a:extLst>
              </a:tr>
              <a:tr h="370840">
                <a:tc>
                  <a:txBody>
                    <a:bodyPr/>
                    <a:lstStyle/>
                    <a:p>
                      <a:r>
                        <a:rPr lang="en-US" dirty="0"/>
                        <a:t>Joe</a:t>
                      </a:r>
                      <a:r>
                        <a:rPr lang="en-US" baseline="0" dirty="0"/>
                        <a:t> Wu</a:t>
                      </a:r>
                      <a:endParaRPr lang="en-US" dirty="0"/>
                    </a:p>
                  </a:txBody>
                  <a:tcPr/>
                </a:tc>
                <a:tc>
                  <a:txBody>
                    <a:bodyPr/>
                    <a:lstStyle/>
                    <a:p>
                      <a:r>
                        <a:rPr lang="en-US" dirty="0"/>
                        <a:t>4/22/1990</a:t>
                      </a:r>
                    </a:p>
                  </a:txBody>
                  <a:tcPr/>
                </a:tc>
                <a:tc>
                  <a:txBody>
                    <a:bodyPr/>
                    <a:lstStyle/>
                    <a:p>
                      <a:r>
                        <a:rPr lang="en-US" dirty="0"/>
                        <a:t>$55,000</a:t>
                      </a:r>
                    </a:p>
                  </a:txBody>
                  <a:tcPr/>
                </a:tc>
                <a:tc>
                  <a:txBody>
                    <a:bodyPr/>
                    <a:lstStyle/>
                    <a:p>
                      <a:r>
                        <a:rPr lang="en-US" dirty="0"/>
                        <a:t>unknown</a:t>
                      </a:r>
                    </a:p>
                  </a:txBody>
                  <a:tcPr/>
                </a:tc>
                <a:extLst>
                  <a:ext uri="{0D108BD9-81ED-4DB2-BD59-A6C34878D82A}">
                    <a16:rowId xmlns:a16="http://schemas.microsoft.com/office/drawing/2014/main" val="2248769295"/>
                  </a:ext>
                </a:extLst>
              </a:tr>
            </a:tbl>
          </a:graphicData>
        </a:graphic>
      </p:graphicFrame>
    </p:spTree>
    <p:extLst>
      <p:ext uri="{BB962C8B-B14F-4D97-AF65-F5344CB8AC3E}">
        <p14:creationId xmlns:p14="http://schemas.microsoft.com/office/powerpoint/2010/main" val="37861586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Data cleaning</a:t>
            </a:r>
            <a:br>
              <a:rPr lang="en-US" dirty="0"/>
            </a:br>
            <a:r>
              <a:rPr lang="en-US" sz="3100" dirty="0"/>
              <a:t>Missing records</a:t>
            </a:r>
            <a:endParaRPr lang="en-US" dirty="0"/>
          </a:p>
        </p:txBody>
      </p:sp>
      <p:sp>
        <p:nvSpPr>
          <p:cNvPr id="9" name="Content Placeholder 8"/>
          <p:cNvSpPr>
            <a:spLocks noGrp="1"/>
          </p:cNvSpPr>
          <p:nvPr>
            <p:ph idx="1"/>
          </p:nvPr>
        </p:nvSpPr>
        <p:spPr>
          <a:xfrm>
            <a:off x="457200" y="1354014"/>
            <a:ext cx="8229600" cy="5152293"/>
          </a:xfrm>
        </p:spPr>
        <p:txBody>
          <a:bodyPr>
            <a:normAutofit/>
          </a:bodyPr>
          <a:lstStyle/>
          <a:p>
            <a:endParaRPr lang="en-US" sz="2800" dirty="0"/>
          </a:p>
          <a:p>
            <a:r>
              <a:rPr lang="en-US" sz="2800" dirty="0"/>
              <a:t>Easy techniques for dealing with missing records:</a:t>
            </a:r>
          </a:p>
          <a:p>
            <a:pPr lvl="1">
              <a:buFont typeface="Arial" panose="020B0604020202020204" pitchFamily="34" charset="0"/>
              <a:buChar char="―"/>
            </a:pPr>
            <a:r>
              <a:rPr lang="en-US" sz="2400" dirty="0"/>
              <a:t> Delete rows with any missing value</a:t>
            </a:r>
          </a:p>
          <a:p>
            <a:pPr lvl="1">
              <a:buFont typeface="Arial" panose="020B0604020202020204" pitchFamily="34" charset="0"/>
              <a:buChar char="―"/>
            </a:pPr>
            <a:r>
              <a:rPr lang="en-US" sz="2400" dirty="0"/>
              <a:t> Delete columns with many missing values</a:t>
            </a:r>
          </a:p>
          <a:p>
            <a:r>
              <a:rPr lang="en-US" sz="2800" dirty="0"/>
              <a:t>Other advanced techniques exist (e.g. imputation), outside the scope of this class</a:t>
            </a:r>
          </a:p>
          <a:p>
            <a:pPr marL="0" indent="0">
              <a:buNone/>
            </a:pPr>
            <a:endParaRPr lang="en-US" sz="2800" dirty="0"/>
          </a:p>
          <a:p>
            <a:r>
              <a:rPr lang="en-US" sz="2800" dirty="0"/>
              <a:t>Caution:</a:t>
            </a:r>
          </a:p>
          <a:p>
            <a:pPr>
              <a:buFont typeface="Arial" panose="020B0604020202020204" pitchFamily="34" charset="0"/>
              <a:buChar char="―"/>
            </a:pPr>
            <a:r>
              <a:rPr lang="en-US" sz="2200" dirty="0"/>
              <a:t>Realize that you are usually making some assumption about the data no matter how you deal with the missing records</a:t>
            </a:r>
          </a:p>
          <a:p>
            <a:pPr>
              <a:buFont typeface="Arial" panose="020B0604020202020204" pitchFamily="34" charset="0"/>
              <a:buChar char="―"/>
            </a:pPr>
            <a:r>
              <a:rPr lang="en-US" sz="2200" dirty="0"/>
              <a:t>Always communicate how you dealt with missing records</a:t>
            </a:r>
          </a:p>
          <a:p>
            <a:pPr>
              <a:buFont typeface="Arial" panose="020B0604020202020204" pitchFamily="34" charset="0"/>
              <a:buChar char="―"/>
            </a:pPr>
            <a:endParaRPr lang="en-US" sz="2400" dirty="0"/>
          </a:p>
          <a:p>
            <a:pPr marL="274320" lvl="1" indent="0">
              <a:buNone/>
            </a:pPr>
            <a:endParaRPr lang="en-US" sz="2400" dirty="0"/>
          </a:p>
        </p:txBody>
      </p:sp>
    </p:spTree>
    <p:extLst>
      <p:ext uri="{BB962C8B-B14F-4D97-AF65-F5344CB8AC3E}">
        <p14:creationId xmlns:p14="http://schemas.microsoft.com/office/powerpoint/2010/main" val="37290059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Data cleaning</a:t>
            </a:r>
            <a:br>
              <a:rPr lang="en-US" dirty="0"/>
            </a:br>
            <a:r>
              <a:rPr lang="en-US" sz="3100" dirty="0"/>
              <a:t>Duplicate Records</a:t>
            </a:r>
            <a:endParaRPr lang="en-US" dirty="0"/>
          </a:p>
        </p:txBody>
      </p:sp>
      <p:sp>
        <p:nvSpPr>
          <p:cNvPr id="9" name="Content Placeholder 8"/>
          <p:cNvSpPr>
            <a:spLocks noGrp="1"/>
          </p:cNvSpPr>
          <p:nvPr>
            <p:ph idx="1"/>
          </p:nvPr>
        </p:nvSpPr>
        <p:spPr/>
        <p:txBody>
          <a:bodyPr>
            <a:normAutofit/>
          </a:bodyPr>
          <a:lstStyle/>
          <a:p>
            <a:pPr marL="0" indent="0">
              <a:buNone/>
            </a:pPr>
            <a:endParaRPr lang="en-US" sz="2800" dirty="0"/>
          </a:p>
          <a:p>
            <a:pPr marL="0" indent="0">
              <a:buNone/>
            </a:pPr>
            <a:endParaRPr lang="en-US" sz="2800" dirty="0"/>
          </a:p>
          <a:p>
            <a:pPr marL="0" indent="0">
              <a:buNone/>
            </a:pPr>
            <a:endParaRPr lang="en-US" sz="2800" dirty="0"/>
          </a:p>
          <a:p>
            <a:pPr marL="0" indent="0">
              <a:buNone/>
            </a:pPr>
            <a:endParaRPr lang="en-US" sz="2800" dirty="0"/>
          </a:p>
          <a:p>
            <a:r>
              <a:rPr lang="en-US" sz="2800" dirty="0"/>
              <a:t>What could be some reasons for duplicate records?</a:t>
            </a:r>
          </a:p>
          <a:p>
            <a:r>
              <a:rPr lang="en-US" sz="2800" dirty="0"/>
              <a:t>Technique for dealing with duplicate records is to delete the duplications</a:t>
            </a:r>
            <a:endParaRPr lang="en-US" sz="2400" dirty="0"/>
          </a:p>
          <a:p>
            <a:endParaRPr lang="en-US" sz="2800" dirty="0"/>
          </a:p>
          <a:p>
            <a:pPr marL="274320" lvl="1" indent="0">
              <a:buNone/>
            </a:pPr>
            <a:endParaRPr lang="en-US" sz="2400" dirty="0"/>
          </a:p>
        </p:txBody>
      </p:sp>
      <p:graphicFrame>
        <p:nvGraphicFramePr>
          <p:cNvPr id="3" name="Table 2"/>
          <p:cNvGraphicFramePr>
            <a:graphicFrameLocks noGrp="1"/>
          </p:cNvGraphicFramePr>
          <p:nvPr>
            <p:extLst>
              <p:ext uri="{D42A27DB-BD31-4B8C-83A1-F6EECF244321}">
                <p14:modId xmlns:p14="http://schemas.microsoft.com/office/powerpoint/2010/main" val="3746500429"/>
              </p:ext>
            </p:extLst>
          </p:nvPr>
        </p:nvGraphicFramePr>
        <p:xfrm>
          <a:off x="1260230" y="1931377"/>
          <a:ext cx="6096000" cy="1381760"/>
        </p:xfrm>
        <a:graphic>
          <a:graphicData uri="http://schemas.openxmlformats.org/drawingml/2006/table">
            <a:tbl>
              <a:tblPr firstRow="1" bandRow="1">
                <a:tableStyleId>{5C22544A-7EE6-4342-B048-85BDC9FD1C3A}</a:tableStyleId>
              </a:tblPr>
              <a:tblGrid>
                <a:gridCol w="1922585">
                  <a:extLst>
                    <a:ext uri="{9D8B030D-6E8A-4147-A177-3AD203B41FA5}">
                      <a16:colId xmlns:a16="http://schemas.microsoft.com/office/drawing/2014/main" val="3280937929"/>
                    </a:ext>
                  </a:extLst>
                </a:gridCol>
                <a:gridCol w="1125415">
                  <a:extLst>
                    <a:ext uri="{9D8B030D-6E8A-4147-A177-3AD203B41FA5}">
                      <a16:colId xmlns:a16="http://schemas.microsoft.com/office/drawing/2014/main" val="788647224"/>
                    </a:ext>
                  </a:extLst>
                </a:gridCol>
                <a:gridCol w="1524000">
                  <a:extLst>
                    <a:ext uri="{9D8B030D-6E8A-4147-A177-3AD203B41FA5}">
                      <a16:colId xmlns:a16="http://schemas.microsoft.com/office/drawing/2014/main" val="1470417563"/>
                    </a:ext>
                  </a:extLst>
                </a:gridCol>
                <a:gridCol w="1524000">
                  <a:extLst>
                    <a:ext uri="{9D8B030D-6E8A-4147-A177-3AD203B41FA5}">
                      <a16:colId xmlns:a16="http://schemas.microsoft.com/office/drawing/2014/main" val="2061590200"/>
                    </a:ext>
                  </a:extLst>
                </a:gridCol>
              </a:tblGrid>
              <a:tr h="370840">
                <a:tc>
                  <a:txBody>
                    <a:bodyPr/>
                    <a:lstStyle/>
                    <a:p>
                      <a:r>
                        <a:rPr lang="en-US" dirty="0"/>
                        <a:t>Name</a:t>
                      </a:r>
                    </a:p>
                  </a:txBody>
                  <a:tcPr/>
                </a:tc>
                <a:tc>
                  <a:txBody>
                    <a:bodyPr/>
                    <a:lstStyle/>
                    <a:p>
                      <a:r>
                        <a:rPr lang="en-US" dirty="0"/>
                        <a:t>DOB</a:t>
                      </a:r>
                    </a:p>
                  </a:txBody>
                  <a:tcPr/>
                </a:tc>
                <a:tc>
                  <a:txBody>
                    <a:bodyPr/>
                    <a:lstStyle/>
                    <a:p>
                      <a:r>
                        <a:rPr lang="en-US" dirty="0"/>
                        <a:t>Income</a:t>
                      </a:r>
                    </a:p>
                  </a:txBody>
                  <a:tcPr/>
                </a:tc>
                <a:tc>
                  <a:txBody>
                    <a:bodyPr/>
                    <a:lstStyle/>
                    <a:p>
                      <a:r>
                        <a:rPr lang="en-US" dirty="0"/>
                        <a:t>Martial Status</a:t>
                      </a:r>
                    </a:p>
                  </a:txBody>
                  <a:tcPr/>
                </a:tc>
                <a:extLst>
                  <a:ext uri="{0D108BD9-81ED-4DB2-BD59-A6C34878D82A}">
                    <a16:rowId xmlns:a16="http://schemas.microsoft.com/office/drawing/2014/main" val="1207137028"/>
                  </a:ext>
                </a:extLst>
              </a:tr>
              <a:tr h="370840">
                <a:tc>
                  <a:txBody>
                    <a:bodyPr/>
                    <a:lstStyle/>
                    <a:p>
                      <a:r>
                        <a:rPr lang="en-US" dirty="0"/>
                        <a:t>John Smith</a:t>
                      </a:r>
                    </a:p>
                  </a:txBody>
                  <a:tcPr/>
                </a:tc>
                <a:tc>
                  <a:txBody>
                    <a:bodyPr/>
                    <a:lstStyle/>
                    <a:p>
                      <a:r>
                        <a:rPr lang="en-US" dirty="0"/>
                        <a:t>5/4/1973</a:t>
                      </a:r>
                    </a:p>
                  </a:txBody>
                  <a:tcPr/>
                </a:tc>
                <a:tc>
                  <a:txBody>
                    <a:bodyPr/>
                    <a:lstStyle/>
                    <a:p>
                      <a:r>
                        <a:rPr lang="en-US" dirty="0"/>
                        <a:t>$60,000</a:t>
                      </a:r>
                    </a:p>
                  </a:txBody>
                  <a:tcPr/>
                </a:tc>
                <a:tc>
                  <a:txBody>
                    <a:bodyPr/>
                    <a:lstStyle/>
                    <a:p>
                      <a:r>
                        <a:rPr lang="en-US" dirty="0"/>
                        <a:t>Single</a:t>
                      </a:r>
                    </a:p>
                  </a:txBody>
                  <a:tcPr/>
                </a:tc>
                <a:extLst>
                  <a:ext uri="{0D108BD9-81ED-4DB2-BD59-A6C34878D82A}">
                    <a16:rowId xmlns:a16="http://schemas.microsoft.com/office/drawing/2014/main" val="597072979"/>
                  </a:ext>
                </a:extLst>
              </a:tr>
              <a:tr h="370840">
                <a:tc>
                  <a:txBody>
                    <a:bodyPr/>
                    <a:lstStyle/>
                    <a:p>
                      <a:r>
                        <a:rPr lang="en-US" dirty="0"/>
                        <a:t>John Smith</a:t>
                      </a:r>
                    </a:p>
                  </a:txBody>
                  <a:tcPr/>
                </a:tc>
                <a:tc>
                  <a:txBody>
                    <a:bodyPr/>
                    <a:lstStyle/>
                    <a:p>
                      <a:r>
                        <a:rPr lang="en-US" dirty="0"/>
                        <a:t>5/4/1973</a:t>
                      </a:r>
                    </a:p>
                  </a:txBody>
                  <a:tcPr/>
                </a:tc>
                <a:tc>
                  <a:txBody>
                    <a:bodyPr/>
                    <a:lstStyle/>
                    <a:p>
                      <a:r>
                        <a:rPr lang="en-US" dirty="0"/>
                        <a:t>$60,000</a:t>
                      </a:r>
                    </a:p>
                  </a:txBody>
                  <a:tcPr/>
                </a:tc>
                <a:tc>
                  <a:txBody>
                    <a:bodyPr/>
                    <a:lstStyle/>
                    <a:p>
                      <a:r>
                        <a:rPr lang="en-US" dirty="0"/>
                        <a:t>Single</a:t>
                      </a:r>
                    </a:p>
                  </a:txBody>
                  <a:tcPr/>
                </a:tc>
                <a:extLst>
                  <a:ext uri="{0D108BD9-81ED-4DB2-BD59-A6C34878D82A}">
                    <a16:rowId xmlns:a16="http://schemas.microsoft.com/office/drawing/2014/main" val="4113540568"/>
                  </a:ext>
                </a:extLst>
              </a:tr>
            </a:tbl>
          </a:graphicData>
        </a:graphic>
      </p:graphicFrame>
    </p:spTree>
    <p:extLst>
      <p:ext uri="{BB962C8B-B14F-4D97-AF65-F5344CB8AC3E}">
        <p14:creationId xmlns:p14="http://schemas.microsoft.com/office/powerpoint/2010/main" val="18066951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Data cleaning</a:t>
            </a:r>
            <a:br>
              <a:rPr lang="en-US" dirty="0"/>
            </a:br>
            <a:r>
              <a:rPr lang="en-US" sz="3100" dirty="0"/>
              <a:t>Nonsensical Entries</a:t>
            </a:r>
            <a:endParaRPr lang="en-US" dirty="0"/>
          </a:p>
        </p:txBody>
      </p:sp>
      <p:sp>
        <p:nvSpPr>
          <p:cNvPr id="9" name="Content Placeholder 8"/>
          <p:cNvSpPr>
            <a:spLocks noGrp="1"/>
          </p:cNvSpPr>
          <p:nvPr>
            <p:ph idx="1"/>
          </p:nvPr>
        </p:nvSpPr>
        <p:spPr/>
        <p:txBody>
          <a:bodyPr>
            <a:normAutofit/>
          </a:bodyPr>
          <a:lstStyle/>
          <a:p>
            <a:pPr marL="0" indent="0">
              <a:buNone/>
            </a:pPr>
            <a:endParaRPr lang="en-US" sz="2800" dirty="0"/>
          </a:p>
          <a:p>
            <a:pPr marL="0" indent="0">
              <a:buNone/>
            </a:pPr>
            <a:endParaRPr lang="en-US" sz="2800" dirty="0"/>
          </a:p>
          <a:p>
            <a:pPr marL="0" indent="0">
              <a:buNone/>
            </a:pPr>
            <a:endParaRPr lang="en-US" sz="2800" dirty="0"/>
          </a:p>
          <a:p>
            <a:pPr marL="0" indent="0">
              <a:buNone/>
            </a:pPr>
            <a:endParaRPr lang="en-US" sz="2800" dirty="0"/>
          </a:p>
          <a:p>
            <a:r>
              <a:rPr lang="en-US" sz="2800" dirty="0"/>
              <a:t>What could be some reasons for nonsensical entries?</a:t>
            </a:r>
          </a:p>
          <a:p>
            <a:r>
              <a:rPr lang="en-US" sz="2800" dirty="0"/>
              <a:t>Techniques for dealing with nonsensical entries:</a:t>
            </a:r>
          </a:p>
          <a:p>
            <a:pPr lvl="1"/>
            <a:r>
              <a:rPr lang="en-US" dirty="0"/>
              <a:t>Fix them appropriately, if possible</a:t>
            </a:r>
          </a:p>
          <a:p>
            <a:pPr lvl="1"/>
            <a:r>
              <a:rPr lang="en-US" dirty="0"/>
              <a:t>Treat them the same as you would missing records</a:t>
            </a:r>
          </a:p>
          <a:p>
            <a:endParaRPr lang="en-US" sz="2800" dirty="0"/>
          </a:p>
          <a:p>
            <a:pPr marL="274320" lvl="1" indent="0">
              <a:buNone/>
            </a:pPr>
            <a:endParaRPr lang="en-US" sz="2400" dirty="0"/>
          </a:p>
        </p:txBody>
      </p:sp>
      <p:graphicFrame>
        <p:nvGraphicFramePr>
          <p:cNvPr id="3" name="Table 2"/>
          <p:cNvGraphicFramePr>
            <a:graphicFrameLocks noGrp="1"/>
          </p:cNvGraphicFramePr>
          <p:nvPr>
            <p:extLst>
              <p:ext uri="{D42A27DB-BD31-4B8C-83A1-F6EECF244321}">
                <p14:modId xmlns:p14="http://schemas.microsoft.com/office/powerpoint/2010/main" val="1213871665"/>
              </p:ext>
            </p:extLst>
          </p:nvPr>
        </p:nvGraphicFramePr>
        <p:xfrm>
          <a:off x="1260230" y="1931377"/>
          <a:ext cx="6096000" cy="1381760"/>
        </p:xfrm>
        <a:graphic>
          <a:graphicData uri="http://schemas.openxmlformats.org/drawingml/2006/table">
            <a:tbl>
              <a:tblPr firstRow="1" bandRow="1">
                <a:tableStyleId>{5C22544A-7EE6-4342-B048-85BDC9FD1C3A}</a:tableStyleId>
              </a:tblPr>
              <a:tblGrid>
                <a:gridCol w="1922585">
                  <a:extLst>
                    <a:ext uri="{9D8B030D-6E8A-4147-A177-3AD203B41FA5}">
                      <a16:colId xmlns:a16="http://schemas.microsoft.com/office/drawing/2014/main" val="3280937929"/>
                    </a:ext>
                  </a:extLst>
                </a:gridCol>
                <a:gridCol w="1125415">
                  <a:extLst>
                    <a:ext uri="{9D8B030D-6E8A-4147-A177-3AD203B41FA5}">
                      <a16:colId xmlns:a16="http://schemas.microsoft.com/office/drawing/2014/main" val="788647224"/>
                    </a:ext>
                  </a:extLst>
                </a:gridCol>
                <a:gridCol w="1524000">
                  <a:extLst>
                    <a:ext uri="{9D8B030D-6E8A-4147-A177-3AD203B41FA5}">
                      <a16:colId xmlns:a16="http://schemas.microsoft.com/office/drawing/2014/main" val="1470417563"/>
                    </a:ext>
                  </a:extLst>
                </a:gridCol>
                <a:gridCol w="1524000">
                  <a:extLst>
                    <a:ext uri="{9D8B030D-6E8A-4147-A177-3AD203B41FA5}">
                      <a16:colId xmlns:a16="http://schemas.microsoft.com/office/drawing/2014/main" val="2061590200"/>
                    </a:ext>
                  </a:extLst>
                </a:gridCol>
              </a:tblGrid>
              <a:tr h="370840">
                <a:tc>
                  <a:txBody>
                    <a:bodyPr/>
                    <a:lstStyle/>
                    <a:p>
                      <a:r>
                        <a:rPr lang="en-US" dirty="0"/>
                        <a:t>Name</a:t>
                      </a:r>
                    </a:p>
                  </a:txBody>
                  <a:tcPr/>
                </a:tc>
                <a:tc>
                  <a:txBody>
                    <a:bodyPr/>
                    <a:lstStyle/>
                    <a:p>
                      <a:r>
                        <a:rPr lang="en-US" dirty="0"/>
                        <a:t>DOB</a:t>
                      </a:r>
                    </a:p>
                  </a:txBody>
                  <a:tcPr/>
                </a:tc>
                <a:tc>
                  <a:txBody>
                    <a:bodyPr/>
                    <a:lstStyle/>
                    <a:p>
                      <a:r>
                        <a:rPr lang="en-US" dirty="0"/>
                        <a:t>Income</a:t>
                      </a:r>
                    </a:p>
                  </a:txBody>
                  <a:tcPr/>
                </a:tc>
                <a:tc>
                  <a:txBody>
                    <a:bodyPr/>
                    <a:lstStyle/>
                    <a:p>
                      <a:r>
                        <a:rPr lang="en-US" dirty="0"/>
                        <a:t>Martial Status</a:t>
                      </a:r>
                    </a:p>
                  </a:txBody>
                  <a:tcPr/>
                </a:tc>
                <a:extLst>
                  <a:ext uri="{0D108BD9-81ED-4DB2-BD59-A6C34878D82A}">
                    <a16:rowId xmlns:a16="http://schemas.microsoft.com/office/drawing/2014/main" val="1207137028"/>
                  </a:ext>
                </a:extLst>
              </a:tr>
              <a:tr h="370840">
                <a:tc>
                  <a:txBody>
                    <a:bodyPr/>
                    <a:lstStyle/>
                    <a:p>
                      <a:r>
                        <a:rPr lang="en-US" dirty="0"/>
                        <a:t>John</a:t>
                      </a:r>
                      <a:r>
                        <a:rPr lang="en-US" baseline="0" dirty="0"/>
                        <a:t> Smith</a:t>
                      </a:r>
                      <a:endParaRPr lang="en-US" dirty="0"/>
                    </a:p>
                  </a:txBody>
                  <a:tcPr/>
                </a:tc>
                <a:tc>
                  <a:txBody>
                    <a:bodyPr/>
                    <a:lstStyle/>
                    <a:p>
                      <a:r>
                        <a:rPr lang="en-US" dirty="0"/>
                        <a:t>23</a:t>
                      </a:r>
                    </a:p>
                  </a:txBody>
                  <a:tcPr/>
                </a:tc>
                <a:tc>
                  <a:txBody>
                    <a:bodyPr/>
                    <a:lstStyle/>
                    <a:p>
                      <a:r>
                        <a:rPr lang="en-US" dirty="0"/>
                        <a:t>$60,000</a:t>
                      </a:r>
                    </a:p>
                  </a:txBody>
                  <a:tcPr/>
                </a:tc>
                <a:tc>
                  <a:txBody>
                    <a:bodyPr/>
                    <a:lstStyle/>
                    <a:p>
                      <a:r>
                        <a:rPr lang="en-US" dirty="0"/>
                        <a:t>Single</a:t>
                      </a:r>
                    </a:p>
                  </a:txBody>
                  <a:tcPr/>
                </a:tc>
                <a:extLst>
                  <a:ext uri="{0D108BD9-81ED-4DB2-BD59-A6C34878D82A}">
                    <a16:rowId xmlns:a16="http://schemas.microsoft.com/office/drawing/2014/main" val="597072979"/>
                  </a:ext>
                </a:extLst>
              </a:tr>
              <a:tr h="370840">
                <a:tc>
                  <a:txBody>
                    <a:bodyPr/>
                    <a:lstStyle/>
                    <a:p>
                      <a:r>
                        <a:rPr lang="en-US" dirty="0"/>
                        <a:t>Mary</a:t>
                      </a:r>
                      <a:r>
                        <a:rPr lang="en-US" baseline="0" dirty="0"/>
                        <a:t> Johnson</a:t>
                      </a:r>
                      <a:endParaRPr lang="en-US" dirty="0"/>
                    </a:p>
                  </a:txBody>
                  <a:tcPr/>
                </a:tc>
                <a:tc>
                  <a:txBody>
                    <a:bodyPr/>
                    <a:lstStyle/>
                    <a:p>
                      <a:r>
                        <a:rPr lang="en-US" dirty="0"/>
                        <a:t>5/4/1973</a:t>
                      </a:r>
                    </a:p>
                  </a:txBody>
                  <a:tcPr/>
                </a:tc>
                <a:tc>
                  <a:txBody>
                    <a:bodyPr/>
                    <a:lstStyle/>
                    <a:p>
                      <a:r>
                        <a:rPr lang="en-US" dirty="0"/>
                        <a:t>-500</a:t>
                      </a:r>
                    </a:p>
                  </a:txBody>
                  <a:tcPr/>
                </a:tc>
                <a:tc>
                  <a:txBody>
                    <a:bodyPr/>
                    <a:lstStyle/>
                    <a:p>
                      <a:r>
                        <a:rPr lang="en-US" dirty="0"/>
                        <a:t>Married</a:t>
                      </a:r>
                    </a:p>
                  </a:txBody>
                  <a:tcPr/>
                </a:tc>
                <a:extLst>
                  <a:ext uri="{0D108BD9-81ED-4DB2-BD59-A6C34878D82A}">
                    <a16:rowId xmlns:a16="http://schemas.microsoft.com/office/drawing/2014/main" val="4113540568"/>
                  </a:ext>
                </a:extLst>
              </a:tr>
            </a:tbl>
          </a:graphicData>
        </a:graphic>
      </p:graphicFrame>
    </p:spTree>
    <p:extLst>
      <p:ext uri="{BB962C8B-B14F-4D97-AF65-F5344CB8AC3E}">
        <p14:creationId xmlns:p14="http://schemas.microsoft.com/office/powerpoint/2010/main" val="744949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Data cleaning</a:t>
            </a:r>
            <a:br>
              <a:rPr lang="en-US" dirty="0"/>
            </a:br>
            <a:r>
              <a:rPr lang="en-US" sz="3100" dirty="0"/>
              <a:t>Inconsistent Entries</a:t>
            </a:r>
            <a:endParaRPr lang="en-US" dirty="0"/>
          </a:p>
        </p:txBody>
      </p:sp>
      <p:sp>
        <p:nvSpPr>
          <p:cNvPr id="9" name="Content Placeholder 8"/>
          <p:cNvSpPr>
            <a:spLocks noGrp="1"/>
          </p:cNvSpPr>
          <p:nvPr>
            <p:ph idx="1"/>
          </p:nvPr>
        </p:nvSpPr>
        <p:spPr/>
        <p:txBody>
          <a:bodyPr>
            <a:normAutofit/>
          </a:bodyPr>
          <a:lstStyle/>
          <a:p>
            <a:pPr marL="0" indent="0">
              <a:buNone/>
            </a:pPr>
            <a:endParaRPr lang="en-US" sz="2800" dirty="0"/>
          </a:p>
          <a:p>
            <a:pPr marL="0" indent="0">
              <a:buNone/>
            </a:pPr>
            <a:endParaRPr lang="en-US" sz="2800" dirty="0"/>
          </a:p>
          <a:p>
            <a:pPr marL="0" indent="0">
              <a:buNone/>
            </a:pPr>
            <a:endParaRPr lang="en-US" sz="2800" dirty="0"/>
          </a:p>
          <a:p>
            <a:pPr marL="0" indent="0">
              <a:buNone/>
            </a:pPr>
            <a:endParaRPr lang="en-US" sz="2800" dirty="0"/>
          </a:p>
          <a:p>
            <a:r>
              <a:rPr lang="en-US" sz="2800" dirty="0"/>
              <a:t>What are the inconsistencies?</a:t>
            </a:r>
          </a:p>
          <a:p>
            <a:r>
              <a:rPr lang="en-US" sz="2800" dirty="0"/>
              <a:t>What could be some reasons for inconsistent entries?</a:t>
            </a:r>
          </a:p>
          <a:p>
            <a:r>
              <a:rPr lang="en-US" sz="2800" dirty="0"/>
              <a:t>Technique for dealing with inconsistent entries:  put all entries in a column in the same format</a:t>
            </a:r>
          </a:p>
          <a:p>
            <a:endParaRPr lang="en-US" sz="2800" dirty="0"/>
          </a:p>
          <a:p>
            <a:endParaRPr lang="en-US" sz="2800" dirty="0"/>
          </a:p>
          <a:p>
            <a:pPr marL="274320" lvl="1" indent="0">
              <a:buNone/>
            </a:pPr>
            <a:endParaRPr lang="en-US" sz="2400" dirty="0"/>
          </a:p>
        </p:txBody>
      </p:sp>
      <p:graphicFrame>
        <p:nvGraphicFramePr>
          <p:cNvPr id="3" name="Table 2"/>
          <p:cNvGraphicFramePr>
            <a:graphicFrameLocks noGrp="1"/>
          </p:cNvGraphicFramePr>
          <p:nvPr>
            <p:extLst>
              <p:ext uri="{D42A27DB-BD31-4B8C-83A1-F6EECF244321}">
                <p14:modId xmlns:p14="http://schemas.microsoft.com/office/powerpoint/2010/main" val="732040980"/>
              </p:ext>
            </p:extLst>
          </p:nvPr>
        </p:nvGraphicFramePr>
        <p:xfrm>
          <a:off x="1260230" y="1733409"/>
          <a:ext cx="6096000" cy="1752600"/>
        </p:xfrm>
        <a:graphic>
          <a:graphicData uri="http://schemas.openxmlformats.org/drawingml/2006/table">
            <a:tbl>
              <a:tblPr firstRow="1" bandRow="1">
                <a:tableStyleId>{5C22544A-7EE6-4342-B048-85BDC9FD1C3A}</a:tableStyleId>
              </a:tblPr>
              <a:tblGrid>
                <a:gridCol w="1718944">
                  <a:extLst>
                    <a:ext uri="{9D8B030D-6E8A-4147-A177-3AD203B41FA5}">
                      <a16:colId xmlns:a16="http://schemas.microsoft.com/office/drawing/2014/main" val="3280937929"/>
                    </a:ext>
                  </a:extLst>
                </a:gridCol>
                <a:gridCol w="1592826">
                  <a:extLst>
                    <a:ext uri="{9D8B030D-6E8A-4147-A177-3AD203B41FA5}">
                      <a16:colId xmlns:a16="http://schemas.microsoft.com/office/drawing/2014/main" val="788647224"/>
                    </a:ext>
                  </a:extLst>
                </a:gridCol>
                <a:gridCol w="1260230">
                  <a:extLst>
                    <a:ext uri="{9D8B030D-6E8A-4147-A177-3AD203B41FA5}">
                      <a16:colId xmlns:a16="http://schemas.microsoft.com/office/drawing/2014/main" val="1470417563"/>
                    </a:ext>
                  </a:extLst>
                </a:gridCol>
                <a:gridCol w="1524000">
                  <a:extLst>
                    <a:ext uri="{9D8B030D-6E8A-4147-A177-3AD203B41FA5}">
                      <a16:colId xmlns:a16="http://schemas.microsoft.com/office/drawing/2014/main" val="2061590200"/>
                    </a:ext>
                  </a:extLst>
                </a:gridCol>
              </a:tblGrid>
              <a:tr h="370840">
                <a:tc>
                  <a:txBody>
                    <a:bodyPr/>
                    <a:lstStyle/>
                    <a:p>
                      <a:r>
                        <a:rPr lang="en-US" dirty="0"/>
                        <a:t>Name</a:t>
                      </a:r>
                    </a:p>
                  </a:txBody>
                  <a:tcPr/>
                </a:tc>
                <a:tc>
                  <a:txBody>
                    <a:bodyPr/>
                    <a:lstStyle/>
                    <a:p>
                      <a:r>
                        <a:rPr lang="en-US" dirty="0"/>
                        <a:t>DOB</a:t>
                      </a:r>
                    </a:p>
                  </a:txBody>
                  <a:tcPr/>
                </a:tc>
                <a:tc>
                  <a:txBody>
                    <a:bodyPr/>
                    <a:lstStyle/>
                    <a:p>
                      <a:r>
                        <a:rPr lang="en-US" dirty="0"/>
                        <a:t>Income</a:t>
                      </a:r>
                    </a:p>
                  </a:txBody>
                  <a:tcPr/>
                </a:tc>
                <a:tc>
                  <a:txBody>
                    <a:bodyPr/>
                    <a:lstStyle/>
                    <a:p>
                      <a:r>
                        <a:rPr lang="en-US" dirty="0"/>
                        <a:t>Martial Status</a:t>
                      </a:r>
                    </a:p>
                  </a:txBody>
                  <a:tcPr/>
                </a:tc>
                <a:extLst>
                  <a:ext uri="{0D108BD9-81ED-4DB2-BD59-A6C34878D82A}">
                    <a16:rowId xmlns:a16="http://schemas.microsoft.com/office/drawing/2014/main" val="1207137028"/>
                  </a:ext>
                </a:extLst>
              </a:tr>
              <a:tr h="370840">
                <a:tc>
                  <a:txBody>
                    <a:bodyPr/>
                    <a:lstStyle/>
                    <a:p>
                      <a:r>
                        <a:rPr lang="en-US" dirty="0"/>
                        <a:t>John Smith</a:t>
                      </a:r>
                    </a:p>
                  </a:txBody>
                  <a:tcPr/>
                </a:tc>
                <a:tc>
                  <a:txBody>
                    <a:bodyPr/>
                    <a:lstStyle/>
                    <a:p>
                      <a:r>
                        <a:rPr lang="en-US" dirty="0"/>
                        <a:t>5/4/1973</a:t>
                      </a:r>
                    </a:p>
                  </a:txBody>
                  <a:tcPr/>
                </a:tc>
                <a:tc>
                  <a:txBody>
                    <a:bodyPr/>
                    <a:lstStyle/>
                    <a:p>
                      <a:r>
                        <a:rPr lang="en-US" dirty="0"/>
                        <a:t>50K</a:t>
                      </a:r>
                    </a:p>
                  </a:txBody>
                  <a:tcPr/>
                </a:tc>
                <a:tc>
                  <a:txBody>
                    <a:bodyPr/>
                    <a:lstStyle/>
                    <a:p>
                      <a:r>
                        <a:rPr lang="en-US" dirty="0"/>
                        <a:t>Single</a:t>
                      </a:r>
                    </a:p>
                  </a:txBody>
                  <a:tcPr/>
                </a:tc>
                <a:extLst>
                  <a:ext uri="{0D108BD9-81ED-4DB2-BD59-A6C34878D82A}">
                    <a16:rowId xmlns:a16="http://schemas.microsoft.com/office/drawing/2014/main" val="597072979"/>
                  </a:ext>
                </a:extLst>
              </a:tr>
              <a:tr h="370840">
                <a:tc>
                  <a:txBody>
                    <a:bodyPr/>
                    <a:lstStyle/>
                    <a:p>
                      <a:r>
                        <a:rPr lang="en-US" dirty="0"/>
                        <a:t>Johnson,</a:t>
                      </a:r>
                      <a:r>
                        <a:rPr lang="en-US" baseline="0" dirty="0"/>
                        <a:t> Mary</a:t>
                      </a:r>
                      <a:endParaRPr lang="en-US" dirty="0"/>
                    </a:p>
                  </a:txBody>
                  <a:tcPr/>
                </a:tc>
                <a:tc>
                  <a:txBody>
                    <a:bodyPr/>
                    <a:lstStyle/>
                    <a:p>
                      <a:r>
                        <a:rPr lang="en-US" dirty="0"/>
                        <a:t>7</a:t>
                      </a:r>
                      <a:r>
                        <a:rPr lang="en-US" baseline="0" dirty="0"/>
                        <a:t> Jan 2000</a:t>
                      </a:r>
                      <a:endParaRPr lang="en-US" dirty="0"/>
                    </a:p>
                  </a:txBody>
                  <a:tcPr/>
                </a:tc>
                <a:tc>
                  <a:txBody>
                    <a:bodyPr/>
                    <a:lstStyle/>
                    <a:p>
                      <a:r>
                        <a:rPr lang="en-US" dirty="0"/>
                        <a:t>$70,000</a:t>
                      </a:r>
                    </a:p>
                  </a:txBody>
                  <a:tcPr/>
                </a:tc>
                <a:tc>
                  <a:txBody>
                    <a:bodyPr/>
                    <a:lstStyle/>
                    <a:p>
                      <a:r>
                        <a:rPr lang="en-US" dirty="0"/>
                        <a:t>Married</a:t>
                      </a:r>
                    </a:p>
                  </a:txBody>
                  <a:tcPr/>
                </a:tc>
                <a:extLst>
                  <a:ext uri="{0D108BD9-81ED-4DB2-BD59-A6C34878D82A}">
                    <a16:rowId xmlns:a16="http://schemas.microsoft.com/office/drawing/2014/main" val="4113540568"/>
                  </a:ext>
                </a:extLst>
              </a:tr>
              <a:tr h="370840">
                <a:tc>
                  <a:txBody>
                    <a:bodyPr/>
                    <a:lstStyle/>
                    <a:p>
                      <a:r>
                        <a:rPr lang="en-US" dirty="0"/>
                        <a:t>Joe</a:t>
                      </a:r>
                      <a:r>
                        <a:rPr lang="en-US" baseline="0" dirty="0"/>
                        <a:t> Wu</a:t>
                      </a:r>
                      <a:endParaRPr lang="en-US" dirty="0"/>
                    </a:p>
                  </a:txBody>
                  <a:tcPr/>
                </a:tc>
                <a:tc>
                  <a:txBody>
                    <a:bodyPr/>
                    <a:lstStyle/>
                    <a:p>
                      <a:r>
                        <a:rPr lang="en-US" dirty="0"/>
                        <a:t>April</a:t>
                      </a:r>
                      <a:r>
                        <a:rPr lang="en-US" baseline="0" dirty="0"/>
                        <a:t> 22, 1990</a:t>
                      </a:r>
                      <a:endParaRPr lang="en-US" dirty="0"/>
                    </a:p>
                  </a:txBody>
                  <a:tcPr/>
                </a:tc>
                <a:tc>
                  <a:txBody>
                    <a:bodyPr/>
                    <a:lstStyle/>
                    <a:p>
                      <a:r>
                        <a:rPr lang="en-US" dirty="0"/>
                        <a:t>55000</a:t>
                      </a:r>
                    </a:p>
                  </a:txBody>
                  <a:tcPr/>
                </a:tc>
                <a:tc>
                  <a:txBody>
                    <a:bodyPr/>
                    <a:lstStyle/>
                    <a:p>
                      <a:r>
                        <a:rPr lang="en-US" dirty="0"/>
                        <a:t>S</a:t>
                      </a:r>
                    </a:p>
                  </a:txBody>
                  <a:tcPr/>
                </a:tc>
                <a:extLst>
                  <a:ext uri="{0D108BD9-81ED-4DB2-BD59-A6C34878D82A}">
                    <a16:rowId xmlns:a16="http://schemas.microsoft.com/office/drawing/2014/main" val="2248769295"/>
                  </a:ext>
                </a:extLst>
              </a:tr>
            </a:tbl>
          </a:graphicData>
        </a:graphic>
      </p:graphicFrame>
    </p:spTree>
    <p:extLst>
      <p:ext uri="{BB962C8B-B14F-4D97-AF65-F5344CB8AC3E}">
        <p14:creationId xmlns:p14="http://schemas.microsoft.com/office/powerpoint/2010/main" val="5659070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Data cleaning</a:t>
            </a:r>
            <a:br>
              <a:rPr lang="en-US" dirty="0"/>
            </a:br>
            <a:r>
              <a:rPr lang="en-US" sz="3100" dirty="0"/>
              <a:t>Formatting</a:t>
            </a:r>
            <a:endParaRPr lang="en-US" dirty="0"/>
          </a:p>
        </p:txBody>
      </p:sp>
      <p:sp>
        <p:nvSpPr>
          <p:cNvPr id="9" name="Content Placeholder 8"/>
          <p:cNvSpPr>
            <a:spLocks noGrp="1"/>
          </p:cNvSpPr>
          <p:nvPr>
            <p:ph idx="1"/>
          </p:nvPr>
        </p:nvSpPr>
        <p:spPr/>
        <p:txBody>
          <a:bodyPr>
            <a:normAutofit fontScale="92500" lnSpcReduction="10000"/>
          </a:bodyPr>
          <a:lstStyle/>
          <a:p>
            <a:pPr marL="0" indent="0">
              <a:buNone/>
            </a:pPr>
            <a:endParaRPr lang="en-US" sz="2800" dirty="0"/>
          </a:p>
          <a:p>
            <a:pPr marL="0" indent="0">
              <a:buNone/>
            </a:pPr>
            <a:endParaRPr lang="en-US" sz="2800" dirty="0"/>
          </a:p>
          <a:p>
            <a:pPr marL="0" indent="0">
              <a:buNone/>
            </a:pPr>
            <a:endParaRPr lang="en-US" sz="2800" dirty="0"/>
          </a:p>
          <a:p>
            <a:pPr marL="0" indent="0">
              <a:buNone/>
            </a:pPr>
            <a:endParaRPr lang="en-US" sz="2800" dirty="0"/>
          </a:p>
          <a:p>
            <a:r>
              <a:rPr lang="en-US" sz="2800" dirty="0"/>
              <a:t>This will be something you need to identify as the data scientist.  For ex,</a:t>
            </a:r>
          </a:p>
          <a:p>
            <a:pPr lvl="1"/>
            <a:r>
              <a:rPr lang="en-US" sz="2400" dirty="0"/>
              <a:t>Need last name separate</a:t>
            </a:r>
          </a:p>
          <a:p>
            <a:pPr lvl="1"/>
            <a:r>
              <a:rPr lang="en-US" sz="2400" dirty="0"/>
              <a:t>Need DOB as a </a:t>
            </a:r>
            <a:r>
              <a:rPr lang="en-US" sz="2400" b="1" dirty="0" err="1">
                <a:solidFill>
                  <a:srgbClr val="C00000"/>
                </a:solidFill>
              </a:rPr>
              <a:t>dateTime</a:t>
            </a:r>
            <a:r>
              <a:rPr lang="en-US" sz="2400" b="1" dirty="0">
                <a:solidFill>
                  <a:srgbClr val="C00000"/>
                </a:solidFill>
              </a:rPr>
              <a:t> datatype</a:t>
            </a:r>
          </a:p>
          <a:p>
            <a:pPr lvl="1"/>
            <a:r>
              <a:rPr lang="en-US" sz="2400" dirty="0"/>
              <a:t>Need income as an integer</a:t>
            </a:r>
          </a:p>
          <a:p>
            <a:r>
              <a:rPr lang="en-US" sz="2800" dirty="0"/>
              <a:t>Technique for dealing with formatting: determine columns and datatypes needed and adjust accordingly.</a:t>
            </a:r>
          </a:p>
          <a:p>
            <a:endParaRPr lang="en-US" sz="2800" dirty="0"/>
          </a:p>
          <a:p>
            <a:endParaRPr lang="en-US" sz="2800" dirty="0"/>
          </a:p>
          <a:p>
            <a:pPr marL="274320" lvl="1" indent="0">
              <a:buNone/>
            </a:pPr>
            <a:endParaRPr lang="en-US" sz="2400" dirty="0"/>
          </a:p>
        </p:txBody>
      </p:sp>
      <p:graphicFrame>
        <p:nvGraphicFramePr>
          <p:cNvPr id="5" name="Table 4"/>
          <p:cNvGraphicFramePr>
            <a:graphicFrameLocks noGrp="1"/>
          </p:cNvGraphicFramePr>
          <p:nvPr>
            <p:extLst>
              <p:ext uri="{D42A27DB-BD31-4B8C-83A1-F6EECF244321}">
                <p14:modId xmlns:p14="http://schemas.microsoft.com/office/powerpoint/2010/main" val="4062562327"/>
              </p:ext>
            </p:extLst>
          </p:nvPr>
        </p:nvGraphicFramePr>
        <p:xfrm>
          <a:off x="1260230" y="1524000"/>
          <a:ext cx="6096000" cy="1752600"/>
        </p:xfrm>
        <a:graphic>
          <a:graphicData uri="http://schemas.openxmlformats.org/drawingml/2006/table">
            <a:tbl>
              <a:tblPr firstRow="1" bandRow="1">
                <a:tableStyleId>{5C22544A-7EE6-4342-B048-85BDC9FD1C3A}</a:tableStyleId>
              </a:tblPr>
              <a:tblGrid>
                <a:gridCol w="1799493">
                  <a:extLst>
                    <a:ext uri="{9D8B030D-6E8A-4147-A177-3AD203B41FA5}">
                      <a16:colId xmlns:a16="http://schemas.microsoft.com/office/drawing/2014/main" val="3280937929"/>
                    </a:ext>
                  </a:extLst>
                </a:gridCol>
                <a:gridCol w="1248507">
                  <a:extLst>
                    <a:ext uri="{9D8B030D-6E8A-4147-A177-3AD203B41FA5}">
                      <a16:colId xmlns:a16="http://schemas.microsoft.com/office/drawing/2014/main" val="788647224"/>
                    </a:ext>
                  </a:extLst>
                </a:gridCol>
                <a:gridCol w="1524000">
                  <a:extLst>
                    <a:ext uri="{9D8B030D-6E8A-4147-A177-3AD203B41FA5}">
                      <a16:colId xmlns:a16="http://schemas.microsoft.com/office/drawing/2014/main" val="1470417563"/>
                    </a:ext>
                  </a:extLst>
                </a:gridCol>
                <a:gridCol w="1524000">
                  <a:extLst>
                    <a:ext uri="{9D8B030D-6E8A-4147-A177-3AD203B41FA5}">
                      <a16:colId xmlns:a16="http://schemas.microsoft.com/office/drawing/2014/main" val="2061590200"/>
                    </a:ext>
                  </a:extLst>
                </a:gridCol>
              </a:tblGrid>
              <a:tr h="370840">
                <a:tc>
                  <a:txBody>
                    <a:bodyPr/>
                    <a:lstStyle/>
                    <a:p>
                      <a:r>
                        <a:rPr lang="en-US" dirty="0"/>
                        <a:t>Name</a:t>
                      </a:r>
                    </a:p>
                  </a:txBody>
                  <a:tcPr/>
                </a:tc>
                <a:tc>
                  <a:txBody>
                    <a:bodyPr/>
                    <a:lstStyle/>
                    <a:p>
                      <a:r>
                        <a:rPr lang="en-US" dirty="0"/>
                        <a:t>DOB</a:t>
                      </a:r>
                    </a:p>
                  </a:txBody>
                  <a:tcPr/>
                </a:tc>
                <a:tc>
                  <a:txBody>
                    <a:bodyPr/>
                    <a:lstStyle/>
                    <a:p>
                      <a:r>
                        <a:rPr lang="en-US" dirty="0"/>
                        <a:t>Income</a:t>
                      </a:r>
                    </a:p>
                  </a:txBody>
                  <a:tcPr/>
                </a:tc>
                <a:tc>
                  <a:txBody>
                    <a:bodyPr/>
                    <a:lstStyle/>
                    <a:p>
                      <a:r>
                        <a:rPr lang="en-US" dirty="0"/>
                        <a:t>Martial Status</a:t>
                      </a:r>
                    </a:p>
                  </a:txBody>
                  <a:tcPr/>
                </a:tc>
                <a:extLst>
                  <a:ext uri="{0D108BD9-81ED-4DB2-BD59-A6C34878D82A}">
                    <a16:rowId xmlns:a16="http://schemas.microsoft.com/office/drawing/2014/main" val="1207137028"/>
                  </a:ext>
                </a:extLst>
              </a:tr>
              <a:tr h="370840">
                <a:tc>
                  <a:txBody>
                    <a:bodyPr/>
                    <a:lstStyle/>
                    <a:p>
                      <a:r>
                        <a:rPr lang="en-US" dirty="0"/>
                        <a:t>John Smith</a:t>
                      </a:r>
                    </a:p>
                  </a:txBody>
                  <a:tcPr/>
                </a:tc>
                <a:tc>
                  <a:txBody>
                    <a:bodyPr/>
                    <a:lstStyle/>
                    <a:p>
                      <a:r>
                        <a:rPr lang="en-US" dirty="0"/>
                        <a:t>5/4/1973</a:t>
                      </a:r>
                    </a:p>
                  </a:txBody>
                  <a:tcPr/>
                </a:tc>
                <a:tc>
                  <a:txBody>
                    <a:bodyPr/>
                    <a:lstStyle/>
                    <a:p>
                      <a:r>
                        <a:rPr lang="en-US" dirty="0"/>
                        <a:t>“25,000”</a:t>
                      </a:r>
                    </a:p>
                  </a:txBody>
                  <a:tcPr/>
                </a:tc>
                <a:tc>
                  <a:txBody>
                    <a:bodyPr/>
                    <a:lstStyle/>
                    <a:p>
                      <a:r>
                        <a:rPr lang="en-US" dirty="0"/>
                        <a:t>Single</a:t>
                      </a:r>
                    </a:p>
                  </a:txBody>
                  <a:tcPr/>
                </a:tc>
                <a:extLst>
                  <a:ext uri="{0D108BD9-81ED-4DB2-BD59-A6C34878D82A}">
                    <a16:rowId xmlns:a16="http://schemas.microsoft.com/office/drawing/2014/main" val="597072979"/>
                  </a:ext>
                </a:extLst>
              </a:tr>
              <a:tr h="370840">
                <a:tc>
                  <a:txBody>
                    <a:bodyPr/>
                    <a:lstStyle/>
                    <a:p>
                      <a:r>
                        <a:rPr lang="en-US" dirty="0"/>
                        <a:t>Mary Johnson</a:t>
                      </a:r>
                    </a:p>
                  </a:txBody>
                  <a:tcPr/>
                </a:tc>
                <a:tc>
                  <a:txBody>
                    <a:bodyPr/>
                    <a:lstStyle/>
                    <a:p>
                      <a:r>
                        <a:rPr lang="en-US" dirty="0"/>
                        <a:t>1/7/2000</a:t>
                      </a:r>
                    </a:p>
                  </a:txBody>
                  <a:tcPr/>
                </a:tc>
                <a:tc>
                  <a:txBody>
                    <a:bodyPr/>
                    <a:lstStyle/>
                    <a:p>
                      <a:r>
                        <a:rPr lang="en-US" dirty="0"/>
                        <a:t>“70,000”</a:t>
                      </a:r>
                    </a:p>
                  </a:txBody>
                  <a:tcPr/>
                </a:tc>
                <a:tc>
                  <a:txBody>
                    <a:bodyPr/>
                    <a:lstStyle/>
                    <a:p>
                      <a:r>
                        <a:rPr lang="en-US" dirty="0"/>
                        <a:t>Married</a:t>
                      </a:r>
                    </a:p>
                  </a:txBody>
                  <a:tcPr/>
                </a:tc>
                <a:extLst>
                  <a:ext uri="{0D108BD9-81ED-4DB2-BD59-A6C34878D82A}">
                    <a16:rowId xmlns:a16="http://schemas.microsoft.com/office/drawing/2014/main" val="4113540568"/>
                  </a:ext>
                </a:extLst>
              </a:tr>
              <a:tr h="370840">
                <a:tc>
                  <a:txBody>
                    <a:bodyPr/>
                    <a:lstStyle/>
                    <a:p>
                      <a:r>
                        <a:rPr lang="en-US" dirty="0"/>
                        <a:t>Joe</a:t>
                      </a:r>
                      <a:r>
                        <a:rPr lang="en-US" baseline="0" dirty="0"/>
                        <a:t> Wu</a:t>
                      </a:r>
                      <a:endParaRPr lang="en-US" dirty="0"/>
                    </a:p>
                  </a:txBody>
                  <a:tcPr/>
                </a:tc>
                <a:tc>
                  <a:txBody>
                    <a:bodyPr/>
                    <a:lstStyle/>
                    <a:p>
                      <a:r>
                        <a:rPr lang="en-US" dirty="0"/>
                        <a:t>4/22/1990</a:t>
                      </a:r>
                    </a:p>
                  </a:txBody>
                  <a:tcPr/>
                </a:tc>
                <a:tc>
                  <a:txBody>
                    <a:bodyPr/>
                    <a:lstStyle/>
                    <a:p>
                      <a:r>
                        <a:rPr lang="en-US" dirty="0"/>
                        <a:t>“55,000”</a:t>
                      </a:r>
                    </a:p>
                  </a:txBody>
                  <a:tcPr/>
                </a:tc>
                <a:tc>
                  <a:txBody>
                    <a:bodyPr/>
                    <a:lstStyle/>
                    <a:p>
                      <a:r>
                        <a:rPr lang="en-US" dirty="0"/>
                        <a:t>Divorced</a:t>
                      </a:r>
                    </a:p>
                  </a:txBody>
                  <a:tcPr/>
                </a:tc>
                <a:extLst>
                  <a:ext uri="{0D108BD9-81ED-4DB2-BD59-A6C34878D82A}">
                    <a16:rowId xmlns:a16="http://schemas.microsoft.com/office/drawing/2014/main" val="2248769295"/>
                  </a:ext>
                </a:extLst>
              </a:tr>
            </a:tbl>
          </a:graphicData>
        </a:graphic>
      </p:graphicFrame>
    </p:spTree>
    <p:extLst>
      <p:ext uri="{BB962C8B-B14F-4D97-AF65-F5344CB8AC3E}">
        <p14:creationId xmlns:p14="http://schemas.microsoft.com/office/powerpoint/2010/main" val="24506957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Data cleaning</a:t>
            </a:r>
          </a:p>
        </p:txBody>
      </p:sp>
      <p:sp>
        <p:nvSpPr>
          <p:cNvPr id="9" name="Content Placeholder 8"/>
          <p:cNvSpPr>
            <a:spLocks noGrp="1"/>
          </p:cNvSpPr>
          <p:nvPr>
            <p:ph idx="1"/>
          </p:nvPr>
        </p:nvSpPr>
        <p:spPr>
          <a:xfrm>
            <a:off x="457200" y="1641987"/>
            <a:ext cx="8229600" cy="4864320"/>
          </a:xfrm>
        </p:spPr>
        <p:txBody>
          <a:bodyPr>
            <a:normAutofit/>
          </a:bodyPr>
          <a:lstStyle/>
          <a:p>
            <a:pPr marL="0" indent="0">
              <a:buNone/>
            </a:pPr>
            <a:r>
              <a:rPr lang="en-US" sz="2800" dirty="0"/>
              <a:t>Have we done some data cleaning with any of the datasets we’ve already worked with?</a:t>
            </a:r>
          </a:p>
          <a:p>
            <a:pPr lvl="1"/>
            <a:r>
              <a:rPr lang="en-US" sz="2400" dirty="0"/>
              <a:t>311 calls</a:t>
            </a:r>
          </a:p>
          <a:p>
            <a:pPr lvl="1"/>
            <a:r>
              <a:rPr lang="en-US" sz="2400" dirty="0"/>
              <a:t>Bike Path</a:t>
            </a:r>
          </a:p>
          <a:p>
            <a:pPr lvl="1"/>
            <a:r>
              <a:rPr lang="en-US" sz="2400" dirty="0"/>
              <a:t>Baby Names</a:t>
            </a:r>
          </a:p>
          <a:p>
            <a:pPr lvl="1"/>
            <a:r>
              <a:rPr lang="en-US" sz="2400" dirty="0"/>
              <a:t>Accidental Drug Deaths</a:t>
            </a:r>
          </a:p>
          <a:p>
            <a:pPr lvl="1"/>
            <a:r>
              <a:rPr lang="en-US" sz="2400" dirty="0"/>
              <a:t>NFL</a:t>
            </a:r>
          </a:p>
          <a:p>
            <a:pPr lvl="1"/>
            <a:r>
              <a:rPr lang="en-US" sz="2400" dirty="0"/>
              <a:t>Billboard</a:t>
            </a:r>
            <a:endParaRPr lang="en-US" dirty="0"/>
          </a:p>
          <a:p>
            <a:pPr>
              <a:buFont typeface="Arial" panose="020B0604020202020204" pitchFamily="34" charset="0"/>
              <a:buChar char="―"/>
            </a:pPr>
            <a:endParaRPr lang="en-US" sz="2400" dirty="0"/>
          </a:p>
          <a:p>
            <a:pPr marL="274320" lvl="1" indent="0">
              <a:buNone/>
            </a:pPr>
            <a:endParaRPr lang="en-US" sz="2400" dirty="0"/>
          </a:p>
        </p:txBody>
      </p:sp>
    </p:spTree>
    <p:extLst>
      <p:ext uri="{BB962C8B-B14F-4D97-AF65-F5344CB8AC3E}">
        <p14:creationId xmlns:p14="http://schemas.microsoft.com/office/powerpoint/2010/main" val="12257208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Practice – Data Cleaning</a:t>
            </a:r>
          </a:p>
        </p:txBody>
      </p:sp>
      <p:sp>
        <p:nvSpPr>
          <p:cNvPr id="9" name="Content Placeholder 8"/>
          <p:cNvSpPr>
            <a:spLocks noGrp="1"/>
          </p:cNvSpPr>
          <p:nvPr>
            <p:ph idx="1"/>
          </p:nvPr>
        </p:nvSpPr>
        <p:spPr>
          <a:xfrm>
            <a:off x="457200" y="1641987"/>
            <a:ext cx="8229600" cy="4864320"/>
          </a:xfrm>
        </p:spPr>
        <p:txBody>
          <a:bodyPr>
            <a:normAutofit lnSpcReduction="10000"/>
          </a:bodyPr>
          <a:lstStyle/>
          <a:p>
            <a:pPr marL="0" indent="0">
              <a:buNone/>
            </a:pPr>
            <a:r>
              <a:rPr lang="en-US" sz="2800" dirty="0"/>
              <a:t>For the duration of class, you will work in groups to clean the “NY Bus Breakdown and Delays” dataset, taken from kaggle.com.</a:t>
            </a:r>
          </a:p>
          <a:p>
            <a:pPr marL="0" indent="0" fontAlgn="base">
              <a:buNone/>
            </a:pPr>
            <a:endParaRPr lang="en-US" dirty="0"/>
          </a:p>
          <a:p>
            <a:pPr marL="0" indent="0" fontAlgn="base">
              <a:buNone/>
            </a:pPr>
            <a:r>
              <a:rPr lang="en-US" sz="2500" b="1" dirty="0"/>
              <a:t>Overview of data:</a:t>
            </a:r>
          </a:p>
          <a:p>
            <a:pPr marL="0" indent="0" fontAlgn="base">
              <a:buNone/>
            </a:pPr>
            <a:r>
              <a:rPr lang="en-US" sz="2500" dirty="0"/>
              <a:t>“The Bus Breakdown and Delay system collects information from school bus vendors operating out in the field in real time. Bus staff that encounter delays during the route are instructed to radio the dispatcher at the bus vendor’s central office. The bus vendor staff are then instructed to log into the Bus Breakdown and Delay system.”</a:t>
            </a:r>
            <a:endParaRPr lang="en-US" sz="1500" dirty="0"/>
          </a:p>
          <a:p>
            <a:pPr marL="0" indent="0" algn="r">
              <a:buNone/>
            </a:pPr>
            <a:r>
              <a:rPr lang="en-US" sz="1800" dirty="0"/>
              <a:t>https://www.kaggle.com/new-york-city/ny-bus-breakdown-and-delays</a:t>
            </a:r>
          </a:p>
          <a:p>
            <a:pPr>
              <a:buFont typeface="Arial" panose="020B0604020202020204" pitchFamily="34" charset="0"/>
              <a:buChar char="―"/>
            </a:pPr>
            <a:endParaRPr lang="en-US" sz="2400" dirty="0"/>
          </a:p>
          <a:p>
            <a:pPr marL="274320" lvl="1" indent="0">
              <a:buNone/>
            </a:pPr>
            <a:endParaRPr lang="en-US" sz="2400" dirty="0"/>
          </a:p>
        </p:txBody>
      </p:sp>
    </p:spTree>
    <p:extLst>
      <p:ext uri="{BB962C8B-B14F-4D97-AF65-F5344CB8AC3E}">
        <p14:creationId xmlns:p14="http://schemas.microsoft.com/office/powerpoint/2010/main" val="36739360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Practice – Data Cleaning</a:t>
            </a:r>
          </a:p>
        </p:txBody>
      </p:sp>
      <p:sp>
        <p:nvSpPr>
          <p:cNvPr id="9" name="Content Placeholder 8"/>
          <p:cNvSpPr>
            <a:spLocks noGrp="1"/>
          </p:cNvSpPr>
          <p:nvPr>
            <p:ph idx="1"/>
          </p:nvPr>
        </p:nvSpPr>
        <p:spPr>
          <a:xfrm>
            <a:off x="457200" y="1641987"/>
            <a:ext cx="8229600" cy="4864320"/>
          </a:xfrm>
        </p:spPr>
        <p:txBody>
          <a:bodyPr>
            <a:normAutofit fontScale="70000" lnSpcReduction="20000"/>
          </a:bodyPr>
          <a:lstStyle/>
          <a:p>
            <a:pPr marL="0" indent="0">
              <a:buNone/>
            </a:pPr>
            <a:r>
              <a:rPr lang="en-US" sz="2800" dirty="0"/>
              <a:t>In your groups:</a:t>
            </a:r>
          </a:p>
          <a:p>
            <a:pPr marL="0" indent="0">
              <a:buNone/>
            </a:pPr>
            <a:endParaRPr lang="en-US" sz="2800" dirty="0"/>
          </a:p>
          <a:p>
            <a:pPr>
              <a:spcAft>
                <a:spcPts val="600"/>
              </a:spcAft>
            </a:pPr>
            <a:r>
              <a:rPr lang="en-US" sz="2800" dirty="0"/>
              <a:t>Familiarize yourselves with the </a:t>
            </a:r>
            <a:r>
              <a:rPr lang="en-US" sz="2800" b="1" dirty="0"/>
              <a:t>data</a:t>
            </a:r>
            <a:r>
              <a:rPr lang="en-US" sz="2800" dirty="0"/>
              <a:t> (visit the website provided)</a:t>
            </a:r>
          </a:p>
          <a:p>
            <a:pPr>
              <a:spcAft>
                <a:spcPts val="600"/>
              </a:spcAft>
            </a:pPr>
            <a:r>
              <a:rPr lang="en-US" sz="2800" dirty="0"/>
              <a:t>Read the </a:t>
            </a:r>
            <a:r>
              <a:rPr lang="en-US" sz="2800" b="1" dirty="0"/>
              <a:t>question</a:t>
            </a:r>
            <a:r>
              <a:rPr lang="en-US" sz="2800" dirty="0"/>
              <a:t> given to your group</a:t>
            </a:r>
          </a:p>
          <a:p>
            <a:pPr>
              <a:spcAft>
                <a:spcPts val="600"/>
              </a:spcAft>
            </a:pPr>
            <a:r>
              <a:rPr lang="en-US" sz="2800" dirty="0"/>
              <a:t>Determine what information you need in order to answer the question and </a:t>
            </a:r>
            <a:r>
              <a:rPr lang="en-US" sz="2800" u="sng" dirty="0"/>
              <a:t>come up with a plan of attack</a:t>
            </a:r>
          </a:p>
          <a:p>
            <a:pPr>
              <a:spcAft>
                <a:spcPts val="600"/>
              </a:spcAft>
            </a:pPr>
            <a:r>
              <a:rPr lang="en-US" sz="2800" b="1" dirty="0"/>
              <a:t>Attempt to answer the question</a:t>
            </a:r>
            <a:endParaRPr lang="en-US" sz="2800" dirty="0"/>
          </a:p>
          <a:p>
            <a:pPr lvl="1">
              <a:spcAft>
                <a:spcPts val="600"/>
              </a:spcAft>
            </a:pPr>
            <a:r>
              <a:rPr lang="en-US" sz="2900" dirty="0"/>
              <a:t>you will likely come across some issues with the data that require you to </a:t>
            </a:r>
            <a:r>
              <a:rPr lang="en-US" sz="2900" b="1" dirty="0"/>
              <a:t>clean the data</a:t>
            </a:r>
          </a:p>
          <a:p>
            <a:pPr lvl="1">
              <a:spcAft>
                <a:spcPts val="600"/>
              </a:spcAft>
            </a:pPr>
            <a:r>
              <a:rPr lang="en-US" sz="2900" b="1" dirty="0"/>
              <a:t>attempt to clean the data</a:t>
            </a:r>
            <a:r>
              <a:rPr lang="en-US" sz="2900" dirty="0"/>
              <a:t> as necessary to answer your question; </a:t>
            </a:r>
          </a:p>
          <a:p>
            <a:pPr lvl="2">
              <a:spcAft>
                <a:spcPts val="600"/>
              </a:spcAft>
            </a:pPr>
            <a:r>
              <a:rPr lang="en-US" sz="2700" dirty="0"/>
              <a:t>you may use the class notes or the Internet to search for techniques, functions, or methods that will help</a:t>
            </a:r>
          </a:p>
          <a:p>
            <a:pPr>
              <a:spcAft>
                <a:spcPts val="600"/>
              </a:spcAft>
            </a:pPr>
            <a:r>
              <a:rPr lang="en-US" sz="2800" dirty="0"/>
              <a:t>When your Instructor indicates, drop your group's Jupyter Notebook in the Canvas Data Cleaning assignment page (about 20 minutes before class ends) and briefly present</a:t>
            </a:r>
            <a:endParaRPr lang="en-US" sz="2400" dirty="0"/>
          </a:p>
        </p:txBody>
      </p:sp>
    </p:spTree>
    <p:extLst>
      <p:ext uri="{BB962C8B-B14F-4D97-AF65-F5344CB8AC3E}">
        <p14:creationId xmlns:p14="http://schemas.microsoft.com/office/powerpoint/2010/main" val="32249379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Practice – Data Cleaning</a:t>
            </a:r>
          </a:p>
        </p:txBody>
      </p:sp>
      <p:sp>
        <p:nvSpPr>
          <p:cNvPr id="9" name="Content Placeholder 8"/>
          <p:cNvSpPr>
            <a:spLocks noGrp="1"/>
          </p:cNvSpPr>
          <p:nvPr>
            <p:ph idx="1"/>
          </p:nvPr>
        </p:nvSpPr>
        <p:spPr>
          <a:xfrm>
            <a:off x="457200" y="2373923"/>
            <a:ext cx="8229600" cy="4132384"/>
          </a:xfrm>
        </p:spPr>
        <p:txBody>
          <a:bodyPr>
            <a:normAutofit/>
          </a:bodyPr>
          <a:lstStyle/>
          <a:p>
            <a:pPr marL="0" indent="0">
              <a:buNone/>
            </a:pPr>
            <a:r>
              <a:rPr lang="en-US" sz="2800" b="1" dirty="0"/>
              <a:t>Objectives:</a:t>
            </a:r>
          </a:p>
          <a:p>
            <a:r>
              <a:rPr lang="en-US" sz="2800" dirty="0"/>
              <a:t>Work with real data and practice your data cleaning skills</a:t>
            </a:r>
          </a:p>
          <a:p>
            <a:r>
              <a:rPr lang="en-US" sz="2800" dirty="0"/>
              <a:t>Articulate what you have done in a 2-3 minute presentation at the end of class today</a:t>
            </a:r>
          </a:p>
          <a:p>
            <a:pPr marL="0" indent="0">
              <a:buNone/>
            </a:pPr>
            <a:endParaRPr lang="en-US" sz="2800" dirty="0"/>
          </a:p>
          <a:p>
            <a:pPr marL="0" indent="0">
              <a:buNone/>
            </a:pPr>
            <a:endParaRPr lang="en-US" dirty="0"/>
          </a:p>
        </p:txBody>
      </p:sp>
    </p:spTree>
    <p:extLst>
      <p:ext uri="{BB962C8B-B14F-4D97-AF65-F5344CB8AC3E}">
        <p14:creationId xmlns:p14="http://schemas.microsoft.com/office/powerpoint/2010/main" val="42412388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Practice – Data Cleaning</a:t>
            </a:r>
            <a:br>
              <a:rPr lang="en-US" dirty="0"/>
            </a:br>
            <a:r>
              <a:rPr lang="en-US" sz="3100" dirty="0"/>
              <a:t>Presentation</a:t>
            </a:r>
            <a:endParaRPr lang="en-US" dirty="0"/>
          </a:p>
        </p:txBody>
      </p:sp>
      <p:sp>
        <p:nvSpPr>
          <p:cNvPr id="9" name="Content Placeholder 8"/>
          <p:cNvSpPr>
            <a:spLocks noGrp="1"/>
          </p:cNvSpPr>
          <p:nvPr>
            <p:ph idx="1"/>
          </p:nvPr>
        </p:nvSpPr>
        <p:spPr>
          <a:xfrm>
            <a:off x="457200" y="1925515"/>
            <a:ext cx="8229600" cy="4580792"/>
          </a:xfrm>
        </p:spPr>
        <p:txBody>
          <a:bodyPr>
            <a:normAutofit/>
          </a:bodyPr>
          <a:lstStyle/>
          <a:p>
            <a:pPr marL="0" indent="0">
              <a:buNone/>
            </a:pPr>
            <a:r>
              <a:rPr lang="en-US" sz="2800" u="sng" dirty="0"/>
              <a:t>Present to the class</a:t>
            </a:r>
            <a:r>
              <a:rPr lang="en-US" sz="2800" dirty="0"/>
              <a:t>: </a:t>
            </a:r>
          </a:p>
          <a:p>
            <a:pPr marL="731520" lvl="1" indent="-457200">
              <a:buFont typeface="+mj-lt"/>
              <a:buAutoNum type="arabicPeriod"/>
            </a:pPr>
            <a:r>
              <a:rPr lang="en-US" sz="2400" dirty="0"/>
              <a:t>your group’s </a:t>
            </a:r>
            <a:r>
              <a:rPr lang="en-US" sz="2400" b="1" dirty="0"/>
              <a:t>Question</a:t>
            </a:r>
          </a:p>
          <a:p>
            <a:pPr marL="731520" lvl="1" indent="-457200">
              <a:buFont typeface="+mj-lt"/>
              <a:buAutoNum type="arabicPeriod"/>
            </a:pPr>
            <a:r>
              <a:rPr lang="en-US" sz="2400" b="1" dirty="0"/>
              <a:t>Data cleaning </a:t>
            </a:r>
            <a:r>
              <a:rPr lang="en-US" sz="2200" b="1" dirty="0"/>
              <a:t>issues </a:t>
            </a:r>
            <a:r>
              <a:rPr lang="en-US" sz="2200" dirty="0"/>
              <a:t>you faced</a:t>
            </a:r>
            <a:endParaRPr lang="en-US" sz="2200" b="1" dirty="0"/>
          </a:p>
          <a:p>
            <a:pPr marL="731520" lvl="1" indent="-457200">
              <a:buFont typeface="+mj-lt"/>
              <a:buAutoNum type="arabicPeriod"/>
            </a:pPr>
            <a:r>
              <a:rPr lang="en-US" sz="2400" b="1" dirty="0"/>
              <a:t>Data cleaning techniques </a:t>
            </a:r>
            <a:r>
              <a:rPr lang="en-US" sz="2400" dirty="0"/>
              <a:t>you used to address issues</a:t>
            </a:r>
          </a:p>
          <a:p>
            <a:pPr marL="731520" lvl="1" indent="-457200">
              <a:buFont typeface="+mj-lt"/>
              <a:buAutoNum type="arabicPeriod"/>
            </a:pPr>
            <a:r>
              <a:rPr lang="en-US" sz="2400" dirty="0"/>
              <a:t>your group’s </a:t>
            </a:r>
            <a:r>
              <a:rPr lang="en-US" sz="2400" b="1" dirty="0"/>
              <a:t>Findings</a:t>
            </a:r>
          </a:p>
          <a:p>
            <a:r>
              <a:rPr lang="en-US" sz="2800" dirty="0"/>
              <a:t>State any </a:t>
            </a:r>
            <a:r>
              <a:rPr lang="en-US" sz="2800" b="1" dirty="0"/>
              <a:t>assumptions </a:t>
            </a:r>
            <a:r>
              <a:rPr lang="en-US" sz="2800" dirty="0"/>
              <a:t>you made along the way</a:t>
            </a:r>
          </a:p>
          <a:p>
            <a:r>
              <a:rPr lang="en-US" sz="2800" dirty="0"/>
              <a:t>You may use your group's </a:t>
            </a:r>
            <a:r>
              <a:rPr lang="en-US" sz="2800" b="1" dirty="0" err="1"/>
              <a:t>Jupyter</a:t>
            </a:r>
            <a:r>
              <a:rPr lang="en-US" sz="2800" b="1" dirty="0"/>
              <a:t> Notebook </a:t>
            </a:r>
            <a:r>
              <a:rPr lang="en-US" sz="2800" dirty="0"/>
              <a:t>during your presentation.</a:t>
            </a:r>
          </a:p>
        </p:txBody>
      </p:sp>
    </p:spTree>
    <p:extLst>
      <p:ext uri="{BB962C8B-B14F-4D97-AF65-F5344CB8AC3E}">
        <p14:creationId xmlns:p14="http://schemas.microsoft.com/office/powerpoint/2010/main" val="34014962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Practice – Data Cleaning</a:t>
            </a:r>
          </a:p>
        </p:txBody>
      </p:sp>
      <p:sp>
        <p:nvSpPr>
          <p:cNvPr id="9" name="Content Placeholder 8"/>
          <p:cNvSpPr>
            <a:spLocks noGrp="1"/>
          </p:cNvSpPr>
          <p:nvPr>
            <p:ph idx="1"/>
          </p:nvPr>
        </p:nvSpPr>
        <p:spPr>
          <a:xfrm>
            <a:off x="457200" y="1641987"/>
            <a:ext cx="8229600" cy="4864320"/>
          </a:xfrm>
        </p:spPr>
        <p:txBody>
          <a:bodyPr>
            <a:normAutofit fontScale="77500" lnSpcReduction="20000"/>
          </a:bodyPr>
          <a:lstStyle/>
          <a:p>
            <a:pPr>
              <a:spcAft>
                <a:spcPts val="600"/>
              </a:spcAft>
            </a:pPr>
            <a:r>
              <a:rPr lang="en-US" sz="2800" b="1" dirty="0"/>
              <a:t>Group 1:  </a:t>
            </a:r>
            <a:r>
              <a:rPr lang="en-US" sz="2800" dirty="0"/>
              <a:t>How much time does it typically take between a bus delay/breakdown and it being reported?</a:t>
            </a:r>
          </a:p>
          <a:p>
            <a:pPr>
              <a:spcAft>
                <a:spcPts val="600"/>
              </a:spcAft>
            </a:pPr>
            <a:r>
              <a:rPr lang="en-US" sz="2800" b="1" dirty="0"/>
              <a:t>Group 2:  </a:t>
            </a:r>
            <a:r>
              <a:rPr lang="en-US" sz="2800" dirty="0"/>
              <a:t>On average, how long are the bus delays/breakdowns?  (*** </a:t>
            </a:r>
            <a:r>
              <a:rPr lang="en-US" sz="2800" b="1" dirty="0"/>
              <a:t>hard</a:t>
            </a:r>
            <a:r>
              <a:rPr lang="en-US" sz="2800" dirty="0"/>
              <a:t> ***)</a:t>
            </a:r>
          </a:p>
          <a:p>
            <a:pPr>
              <a:spcAft>
                <a:spcPts val="600"/>
              </a:spcAft>
            </a:pPr>
            <a:r>
              <a:rPr lang="en-US" sz="2800" b="1" dirty="0"/>
              <a:t>Group 3:  </a:t>
            </a:r>
            <a:r>
              <a:rPr lang="en-US" sz="2800" dirty="0"/>
              <a:t>How many delays/breakdowns did First Steps Bus Company have during the 2016-2017 versus the 2017-2018 school year?</a:t>
            </a:r>
          </a:p>
          <a:p>
            <a:pPr>
              <a:spcAft>
                <a:spcPts val="600"/>
              </a:spcAft>
            </a:pPr>
            <a:r>
              <a:rPr lang="en-US" sz="2800" b="1" dirty="0"/>
              <a:t>Group 4:  </a:t>
            </a:r>
            <a:r>
              <a:rPr lang="en-US" sz="2800" dirty="0"/>
              <a:t>What bus company had the most Mechanical Problems in this dataset?</a:t>
            </a:r>
          </a:p>
          <a:p>
            <a:pPr>
              <a:spcAft>
                <a:spcPts val="600"/>
              </a:spcAft>
            </a:pPr>
            <a:r>
              <a:rPr lang="en-US" sz="2800" b="1" dirty="0"/>
              <a:t>Group 5:  </a:t>
            </a:r>
            <a:r>
              <a:rPr lang="en-US" sz="2800" dirty="0"/>
              <a:t>How many incidents are recorded where more than one school is affected by a bus delay or breakdown?</a:t>
            </a:r>
          </a:p>
          <a:p>
            <a:pPr>
              <a:spcAft>
                <a:spcPts val="600"/>
              </a:spcAft>
            </a:pPr>
            <a:r>
              <a:rPr lang="en-US" sz="2800" b="1" dirty="0"/>
              <a:t>Group 6:  </a:t>
            </a:r>
            <a:r>
              <a:rPr lang="en-US" sz="2800" dirty="0"/>
              <a:t>What are the number of occurrences, by month, that a delay is caused by Heavy Traffic?  Display this using a bar chart.</a:t>
            </a:r>
            <a:endParaRPr lang="en-US" dirty="0"/>
          </a:p>
        </p:txBody>
      </p:sp>
    </p:spTree>
    <p:extLst>
      <p:ext uri="{BB962C8B-B14F-4D97-AF65-F5344CB8AC3E}">
        <p14:creationId xmlns:p14="http://schemas.microsoft.com/office/powerpoint/2010/main" val="15736136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Some useful pandas commands</a:t>
            </a:r>
          </a:p>
        </p:txBody>
      </p:sp>
      <p:sp>
        <p:nvSpPr>
          <p:cNvPr id="3" name="Content Placeholder 2"/>
          <p:cNvSpPr>
            <a:spLocks noGrp="1"/>
          </p:cNvSpPr>
          <p:nvPr>
            <p:ph idx="1"/>
          </p:nvPr>
        </p:nvSpPr>
        <p:spPr/>
        <p:txBody>
          <a:bodyPr>
            <a:normAutofit fontScale="70000" lnSpcReduction="20000"/>
          </a:bodyPr>
          <a:lstStyle/>
          <a:p>
            <a:r>
              <a:rPr lang="en-US" dirty="0" err="1">
                <a:latin typeface="Courier New" panose="02070309020205020404" pitchFamily="49" charset="0"/>
                <a:cs typeface="Courier New" panose="02070309020205020404" pitchFamily="49" charset="0"/>
              </a:rPr>
              <a:t>df</a:t>
            </a:r>
            <a:r>
              <a:rPr lang="en-US" dirty="0">
                <a:latin typeface="Courier New" panose="02070309020205020404" pitchFamily="49" charset="0"/>
                <a:cs typeface="Courier New" panose="02070309020205020404" pitchFamily="49" charset="0"/>
              </a:rPr>
              <a:t>[‘New Column']=</a:t>
            </a:r>
            <a:r>
              <a:rPr lang="en-US" dirty="0" err="1">
                <a:latin typeface="Courier New" panose="02070309020205020404" pitchFamily="49" charset="0"/>
                <a:cs typeface="Courier New" panose="02070309020205020404" pitchFamily="49" charset="0"/>
              </a:rPr>
              <a:t>pd.to_datetime</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df</a:t>
            </a:r>
            <a:r>
              <a:rPr lang="en-US" dirty="0">
                <a:latin typeface="Courier New" panose="02070309020205020404" pitchFamily="49" charset="0"/>
                <a:cs typeface="Courier New" panose="02070309020205020404" pitchFamily="49" charset="0"/>
              </a:rPr>
              <a:t>[‘Old Column’]) </a:t>
            </a:r>
          </a:p>
          <a:p>
            <a:pPr marL="0" indent="0">
              <a:buNone/>
            </a:pPr>
            <a:r>
              <a:rPr lang="en-US" dirty="0">
                <a:latin typeface="Courier New" panose="02070309020205020404" pitchFamily="49" charset="0"/>
                <a:cs typeface="Courier New" panose="02070309020205020404" pitchFamily="49" charset="0"/>
              </a:rPr>
              <a:t>  </a:t>
            </a:r>
            <a:r>
              <a:rPr lang="en-US" dirty="0"/>
              <a:t> convert a column of date-like string entries to </a:t>
            </a:r>
            <a:r>
              <a:rPr lang="en-US" b="1" dirty="0"/>
              <a:t>Timestamp </a:t>
            </a:r>
            <a:r>
              <a:rPr lang="en-US" dirty="0"/>
              <a:t>data types</a:t>
            </a:r>
          </a:p>
          <a:p>
            <a:endParaRPr lang="en-US" dirty="0"/>
          </a:p>
          <a:p>
            <a:pPr>
              <a:lnSpc>
                <a:spcPct val="120000"/>
              </a:lnSpc>
            </a:pPr>
            <a:r>
              <a:rPr lang="en-US" dirty="0" err="1">
                <a:latin typeface="Courier New" panose="02070309020205020404" pitchFamily="49" charset="0"/>
                <a:cs typeface="Courier New" panose="02070309020205020404" pitchFamily="49" charset="0"/>
              </a:rPr>
              <a:t>mySeries.isnull</a:t>
            </a:r>
            <a:r>
              <a:rPr lang="en-US" dirty="0">
                <a:latin typeface="Courier New" panose="02070309020205020404" pitchFamily="49" charset="0"/>
                <a:cs typeface="Courier New" panose="02070309020205020404" pitchFamily="49" charset="0"/>
              </a:rPr>
              <a:t>()</a:t>
            </a:r>
          </a:p>
          <a:p>
            <a:pPr>
              <a:lnSpc>
                <a:spcPct val="120000"/>
              </a:lnSpc>
            </a:pPr>
            <a:r>
              <a:rPr lang="en-US" dirty="0" err="1">
                <a:latin typeface="Courier New" panose="02070309020205020404" pitchFamily="49" charset="0"/>
                <a:cs typeface="Courier New" panose="02070309020205020404" pitchFamily="49" charset="0"/>
              </a:rPr>
              <a:t>df.dropna</a:t>
            </a:r>
            <a:r>
              <a:rPr lang="en-US" dirty="0">
                <a:latin typeface="Courier New" panose="02070309020205020404" pitchFamily="49" charset="0"/>
                <a:cs typeface="Courier New" panose="02070309020205020404" pitchFamily="49" charset="0"/>
              </a:rPr>
              <a:t>()</a:t>
            </a:r>
          </a:p>
          <a:p>
            <a:pPr>
              <a:lnSpc>
                <a:spcPct val="120000"/>
              </a:lnSpc>
            </a:pPr>
            <a:r>
              <a:rPr lang="en-US" dirty="0" err="1">
                <a:latin typeface="Courier New" panose="02070309020205020404" pitchFamily="49" charset="0"/>
                <a:cs typeface="Courier New" panose="02070309020205020404" pitchFamily="49" charset="0"/>
              </a:rPr>
              <a:t>df.dropna</a:t>
            </a:r>
            <a:r>
              <a:rPr lang="en-US" dirty="0">
                <a:latin typeface="Courier New" panose="02070309020205020404" pitchFamily="49" charset="0"/>
                <a:cs typeface="Courier New" panose="02070309020205020404" pitchFamily="49" charset="0"/>
              </a:rPr>
              <a:t>(axis=1)</a:t>
            </a:r>
          </a:p>
          <a:p>
            <a:pPr>
              <a:lnSpc>
                <a:spcPct val="120000"/>
              </a:lnSpc>
            </a:pPr>
            <a:r>
              <a:rPr lang="en-US" dirty="0" err="1">
                <a:latin typeface="Courier New" panose="02070309020205020404" pitchFamily="49" charset="0"/>
                <a:cs typeface="Courier New" panose="02070309020205020404" pitchFamily="49" charset="0"/>
              </a:rPr>
              <a:t>df.fillna</a:t>
            </a:r>
            <a:r>
              <a:rPr lang="en-US" dirty="0">
                <a:latin typeface="Courier New" panose="02070309020205020404" pitchFamily="49" charset="0"/>
                <a:cs typeface="Courier New" panose="02070309020205020404" pitchFamily="49" charset="0"/>
              </a:rPr>
              <a:t>(0), </a:t>
            </a:r>
            <a:r>
              <a:rPr lang="en-US" dirty="0" err="1">
                <a:latin typeface="Courier New" panose="02070309020205020404" pitchFamily="49" charset="0"/>
                <a:cs typeface="Courier New" panose="02070309020205020404" pitchFamily="49" charset="0"/>
              </a:rPr>
              <a:t>df.fillna</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aDict</a:t>
            </a:r>
            <a:r>
              <a:rPr lang="en-US" dirty="0">
                <a:latin typeface="Courier New" panose="02070309020205020404" pitchFamily="49" charset="0"/>
                <a:cs typeface="Courier New" panose="02070309020205020404" pitchFamily="49" charset="0"/>
              </a:rPr>
              <a:t>)</a:t>
            </a:r>
          </a:p>
          <a:p>
            <a:pPr>
              <a:lnSpc>
                <a:spcPct val="120000"/>
              </a:lnSpc>
            </a:pPr>
            <a:r>
              <a:rPr lang="en-US" dirty="0" err="1">
                <a:latin typeface="Courier New" panose="02070309020205020404" pitchFamily="49" charset="0"/>
                <a:cs typeface="Courier New" panose="02070309020205020404" pitchFamily="49" charset="0"/>
              </a:rPr>
              <a:t>df.drop_duplicates</a:t>
            </a:r>
            <a:r>
              <a:rPr lang="en-US" dirty="0">
                <a:latin typeface="Courier New" panose="02070309020205020404" pitchFamily="49" charset="0"/>
                <a:cs typeface="Courier New" panose="02070309020205020404" pitchFamily="49" charset="0"/>
              </a:rPr>
              <a:t>()</a:t>
            </a:r>
          </a:p>
          <a:p>
            <a:pPr>
              <a:lnSpc>
                <a:spcPct val="120000"/>
              </a:lnSpc>
            </a:pPr>
            <a:r>
              <a:rPr lang="en-US" dirty="0" err="1">
                <a:latin typeface="Courier New" panose="02070309020205020404" pitchFamily="49" charset="0"/>
                <a:cs typeface="Courier New" panose="02070309020205020404" pitchFamily="49" charset="0"/>
              </a:rPr>
              <a:t>df</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someColumn</a:t>
            </a:r>
            <a:r>
              <a:rPr lang="en-US" dirty="0">
                <a:latin typeface="Courier New" panose="02070309020205020404" pitchFamily="49" charset="0"/>
                <a:cs typeface="Courier New" panose="02070309020205020404" pitchFamily="49" charset="0"/>
              </a:rPr>
              <a:t>] = </a:t>
            </a:r>
            <a:r>
              <a:rPr lang="en-US" dirty="0" err="1">
                <a:latin typeface="Courier New" panose="02070309020205020404" pitchFamily="49" charset="0"/>
                <a:cs typeface="Courier New" panose="02070309020205020404" pitchFamily="49" charset="0"/>
              </a:rPr>
              <a:t>df</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someOtherColumn</a:t>
            </a:r>
            <a:r>
              <a:rPr lang="en-US" dirty="0">
                <a:latin typeface="Courier New" panose="02070309020205020404" pitchFamily="49" charset="0"/>
                <a:cs typeface="Courier New" panose="02070309020205020404" pitchFamily="49" charset="0"/>
              </a:rPr>
              <a:t>].map(</a:t>
            </a:r>
            <a:r>
              <a:rPr lang="en-US" dirty="0" err="1">
                <a:latin typeface="Courier New" panose="02070309020205020404" pitchFamily="49" charset="0"/>
                <a:cs typeface="Courier New" panose="02070309020205020404" pitchFamily="49" charset="0"/>
              </a:rPr>
              <a:t>someDict</a:t>
            </a:r>
            <a:r>
              <a:rPr lang="en-US" dirty="0">
                <a:latin typeface="Courier New" panose="02070309020205020404" pitchFamily="49" charset="0"/>
                <a:cs typeface="Courier New" panose="02070309020205020404" pitchFamily="49" charset="0"/>
              </a:rPr>
              <a:t>)</a:t>
            </a:r>
          </a:p>
          <a:p>
            <a:pPr>
              <a:lnSpc>
                <a:spcPct val="120000"/>
              </a:lnSpc>
            </a:pPr>
            <a:r>
              <a:rPr lang="en-US" dirty="0" err="1">
                <a:latin typeface="Courier New" panose="02070309020205020404" pitchFamily="49" charset="0"/>
                <a:cs typeface="Courier New" panose="02070309020205020404" pitchFamily="49" charset="0"/>
              </a:rPr>
              <a:t>df.replace</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oldValue,newValue</a:t>
            </a:r>
            <a:r>
              <a:rPr lang="en-US" dirty="0">
                <a:latin typeface="Courier New" panose="02070309020205020404" pitchFamily="49" charset="0"/>
                <a:cs typeface="Courier New" panose="02070309020205020404" pitchFamily="49" charset="0"/>
              </a:rPr>
              <a:t>)  e.g. </a:t>
            </a:r>
            <a:r>
              <a:rPr lang="en-US" dirty="0" err="1">
                <a:latin typeface="Courier New" panose="02070309020205020404" pitchFamily="49" charset="0"/>
                <a:cs typeface="Courier New" panose="02070309020205020404" pitchFamily="49" charset="0"/>
              </a:rPr>
              <a:t>newValue</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NaN</a:t>
            </a:r>
            <a:endParaRPr lang="en-US" dirty="0">
              <a:latin typeface="Courier New" panose="02070309020205020404" pitchFamily="49" charset="0"/>
              <a:cs typeface="Courier New" panose="02070309020205020404" pitchFamily="49" charset="0"/>
            </a:endParaRPr>
          </a:p>
          <a:p>
            <a:pPr>
              <a:lnSpc>
                <a:spcPct val="120000"/>
              </a:lnSpc>
            </a:pPr>
            <a:r>
              <a:rPr lang="en-US" dirty="0" err="1">
                <a:latin typeface="Courier New" panose="02070309020205020404" pitchFamily="49" charset="0"/>
                <a:cs typeface="Courier New" panose="02070309020205020404" pitchFamily="49" charset="0"/>
              </a:rPr>
              <a:t>pd.cut</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mySeq,binsList</a:t>
            </a:r>
            <a:r>
              <a:rPr lang="en-US" dirty="0">
                <a:latin typeface="Courier New" panose="02070309020205020404" pitchFamily="49" charset="0"/>
                <a:cs typeface="Courier New" panose="02070309020205020404" pitchFamily="49" charset="0"/>
              </a:rPr>
              <a:t>)</a:t>
            </a:r>
          </a:p>
          <a:p>
            <a:endParaRPr lang="en-US" dirty="0"/>
          </a:p>
          <a:p>
            <a:r>
              <a:rPr lang="en-US" dirty="0"/>
              <a:t>Check out these additional pandas references:</a:t>
            </a:r>
          </a:p>
          <a:p>
            <a:pPr marL="0" indent="0">
              <a:buNone/>
            </a:pPr>
            <a:r>
              <a:rPr lang="en-US" dirty="0">
                <a:hlinkClick r:id="rId2"/>
              </a:rPr>
              <a:t>https://tomaugspurger.github.io/modern-5-tidy.html</a:t>
            </a:r>
            <a:endParaRPr lang="en-US" dirty="0"/>
          </a:p>
          <a:p>
            <a:pPr marL="0" indent="0">
              <a:buNone/>
            </a:pPr>
            <a:r>
              <a:rPr lang="en-US" dirty="0">
                <a:hlinkClick r:id="rId3"/>
              </a:rPr>
              <a:t>http://pandas.pydata.org/pandas-docs/stable/user_guide/missing_data.html</a:t>
            </a:r>
            <a:endParaRPr lang="en-US" dirty="0"/>
          </a:p>
          <a:p>
            <a:endParaRPr lang="en-US" dirty="0"/>
          </a:p>
          <a:p>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Regular Expressions</a:t>
            </a:r>
          </a:p>
        </p:txBody>
      </p:sp>
      <p:sp>
        <p:nvSpPr>
          <p:cNvPr id="3" name="Content Placeholder 2"/>
          <p:cNvSpPr>
            <a:spLocks noGrp="1"/>
          </p:cNvSpPr>
          <p:nvPr>
            <p:ph idx="1"/>
          </p:nvPr>
        </p:nvSpPr>
        <p:spPr/>
        <p:txBody>
          <a:bodyPr>
            <a:normAutofit lnSpcReduction="10000"/>
          </a:bodyPr>
          <a:lstStyle/>
          <a:p>
            <a:r>
              <a:rPr lang="en-US" dirty="0"/>
              <a:t>Not required in this class but can be </a:t>
            </a:r>
            <a:r>
              <a:rPr lang="en-US" b="1" dirty="0"/>
              <a:t>very </a:t>
            </a:r>
            <a:r>
              <a:rPr lang="en-US" dirty="0"/>
              <a:t>useful for data cleaning</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See for example: </a:t>
            </a:r>
            <a:r>
              <a:rPr lang="en-US" dirty="0">
                <a:hlinkClick r:id="rId2"/>
              </a:rPr>
              <a:t>http://automatetheboringstuff.com/2e/chapter7/</a:t>
            </a:r>
            <a:endParaRPr lang="en-US" dirty="0"/>
          </a:p>
          <a:p>
            <a:endParaRPr lang="en-US" dirty="0"/>
          </a:p>
        </p:txBody>
      </p:sp>
      <p:pic>
        <p:nvPicPr>
          <p:cNvPr id="4" name="Picture 3"/>
          <p:cNvPicPr>
            <a:picLocks noChangeAspect="1"/>
          </p:cNvPicPr>
          <p:nvPr/>
        </p:nvPicPr>
        <p:blipFill>
          <a:blip r:embed="rId3"/>
          <a:stretch>
            <a:fillRect/>
          </a:stretch>
        </p:blipFill>
        <p:spPr>
          <a:xfrm>
            <a:off x="2104597" y="3164546"/>
            <a:ext cx="4400550" cy="2419350"/>
          </a:xfrm>
          <a:prstGeom prst="rect">
            <a:avLst/>
          </a:prstGeom>
        </p:spPr>
      </p:pic>
      <p:sp>
        <p:nvSpPr>
          <p:cNvPr id="5" name="TextBox 4"/>
          <p:cNvSpPr txBox="1"/>
          <p:nvPr/>
        </p:nvSpPr>
        <p:spPr>
          <a:xfrm>
            <a:off x="1574078" y="2663328"/>
            <a:ext cx="1774845" cy="369332"/>
          </a:xfrm>
          <a:prstGeom prst="rect">
            <a:avLst/>
          </a:prstGeom>
          <a:noFill/>
        </p:spPr>
        <p:txBody>
          <a:bodyPr wrap="none" rtlCol="0">
            <a:spAutoFit/>
          </a:bodyPr>
          <a:lstStyle/>
          <a:p>
            <a:r>
              <a:rPr lang="en-US" dirty="0"/>
              <a:t>1 or more digits</a:t>
            </a:r>
          </a:p>
        </p:txBody>
      </p:sp>
      <p:sp>
        <p:nvSpPr>
          <p:cNvPr id="6" name="TextBox 5"/>
          <p:cNvSpPr txBox="1"/>
          <p:nvPr/>
        </p:nvSpPr>
        <p:spPr>
          <a:xfrm>
            <a:off x="3170807" y="2305502"/>
            <a:ext cx="2582758" cy="369332"/>
          </a:xfrm>
          <a:prstGeom prst="rect">
            <a:avLst/>
          </a:prstGeom>
          <a:noFill/>
        </p:spPr>
        <p:txBody>
          <a:bodyPr wrap="none" rtlCol="0">
            <a:spAutoFit/>
          </a:bodyPr>
          <a:lstStyle/>
          <a:p>
            <a:r>
              <a:rPr lang="en-US" dirty="0"/>
              <a:t>0 or more blank spaces</a:t>
            </a:r>
          </a:p>
        </p:txBody>
      </p:sp>
      <p:sp>
        <p:nvSpPr>
          <p:cNvPr id="7" name="TextBox 6"/>
          <p:cNvSpPr txBox="1"/>
          <p:nvPr/>
        </p:nvSpPr>
        <p:spPr>
          <a:xfrm>
            <a:off x="3570079" y="2707800"/>
            <a:ext cx="1787669" cy="369332"/>
          </a:xfrm>
          <a:prstGeom prst="rect">
            <a:avLst/>
          </a:prstGeom>
          <a:noFill/>
        </p:spPr>
        <p:txBody>
          <a:bodyPr wrap="none" rtlCol="0">
            <a:spAutoFit/>
          </a:bodyPr>
          <a:lstStyle/>
          <a:p>
            <a:r>
              <a:rPr lang="en-US" dirty="0"/>
              <a:t>the letters “min”</a:t>
            </a:r>
          </a:p>
        </p:txBody>
      </p:sp>
      <p:cxnSp>
        <p:nvCxnSpPr>
          <p:cNvPr id="10" name="Straight Arrow Connector 9"/>
          <p:cNvCxnSpPr/>
          <p:nvPr/>
        </p:nvCxnSpPr>
        <p:spPr>
          <a:xfrm>
            <a:off x="3267182" y="3032660"/>
            <a:ext cx="302897" cy="2242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a:off x="3419582" y="2707800"/>
            <a:ext cx="453394" cy="5491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rot="10800000" flipV="1">
            <a:off x="4674745" y="2674834"/>
            <a:ext cx="863027" cy="549108"/>
          </a:xfrm>
          <a:prstGeom prst="curvedConnector3">
            <a:avLst>
              <a:gd name="adj1" fmla="val 476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stCxn id="7" idx="2"/>
          </p:cNvCxnSpPr>
          <p:nvPr/>
        </p:nvCxnSpPr>
        <p:spPr>
          <a:xfrm flipH="1">
            <a:off x="4250170" y="3077132"/>
            <a:ext cx="213744" cy="1468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1CCDD06C-E543-2931-0158-2067144A6A08}"/>
              </a:ext>
            </a:extLst>
          </p:cNvPr>
          <p:cNvSpPr txBox="1"/>
          <p:nvPr/>
        </p:nvSpPr>
        <p:spPr>
          <a:xfrm>
            <a:off x="6309690" y="3210472"/>
            <a:ext cx="1994452" cy="2585323"/>
          </a:xfrm>
          <a:prstGeom prst="rect">
            <a:avLst/>
          </a:prstGeom>
          <a:noFill/>
        </p:spPr>
        <p:txBody>
          <a:bodyPr wrap="square" rtlCol="0">
            <a:spAutoFit/>
          </a:bodyPr>
          <a:lstStyle/>
          <a:p>
            <a:r>
              <a:rPr lang="en-US" dirty="0"/>
              <a:t>This “pattern” </a:t>
            </a:r>
            <a:r>
              <a:rPr lang="en-US" i="1" dirty="0"/>
              <a:t>pat2 </a:t>
            </a:r>
            <a:r>
              <a:rPr lang="en-US" dirty="0"/>
              <a:t>will scoop up all the entries that have a number followed by “min”</a:t>
            </a:r>
          </a:p>
          <a:p>
            <a:r>
              <a:rPr lang="en-US" dirty="0"/>
              <a:t>and you will be able to access the number</a:t>
            </a:r>
          </a:p>
        </p:txBody>
      </p:sp>
    </p:spTree>
    <p:extLst>
      <p:ext uri="{BB962C8B-B14F-4D97-AF65-F5344CB8AC3E}">
        <p14:creationId xmlns:p14="http://schemas.microsoft.com/office/powerpoint/2010/main" val="39718957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larity">
  <a:themeElements>
    <a:clrScheme name="Clarity">
      <a:dk1>
        <a:srgbClr val="292934"/>
      </a:dk1>
      <a:lt1>
        <a:srgbClr val="FFFFFF"/>
      </a:lt1>
      <a:dk2>
        <a:srgbClr val="D2533C"/>
      </a:dk2>
      <a:lt2>
        <a:srgbClr val="F3F2DC"/>
      </a:lt2>
      <a:accent1>
        <a:srgbClr val="93A299"/>
      </a:accent1>
      <a:accent2>
        <a:srgbClr val="AD8F67"/>
      </a:accent2>
      <a:accent3>
        <a:srgbClr val="726056"/>
      </a:accent3>
      <a:accent4>
        <a:srgbClr val="4C5A6A"/>
      </a:accent4>
      <a:accent5>
        <a:srgbClr val="808DA0"/>
      </a:accent5>
      <a:accent6>
        <a:srgbClr val="79463D"/>
      </a:accent6>
      <a:hlink>
        <a:srgbClr val="0000FF"/>
      </a:hlink>
      <a:folHlink>
        <a:srgbClr val="800080"/>
      </a:folHlink>
    </a:clrScheme>
    <a:fontScheme name="Office Classic 2">
      <a:majorFont>
        <a:latin typeface="Arial"/>
        <a:ea typeface=""/>
        <a:cs typeface=""/>
        <a:font script="Jpan" typeface="ＭＳ Ｐゴシック"/>
        <a:font script="Hang" typeface="돋움"/>
        <a:font script="Hans" typeface="华文新魏"/>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华文新魏"/>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larity">
      <a:fillStyleLst>
        <a:solidFill>
          <a:schemeClr val="phClr"/>
        </a:solidFill>
        <a:gradFill rotWithShape="1">
          <a:gsLst>
            <a:gs pos="0">
              <a:schemeClr val="phClr">
                <a:tint val="50000"/>
                <a:shade val="86000"/>
                <a:satMod val="140000"/>
              </a:schemeClr>
            </a:gs>
            <a:gs pos="45000">
              <a:schemeClr val="phClr">
                <a:tint val="48000"/>
                <a:satMod val="150000"/>
              </a:schemeClr>
            </a:gs>
            <a:gs pos="100000">
              <a:schemeClr val="phClr">
                <a:tint val="28000"/>
                <a:satMod val="160000"/>
              </a:schemeClr>
            </a:gs>
          </a:gsLst>
          <a:path path="circle">
            <a:fillToRect l="100000" t="100000" r="100000" b="100000"/>
          </a:path>
        </a:gradFill>
        <a:gradFill rotWithShape="1">
          <a:gsLst>
            <a:gs pos="0">
              <a:schemeClr val="phClr">
                <a:shade val="70000"/>
                <a:satMod val="150000"/>
              </a:schemeClr>
            </a:gs>
            <a:gs pos="34000">
              <a:schemeClr val="phClr">
                <a:shade val="70000"/>
                <a:satMod val="140000"/>
              </a:schemeClr>
            </a:gs>
            <a:gs pos="70000">
              <a:schemeClr val="phClr">
                <a:tint val="100000"/>
                <a:shade val="90000"/>
                <a:satMod val="140000"/>
              </a:schemeClr>
            </a:gs>
            <a:gs pos="100000">
              <a:schemeClr val="phClr">
                <a:tint val="100000"/>
                <a:shade val="100000"/>
                <a:satMod val="100000"/>
              </a:schemeClr>
            </a:gs>
          </a:gsLst>
          <a:path path="circle">
            <a:fillToRect l="100000" t="100000" r="100000" b="100000"/>
          </a:path>
        </a:gradFill>
      </a:fillStyleLst>
      <a:lnStyleLst>
        <a:ln w="9525" cap="flat" cmpd="sng" algn="ctr">
          <a:solidFill>
            <a:schemeClr val="phClr"/>
          </a:solidFill>
          <a:prstDash val="solid"/>
        </a:ln>
        <a:ln w="26425" cap="flat" cmpd="sng" algn="ctr">
          <a:solidFill>
            <a:schemeClr val="phClr"/>
          </a:solidFill>
          <a:prstDash val="solid"/>
        </a:ln>
        <a:ln w="4445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hade val="30000"/>
                <a:satMod val="130000"/>
              </a:schemeClr>
            </a:contourClr>
          </a:sp3d>
        </a:effectStyle>
      </a:effectStyleLst>
      <a:bgFillStyleLst>
        <a:solidFill>
          <a:schemeClr val="phClr"/>
        </a:solidFill>
        <a:gradFill rotWithShape="1">
          <a:gsLst>
            <a:gs pos="0">
              <a:schemeClr val="phClr">
                <a:tint val="85000"/>
                <a:satMod val="180000"/>
              </a:schemeClr>
            </a:gs>
            <a:gs pos="40000">
              <a:schemeClr val="phClr">
                <a:tint val="95000"/>
                <a:shade val="85000"/>
                <a:satMod val="150000"/>
              </a:schemeClr>
            </a:gs>
            <a:gs pos="100000">
              <a:schemeClr val="phClr">
                <a:shade val="45000"/>
                <a:satMod val="200000"/>
              </a:schemeClr>
            </a:gs>
          </a:gsLst>
          <a:lin ang="5400000" scaled="0"/>
        </a:gradFill>
        <a:blipFill rotWithShape="1">
          <a:blip xmlns:r="http://schemas.openxmlformats.org/officeDocument/2006/relationships" r:embed="rId1">
            <a:duotone>
              <a:schemeClr val="phClr">
                <a:shade val="55000"/>
              </a:schemeClr>
              <a:schemeClr val="phClr">
                <a:tint val="97000"/>
                <a:satMod val="95000"/>
              </a:schemeClr>
            </a:duotone>
          </a:blip>
          <a:tile tx="0" ty="0" sx="70000" sy="7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Clarity.thmx</Template>
  <TotalTime>4776</TotalTime>
  <Words>1359</Words>
  <Application>Microsoft Office PowerPoint</Application>
  <PresentationFormat>On-screen Show (4:3)</PresentationFormat>
  <Paragraphs>242</Paragraphs>
  <Slides>22</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Arial</vt:lpstr>
      <vt:lpstr>Calibri</vt:lpstr>
      <vt:lpstr>Courier New</vt:lpstr>
      <vt:lpstr>Clarity</vt:lpstr>
      <vt:lpstr>NYC Bus Breakdown Data</vt:lpstr>
      <vt:lpstr>PowerPoint Presentation</vt:lpstr>
      <vt:lpstr>PowerPoint Presentation</vt:lpstr>
      <vt:lpstr> Data Cleaning</vt:lpstr>
      <vt:lpstr>Class Objectives</vt:lpstr>
      <vt:lpstr>Data cleaning (or data cleansing)</vt:lpstr>
      <vt:lpstr>PowerPoint Presentation</vt:lpstr>
      <vt:lpstr>Data cleaning Type of errors</vt:lpstr>
      <vt:lpstr>Data cleaning Missing records</vt:lpstr>
      <vt:lpstr>Data cleaning Missing records</vt:lpstr>
      <vt:lpstr>Data cleaning Duplicate Records</vt:lpstr>
      <vt:lpstr>Data cleaning Nonsensical Entries</vt:lpstr>
      <vt:lpstr>Data cleaning Inconsistent Entries</vt:lpstr>
      <vt:lpstr>Data cleaning Formatting</vt:lpstr>
      <vt:lpstr>Data cleaning</vt:lpstr>
      <vt:lpstr>Practice – Data Cleaning</vt:lpstr>
      <vt:lpstr>Practice – Data Cleaning</vt:lpstr>
      <vt:lpstr>Practice – Data Cleaning</vt:lpstr>
      <vt:lpstr>Practice – Data Cleaning Presentation</vt:lpstr>
      <vt:lpstr>Practice – Data Cleaning</vt:lpstr>
      <vt:lpstr>Some useful pandas commands</vt:lpstr>
      <vt:lpstr>Regular Expressions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Intro to Jupyter and  Pandas with Python</dc:title>
  <dc:creator>Dana Tomc</dc:creator>
  <cp:lastModifiedBy>Frommer, Ian Dr. (EDU)</cp:lastModifiedBy>
  <cp:revision>71</cp:revision>
  <cp:lastPrinted>2019-01-28T20:40:25Z</cp:lastPrinted>
  <dcterms:created xsi:type="dcterms:W3CDTF">2017-12-24T11:56:15Z</dcterms:created>
  <dcterms:modified xsi:type="dcterms:W3CDTF">2026-09-15T14:28:16Z</dcterms:modified>
</cp:coreProperties>
</file>