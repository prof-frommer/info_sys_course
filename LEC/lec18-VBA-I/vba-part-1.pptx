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3" r:id="rId1"/>
  </p:sldMasterIdLst>
  <p:notesMasterIdLst>
    <p:notesMasterId r:id="rId40"/>
  </p:notesMasterIdLst>
  <p:handoutMasterIdLst>
    <p:handoutMasterId r:id="rId41"/>
  </p:handoutMasterIdLst>
  <p:sldIdLst>
    <p:sldId id="256" r:id="rId2"/>
    <p:sldId id="271" r:id="rId3"/>
    <p:sldId id="296" r:id="rId4"/>
    <p:sldId id="259" r:id="rId5"/>
    <p:sldId id="257" r:id="rId6"/>
    <p:sldId id="258" r:id="rId7"/>
    <p:sldId id="272" r:id="rId8"/>
    <p:sldId id="275" r:id="rId9"/>
    <p:sldId id="276" r:id="rId10"/>
    <p:sldId id="263" r:id="rId11"/>
    <p:sldId id="274" r:id="rId12"/>
    <p:sldId id="266" r:id="rId13"/>
    <p:sldId id="278" r:id="rId14"/>
    <p:sldId id="299" r:id="rId15"/>
    <p:sldId id="265" r:id="rId16"/>
    <p:sldId id="288" r:id="rId17"/>
    <p:sldId id="289" r:id="rId18"/>
    <p:sldId id="290" r:id="rId19"/>
    <p:sldId id="292" r:id="rId20"/>
    <p:sldId id="293" r:id="rId21"/>
    <p:sldId id="291" r:id="rId22"/>
    <p:sldId id="270" r:id="rId23"/>
    <p:sldId id="297" r:id="rId24"/>
    <p:sldId id="260" r:id="rId25"/>
    <p:sldId id="273" r:id="rId26"/>
    <p:sldId id="279" r:id="rId27"/>
    <p:sldId id="280" r:id="rId28"/>
    <p:sldId id="283" r:id="rId29"/>
    <p:sldId id="284" r:id="rId30"/>
    <p:sldId id="285" r:id="rId31"/>
    <p:sldId id="286" r:id="rId32"/>
    <p:sldId id="287" r:id="rId33"/>
    <p:sldId id="298" r:id="rId34"/>
    <p:sldId id="268" r:id="rId35"/>
    <p:sldId id="269" r:id="rId36"/>
    <p:sldId id="264" r:id="rId37"/>
    <p:sldId id="277" r:id="rId38"/>
    <p:sldId id="295" r:id="rId39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8FD180-AC01-4541-BBD7-FFB220954930}" v="3" dt="2026-10-29T16:47:21.9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00" autoAdjust="0"/>
    <p:restoredTop sz="86885" autoAdjust="0"/>
  </p:normalViewPr>
  <p:slideViewPr>
    <p:cSldViewPr>
      <p:cViewPr varScale="1">
        <p:scale>
          <a:sx n="96" d="100"/>
          <a:sy n="96" d="100"/>
        </p:scale>
        <p:origin x="127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084"/>
    </p:cViewPr>
  </p:sorterViewPr>
  <p:notesViewPr>
    <p:cSldViewPr>
      <p:cViewPr varScale="1">
        <p:scale>
          <a:sx n="76" d="100"/>
          <a:sy n="76" d="100"/>
        </p:scale>
        <p:origin x="-882" y="-84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A3E8E5B1-0D91-4643-B70B-3D065C8674E0}"/>
    <pc:docChg chg="modSld">
      <pc:chgData name="Frommer, Ian Dr. (EDU)" userId="28ca3ff0-544f-450a-928b-99e19cf49b89" providerId="ADAL" clId="{A3E8E5B1-0D91-4643-B70B-3D065C8674E0}" dt="2026-10-29T16:47:21.915" v="69"/>
      <pc:docMkLst>
        <pc:docMk/>
      </pc:docMkLst>
      <pc:sldChg chg="modSp mod">
        <pc:chgData name="Frommer, Ian Dr. (EDU)" userId="28ca3ff0-544f-450a-928b-99e19cf49b89" providerId="ADAL" clId="{A3E8E5B1-0D91-4643-B70B-3D065C8674E0}" dt="2026-10-28T19:33:21.128" v="0" actId="14100"/>
        <pc:sldMkLst>
          <pc:docMk/>
          <pc:sldMk cId="2407771746" sldId="274"/>
        </pc:sldMkLst>
        <pc:spChg chg="mod">
          <ac:chgData name="Frommer, Ian Dr. (EDU)" userId="28ca3ff0-544f-450a-928b-99e19cf49b89" providerId="ADAL" clId="{A3E8E5B1-0D91-4643-B70B-3D065C8674E0}" dt="2026-10-28T19:33:21.128" v="0" actId="14100"/>
          <ac:spMkLst>
            <pc:docMk/>
            <pc:sldMk cId="2407771746" sldId="274"/>
            <ac:spMk id="7" creationId="{00000000-0000-0000-0000-000000000000}"/>
          </ac:spMkLst>
        </pc:spChg>
      </pc:sldChg>
      <pc:sldChg chg="modSp mod">
        <pc:chgData name="Frommer, Ian Dr. (EDU)" userId="28ca3ff0-544f-450a-928b-99e19cf49b89" providerId="ADAL" clId="{A3E8E5B1-0D91-4643-B70B-3D065C8674E0}" dt="2026-10-28T20:40:44.371" v="4" actId="6549"/>
        <pc:sldMkLst>
          <pc:docMk/>
          <pc:sldMk cId="2296198069" sldId="289"/>
        </pc:sldMkLst>
        <pc:spChg chg="mod">
          <ac:chgData name="Frommer, Ian Dr. (EDU)" userId="28ca3ff0-544f-450a-928b-99e19cf49b89" providerId="ADAL" clId="{A3E8E5B1-0D91-4643-B70B-3D065C8674E0}" dt="2026-10-28T20:40:44.371" v="4" actId="6549"/>
          <ac:spMkLst>
            <pc:docMk/>
            <pc:sldMk cId="2296198069" sldId="289"/>
            <ac:spMk id="3" creationId="{00000000-0000-0000-0000-000000000000}"/>
          </ac:spMkLst>
        </pc:spChg>
      </pc:sldChg>
      <pc:sldChg chg="modSp mod">
        <pc:chgData name="Frommer, Ian Dr. (EDU)" userId="28ca3ff0-544f-450a-928b-99e19cf49b89" providerId="ADAL" clId="{A3E8E5B1-0D91-4643-B70B-3D065C8674E0}" dt="2026-10-29T16:47:21.915" v="69"/>
        <pc:sldMkLst>
          <pc:docMk/>
          <pc:sldMk cId="3267303990" sldId="295"/>
        </pc:sldMkLst>
        <pc:spChg chg="mod">
          <ac:chgData name="Frommer, Ian Dr. (EDU)" userId="28ca3ff0-544f-450a-928b-99e19cf49b89" providerId="ADAL" clId="{A3E8E5B1-0D91-4643-B70B-3D065C8674E0}" dt="2026-10-29T16:47:21.915" v="69"/>
          <ac:spMkLst>
            <pc:docMk/>
            <pc:sldMk cId="3267303990" sldId="295"/>
            <ac:spMk id="3" creationId="{4240FD36-E565-412F-B844-9B7DA8FD44F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836F3F-41B9-431F-B319-682CFE40A534}" type="doc">
      <dgm:prSet loTypeId="urn:microsoft.com/office/officeart/2005/8/layout/pyramid1" loCatId="pyramid" qsTypeId="urn:microsoft.com/office/officeart/2005/8/quickstyle/simple1" qsCatId="simple" csTypeId="urn:microsoft.com/office/officeart/2005/8/colors/colorful5" csCatId="colorful" phldr="1"/>
      <dgm:spPr/>
    </dgm:pt>
    <dgm:pt modelId="{B38751E0-5DA9-401A-8309-7448E2B4CDFD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Application</a:t>
          </a:r>
        </a:p>
      </dgm:t>
    </dgm:pt>
    <dgm:pt modelId="{2A5FE89B-9F8B-41D6-8BEF-90740BFB25CE}" type="parTrans" cxnId="{31ECE27C-F359-4CCA-8112-929D0899B154}">
      <dgm:prSet/>
      <dgm:spPr/>
      <dgm:t>
        <a:bodyPr/>
        <a:lstStyle/>
        <a:p>
          <a:endParaRPr lang="en-US"/>
        </a:p>
      </dgm:t>
    </dgm:pt>
    <dgm:pt modelId="{9303ADCB-253A-4877-8DDC-A24716EA887A}" type="sibTrans" cxnId="{31ECE27C-F359-4CCA-8112-929D0899B154}">
      <dgm:prSet/>
      <dgm:spPr/>
      <dgm:t>
        <a:bodyPr/>
        <a:lstStyle/>
        <a:p>
          <a:endParaRPr lang="en-US"/>
        </a:p>
      </dgm:t>
    </dgm:pt>
    <dgm:pt modelId="{D6FEA5E2-B52B-4BAD-A01C-46485ABA4432}">
      <dgm:prSet phldrT="[Text]"/>
      <dgm:spPr/>
      <dgm:t>
        <a:bodyPr/>
        <a:lstStyle/>
        <a:p>
          <a:r>
            <a:rPr lang="en-US" b="1" dirty="0"/>
            <a:t>-</a:t>
          </a:r>
          <a:r>
            <a:rPr lang="en-US" b="1" dirty="0" err="1"/>
            <a:t>Addin</a:t>
          </a:r>
          <a:br>
            <a:rPr lang="en-US" b="1" dirty="0"/>
          </a:br>
          <a:r>
            <a:rPr lang="en-US" b="1" dirty="0"/>
            <a:t>-Window</a:t>
          </a:r>
          <a:br>
            <a:rPr lang="en-US" b="1" dirty="0"/>
          </a:br>
          <a:r>
            <a:rPr lang="en-US" b="1" dirty="0">
              <a:solidFill>
                <a:schemeClr val="bg1"/>
              </a:solidFill>
            </a:rPr>
            <a:t>-Workbook</a:t>
          </a:r>
          <a:br>
            <a:rPr lang="en-US" b="1" dirty="0"/>
          </a:br>
          <a:r>
            <a:rPr lang="en-US" b="1" dirty="0"/>
            <a:t>-</a:t>
          </a:r>
          <a:r>
            <a:rPr lang="en-US" b="1" dirty="0" err="1"/>
            <a:t>WorksheetFunction</a:t>
          </a:r>
          <a:endParaRPr lang="en-US" b="1" dirty="0"/>
        </a:p>
      </dgm:t>
    </dgm:pt>
    <dgm:pt modelId="{45232BE7-41E1-4747-AB3E-0EE0C0FEFD30}" type="parTrans" cxnId="{5B94EA5A-1B5E-457C-972B-9238B9F18B4A}">
      <dgm:prSet/>
      <dgm:spPr/>
      <dgm:t>
        <a:bodyPr/>
        <a:lstStyle/>
        <a:p>
          <a:endParaRPr lang="en-US"/>
        </a:p>
      </dgm:t>
    </dgm:pt>
    <dgm:pt modelId="{C23A28DE-3C83-4036-A64B-04D2994ED738}" type="sibTrans" cxnId="{5B94EA5A-1B5E-457C-972B-9238B9F18B4A}">
      <dgm:prSet/>
      <dgm:spPr/>
      <dgm:t>
        <a:bodyPr/>
        <a:lstStyle/>
        <a:p>
          <a:endParaRPr lang="en-US"/>
        </a:p>
      </dgm:t>
    </dgm:pt>
    <dgm:pt modelId="{DB2E418E-D66B-4237-AB2B-84CAD5FDC88A}">
      <dgm:prSet phldrT="[Text]"/>
      <dgm:spPr/>
      <dgm:t>
        <a:bodyPr/>
        <a:lstStyle/>
        <a:p>
          <a:r>
            <a:rPr lang="en-US" b="1" dirty="0"/>
            <a:t>-Chart</a:t>
          </a:r>
          <a:br>
            <a:rPr lang="en-US" b="1" dirty="0"/>
          </a:br>
          <a:r>
            <a:rPr lang="en-US" b="1" dirty="0"/>
            <a:t>-Name</a:t>
          </a:r>
          <a:br>
            <a:rPr lang="en-US" b="1" dirty="0"/>
          </a:br>
          <a:r>
            <a:rPr lang="en-US" b="1" dirty="0"/>
            <a:t>-</a:t>
          </a:r>
          <a:r>
            <a:rPr lang="en-US" b="1" dirty="0" err="1"/>
            <a:t>VBProject</a:t>
          </a:r>
          <a:br>
            <a:rPr lang="en-US" b="1" dirty="0"/>
          </a:br>
          <a:r>
            <a:rPr lang="en-US" b="1" dirty="0"/>
            <a:t>-Window</a:t>
          </a:r>
          <a:br>
            <a:rPr lang="en-US" b="1" dirty="0"/>
          </a:br>
          <a:r>
            <a:rPr lang="en-US" b="1" dirty="0">
              <a:solidFill>
                <a:schemeClr val="bg1"/>
              </a:solidFill>
            </a:rPr>
            <a:t>-Worksheet</a:t>
          </a:r>
        </a:p>
      </dgm:t>
    </dgm:pt>
    <dgm:pt modelId="{8FE4C416-4514-42C6-A355-6DFAB7D1F74E}" type="parTrans" cxnId="{11C2E1CC-4F26-4C24-AB74-3E328E5B5B1E}">
      <dgm:prSet/>
      <dgm:spPr/>
      <dgm:t>
        <a:bodyPr/>
        <a:lstStyle/>
        <a:p>
          <a:endParaRPr lang="en-US"/>
        </a:p>
      </dgm:t>
    </dgm:pt>
    <dgm:pt modelId="{1621956A-E555-4AF7-8519-2370EA0B85B9}" type="sibTrans" cxnId="{11C2E1CC-4F26-4C24-AB74-3E328E5B5B1E}">
      <dgm:prSet/>
      <dgm:spPr/>
      <dgm:t>
        <a:bodyPr/>
        <a:lstStyle/>
        <a:p>
          <a:endParaRPr lang="en-US"/>
        </a:p>
      </dgm:t>
    </dgm:pt>
    <dgm:pt modelId="{4EE5CC69-11BD-405F-8B5C-7739AA4E69A3}">
      <dgm:prSet phldrT="[Text]"/>
      <dgm:spPr/>
      <dgm:t>
        <a:bodyPr/>
        <a:lstStyle/>
        <a:p>
          <a:r>
            <a:rPr lang="en-US" b="1" dirty="0"/>
            <a:t>-Comment</a:t>
          </a:r>
          <a:br>
            <a:rPr lang="en-US" b="1" dirty="0"/>
          </a:br>
          <a:r>
            <a:rPr lang="en-US" b="1" dirty="0"/>
            <a:t>-Hyperlink</a:t>
          </a:r>
          <a:br>
            <a:rPr lang="en-US" b="1" dirty="0"/>
          </a:br>
          <a:r>
            <a:rPr lang="en-US" b="1" dirty="0"/>
            <a:t>-Name</a:t>
          </a:r>
          <a:br>
            <a:rPr lang="en-US" b="1" dirty="0"/>
          </a:br>
          <a:r>
            <a:rPr lang="en-US" b="1" dirty="0"/>
            <a:t>-</a:t>
          </a:r>
          <a:r>
            <a:rPr lang="en-US" b="1" dirty="0" err="1"/>
            <a:t>PageSetup</a:t>
          </a:r>
          <a:br>
            <a:rPr lang="en-US" b="1" dirty="0"/>
          </a:br>
          <a:r>
            <a:rPr lang="en-US" b="1" dirty="0"/>
            <a:t>-PivotTable</a:t>
          </a:r>
          <a:br>
            <a:rPr lang="en-US" b="1" dirty="0"/>
          </a:br>
          <a:r>
            <a:rPr lang="en-US" b="1" dirty="0">
              <a:solidFill>
                <a:schemeClr val="bg1"/>
              </a:solidFill>
            </a:rPr>
            <a:t>-Range</a:t>
          </a:r>
        </a:p>
      </dgm:t>
    </dgm:pt>
    <dgm:pt modelId="{9AC3F91C-ED5C-466F-A1F3-67E705DD082D}" type="parTrans" cxnId="{3FB4B589-245C-4B45-B767-53C5530E3EF1}">
      <dgm:prSet/>
      <dgm:spPr/>
      <dgm:t>
        <a:bodyPr/>
        <a:lstStyle/>
        <a:p>
          <a:endParaRPr lang="en-US"/>
        </a:p>
      </dgm:t>
    </dgm:pt>
    <dgm:pt modelId="{4EC2BE0A-D666-417C-BABB-695ADF576B12}" type="sibTrans" cxnId="{3FB4B589-245C-4B45-B767-53C5530E3EF1}">
      <dgm:prSet/>
      <dgm:spPr/>
      <dgm:t>
        <a:bodyPr/>
        <a:lstStyle/>
        <a:p>
          <a:endParaRPr lang="en-US"/>
        </a:p>
      </dgm:t>
    </dgm:pt>
    <dgm:pt modelId="{3B0AD90B-8E2F-4BDF-B11F-91EA53EEFEF9}" type="pres">
      <dgm:prSet presAssocID="{1A836F3F-41B9-431F-B319-682CFE40A534}" presName="Name0" presStyleCnt="0">
        <dgm:presLayoutVars>
          <dgm:dir/>
          <dgm:animLvl val="lvl"/>
          <dgm:resizeHandles val="exact"/>
        </dgm:presLayoutVars>
      </dgm:prSet>
      <dgm:spPr/>
    </dgm:pt>
    <dgm:pt modelId="{03DD39EB-5227-4F1D-9497-6BB70430E7E2}" type="pres">
      <dgm:prSet presAssocID="{B38751E0-5DA9-401A-8309-7448E2B4CDFD}" presName="Name8" presStyleCnt="0"/>
      <dgm:spPr/>
    </dgm:pt>
    <dgm:pt modelId="{8BACEE37-0057-425A-9AE8-3134803436AC}" type="pres">
      <dgm:prSet presAssocID="{B38751E0-5DA9-401A-8309-7448E2B4CDFD}" presName="level" presStyleLbl="node1" presStyleIdx="0" presStyleCnt="4">
        <dgm:presLayoutVars>
          <dgm:chMax val="1"/>
          <dgm:bulletEnabled val="1"/>
        </dgm:presLayoutVars>
      </dgm:prSet>
      <dgm:spPr/>
    </dgm:pt>
    <dgm:pt modelId="{0CC9B3C1-C332-4B9D-8E1D-C599A671C556}" type="pres">
      <dgm:prSet presAssocID="{B38751E0-5DA9-401A-8309-7448E2B4CDF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599317D-5C68-4507-AFFA-2B0E5E5693AC}" type="pres">
      <dgm:prSet presAssocID="{D6FEA5E2-B52B-4BAD-A01C-46485ABA4432}" presName="Name8" presStyleCnt="0"/>
      <dgm:spPr/>
    </dgm:pt>
    <dgm:pt modelId="{EFA45B22-5CE1-45A5-839B-90A5DE9F0E6B}" type="pres">
      <dgm:prSet presAssocID="{D6FEA5E2-B52B-4BAD-A01C-46485ABA4432}" presName="level" presStyleLbl="node1" presStyleIdx="1" presStyleCnt="4">
        <dgm:presLayoutVars>
          <dgm:chMax val="1"/>
          <dgm:bulletEnabled val="1"/>
        </dgm:presLayoutVars>
      </dgm:prSet>
      <dgm:spPr/>
    </dgm:pt>
    <dgm:pt modelId="{A6EA0DBE-4F24-4D78-821B-FA664AC5B4E9}" type="pres">
      <dgm:prSet presAssocID="{D6FEA5E2-B52B-4BAD-A01C-46485ABA443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F9CF2A9-9A64-47B5-810C-3EE2147A2440}" type="pres">
      <dgm:prSet presAssocID="{DB2E418E-D66B-4237-AB2B-84CAD5FDC88A}" presName="Name8" presStyleCnt="0"/>
      <dgm:spPr/>
    </dgm:pt>
    <dgm:pt modelId="{47CEE3E8-180B-4FB6-A639-96E6DFC82A67}" type="pres">
      <dgm:prSet presAssocID="{DB2E418E-D66B-4237-AB2B-84CAD5FDC88A}" presName="level" presStyleLbl="node1" presStyleIdx="2" presStyleCnt="4">
        <dgm:presLayoutVars>
          <dgm:chMax val="1"/>
          <dgm:bulletEnabled val="1"/>
        </dgm:presLayoutVars>
      </dgm:prSet>
      <dgm:spPr/>
    </dgm:pt>
    <dgm:pt modelId="{14C4A9FB-FF16-4BBA-9853-5BD261AF09DC}" type="pres">
      <dgm:prSet presAssocID="{DB2E418E-D66B-4237-AB2B-84CAD5FDC88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BAF51DA-B963-4907-9546-C94F56DFA9B4}" type="pres">
      <dgm:prSet presAssocID="{4EE5CC69-11BD-405F-8B5C-7739AA4E69A3}" presName="Name8" presStyleCnt="0"/>
      <dgm:spPr/>
    </dgm:pt>
    <dgm:pt modelId="{3B29F4AC-6ACD-4869-BC05-2236998358DB}" type="pres">
      <dgm:prSet presAssocID="{4EE5CC69-11BD-405F-8B5C-7739AA4E69A3}" presName="level" presStyleLbl="node1" presStyleIdx="3" presStyleCnt="4">
        <dgm:presLayoutVars>
          <dgm:chMax val="1"/>
          <dgm:bulletEnabled val="1"/>
        </dgm:presLayoutVars>
      </dgm:prSet>
      <dgm:spPr/>
    </dgm:pt>
    <dgm:pt modelId="{60C41EC5-2244-4745-8A16-D0096F77A5EF}" type="pres">
      <dgm:prSet presAssocID="{4EE5CC69-11BD-405F-8B5C-7739AA4E69A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68BE304-73FD-4C38-A333-BE0902C38829}" type="presOf" srcId="{1A836F3F-41B9-431F-B319-682CFE40A534}" destId="{3B0AD90B-8E2F-4BDF-B11F-91EA53EEFEF9}" srcOrd="0" destOrd="0" presId="urn:microsoft.com/office/officeart/2005/8/layout/pyramid1"/>
    <dgm:cxn modelId="{E041F227-D27C-47D9-91E1-FBFBD8E4A24F}" type="presOf" srcId="{D6FEA5E2-B52B-4BAD-A01C-46485ABA4432}" destId="{A6EA0DBE-4F24-4D78-821B-FA664AC5B4E9}" srcOrd="1" destOrd="0" presId="urn:microsoft.com/office/officeart/2005/8/layout/pyramid1"/>
    <dgm:cxn modelId="{73BE933A-F5C1-49DA-B5AE-C0CDB77D1FD8}" type="presOf" srcId="{B38751E0-5DA9-401A-8309-7448E2B4CDFD}" destId="{0CC9B3C1-C332-4B9D-8E1D-C599A671C556}" srcOrd="1" destOrd="0" presId="urn:microsoft.com/office/officeart/2005/8/layout/pyramid1"/>
    <dgm:cxn modelId="{D1413166-9B30-48E2-A560-5E384A8C251D}" type="presOf" srcId="{DB2E418E-D66B-4237-AB2B-84CAD5FDC88A}" destId="{14C4A9FB-FF16-4BBA-9853-5BD261AF09DC}" srcOrd="1" destOrd="0" presId="urn:microsoft.com/office/officeart/2005/8/layout/pyramid1"/>
    <dgm:cxn modelId="{5BD37647-5553-46F4-ABCE-0510D0F6D5AE}" type="presOf" srcId="{4EE5CC69-11BD-405F-8B5C-7739AA4E69A3}" destId="{60C41EC5-2244-4745-8A16-D0096F77A5EF}" srcOrd="1" destOrd="0" presId="urn:microsoft.com/office/officeart/2005/8/layout/pyramid1"/>
    <dgm:cxn modelId="{65C52C72-3A45-4793-B211-E77892D7A073}" type="presOf" srcId="{DB2E418E-D66B-4237-AB2B-84CAD5FDC88A}" destId="{47CEE3E8-180B-4FB6-A639-96E6DFC82A67}" srcOrd="0" destOrd="0" presId="urn:microsoft.com/office/officeart/2005/8/layout/pyramid1"/>
    <dgm:cxn modelId="{5B94EA5A-1B5E-457C-972B-9238B9F18B4A}" srcId="{1A836F3F-41B9-431F-B319-682CFE40A534}" destId="{D6FEA5E2-B52B-4BAD-A01C-46485ABA4432}" srcOrd="1" destOrd="0" parTransId="{45232BE7-41E1-4747-AB3E-0EE0C0FEFD30}" sibTransId="{C23A28DE-3C83-4036-A64B-04D2994ED738}"/>
    <dgm:cxn modelId="{31ECE27C-F359-4CCA-8112-929D0899B154}" srcId="{1A836F3F-41B9-431F-B319-682CFE40A534}" destId="{B38751E0-5DA9-401A-8309-7448E2B4CDFD}" srcOrd="0" destOrd="0" parTransId="{2A5FE89B-9F8B-41D6-8BEF-90740BFB25CE}" sibTransId="{9303ADCB-253A-4877-8DDC-A24716EA887A}"/>
    <dgm:cxn modelId="{3FB4B589-245C-4B45-B767-53C5530E3EF1}" srcId="{1A836F3F-41B9-431F-B319-682CFE40A534}" destId="{4EE5CC69-11BD-405F-8B5C-7739AA4E69A3}" srcOrd="3" destOrd="0" parTransId="{9AC3F91C-ED5C-466F-A1F3-67E705DD082D}" sibTransId="{4EC2BE0A-D666-417C-BABB-695ADF576B12}"/>
    <dgm:cxn modelId="{AEFA80CC-D04A-4ACB-B100-867CD3487201}" type="presOf" srcId="{D6FEA5E2-B52B-4BAD-A01C-46485ABA4432}" destId="{EFA45B22-5CE1-45A5-839B-90A5DE9F0E6B}" srcOrd="0" destOrd="0" presId="urn:microsoft.com/office/officeart/2005/8/layout/pyramid1"/>
    <dgm:cxn modelId="{11C2E1CC-4F26-4C24-AB74-3E328E5B5B1E}" srcId="{1A836F3F-41B9-431F-B319-682CFE40A534}" destId="{DB2E418E-D66B-4237-AB2B-84CAD5FDC88A}" srcOrd="2" destOrd="0" parTransId="{8FE4C416-4514-42C6-A355-6DFAB7D1F74E}" sibTransId="{1621956A-E555-4AF7-8519-2370EA0B85B9}"/>
    <dgm:cxn modelId="{D4B3A0CE-F56F-43BB-9C51-D35CCF304EC4}" type="presOf" srcId="{B38751E0-5DA9-401A-8309-7448E2B4CDFD}" destId="{8BACEE37-0057-425A-9AE8-3134803436AC}" srcOrd="0" destOrd="0" presId="urn:microsoft.com/office/officeart/2005/8/layout/pyramid1"/>
    <dgm:cxn modelId="{582E24D0-4334-4006-933F-AD9665E078FB}" type="presOf" srcId="{4EE5CC69-11BD-405F-8B5C-7739AA4E69A3}" destId="{3B29F4AC-6ACD-4869-BC05-2236998358DB}" srcOrd="0" destOrd="0" presId="urn:microsoft.com/office/officeart/2005/8/layout/pyramid1"/>
    <dgm:cxn modelId="{C6CA17FF-FF16-44FE-A4A1-CC56E91B4FCB}" type="presParOf" srcId="{3B0AD90B-8E2F-4BDF-B11F-91EA53EEFEF9}" destId="{03DD39EB-5227-4F1D-9497-6BB70430E7E2}" srcOrd="0" destOrd="0" presId="urn:microsoft.com/office/officeart/2005/8/layout/pyramid1"/>
    <dgm:cxn modelId="{1F15F917-8564-448A-83D6-5EFF1A14EBB3}" type="presParOf" srcId="{03DD39EB-5227-4F1D-9497-6BB70430E7E2}" destId="{8BACEE37-0057-425A-9AE8-3134803436AC}" srcOrd="0" destOrd="0" presId="urn:microsoft.com/office/officeart/2005/8/layout/pyramid1"/>
    <dgm:cxn modelId="{CA24E9D9-A2BB-4444-BE63-D5BE7977BC62}" type="presParOf" srcId="{03DD39EB-5227-4F1D-9497-6BB70430E7E2}" destId="{0CC9B3C1-C332-4B9D-8E1D-C599A671C556}" srcOrd="1" destOrd="0" presId="urn:microsoft.com/office/officeart/2005/8/layout/pyramid1"/>
    <dgm:cxn modelId="{F1BCC333-1BA5-43D6-A5F3-B334F8E1025A}" type="presParOf" srcId="{3B0AD90B-8E2F-4BDF-B11F-91EA53EEFEF9}" destId="{6599317D-5C68-4507-AFFA-2B0E5E5693AC}" srcOrd="1" destOrd="0" presId="urn:microsoft.com/office/officeart/2005/8/layout/pyramid1"/>
    <dgm:cxn modelId="{0629C444-7463-4CBD-B625-C0D98C154D6E}" type="presParOf" srcId="{6599317D-5C68-4507-AFFA-2B0E5E5693AC}" destId="{EFA45B22-5CE1-45A5-839B-90A5DE9F0E6B}" srcOrd="0" destOrd="0" presId="urn:microsoft.com/office/officeart/2005/8/layout/pyramid1"/>
    <dgm:cxn modelId="{328B0AD3-88F9-4873-88AB-E82DC51159F6}" type="presParOf" srcId="{6599317D-5C68-4507-AFFA-2B0E5E5693AC}" destId="{A6EA0DBE-4F24-4D78-821B-FA664AC5B4E9}" srcOrd="1" destOrd="0" presId="urn:microsoft.com/office/officeart/2005/8/layout/pyramid1"/>
    <dgm:cxn modelId="{1F5D5987-E6C8-467C-8103-DD7A72B324D5}" type="presParOf" srcId="{3B0AD90B-8E2F-4BDF-B11F-91EA53EEFEF9}" destId="{AF9CF2A9-9A64-47B5-810C-3EE2147A2440}" srcOrd="2" destOrd="0" presId="urn:microsoft.com/office/officeart/2005/8/layout/pyramid1"/>
    <dgm:cxn modelId="{8579D6CB-D9E4-4910-A942-187F28066514}" type="presParOf" srcId="{AF9CF2A9-9A64-47B5-810C-3EE2147A2440}" destId="{47CEE3E8-180B-4FB6-A639-96E6DFC82A67}" srcOrd="0" destOrd="0" presId="urn:microsoft.com/office/officeart/2005/8/layout/pyramid1"/>
    <dgm:cxn modelId="{6C4FE745-4A85-42D3-94D4-A6FAA8D12789}" type="presParOf" srcId="{AF9CF2A9-9A64-47B5-810C-3EE2147A2440}" destId="{14C4A9FB-FF16-4BBA-9853-5BD261AF09DC}" srcOrd="1" destOrd="0" presId="urn:microsoft.com/office/officeart/2005/8/layout/pyramid1"/>
    <dgm:cxn modelId="{A6CB5DF6-FCB3-40D6-95E8-CDD187791637}" type="presParOf" srcId="{3B0AD90B-8E2F-4BDF-B11F-91EA53EEFEF9}" destId="{4BAF51DA-B963-4907-9546-C94F56DFA9B4}" srcOrd="3" destOrd="0" presId="urn:microsoft.com/office/officeart/2005/8/layout/pyramid1"/>
    <dgm:cxn modelId="{CB6857E4-0E79-4CEF-A42C-1A0DD837CBE3}" type="presParOf" srcId="{4BAF51DA-B963-4907-9546-C94F56DFA9B4}" destId="{3B29F4AC-6ACD-4869-BC05-2236998358DB}" srcOrd="0" destOrd="0" presId="urn:microsoft.com/office/officeart/2005/8/layout/pyramid1"/>
    <dgm:cxn modelId="{D7DF3D07-CCD4-4B37-AA7B-23A3593BB57A}" type="presParOf" srcId="{4BAF51DA-B963-4907-9546-C94F56DFA9B4}" destId="{60C41EC5-2244-4745-8A16-D0096F77A5EF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DD7DFA-7441-4C42-9718-830A0CA1FBB6}" type="doc">
      <dgm:prSet loTypeId="urn:microsoft.com/office/officeart/2005/8/layout/venn2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79177C4-EBD8-4055-A187-B29B915BC155}">
      <dgm:prSet phldrT="[Text]"/>
      <dgm:spPr/>
      <dgm:t>
        <a:bodyPr/>
        <a:lstStyle/>
        <a:p>
          <a:r>
            <a:rPr lang="en-US" dirty="0"/>
            <a:t>Excel</a:t>
          </a:r>
        </a:p>
      </dgm:t>
    </dgm:pt>
    <dgm:pt modelId="{8B6A8AF9-4E80-4678-9D8D-DF3B4FC41152}" type="parTrans" cxnId="{2EE78CE6-0FF8-4813-8A94-9214617F880C}">
      <dgm:prSet/>
      <dgm:spPr/>
      <dgm:t>
        <a:bodyPr/>
        <a:lstStyle/>
        <a:p>
          <a:endParaRPr lang="en-US"/>
        </a:p>
      </dgm:t>
    </dgm:pt>
    <dgm:pt modelId="{67F0F6DC-64F9-4010-B723-713ABE775E4D}" type="sibTrans" cxnId="{2EE78CE6-0FF8-4813-8A94-9214617F880C}">
      <dgm:prSet/>
      <dgm:spPr/>
      <dgm:t>
        <a:bodyPr/>
        <a:lstStyle/>
        <a:p>
          <a:endParaRPr lang="en-US"/>
        </a:p>
      </dgm:t>
    </dgm:pt>
    <dgm:pt modelId="{7D7AFE02-6038-49C2-8C54-0FA442F004C0}">
      <dgm:prSet phldrT="[Text]"/>
      <dgm:spPr/>
      <dgm:t>
        <a:bodyPr/>
        <a:lstStyle/>
        <a:p>
          <a:r>
            <a:rPr lang="en-US" dirty="0"/>
            <a:t>Workbook</a:t>
          </a:r>
        </a:p>
      </dgm:t>
    </dgm:pt>
    <dgm:pt modelId="{6F95FF6A-515B-40F6-8A81-BE240CA03197}" type="parTrans" cxnId="{3C21A43E-88B4-4675-A710-2D03A3D8EF40}">
      <dgm:prSet/>
      <dgm:spPr/>
      <dgm:t>
        <a:bodyPr/>
        <a:lstStyle/>
        <a:p>
          <a:endParaRPr lang="en-US"/>
        </a:p>
      </dgm:t>
    </dgm:pt>
    <dgm:pt modelId="{C7CBA168-298F-4B12-BF91-D91C6B128942}" type="sibTrans" cxnId="{3C21A43E-88B4-4675-A710-2D03A3D8EF40}">
      <dgm:prSet/>
      <dgm:spPr/>
      <dgm:t>
        <a:bodyPr/>
        <a:lstStyle/>
        <a:p>
          <a:endParaRPr lang="en-US"/>
        </a:p>
      </dgm:t>
    </dgm:pt>
    <dgm:pt modelId="{33099710-9B62-43A3-B449-73568F776B16}">
      <dgm:prSet phldrT="[Text]"/>
      <dgm:spPr/>
      <dgm:t>
        <a:bodyPr/>
        <a:lstStyle/>
        <a:p>
          <a:r>
            <a:rPr lang="en-US" dirty="0"/>
            <a:t>Worksheet</a:t>
          </a:r>
        </a:p>
      </dgm:t>
    </dgm:pt>
    <dgm:pt modelId="{2EDA5882-52DA-46F4-9CC2-0EE6B6020BAD}" type="parTrans" cxnId="{DF246CB5-3D44-4FDF-846B-0C9EED5C4E88}">
      <dgm:prSet/>
      <dgm:spPr/>
      <dgm:t>
        <a:bodyPr/>
        <a:lstStyle/>
        <a:p>
          <a:endParaRPr lang="en-US"/>
        </a:p>
      </dgm:t>
    </dgm:pt>
    <dgm:pt modelId="{C7D633B9-346F-49E6-B5FD-E33A5D037912}" type="sibTrans" cxnId="{DF246CB5-3D44-4FDF-846B-0C9EED5C4E88}">
      <dgm:prSet/>
      <dgm:spPr/>
      <dgm:t>
        <a:bodyPr/>
        <a:lstStyle/>
        <a:p>
          <a:endParaRPr lang="en-US"/>
        </a:p>
      </dgm:t>
    </dgm:pt>
    <dgm:pt modelId="{62B6D67E-7BBD-47B4-A030-EB9A65BD8F3D}">
      <dgm:prSet phldrT="[Text]"/>
      <dgm:spPr/>
      <dgm:t>
        <a:bodyPr/>
        <a:lstStyle/>
        <a:p>
          <a:r>
            <a:rPr lang="en-US" dirty="0"/>
            <a:t>Range</a:t>
          </a:r>
        </a:p>
      </dgm:t>
    </dgm:pt>
    <dgm:pt modelId="{2E8CB546-5964-48FE-98A9-F748B9827118}" type="parTrans" cxnId="{4922D231-F9A6-401B-A184-FA45E656C133}">
      <dgm:prSet/>
      <dgm:spPr/>
      <dgm:t>
        <a:bodyPr/>
        <a:lstStyle/>
        <a:p>
          <a:endParaRPr lang="en-US"/>
        </a:p>
      </dgm:t>
    </dgm:pt>
    <dgm:pt modelId="{09471536-3723-40B5-9A0F-1E6C50749942}" type="sibTrans" cxnId="{4922D231-F9A6-401B-A184-FA45E656C133}">
      <dgm:prSet/>
      <dgm:spPr/>
      <dgm:t>
        <a:bodyPr/>
        <a:lstStyle/>
        <a:p>
          <a:endParaRPr lang="en-US"/>
        </a:p>
      </dgm:t>
    </dgm:pt>
    <dgm:pt modelId="{1A5F3915-6C14-41D1-8E1D-E6D4782E0F57}" type="pres">
      <dgm:prSet presAssocID="{A0DD7DFA-7441-4C42-9718-830A0CA1FBB6}" presName="Name0" presStyleCnt="0">
        <dgm:presLayoutVars>
          <dgm:chMax val="7"/>
          <dgm:resizeHandles val="exact"/>
        </dgm:presLayoutVars>
      </dgm:prSet>
      <dgm:spPr/>
    </dgm:pt>
    <dgm:pt modelId="{931D4770-3833-467E-B0F1-E9FDF0F1CCA2}" type="pres">
      <dgm:prSet presAssocID="{A0DD7DFA-7441-4C42-9718-830A0CA1FBB6}" presName="comp1" presStyleCnt="0"/>
      <dgm:spPr/>
    </dgm:pt>
    <dgm:pt modelId="{75053290-F5AD-48E1-8A4E-C4642C48FAB2}" type="pres">
      <dgm:prSet presAssocID="{A0DD7DFA-7441-4C42-9718-830A0CA1FBB6}" presName="circle1" presStyleLbl="node1" presStyleIdx="0" presStyleCnt="4"/>
      <dgm:spPr/>
    </dgm:pt>
    <dgm:pt modelId="{805CB2AD-4530-4102-8B4F-56FD4B5675DB}" type="pres">
      <dgm:prSet presAssocID="{A0DD7DFA-7441-4C42-9718-830A0CA1FBB6}" presName="c1text" presStyleLbl="node1" presStyleIdx="0" presStyleCnt="4">
        <dgm:presLayoutVars>
          <dgm:bulletEnabled val="1"/>
        </dgm:presLayoutVars>
      </dgm:prSet>
      <dgm:spPr/>
    </dgm:pt>
    <dgm:pt modelId="{F7072024-D463-4C2B-85A8-FCECD5D19420}" type="pres">
      <dgm:prSet presAssocID="{A0DD7DFA-7441-4C42-9718-830A0CA1FBB6}" presName="comp2" presStyleCnt="0"/>
      <dgm:spPr/>
    </dgm:pt>
    <dgm:pt modelId="{69EE57C3-E91C-4BEB-9F1B-6A2A7C8F7AF4}" type="pres">
      <dgm:prSet presAssocID="{A0DD7DFA-7441-4C42-9718-830A0CA1FBB6}" presName="circle2" presStyleLbl="node1" presStyleIdx="1" presStyleCnt="4"/>
      <dgm:spPr/>
    </dgm:pt>
    <dgm:pt modelId="{E49758E2-864B-4C59-8401-C9C5C0FA9B82}" type="pres">
      <dgm:prSet presAssocID="{A0DD7DFA-7441-4C42-9718-830A0CA1FBB6}" presName="c2text" presStyleLbl="node1" presStyleIdx="1" presStyleCnt="4">
        <dgm:presLayoutVars>
          <dgm:bulletEnabled val="1"/>
        </dgm:presLayoutVars>
      </dgm:prSet>
      <dgm:spPr/>
    </dgm:pt>
    <dgm:pt modelId="{BA66E472-9DDD-4F04-A0DB-42704F61DF7F}" type="pres">
      <dgm:prSet presAssocID="{A0DD7DFA-7441-4C42-9718-830A0CA1FBB6}" presName="comp3" presStyleCnt="0"/>
      <dgm:spPr/>
    </dgm:pt>
    <dgm:pt modelId="{B8F1E722-681E-4BFD-B309-E0E8CB6B45F4}" type="pres">
      <dgm:prSet presAssocID="{A0DD7DFA-7441-4C42-9718-830A0CA1FBB6}" presName="circle3" presStyleLbl="node1" presStyleIdx="2" presStyleCnt="4"/>
      <dgm:spPr/>
    </dgm:pt>
    <dgm:pt modelId="{8A56A08E-3D4B-4440-80E4-80031B4ECFFA}" type="pres">
      <dgm:prSet presAssocID="{A0DD7DFA-7441-4C42-9718-830A0CA1FBB6}" presName="c3text" presStyleLbl="node1" presStyleIdx="2" presStyleCnt="4">
        <dgm:presLayoutVars>
          <dgm:bulletEnabled val="1"/>
        </dgm:presLayoutVars>
      </dgm:prSet>
      <dgm:spPr/>
    </dgm:pt>
    <dgm:pt modelId="{269E2245-608F-4AD3-B1EE-637283B5804E}" type="pres">
      <dgm:prSet presAssocID="{A0DD7DFA-7441-4C42-9718-830A0CA1FBB6}" presName="comp4" presStyleCnt="0"/>
      <dgm:spPr/>
    </dgm:pt>
    <dgm:pt modelId="{FFE5AB0C-64A4-4A03-8B24-B0AB6B8713D6}" type="pres">
      <dgm:prSet presAssocID="{A0DD7DFA-7441-4C42-9718-830A0CA1FBB6}" presName="circle4" presStyleLbl="node1" presStyleIdx="3" presStyleCnt="4"/>
      <dgm:spPr/>
    </dgm:pt>
    <dgm:pt modelId="{F2BD4D0A-702B-4F23-ADB3-8B527ADE83DD}" type="pres">
      <dgm:prSet presAssocID="{A0DD7DFA-7441-4C42-9718-830A0CA1FBB6}" presName="c4text" presStyleLbl="node1" presStyleIdx="3" presStyleCnt="4">
        <dgm:presLayoutVars>
          <dgm:bulletEnabled val="1"/>
        </dgm:presLayoutVars>
      </dgm:prSet>
      <dgm:spPr/>
    </dgm:pt>
  </dgm:ptLst>
  <dgm:cxnLst>
    <dgm:cxn modelId="{732C2401-02F5-4EED-8D15-4E04886838A8}" type="presOf" srcId="{7D7AFE02-6038-49C2-8C54-0FA442F004C0}" destId="{E49758E2-864B-4C59-8401-C9C5C0FA9B82}" srcOrd="1" destOrd="0" presId="urn:microsoft.com/office/officeart/2005/8/layout/venn2"/>
    <dgm:cxn modelId="{4922D231-F9A6-401B-A184-FA45E656C133}" srcId="{A0DD7DFA-7441-4C42-9718-830A0CA1FBB6}" destId="{62B6D67E-7BBD-47B4-A030-EB9A65BD8F3D}" srcOrd="3" destOrd="0" parTransId="{2E8CB546-5964-48FE-98A9-F748B9827118}" sibTransId="{09471536-3723-40B5-9A0F-1E6C50749942}"/>
    <dgm:cxn modelId="{7479CB38-76A7-45E9-95E6-679939DE6F35}" type="presOf" srcId="{D79177C4-EBD8-4055-A187-B29B915BC155}" destId="{75053290-F5AD-48E1-8A4E-C4642C48FAB2}" srcOrd="0" destOrd="0" presId="urn:microsoft.com/office/officeart/2005/8/layout/venn2"/>
    <dgm:cxn modelId="{2FB74A3C-B86B-46CE-BAD9-C2ECBF6F2849}" type="presOf" srcId="{62B6D67E-7BBD-47B4-A030-EB9A65BD8F3D}" destId="{F2BD4D0A-702B-4F23-ADB3-8B527ADE83DD}" srcOrd="1" destOrd="0" presId="urn:microsoft.com/office/officeart/2005/8/layout/venn2"/>
    <dgm:cxn modelId="{3C21A43E-88B4-4675-A710-2D03A3D8EF40}" srcId="{A0DD7DFA-7441-4C42-9718-830A0CA1FBB6}" destId="{7D7AFE02-6038-49C2-8C54-0FA442F004C0}" srcOrd="1" destOrd="0" parTransId="{6F95FF6A-515B-40F6-8A81-BE240CA03197}" sibTransId="{C7CBA168-298F-4B12-BF91-D91C6B128942}"/>
    <dgm:cxn modelId="{9E89716B-2DCA-4647-9C6D-25996A67B2F7}" type="presOf" srcId="{D79177C4-EBD8-4055-A187-B29B915BC155}" destId="{805CB2AD-4530-4102-8B4F-56FD4B5675DB}" srcOrd="1" destOrd="0" presId="urn:microsoft.com/office/officeart/2005/8/layout/venn2"/>
    <dgm:cxn modelId="{6D870786-2BB5-4AD7-83DF-C5981BFCBF49}" type="presOf" srcId="{A0DD7DFA-7441-4C42-9718-830A0CA1FBB6}" destId="{1A5F3915-6C14-41D1-8E1D-E6D4782E0F57}" srcOrd="0" destOrd="0" presId="urn:microsoft.com/office/officeart/2005/8/layout/venn2"/>
    <dgm:cxn modelId="{DC70AC90-BB59-4E4E-B347-6780AA3EE092}" type="presOf" srcId="{62B6D67E-7BBD-47B4-A030-EB9A65BD8F3D}" destId="{FFE5AB0C-64A4-4A03-8B24-B0AB6B8713D6}" srcOrd="0" destOrd="0" presId="urn:microsoft.com/office/officeart/2005/8/layout/venn2"/>
    <dgm:cxn modelId="{4A44A89C-5409-465F-9436-467E52408A7C}" type="presOf" srcId="{33099710-9B62-43A3-B449-73568F776B16}" destId="{B8F1E722-681E-4BFD-B309-E0E8CB6B45F4}" srcOrd="0" destOrd="0" presId="urn:microsoft.com/office/officeart/2005/8/layout/venn2"/>
    <dgm:cxn modelId="{DF246CB5-3D44-4FDF-846B-0C9EED5C4E88}" srcId="{A0DD7DFA-7441-4C42-9718-830A0CA1FBB6}" destId="{33099710-9B62-43A3-B449-73568F776B16}" srcOrd="2" destOrd="0" parTransId="{2EDA5882-52DA-46F4-9CC2-0EE6B6020BAD}" sibTransId="{C7D633B9-346F-49E6-B5FD-E33A5D037912}"/>
    <dgm:cxn modelId="{B6FFB5C9-0B28-488C-9EDF-D8467C67FA74}" type="presOf" srcId="{7D7AFE02-6038-49C2-8C54-0FA442F004C0}" destId="{69EE57C3-E91C-4BEB-9F1B-6A2A7C8F7AF4}" srcOrd="0" destOrd="0" presId="urn:microsoft.com/office/officeart/2005/8/layout/venn2"/>
    <dgm:cxn modelId="{23B747CF-7ED1-4BEC-91A0-99FAC7E4095A}" type="presOf" srcId="{33099710-9B62-43A3-B449-73568F776B16}" destId="{8A56A08E-3D4B-4440-80E4-80031B4ECFFA}" srcOrd="1" destOrd="0" presId="urn:microsoft.com/office/officeart/2005/8/layout/venn2"/>
    <dgm:cxn modelId="{2EE78CE6-0FF8-4813-8A94-9214617F880C}" srcId="{A0DD7DFA-7441-4C42-9718-830A0CA1FBB6}" destId="{D79177C4-EBD8-4055-A187-B29B915BC155}" srcOrd="0" destOrd="0" parTransId="{8B6A8AF9-4E80-4678-9D8D-DF3B4FC41152}" sibTransId="{67F0F6DC-64F9-4010-B723-713ABE775E4D}"/>
    <dgm:cxn modelId="{307E87A3-84FF-4042-A84E-CFE694C9A8A3}" type="presParOf" srcId="{1A5F3915-6C14-41D1-8E1D-E6D4782E0F57}" destId="{931D4770-3833-467E-B0F1-E9FDF0F1CCA2}" srcOrd="0" destOrd="0" presId="urn:microsoft.com/office/officeart/2005/8/layout/venn2"/>
    <dgm:cxn modelId="{7BA68F7B-1D08-4C38-8147-3007334F6941}" type="presParOf" srcId="{931D4770-3833-467E-B0F1-E9FDF0F1CCA2}" destId="{75053290-F5AD-48E1-8A4E-C4642C48FAB2}" srcOrd="0" destOrd="0" presId="urn:microsoft.com/office/officeart/2005/8/layout/venn2"/>
    <dgm:cxn modelId="{E4D8315C-8277-4A30-984C-533CBE433C06}" type="presParOf" srcId="{931D4770-3833-467E-B0F1-E9FDF0F1CCA2}" destId="{805CB2AD-4530-4102-8B4F-56FD4B5675DB}" srcOrd="1" destOrd="0" presId="urn:microsoft.com/office/officeart/2005/8/layout/venn2"/>
    <dgm:cxn modelId="{85D288D6-4A00-447D-9E0B-14CDFAF5C704}" type="presParOf" srcId="{1A5F3915-6C14-41D1-8E1D-E6D4782E0F57}" destId="{F7072024-D463-4C2B-85A8-FCECD5D19420}" srcOrd="1" destOrd="0" presId="urn:microsoft.com/office/officeart/2005/8/layout/venn2"/>
    <dgm:cxn modelId="{CE75B485-9BA2-49A1-A1BE-C18BC46B13FF}" type="presParOf" srcId="{F7072024-D463-4C2B-85A8-FCECD5D19420}" destId="{69EE57C3-E91C-4BEB-9F1B-6A2A7C8F7AF4}" srcOrd="0" destOrd="0" presId="urn:microsoft.com/office/officeart/2005/8/layout/venn2"/>
    <dgm:cxn modelId="{8FC61302-9306-4323-9E5F-E563BAD3238F}" type="presParOf" srcId="{F7072024-D463-4C2B-85A8-FCECD5D19420}" destId="{E49758E2-864B-4C59-8401-C9C5C0FA9B82}" srcOrd="1" destOrd="0" presId="urn:microsoft.com/office/officeart/2005/8/layout/venn2"/>
    <dgm:cxn modelId="{A7495586-5E76-443F-BBC6-CE696A98E770}" type="presParOf" srcId="{1A5F3915-6C14-41D1-8E1D-E6D4782E0F57}" destId="{BA66E472-9DDD-4F04-A0DB-42704F61DF7F}" srcOrd="2" destOrd="0" presId="urn:microsoft.com/office/officeart/2005/8/layout/venn2"/>
    <dgm:cxn modelId="{FC14C367-64F8-4986-945C-3E1E1463E262}" type="presParOf" srcId="{BA66E472-9DDD-4F04-A0DB-42704F61DF7F}" destId="{B8F1E722-681E-4BFD-B309-E0E8CB6B45F4}" srcOrd="0" destOrd="0" presId="urn:microsoft.com/office/officeart/2005/8/layout/venn2"/>
    <dgm:cxn modelId="{4FF6B627-73D4-43B0-AEC3-AE8A280081D2}" type="presParOf" srcId="{BA66E472-9DDD-4F04-A0DB-42704F61DF7F}" destId="{8A56A08E-3D4B-4440-80E4-80031B4ECFFA}" srcOrd="1" destOrd="0" presId="urn:microsoft.com/office/officeart/2005/8/layout/venn2"/>
    <dgm:cxn modelId="{803F70FB-688C-4AA5-8CCA-1DD79FAB305E}" type="presParOf" srcId="{1A5F3915-6C14-41D1-8E1D-E6D4782E0F57}" destId="{269E2245-608F-4AD3-B1EE-637283B5804E}" srcOrd="3" destOrd="0" presId="urn:microsoft.com/office/officeart/2005/8/layout/venn2"/>
    <dgm:cxn modelId="{5C0840DC-ECE6-4EAA-94D4-4E826724AC82}" type="presParOf" srcId="{269E2245-608F-4AD3-B1EE-637283B5804E}" destId="{FFE5AB0C-64A4-4A03-8B24-B0AB6B8713D6}" srcOrd="0" destOrd="0" presId="urn:microsoft.com/office/officeart/2005/8/layout/venn2"/>
    <dgm:cxn modelId="{DDAB3586-4CF0-4EC4-964E-7D98A8AE017A}" type="presParOf" srcId="{269E2245-608F-4AD3-B1EE-637283B5804E}" destId="{F2BD4D0A-702B-4F23-ADB3-8B527ADE83DD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DD7DFA-7441-4C42-9718-830A0CA1FBB6}" type="doc">
      <dgm:prSet loTypeId="urn:microsoft.com/office/officeart/2005/8/layout/venn2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79177C4-EBD8-4055-A187-B29B915BC155}">
      <dgm:prSet phldrT="[Text]"/>
      <dgm:spPr/>
      <dgm:t>
        <a:bodyPr/>
        <a:lstStyle/>
        <a:p>
          <a:r>
            <a:rPr lang="en-US" dirty="0"/>
            <a:t>Excel</a:t>
          </a:r>
        </a:p>
      </dgm:t>
    </dgm:pt>
    <dgm:pt modelId="{8B6A8AF9-4E80-4678-9D8D-DF3B4FC41152}" type="parTrans" cxnId="{2EE78CE6-0FF8-4813-8A94-9214617F880C}">
      <dgm:prSet/>
      <dgm:spPr/>
      <dgm:t>
        <a:bodyPr/>
        <a:lstStyle/>
        <a:p>
          <a:endParaRPr lang="en-US"/>
        </a:p>
      </dgm:t>
    </dgm:pt>
    <dgm:pt modelId="{67F0F6DC-64F9-4010-B723-713ABE775E4D}" type="sibTrans" cxnId="{2EE78CE6-0FF8-4813-8A94-9214617F880C}">
      <dgm:prSet/>
      <dgm:spPr/>
      <dgm:t>
        <a:bodyPr/>
        <a:lstStyle/>
        <a:p>
          <a:endParaRPr lang="en-US"/>
        </a:p>
      </dgm:t>
    </dgm:pt>
    <dgm:pt modelId="{7D7AFE02-6038-49C2-8C54-0FA442F004C0}">
      <dgm:prSet phldrT="[Text]"/>
      <dgm:spPr/>
      <dgm:t>
        <a:bodyPr/>
        <a:lstStyle/>
        <a:p>
          <a:r>
            <a:rPr lang="en-US" dirty="0"/>
            <a:t>Workbook</a:t>
          </a:r>
        </a:p>
      </dgm:t>
    </dgm:pt>
    <dgm:pt modelId="{6F95FF6A-515B-40F6-8A81-BE240CA03197}" type="parTrans" cxnId="{3C21A43E-88B4-4675-A710-2D03A3D8EF40}">
      <dgm:prSet/>
      <dgm:spPr/>
      <dgm:t>
        <a:bodyPr/>
        <a:lstStyle/>
        <a:p>
          <a:endParaRPr lang="en-US"/>
        </a:p>
      </dgm:t>
    </dgm:pt>
    <dgm:pt modelId="{C7CBA168-298F-4B12-BF91-D91C6B128942}" type="sibTrans" cxnId="{3C21A43E-88B4-4675-A710-2D03A3D8EF40}">
      <dgm:prSet/>
      <dgm:spPr/>
      <dgm:t>
        <a:bodyPr/>
        <a:lstStyle/>
        <a:p>
          <a:endParaRPr lang="en-US"/>
        </a:p>
      </dgm:t>
    </dgm:pt>
    <dgm:pt modelId="{33099710-9B62-43A3-B449-73568F776B16}">
      <dgm:prSet phldrT="[Text]"/>
      <dgm:spPr/>
      <dgm:t>
        <a:bodyPr/>
        <a:lstStyle/>
        <a:p>
          <a:r>
            <a:rPr lang="en-US" dirty="0"/>
            <a:t>Worksheet</a:t>
          </a:r>
        </a:p>
      </dgm:t>
    </dgm:pt>
    <dgm:pt modelId="{2EDA5882-52DA-46F4-9CC2-0EE6B6020BAD}" type="parTrans" cxnId="{DF246CB5-3D44-4FDF-846B-0C9EED5C4E88}">
      <dgm:prSet/>
      <dgm:spPr/>
      <dgm:t>
        <a:bodyPr/>
        <a:lstStyle/>
        <a:p>
          <a:endParaRPr lang="en-US"/>
        </a:p>
      </dgm:t>
    </dgm:pt>
    <dgm:pt modelId="{C7D633B9-346F-49E6-B5FD-E33A5D037912}" type="sibTrans" cxnId="{DF246CB5-3D44-4FDF-846B-0C9EED5C4E88}">
      <dgm:prSet/>
      <dgm:spPr/>
      <dgm:t>
        <a:bodyPr/>
        <a:lstStyle/>
        <a:p>
          <a:endParaRPr lang="en-US"/>
        </a:p>
      </dgm:t>
    </dgm:pt>
    <dgm:pt modelId="{62B6D67E-7BBD-47B4-A030-EB9A65BD8F3D}">
      <dgm:prSet phldrT="[Text]"/>
      <dgm:spPr/>
      <dgm:t>
        <a:bodyPr/>
        <a:lstStyle/>
        <a:p>
          <a:r>
            <a:rPr lang="en-US" dirty="0"/>
            <a:t>Range</a:t>
          </a:r>
        </a:p>
      </dgm:t>
    </dgm:pt>
    <dgm:pt modelId="{2E8CB546-5964-48FE-98A9-F748B9827118}" type="parTrans" cxnId="{4922D231-F9A6-401B-A184-FA45E656C133}">
      <dgm:prSet/>
      <dgm:spPr/>
      <dgm:t>
        <a:bodyPr/>
        <a:lstStyle/>
        <a:p>
          <a:endParaRPr lang="en-US"/>
        </a:p>
      </dgm:t>
    </dgm:pt>
    <dgm:pt modelId="{09471536-3723-40B5-9A0F-1E6C50749942}" type="sibTrans" cxnId="{4922D231-F9A6-401B-A184-FA45E656C133}">
      <dgm:prSet/>
      <dgm:spPr/>
      <dgm:t>
        <a:bodyPr/>
        <a:lstStyle/>
        <a:p>
          <a:endParaRPr lang="en-US"/>
        </a:p>
      </dgm:t>
    </dgm:pt>
    <dgm:pt modelId="{1A5F3915-6C14-41D1-8E1D-E6D4782E0F57}" type="pres">
      <dgm:prSet presAssocID="{A0DD7DFA-7441-4C42-9718-830A0CA1FBB6}" presName="Name0" presStyleCnt="0">
        <dgm:presLayoutVars>
          <dgm:chMax val="7"/>
          <dgm:resizeHandles val="exact"/>
        </dgm:presLayoutVars>
      </dgm:prSet>
      <dgm:spPr/>
    </dgm:pt>
    <dgm:pt modelId="{931D4770-3833-467E-B0F1-E9FDF0F1CCA2}" type="pres">
      <dgm:prSet presAssocID="{A0DD7DFA-7441-4C42-9718-830A0CA1FBB6}" presName="comp1" presStyleCnt="0"/>
      <dgm:spPr/>
    </dgm:pt>
    <dgm:pt modelId="{75053290-F5AD-48E1-8A4E-C4642C48FAB2}" type="pres">
      <dgm:prSet presAssocID="{A0DD7DFA-7441-4C42-9718-830A0CA1FBB6}" presName="circle1" presStyleLbl="node1" presStyleIdx="0" presStyleCnt="4"/>
      <dgm:spPr/>
    </dgm:pt>
    <dgm:pt modelId="{805CB2AD-4530-4102-8B4F-56FD4B5675DB}" type="pres">
      <dgm:prSet presAssocID="{A0DD7DFA-7441-4C42-9718-830A0CA1FBB6}" presName="c1text" presStyleLbl="node1" presStyleIdx="0" presStyleCnt="4">
        <dgm:presLayoutVars>
          <dgm:bulletEnabled val="1"/>
        </dgm:presLayoutVars>
      </dgm:prSet>
      <dgm:spPr/>
    </dgm:pt>
    <dgm:pt modelId="{F7072024-D463-4C2B-85A8-FCECD5D19420}" type="pres">
      <dgm:prSet presAssocID="{A0DD7DFA-7441-4C42-9718-830A0CA1FBB6}" presName="comp2" presStyleCnt="0"/>
      <dgm:spPr/>
    </dgm:pt>
    <dgm:pt modelId="{69EE57C3-E91C-4BEB-9F1B-6A2A7C8F7AF4}" type="pres">
      <dgm:prSet presAssocID="{A0DD7DFA-7441-4C42-9718-830A0CA1FBB6}" presName="circle2" presStyleLbl="node1" presStyleIdx="1" presStyleCnt="4"/>
      <dgm:spPr/>
    </dgm:pt>
    <dgm:pt modelId="{E49758E2-864B-4C59-8401-C9C5C0FA9B82}" type="pres">
      <dgm:prSet presAssocID="{A0DD7DFA-7441-4C42-9718-830A0CA1FBB6}" presName="c2text" presStyleLbl="node1" presStyleIdx="1" presStyleCnt="4">
        <dgm:presLayoutVars>
          <dgm:bulletEnabled val="1"/>
        </dgm:presLayoutVars>
      </dgm:prSet>
      <dgm:spPr/>
    </dgm:pt>
    <dgm:pt modelId="{BA66E472-9DDD-4F04-A0DB-42704F61DF7F}" type="pres">
      <dgm:prSet presAssocID="{A0DD7DFA-7441-4C42-9718-830A0CA1FBB6}" presName="comp3" presStyleCnt="0"/>
      <dgm:spPr/>
    </dgm:pt>
    <dgm:pt modelId="{B8F1E722-681E-4BFD-B309-E0E8CB6B45F4}" type="pres">
      <dgm:prSet presAssocID="{A0DD7DFA-7441-4C42-9718-830A0CA1FBB6}" presName="circle3" presStyleLbl="node1" presStyleIdx="2" presStyleCnt="4"/>
      <dgm:spPr/>
    </dgm:pt>
    <dgm:pt modelId="{8A56A08E-3D4B-4440-80E4-80031B4ECFFA}" type="pres">
      <dgm:prSet presAssocID="{A0DD7DFA-7441-4C42-9718-830A0CA1FBB6}" presName="c3text" presStyleLbl="node1" presStyleIdx="2" presStyleCnt="4">
        <dgm:presLayoutVars>
          <dgm:bulletEnabled val="1"/>
        </dgm:presLayoutVars>
      </dgm:prSet>
      <dgm:spPr/>
    </dgm:pt>
    <dgm:pt modelId="{269E2245-608F-4AD3-B1EE-637283B5804E}" type="pres">
      <dgm:prSet presAssocID="{A0DD7DFA-7441-4C42-9718-830A0CA1FBB6}" presName="comp4" presStyleCnt="0"/>
      <dgm:spPr/>
    </dgm:pt>
    <dgm:pt modelId="{FFE5AB0C-64A4-4A03-8B24-B0AB6B8713D6}" type="pres">
      <dgm:prSet presAssocID="{A0DD7DFA-7441-4C42-9718-830A0CA1FBB6}" presName="circle4" presStyleLbl="node1" presStyleIdx="3" presStyleCnt="4"/>
      <dgm:spPr/>
    </dgm:pt>
    <dgm:pt modelId="{F2BD4D0A-702B-4F23-ADB3-8B527ADE83DD}" type="pres">
      <dgm:prSet presAssocID="{A0DD7DFA-7441-4C42-9718-830A0CA1FBB6}" presName="c4text" presStyleLbl="node1" presStyleIdx="3" presStyleCnt="4">
        <dgm:presLayoutVars>
          <dgm:bulletEnabled val="1"/>
        </dgm:presLayoutVars>
      </dgm:prSet>
      <dgm:spPr/>
    </dgm:pt>
  </dgm:ptLst>
  <dgm:cxnLst>
    <dgm:cxn modelId="{732C2401-02F5-4EED-8D15-4E04886838A8}" type="presOf" srcId="{7D7AFE02-6038-49C2-8C54-0FA442F004C0}" destId="{E49758E2-864B-4C59-8401-C9C5C0FA9B82}" srcOrd="1" destOrd="0" presId="urn:microsoft.com/office/officeart/2005/8/layout/venn2"/>
    <dgm:cxn modelId="{4922D231-F9A6-401B-A184-FA45E656C133}" srcId="{A0DD7DFA-7441-4C42-9718-830A0CA1FBB6}" destId="{62B6D67E-7BBD-47B4-A030-EB9A65BD8F3D}" srcOrd="3" destOrd="0" parTransId="{2E8CB546-5964-48FE-98A9-F748B9827118}" sibTransId="{09471536-3723-40B5-9A0F-1E6C50749942}"/>
    <dgm:cxn modelId="{7479CB38-76A7-45E9-95E6-679939DE6F35}" type="presOf" srcId="{D79177C4-EBD8-4055-A187-B29B915BC155}" destId="{75053290-F5AD-48E1-8A4E-C4642C48FAB2}" srcOrd="0" destOrd="0" presId="urn:microsoft.com/office/officeart/2005/8/layout/venn2"/>
    <dgm:cxn modelId="{2FB74A3C-B86B-46CE-BAD9-C2ECBF6F2849}" type="presOf" srcId="{62B6D67E-7BBD-47B4-A030-EB9A65BD8F3D}" destId="{F2BD4D0A-702B-4F23-ADB3-8B527ADE83DD}" srcOrd="1" destOrd="0" presId="urn:microsoft.com/office/officeart/2005/8/layout/venn2"/>
    <dgm:cxn modelId="{3C21A43E-88B4-4675-A710-2D03A3D8EF40}" srcId="{A0DD7DFA-7441-4C42-9718-830A0CA1FBB6}" destId="{7D7AFE02-6038-49C2-8C54-0FA442F004C0}" srcOrd="1" destOrd="0" parTransId="{6F95FF6A-515B-40F6-8A81-BE240CA03197}" sibTransId="{C7CBA168-298F-4B12-BF91-D91C6B128942}"/>
    <dgm:cxn modelId="{9E89716B-2DCA-4647-9C6D-25996A67B2F7}" type="presOf" srcId="{D79177C4-EBD8-4055-A187-B29B915BC155}" destId="{805CB2AD-4530-4102-8B4F-56FD4B5675DB}" srcOrd="1" destOrd="0" presId="urn:microsoft.com/office/officeart/2005/8/layout/venn2"/>
    <dgm:cxn modelId="{6D870786-2BB5-4AD7-83DF-C5981BFCBF49}" type="presOf" srcId="{A0DD7DFA-7441-4C42-9718-830A0CA1FBB6}" destId="{1A5F3915-6C14-41D1-8E1D-E6D4782E0F57}" srcOrd="0" destOrd="0" presId="urn:microsoft.com/office/officeart/2005/8/layout/venn2"/>
    <dgm:cxn modelId="{DC70AC90-BB59-4E4E-B347-6780AA3EE092}" type="presOf" srcId="{62B6D67E-7BBD-47B4-A030-EB9A65BD8F3D}" destId="{FFE5AB0C-64A4-4A03-8B24-B0AB6B8713D6}" srcOrd="0" destOrd="0" presId="urn:microsoft.com/office/officeart/2005/8/layout/venn2"/>
    <dgm:cxn modelId="{4A44A89C-5409-465F-9436-467E52408A7C}" type="presOf" srcId="{33099710-9B62-43A3-B449-73568F776B16}" destId="{B8F1E722-681E-4BFD-B309-E0E8CB6B45F4}" srcOrd="0" destOrd="0" presId="urn:microsoft.com/office/officeart/2005/8/layout/venn2"/>
    <dgm:cxn modelId="{DF246CB5-3D44-4FDF-846B-0C9EED5C4E88}" srcId="{A0DD7DFA-7441-4C42-9718-830A0CA1FBB6}" destId="{33099710-9B62-43A3-B449-73568F776B16}" srcOrd="2" destOrd="0" parTransId="{2EDA5882-52DA-46F4-9CC2-0EE6B6020BAD}" sibTransId="{C7D633B9-346F-49E6-B5FD-E33A5D037912}"/>
    <dgm:cxn modelId="{B6FFB5C9-0B28-488C-9EDF-D8467C67FA74}" type="presOf" srcId="{7D7AFE02-6038-49C2-8C54-0FA442F004C0}" destId="{69EE57C3-E91C-4BEB-9F1B-6A2A7C8F7AF4}" srcOrd="0" destOrd="0" presId="urn:microsoft.com/office/officeart/2005/8/layout/venn2"/>
    <dgm:cxn modelId="{23B747CF-7ED1-4BEC-91A0-99FAC7E4095A}" type="presOf" srcId="{33099710-9B62-43A3-B449-73568F776B16}" destId="{8A56A08E-3D4B-4440-80E4-80031B4ECFFA}" srcOrd="1" destOrd="0" presId="urn:microsoft.com/office/officeart/2005/8/layout/venn2"/>
    <dgm:cxn modelId="{2EE78CE6-0FF8-4813-8A94-9214617F880C}" srcId="{A0DD7DFA-7441-4C42-9718-830A0CA1FBB6}" destId="{D79177C4-EBD8-4055-A187-B29B915BC155}" srcOrd="0" destOrd="0" parTransId="{8B6A8AF9-4E80-4678-9D8D-DF3B4FC41152}" sibTransId="{67F0F6DC-64F9-4010-B723-713ABE775E4D}"/>
    <dgm:cxn modelId="{307E87A3-84FF-4042-A84E-CFE694C9A8A3}" type="presParOf" srcId="{1A5F3915-6C14-41D1-8E1D-E6D4782E0F57}" destId="{931D4770-3833-467E-B0F1-E9FDF0F1CCA2}" srcOrd="0" destOrd="0" presId="urn:microsoft.com/office/officeart/2005/8/layout/venn2"/>
    <dgm:cxn modelId="{7BA68F7B-1D08-4C38-8147-3007334F6941}" type="presParOf" srcId="{931D4770-3833-467E-B0F1-E9FDF0F1CCA2}" destId="{75053290-F5AD-48E1-8A4E-C4642C48FAB2}" srcOrd="0" destOrd="0" presId="urn:microsoft.com/office/officeart/2005/8/layout/venn2"/>
    <dgm:cxn modelId="{E4D8315C-8277-4A30-984C-533CBE433C06}" type="presParOf" srcId="{931D4770-3833-467E-B0F1-E9FDF0F1CCA2}" destId="{805CB2AD-4530-4102-8B4F-56FD4B5675DB}" srcOrd="1" destOrd="0" presId="urn:microsoft.com/office/officeart/2005/8/layout/venn2"/>
    <dgm:cxn modelId="{85D288D6-4A00-447D-9E0B-14CDFAF5C704}" type="presParOf" srcId="{1A5F3915-6C14-41D1-8E1D-E6D4782E0F57}" destId="{F7072024-D463-4C2B-85A8-FCECD5D19420}" srcOrd="1" destOrd="0" presId="urn:microsoft.com/office/officeart/2005/8/layout/venn2"/>
    <dgm:cxn modelId="{CE75B485-9BA2-49A1-A1BE-C18BC46B13FF}" type="presParOf" srcId="{F7072024-D463-4C2B-85A8-FCECD5D19420}" destId="{69EE57C3-E91C-4BEB-9F1B-6A2A7C8F7AF4}" srcOrd="0" destOrd="0" presId="urn:microsoft.com/office/officeart/2005/8/layout/venn2"/>
    <dgm:cxn modelId="{8FC61302-9306-4323-9E5F-E563BAD3238F}" type="presParOf" srcId="{F7072024-D463-4C2B-85A8-FCECD5D19420}" destId="{E49758E2-864B-4C59-8401-C9C5C0FA9B82}" srcOrd="1" destOrd="0" presId="urn:microsoft.com/office/officeart/2005/8/layout/venn2"/>
    <dgm:cxn modelId="{A7495586-5E76-443F-BBC6-CE696A98E770}" type="presParOf" srcId="{1A5F3915-6C14-41D1-8E1D-E6D4782E0F57}" destId="{BA66E472-9DDD-4F04-A0DB-42704F61DF7F}" srcOrd="2" destOrd="0" presId="urn:microsoft.com/office/officeart/2005/8/layout/venn2"/>
    <dgm:cxn modelId="{FC14C367-64F8-4986-945C-3E1E1463E262}" type="presParOf" srcId="{BA66E472-9DDD-4F04-A0DB-42704F61DF7F}" destId="{B8F1E722-681E-4BFD-B309-E0E8CB6B45F4}" srcOrd="0" destOrd="0" presId="urn:microsoft.com/office/officeart/2005/8/layout/venn2"/>
    <dgm:cxn modelId="{4FF6B627-73D4-43B0-AEC3-AE8A280081D2}" type="presParOf" srcId="{BA66E472-9DDD-4F04-A0DB-42704F61DF7F}" destId="{8A56A08E-3D4B-4440-80E4-80031B4ECFFA}" srcOrd="1" destOrd="0" presId="urn:microsoft.com/office/officeart/2005/8/layout/venn2"/>
    <dgm:cxn modelId="{803F70FB-688C-4AA5-8CCA-1DD79FAB305E}" type="presParOf" srcId="{1A5F3915-6C14-41D1-8E1D-E6D4782E0F57}" destId="{269E2245-608F-4AD3-B1EE-637283B5804E}" srcOrd="3" destOrd="0" presId="urn:microsoft.com/office/officeart/2005/8/layout/venn2"/>
    <dgm:cxn modelId="{5C0840DC-ECE6-4EAA-94D4-4E826724AC82}" type="presParOf" srcId="{269E2245-608F-4AD3-B1EE-637283B5804E}" destId="{FFE5AB0C-64A4-4A03-8B24-B0AB6B8713D6}" srcOrd="0" destOrd="0" presId="urn:microsoft.com/office/officeart/2005/8/layout/venn2"/>
    <dgm:cxn modelId="{DDAB3586-4CF0-4EC4-964E-7D98A8AE017A}" type="presParOf" srcId="{269E2245-608F-4AD3-B1EE-637283B5804E}" destId="{F2BD4D0A-702B-4F23-ADB3-8B527ADE83DD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0DD7DFA-7441-4C42-9718-830A0CA1FBB6}" type="doc">
      <dgm:prSet loTypeId="urn:microsoft.com/office/officeart/2005/8/layout/venn2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79177C4-EBD8-4055-A187-B29B915BC155}">
      <dgm:prSet phldrT="[Text]"/>
      <dgm:spPr/>
      <dgm:t>
        <a:bodyPr/>
        <a:lstStyle/>
        <a:p>
          <a:r>
            <a:rPr lang="en-US" dirty="0"/>
            <a:t>Excel</a:t>
          </a:r>
        </a:p>
      </dgm:t>
    </dgm:pt>
    <dgm:pt modelId="{8B6A8AF9-4E80-4678-9D8D-DF3B4FC41152}" type="parTrans" cxnId="{2EE78CE6-0FF8-4813-8A94-9214617F880C}">
      <dgm:prSet/>
      <dgm:spPr/>
      <dgm:t>
        <a:bodyPr/>
        <a:lstStyle/>
        <a:p>
          <a:endParaRPr lang="en-US"/>
        </a:p>
      </dgm:t>
    </dgm:pt>
    <dgm:pt modelId="{67F0F6DC-64F9-4010-B723-713ABE775E4D}" type="sibTrans" cxnId="{2EE78CE6-0FF8-4813-8A94-9214617F880C}">
      <dgm:prSet/>
      <dgm:spPr/>
      <dgm:t>
        <a:bodyPr/>
        <a:lstStyle/>
        <a:p>
          <a:endParaRPr lang="en-US"/>
        </a:p>
      </dgm:t>
    </dgm:pt>
    <dgm:pt modelId="{7D7AFE02-6038-49C2-8C54-0FA442F004C0}">
      <dgm:prSet phldrT="[Text]"/>
      <dgm:spPr/>
      <dgm:t>
        <a:bodyPr/>
        <a:lstStyle/>
        <a:p>
          <a:r>
            <a:rPr lang="en-US" dirty="0"/>
            <a:t>Workbook</a:t>
          </a:r>
        </a:p>
      </dgm:t>
    </dgm:pt>
    <dgm:pt modelId="{6F95FF6A-515B-40F6-8A81-BE240CA03197}" type="parTrans" cxnId="{3C21A43E-88B4-4675-A710-2D03A3D8EF40}">
      <dgm:prSet/>
      <dgm:spPr/>
      <dgm:t>
        <a:bodyPr/>
        <a:lstStyle/>
        <a:p>
          <a:endParaRPr lang="en-US"/>
        </a:p>
      </dgm:t>
    </dgm:pt>
    <dgm:pt modelId="{C7CBA168-298F-4B12-BF91-D91C6B128942}" type="sibTrans" cxnId="{3C21A43E-88B4-4675-A710-2D03A3D8EF40}">
      <dgm:prSet/>
      <dgm:spPr/>
      <dgm:t>
        <a:bodyPr/>
        <a:lstStyle/>
        <a:p>
          <a:endParaRPr lang="en-US"/>
        </a:p>
      </dgm:t>
    </dgm:pt>
    <dgm:pt modelId="{33099710-9B62-43A3-B449-73568F776B16}">
      <dgm:prSet phldrT="[Text]"/>
      <dgm:spPr/>
      <dgm:t>
        <a:bodyPr/>
        <a:lstStyle/>
        <a:p>
          <a:r>
            <a:rPr lang="en-US" dirty="0"/>
            <a:t>Worksheet</a:t>
          </a:r>
        </a:p>
      </dgm:t>
    </dgm:pt>
    <dgm:pt modelId="{2EDA5882-52DA-46F4-9CC2-0EE6B6020BAD}" type="parTrans" cxnId="{DF246CB5-3D44-4FDF-846B-0C9EED5C4E88}">
      <dgm:prSet/>
      <dgm:spPr/>
      <dgm:t>
        <a:bodyPr/>
        <a:lstStyle/>
        <a:p>
          <a:endParaRPr lang="en-US"/>
        </a:p>
      </dgm:t>
    </dgm:pt>
    <dgm:pt modelId="{C7D633B9-346F-49E6-B5FD-E33A5D037912}" type="sibTrans" cxnId="{DF246CB5-3D44-4FDF-846B-0C9EED5C4E88}">
      <dgm:prSet/>
      <dgm:spPr/>
      <dgm:t>
        <a:bodyPr/>
        <a:lstStyle/>
        <a:p>
          <a:endParaRPr lang="en-US"/>
        </a:p>
      </dgm:t>
    </dgm:pt>
    <dgm:pt modelId="{62B6D67E-7BBD-47B4-A030-EB9A65BD8F3D}">
      <dgm:prSet phldrT="[Text]"/>
      <dgm:spPr/>
      <dgm:t>
        <a:bodyPr/>
        <a:lstStyle/>
        <a:p>
          <a:r>
            <a:rPr lang="en-US" dirty="0"/>
            <a:t>Range</a:t>
          </a:r>
        </a:p>
      </dgm:t>
    </dgm:pt>
    <dgm:pt modelId="{2E8CB546-5964-48FE-98A9-F748B9827118}" type="parTrans" cxnId="{4922D231-F9A6-401B-A184-FA45E656C133}">
      <dgm:prSet/>
      <dgm:spPr/>
      <dgm:t>
        <a:bodyPr/>
        <a:lstStyle/>
        <a:p>
          <a:endParaRPr lang="en-US"/>
        </a:p>
      </dgm:t>
    </dgm:pt>
    <dgm:pt modelId="{09471536-3723-40B5-9A0F-1E6C50749942}" type="sibTrans" cxnId="{4922D231-F9A6-401B-A184-FA45E656C133}">
      <dgm:prSet/>
      <dgm:spPr/>
      <dgm:t>
        <a:bodyPr/>
        <a:lstStyle/>
        <a:p>
          <a:endParaRPr lang="en-US"/>
        </a:p>
      </dgm:t>
    </dgm:pt>
    <dgm:pt modelId="{1A5F3915-6C14-41D1-8E1D-E6D4782E0F57}" type="pres">
      <dgm:prSet presAssocID="{A0DD7DFA-7441-4C42-9718-830A0CA1FBB6}" presName="Name0" presStyleCnt="0">
        <dgm:presLayoutVars>
          <dgm:chMax val="7"/>
          <dgm:resizeHandles val="exact"/>
        </dgm:presLayoutVars>
      </dgm:prSet>
      <dgm:spPr/>
    </dgm:pt>
    <dgm:pt modelId="{931D4770-3833-467E-B0F1-E9FDF0F1CCA2}" type="pres">
      <dgm:prSet presAssocID="{A0DD7DFA-7441-4C42-9718-830A0CA1FBB6}" presName="comp1" presStyleCnt="0"/>
      <dgm:spPr/>
    </dgm:pt>
    <dgm:pt modelId="{75053290-F5AD-48E1-8A4E-C4642C48FAB2}" type="pres">
      <dgm:prSet presAssocID="{A0DD7DFA-7441-4C42-9718-830A0CA1FBB6}" presName="circle1" presStyleLbl="node1" presStyleIdx="0" presStyleCnt="4"/>
      <dgm:spPr/>
    </dgm:pt>
    <dgm:pt modelId="{805CB2AD-4530-4102-8B4F-56FD4B5675DB}" type="pres">
      <dgm:prSet presAssocID="{A0DD7DFA-7441-4C42-9718-830A0CA1FBB6}" presName="c1text" presStyleLbl="node1" presStyleIdx="0" presStyleCnt="4">
        <dgm:presLayoutVars>
          <dgm:bulletEnabled val="1"/>
        </dgm:presLayoutVars>
      </dgm:prSet>
      <dgm:spPr/>
    </dgm:pt>
    <dgm:pt modelId="{F7072024-D463-4C2B-85A8-FCECD5D19420}" type="pres">
      <dgm:prSet presAssocID="{A0DD7DFA-7441-4C42-9718-830A0CA1FBB6}" presName="comp2" presStyleCnt="0"/>
      <dgm:spPr/>
    </dgm:pt>
    <dgm:pt modelId="{69EE57C3-E91C-4BEB-9F1B-6A2A7C8F7AF4}" type="pres">
      <dgm:prSet presAssocID="{A0DD7DFA-7441-4C42-9718-830A0CA1FBB6}" presName="circle2" presStyleLbl="node1" presStyleIdx="1" presStyleCnt="4"/>
      <dgm:spPr/>
    </dgm:pt>
    <dgm:pt modelId="{E49758E2-864B-4C59-8401-C9C5C0FA9B82}" type="pres">
      <dgm:prSet presAssocID="{A0DD7DFA-7441-4C42-9718-830A0CA1FBB6}" presName="c2text" presStyleLbl="node1" presStyleIdx="1" presStyleCnt="4">
        <dgm:presLayoutVars>
          <dgm:bulletEnabled val="1"/>
        </dgm:presLayoutVars>
      </dgm:prSet>
      <dgm:spPr/>
    </dgm:pt>
    <dgm:pt modelId="{BA66E472-9DDD-4F04-A0DB-42704F61DF7F}" type="pres">
      <dgm:prSet presAssocID="{A0DD7DFA-7441-4C42-9718-830A0CA1FBB6}" presName="comp3" presStyleCnt="0"/>
      <dgm:spPr/>
    </dgm:pt>
    <dgm:pt modelId="{B8F1E722-681E-4BFD-B309-E0E8CB6B45F4}" type="pres">
      <dgm:prSet presAssocID="{A0DD7DFA-7441-4C42-9718-830A0CA1FBB6}" presName="circle3" presStyleLbl="node1" presStyleIdx="2" presStyleCnt="4"/>
      <dgm:spPr/>
    </dgm:pt>
    <dgm:pt modelId="{8A56A08E-3D4B-4440-80E4-80031B4ECFFA}" type="pres">
      <dgm:prSet presAssocID="{A0DD7DFA-7441-4C42-9718-830A0CA1FBB6}" presName="c3text" presStyleLbl="node1" presStyleIdx="2" presStyleCnt="4">
        <dgm:presLayoutVars>
          <dgm:bulletEnabled val="1"/>
        </dgm:presLayoutVars>
      </dgm:prSet>
      <dgm:spPr/>
    </dgm:pt>
    <dgm:pt modelId="{269E2245-608F-4AD3-B1EE-637283B5804E}" type="pres">
      <dgm:prSet presAssocID="{A0DD7DFA-7441-4C42-9718-830A0CA1FBB6}" presName="comp4" presStyleCnt="0"/>
      <dgm:spPr/>
    </dgm:pt>
    <dgm:pt modelId="{FFE5AB0C-64A4-4A03-8B24-B0AB6B8713D6}" type="pres">
      <dgm:prSet presAssocID="{A0DD7DFA-7441-4C42-9718-830A0CA1FBB6}" presName="circle4" presStyleLbl="node1" presStyleIdx="3" presStyleCnt="4"/>
      <dgm:spPr/>
    </dgm:pt>
    <dgm:pt modelId="{F2BD4D0A-702B-4F23-ADB3-8B527ADE83DD}" type="pres">
      <dgm:prSet presAssocID="{A0DD7DFA-7441-4C42-9718-830A0CA1FBB6}" presName="c4text" presStyleLbl="node1" presStyleIdx="3" presStyleCnt="4">
        <dgm:presLayoutVars>
          <dgm:bulletEnabled val="1"/>
        </dgm:presLayoutVars>
      </dgm:prSet>
      <dgm:spPr/>
    </dgm:pt>
  </dgm:ptLst>
  <dgm:cxnLst>
    <dgm:cxn modelId="{732C2401-02F5-4EED-8D15-4E04886838A8}" type="presOf" srcId="{7D7AFE02-6038-49C2-8C54-0FA442F004C0}" destId="{E49758E2-864B-4C59-8401-C9C5C0FA9B82}" srcOrd="1" destOrd="0" presId="urn:microsoft.com/office/officeart/2005/8/layout/venn2"/>
    <dgm:cxn modelId="{4922D231-F9A6-401B-A184-FA45E656C133}" srcId="{A0DD7DFA-7441-4C42-9718-830A0CA1FBB6}" destId="{62B6D67E-7BBD-47B4-A030-EB9A65BD8F3D}" srcOrd="3" destOrd="0" parTransId="{2E8CB546-5964-48FE-98A9-F748B9827118}" sibTransId="{09471536-3723-40B5-9A0F-1E6C50749942}"/>
    <dgm:cxn modelId="{7479CB38-76A7-45E9-95E6-679939DE6F35}" type="presOf" srcId="{D79177C4-EBD8-4055-A187-B29B915BC155}" destId="{75053290-F5AD-48E1-8A4E-C4642C48FAB2}" srcOrd="0" destOrd="0" presId="urn:microsoft.com/office/officeart/2005/8/layout/venn2"/>
    <dgm:cxn modelId="{2FB74A3C-B86B-46CE-BAD9-C2ECBF6F2849}" type="presOf" srcId="{62B6D67E-7BBD-47B4-A030-EB9A65BD8F3D}" destId="{F2BD4D0A-702B-4F23-ADB3-8B527ADE83DD}" srcOrd="1" destOrd="0" presId="urn:microsoft.com/office/officeart/2005/8/layout/venn2"/>
    <dgm:cxn modelId="{3C21A43E-88B4-4675-A710-2D03A3D8EF40}" srcId="{A0DD7DFA-7441-4C42-9718-830A0CA1FBB6}" destId="{7D7AFE02-6038-49C2-8C54-0FA442F004C0}" srcOrd="1" destOrd="0" parTransId="{6F95FF6A-515B-40F6-8A81-BE240CA03197}" sibTransId="{C7CBA168-298F-4B12-BF91-D91C6B128942}"/>
    <dgm:cxn modelId="{9E89716B-2DCA-4647-9C6D-25996A67B2F7}" type="presOf" srcId="{D79177C4-EBD8-4055-A187-B29B915BC155}" destId="{805CB2AD-4530-4102-8B4F-56FD4B5675DB}" srcOrd="1" destOrd="0" presId="urn:microsoft.com/office/officeart/2005/8/layout/venn2"/>
    <dgm:cxn modelId="{6D870786-2BB5-4AD7-83DF-C5981BFCBF49}" type="presOf" srcId="{A0DD7DFA-7441-4C42-9718-830A0CA1FBB6}" destId="{1A5F3915-6C14-41D1-8E1D-E6D4782E0F57}" srcOrd="0" destOrd="0" presId="urn:microsoft.com/office/officeart/2005/8/layout/venn2"/>
    <dgm:cxn modelId="{DC70AC90-BB59-4E4E-B347-6780AA3EE092}" type="presOf" srcId="{62B6D67E-7BBD-47B4-A030-EB9A65BD8F3D}" destId="{FFE5AB0C-64A4-4A03-8B24-B0AB6B8713D6}" srcOrd="0" destOrd="0" presId="urn:microsoft.com/office/officeart/2005/8/layout/venn2"/>
    <dgm:cxn modelId="{4A44A89C-5409-465F-9436-467E52408A7C}" type="presOf" srcId="{33099710-9B62-43A3-B449-73568F776B16}" destId="{B8F1E722-681E-4BFD-B309-E0E8CB6B45F4}" srcOrd="0" destOrd="0" presId="urn:microsoft.com/office/officeart/2005/8/layout/venn2"/>
    <dgm:cxn modelId="{DF246CB5-3D44-4FDF-846B-0C9EED5C4E88}" srcId="{A0DD7DFA-7441-4C42-9718-830A0CA1FBB6}" destId="{33099710-9B62-43A3-B449-73568F776B16}" srcOrd="2" destOrd="0" parTransId="{2EDA5882-52DA-46F4-9CC2-0EE6B6020BAD}" sibTransId="{C7D633B9-346F-49E6-B5FD-E33A5D037912}"/>
    <dgm:cxn modelId="{B6FFB5C9-0B28-488C-9EDF-D8467C67FA74}" type="presOf" srcId="{7D7AFE02-6038-49C2-8C54-0FA442F004C0}" destId="{69EE57C3-E91C-4BEB-9F1B-6A2A7C8F7AF4}" srcOrd="0" destOrd="0" presId="urn:microsoft.com/office/officeart/2005/8/layout/venn2"/>
    <dgm:cxn modelId="{23B747CF-7ED1-4BEC-91A0-99FAC7E4095A}" type="presOf" srcId="{33099710-9B62-43A3-B449-73568F776B16}" destId="{8A56A08E-3D4B-4440-80E4-80031B4ECFFA}" srcOrd="1" destOrd="0" presId="urn:microsoft.com/office/officeart/2005/8/layout/venn2"/>
    <dgm:cxn modelId="{2EE78CE6-0FF8-4813-8A94-9214617F880C}" srcId="{A0DD7DFA-7441-4C42-9718-830A0CA1FBB6}" destId="{D79177C4-EBD8-4055-A187-B29B915BC155}" srcOrd="0" destOrd="0" parTransId="{8B6A8AF9-4E80-4678-9D8D-DF3B4FC41152}" sibTransId="{67F0F6DC-64F9-4010-B723-713ABE775E4D}"/>
    <dgm:cxn modelId="{307E87A3-84FF-4042-A84E-CFE694C9A8A3}" type="presParOf" srcId="{1A5F3915-6C14-41D1-8E1D-E6D4782E0F57}" destId="{931D4770-3833-467E-B0F1-E9FDF0F1CCA2}" srcOrd="0" destOrd="0" presId="urn:microsoft.com/office/officeart/2005/8/layout/venn2"/>
    <dgm:cxn modelId="{7BA68F7B-1D08-4C38-8147-3007334F6941}" type="presParOf" srcId="{931D4770-3833-467E-B0F1-E9FDF0F1CCA2}" destId="{75053290-F5AD-48E1-8A4E-C4642C48FAB2}" srcOrd="0" destOrd="0" presId="urn:microsoft.com/office/officeart/2005/8/layout/venn2"/>
    <dgm:cxn modelId="{E4D8315C-8277-4A30-984C-533CBE433C06}" type="presParOf" srcId="{931D4770-3833-467E-B0F1-E9FDF0F1CCA2}" destId="{805CB2AD-4530-4102-8B4F-56FD4B5675DB}" srcOrd="1" destOrd="0" presId="urn:microsoft.com/office/officeart/2005/8/layout/venn2"/>
    <dgm:cxn modelId="{85D288D6-4A00-447D-9E0B-14CDFAF5C704}" type="presParOf" srcId="{1A5F3915-6C14-41D1-8E1D-E6D4782E0F57}" destId="{F7072024-D463-4C2B-85A8-FCECD5D19420}" srcOrd="1" destOrd="0" presId="urn:microsoft.com/office/officeart/2005/8/layout/venn2"/>
    <dgm:cxn modelId="{CE75B485-9BA2-49A1-A1BE-C18BC46B13FF}" type="presParOf" srcId="{F7072024-D463-4C2B-85A8-FCECD5D19420}" destId="{69EE57C3-E91C-4BEB-9F1B-6A2A7C8F7AF4}" srcOrd="0" destOrd="0" presId="urn:microsoft.com/office/officeart/2005/8/layout/venn2"/>
    <dgm:cxn modelId="{8FC61302-9306-4323-9E5F-E563BAD3238F}" type="presParOf" srcId="{F7072024-D463-4C2B-85A8-FCECD5D19420}" destId="{E49758E2-864B-4C59-8401-C9C5C0FA9B82}" srcOrd="1" destOrd="0" presId="urn:microsoft.com/office/officeart/2005/8/layout/venn2"/>
    <dgm:cxn modelId="{A7495586-5E76-443F-BBC6-CE696A98E770}" type="presParOf" srcId="{1A5F3915-6C14-41D1-8E1D-E6D4782E0F57}" destId="{BA66E472-9DDD-4F04-A0DB-42704F61DF7F}" srcOrd="2" destOrd="0" presId="urn:microsoft.com/office/officeart/2005/8/layout/venn2"/>
    <dgm:cxn modelId="{FC14C367-64F8-4986-945C-3E1E1463E262}" type="presParOf" srcId="{BA66E472-9DDD-4F04-A0DB-42704F61DF7F}" destId="{B8F1E722-681E-4BFD-B309-E0E8CB6B45F4}" srcOrd="0" destOrd="0" presId="urn:microsoft.com/office/officeart/2005/8/layout/venn2"/>
    <dgm:cxn modelId="{4FF6B627-73D4-43B0-AEC3-AE8A280081D2}" type="presParOf" srcId="{BA66E472-9DDD-4F04-A0DB-42704F61DF7F}" destId="{8A56A08E-3D4B-4440-80E4-80031B4ECFFA}" srcOrd="1" destOrd="0" presId="urn:microsoft.com/office/officeart/2005/8/layout/venn2"/>
    <dgm:cxn modelId="{803F70FB-688C-4AA5-8CCA-1DD79FAB305E}" type="presParOf" srcId="{1A5F3915-6C14-41D1-8E1D-E6D4782E0F57}" destId="{269E2245-608F-4AD3-B1EE-637283B5804E}" srcOrd="3" destOrd="0" presId="urn:microsoft.com/office/officeart/2005/8/layout/venn2"/>
    <dgm:cxn modelId="{5C0840DC-ECE6-4EAA-94D4-4E826724AC82}" type="presParOf" srcId="{269E2245-608F-4AD3-B1EE-637283B5804E}" destId="{FFE5AB0C-64A4-4A03-8B24-B0AB6B8713D6}" srcOrd="0" destOrd="0" presId="urn:microsoft.com/office/officeart/2005/8/layout/venn2"/>
    <dgm:cxn modelId="{DDAB3586-4CF0-4EC4-964E-7D98A8AE017A}" type="presParOf" srcId="{269E2245-608F-4AD3-B1EE-637283B5804E}" destId="{F2BD4D0A-702B-4F23-ADB3-8B527ADE83DD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DD7DFA-7441-4C42-9718-830A0CA1FBB6}" type="doc">
      <dgm:prSet loTypeId="urn:microsoft.com/office/officeart/2005/8/layout/venn2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A5F3915-6C14-41D1-8E1D-E6D4782E0F57}" type="pres">
      <dgm:prSet presAssocID="{A0DD7DFA-7441-4C42-9718-830A0CA1FBB6}" presName="Name0" presStyleCnt="0">
        <dgm:presLayoutVars>
          <dgm:chMax val="7"/>
          <dgm:resizeHandles val="exact"/>
        </dgm:presLayoutVars>
      </dgm:prSet>
      <dgm:spPr/>
    </dgm:pt>
  </dgm:ptLst>
  <dgm:cxnLst>
    <dgm:cxn modelId="{6D870786-2BB5-4AD7-83DF-C5981BFCBF49}" type="presOf" srcId="{A0DD7DFA-7441-4C42-9718-830A0CA1FBB6}" destId="{1A5F3915-6C14-41D1-8E1D-E6D4782E0F57}" srcOrd="0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0DD7DFA-7441-4C42-9718-830A0CA1FBB6}" type="doc">
      <dgm:prSet loTypeId="urn:microsoft.com/office/officeart/2005/8/layout/venn2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A5F3915-6C14-41D1-8E1D-E6D4782E0F57}" type="pres">
      <dgm:prSet presAssocID="{A0DD7DFA-7441-4C42-9718-830A0CA1FBB6}" presName="Name0" presStyleCnt="0">
        <dgm:presLayoutVars>
          <dgm:chMax val="7"/>
          <dgm:resizeHandles val="exact"/>
        </dgm:presLayoutVars>
      </dgm:prSet>
      <dgm:spPr/>
    </dgm:pt>
  </dgm:ptLst>
  <dgm:cxnLst>
    <dgm:cxn modelId="{6D870786-2BB5-4AD7-83DF-C5981BFCBF49}" type="presOf" srcId="{A0DD7DFA-7441-4C42-9718-830A0CA1FBB6}" destId="{1A5F3915-6C14-41D1-8E1D-E6D4782E0F57}" srcOrd="0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0DD7DFA-7441-4C42-9718-830A0CA1FBB6}" type="doc">
      <dgm:prSet loTypeId="urn:microsoft.com/office/officeart/2005/8/layout/venn2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A5F3915-6C14-41D1-8E1D-E6D4782E0F57}" type="pres">
      <dgm:prSet presAssocID="{A0DD7DFA-7441-4C42-9718-830A0CA1FBB6}" presName="Name0" presStyleCnt="0">
        <dgm:presLayoutVars>
          <dgm:chMax val="7"/>
          <dgm:resizeHandles val="exact"/>
        </dgm:presLayoutVars>
      </dgm:prSet>
      <dgm:spPr/>
    </dgm:pt>
  </dgm:ptLst>
  <dgm:cxnLst>
    <dgm:cxn modelId="{6D870786-2BB5-4AD7-83DF-C5981BFCBF49}" type="presOf" srcId="{A0DD7DFA-7441-4C42-9718-830A0CA1FBB6}" destId="{1A5F3915-6C14-41D1-8E1D-E6D4782E0F57}" srcOrd="0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CEE37-0057-425A-9AE8-3134803436AC}">
      <dsp:nvSpPr>
        <dsp:cNvPr id="0" name=""/>
        <dsp:cNvSpPr/>
      </dsp:nvSpPr>
      <dsp:spPr>
        <a:xfrm>
          <a:off x="3086099" y="0"/>
          <a:ext cx="2057400" cy="1219200"/>
        </a:xfrm>
        <a:prstGeom prst="trapezoid">
          <a:avLst>
            <a:gd name="adj" fmla="val 84375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</a:rPr>
            <a:t>Application</a:t>
          </a:r>
        </a:p>
      </dsp:txBody>
      <dsp:txXfrm>
        <a:off x="3086099" y="0"/>
        <a:ext cx="2057400" cy="1219200"/>
      </dsp:txXfrm>
    </dsp:sp>
    <dsp:sp modelId="{EFA45B22-5CE1-45A5-839B-90A5DE9F0E6B}">
      <dsp:nvSpPr>
        <dsp:cNvPr id="0" name=""/>
        <dsp:cNvSpPr/>
      </dsp:nvSpPr>
      <dsp:spPr>
        <a:xfrm>
          <a:off x="2057400" y="1219199"/>
          <a:ext cx="4114800" cy="1219200"/>
        </a:xfrm>
        <a:prstGeom prst="trapezoid">
          <a:avLst>
            <a:gd name="adj" fmla="val 84375"/>
          </a:avLst>
        </a:prstGeom>
        <a:solidFill>
          <a:schemeClr val="accent5">
            <a:hueOff val="-4132458"/>
            <a:satOff val="6183"/>
            <a:lumOff val="-6928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-</a:t>
          </a:r>
          <a:r>
            <a:rPr lang="en-US" sz="1400" b="1" kern="1200" dirty="0" err="1"/>
            <a:t>Addin</a:t>
          </a:r>
          <a:br>
            <a:rPr lang="en-US" sz="1400" b="1" kern="1200" dirty="0"/>
          </a:br>
          <a:r>
            <a:rPr lang="en-US" sz="1400" b="1" kern="1200" dirty="0"/>
            <a:t>-Window</a:t>
          </a:r>
          <a:br>
            <a:rPr lang="en-US" sz="1400" b="1" kern="1200" dirty="0"/>
          </a:br>
          <a:r>
            <a:rPr lang="en-US" sz="1400" b="1" kern="1200" dirty="0">
              <a:solidFill>
                <a:schemeClr val="bg1"/>
              </a:solidFill>
            </a:rPr>
            <a:t>-Workbook</a:t>
          </a:r>
          <a:br>
            <a:rPr lang="en-US" sz="1400" b="1" kern="1200" dirty="0"/>
          </a:br>
          <a:r>
            <a:rPr lang="en-US" sz="1400" b="1" kern="1200" dirty="0"/>
            <a:t>-</a:t>
          </a:r>
          <a:r>
            <a:rPr lang="en-US" sz="1400" b="1" kern="1200" dirty="0" err="1"/>
            <a:t>WorksheetFunction</a:t>
          </a:r>
          <a:endParaRPr lang="en-US" sz="1400" b="1" kern="1200" dirty="0"/>
        </a:p>
      </dsp:txBody>
      <dsp:txXfrm>
        <a:off x="2777489" y="1219199"/>
        <a:ext cx="2674620" cy="1219200"/>
      </dsp:txXfrm>
    </dsp:sp>
    <dsp:sp modelId="{47CEE3E8-180B-4FB6-A639-96E6DFC82A67}">
      <dsp:nvSpPr>
        <dsp:cNvPr id="0" name=""/>
        <dsp:cNvSpPr/>
      </dsp:nvSpPr>
      <dsp:spPr>
        <a:xfrm>
          <a:off x="1028700" y="2438399"/>
          <a:ext cx="6172199" cy="1219200"/>
        </a:xfrm>
        <a:prstGeom prst="trapezoid">
          <a:avLst>
            <a:gd name="adj" fmla="val 84375"/>
          </a:avLst>
        </a:prstGeom>
        <a:solidFill>
          <a:schemeClr val="accent5">
            <a:hueOff val="-8264916"/>
            <a:satOff val="12367"/>
            <a:lumOff val="-13855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-Chart</a:t>
          </a:r>
          <a:br>
            <a:rPr lang="en-US" sz="1400" b="1" kern="1200" dirty="0"/>
          </a:br>
          <a:r>
            <a:rPr lang="en-US" sz="1400" b="1" kern="1200" dirty="0"/>
            <a:t>-Name</a:t>
          </a:r>
          <a:br>
            <a:rPr lang="en-US" sz="1400" b="1" kern="1200" dirty="0"/>
          </a:br>
          <a:r>
            <a:rPr lang="en-US" sz="1400" b="1" kern="1200" dirty="0"/>
            <a:t>-</a:t>
          </a:r>
          <a:r>
            <a:rPr lang="en-US" sz="1400" b="1" kern="1200" dirty="0" err="1"/>
            <a:t>VBProject</a:t>
          </a:r>
          <a:br>
            <a:rPr lang="en-US" sz="1400" b="1" kern="1200" dirty="0"/>
          </a:br>
          <a:r>
            <a:rPr lang="en-US" sz="1400" b="1" kern="1200" dirty="0"/>
            <a:t>-Window</a:t>
          </a:r>
          <a:br>
            <a:rPr lang="en-US" sz="1400" b="1" kern="1200" dirty="0"/>
          </a:br>
          <a:r>
            <a:rPr lang="en-US" sz="1400" b="1" kern="1200" dirty="0">
              <a:solidFill>
                <a:schemeClr val="bg1"/>
              </a:solidFill>
            </a:rPr>
            <a:t>-Worksheet</a:t>
          </a:r>
        </a:p>
      </dsp:txBody>
      <dsp:txXfrm>
        <a:off x="2108834" y="2438399"/>
        <a:ext cx="4011930" cy="1219200"/>
      </dsp:txXfrm>
    </dsp:sp>
    <dsp:sp modelId="{3B29F4AC-6ACD-4869-BC05-2236998358DB}">
      <dsp:nvSpPr>
        <dsp:cNvPr id="0" name=""/>
        <dsp:cNvSpPr/>
      </dsp:nvSpPr>
      <dsp:spPr>
        <a:xfrm>
          <a:off x="0" y="3657600"/>
          <a:ext cx="8229600" cy="1219200"/>
        </a:xfrm>
        <a:prstGeom prst="trapezoid">
          <a:avLst>
            <a:gd name="adj" fmla="val 84375"/>
          </a:avLst>
        </a:prstGeom>
        <a:solidFill>
          <a:schemeClr val="accent5">
            <a:hueOff val="-12397374"/>
            <a:satOff val="18550"/>
            <a:lumOff val="-20783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-Comment</a:t>
          </a:r>
          <a:br>
            <a:rPr lang="en-US" sz="1400" b="1" kern="1200" dirty="0"/>
          </a:br>
          <a:r>
            <a:rPr lang="en-US" sz="1400" b="1" kern="1200" dirty="0"/>
            <a:t>-Hyperlink</a:t>
          </a:r>
          <a:br>
            <a:rPr lang="en-US" sz="1400" b="1" kern="1200" dirty="0"/>
          </a:br>
          <a:r>
            <a:rPr lang="en-US" sz="1400" b="1" kern="1200" dirty="0"/>
            <a:t>-Name</a:t>
          </a:r>
          <a:br>
            <a:rPr lang="en-US" sz="1400" b="1" kern="1200" dirty="0"/>
          </a:br>
          <a:r>
            <a:rPr lang="en-US" sz="1400" b="1" kern="1200" dirty="0"/>
            <a:t>-</a:t>
          </a:r>
          <a:r>
            <a:rPr lang="en-US" sz="1400" b="1" kern="1200" dirty="0" err="1"/>
            <a:t>PageSetup</a:t>
          </a:r>
          <a:br>
            <a:rPr lang="en-US" sz="1400" b="1" kern="1200" dirty="0"/>
          </a:br>
          <a:r>
            <a:rPr lang="en-US" sz="1400" b="1" kern="1200" dirty="0"/>
            <a:t>-PivotTable</a:t>
          </a:r>
          <a:br>
            <a:rPr lang="en-US" sz="1400" b="1" kern="1200" dirty="0"/>
          </a:br>
          <a:r>
            <a:rPr lang="en-US" sz="1400" b="1" kern="1200" dirty="0">
              <a:solidFill>
                <a:schemeClr val="bg1"/>
              </a:solidFill>
            </a:rPr>
            <a:t>-Range</a:t>
          </a:r>
        </a:p>
      </dsp:txBody>
      <dsp:txXfrm>
        <a:off x="1440179" y="3657600"/>
        <a:ext cx="5349240" cy="1219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053290-F5AD-48E1-8A4E-C4642C48FAB2}">
      <dsp:nvSpPr>
        <dsp:cNvPr id="0" name=""/>
        <dsp:cNvSpPr/>
      </dsp:nvSpPr>
      <dsp:spPr>
        <a:xfrm>
          <a:off x="1676399" y="0"/>
          <a:ext cx="4876800" cy="48768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Excel</a:t>
          </a:r>
        </a:p>
      </dsp:txBody>
      <dsp:txXfrm>
        <a:off x="3433023" y="243839"/>
        <a:ext cx="1363553" cy="731520"/>
      </dsp:txXfrm>
    </dsp:sp>
    <dsp:sp modelId="{69EE57C3-E91C-4BEB-9F1B-6A2A7C8F7AF4}">
      <dsp:nvSpPr>
        <dsp:cNvPr id="0" name=""/>
        <dsp:cNvSpPr/>
      </dsp:nvSpPr>
      <dsp:spPr>
        <a:xfrm>
          <a:off x="2164080" y="975360"/>
          <a:ext cx="3901440" cy="3901440"/>
        </a:xfrm>
        <a:prstGeom prst="ellipse">
          <a:avLst/>
        </a:prstGeom>
        <a:solidFill>
          <a:schemeClr val="accent5">
            <a:hueOff val="-4132458"/>
            <a:satOff val="6183"/>
            <a:lumOff val="-6928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Workbook</a:t>
          </a:r>
        </a:p>
      </dsp:txBody>
      <dsp:txXfrm>
        <a:off x="3433023" y="1209446"/>
        <a:ext cx="1363553" cy="702259"/>
      </dsp:txXfrm>
    </dsp:sp>
    <dsp:sp modelId="{B8F1E722-681E-4BFD-B309-E0E8CB6B45F4}">
      <dsp:nvSpPr>
        <dsp:cNvPr id="0" name=""/>
        <dsp:cNvSpPr/>
      </dsp:nvSpPr>
      <dsp:spPr>
        <a:xfrm>
          <a:off x="2651760" y="1950719"/>
          <a:ext cx="2926080" cy="2926080"/>
        </a:xfrm>
        <a:prstGeom prst="ellipse">
          <a:avLst/>
        </a:prstGeom>
        <a:solidFill>
          <a:schemeClr val="accent5">
            <a:hueOff val="-8264916"/>
            <a:satOff val="12367"/>
            <a:lumOff val="-13855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Worksheet</a:t>
          </a:r>
        </a:p>
      </dsp:txBody>
      <dsp:txXfrm>
        <a:off x="3433023" y="2170175"/>
        <a:ext cx="1363553" cy="658368"/>
      </dsp:txXfrm>
    </dsp:sp>
    <dsp:sp modelId="{FFE5AB0C-64A4-4A03-8B24-B0AB6B8713D6}">
      <dsp:nvSpPr>
        <dsp:cNvPr id="0" name=""/>
        <dsp:cNvSpPr/>
      </dsp:nvSpPr>
      <dsp:spPr>
        <a:xfrm>
          <a:off x="3139440" y="2926080"/>
          <a:ext cx="1950720" cy="1950720"/>
        </a:xfrm>
        <a:prstGeom prst="ellipse">
          <a:avLst/>
        </a:prstGeom>
        <a:solidFill>
          <a:schemeClr val="accent5">
            <a:hueOff val="-12397374"/>
            <a:satOff val="18550"/>
            <a:lumOff val="-20783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Range</a:t>
          </a:r>
        </a:p>
      </dsp:txBody>
      <dsp:txXfrm>
        <a:off x="3425116" y="3413760"/>
        <a:ext cx="1379367" cy="9753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053290-F5AD-48E1-8A4E-C4642C48FAB2}">
      <dsp:nvSpPr>
        <dsp:cNvPr id="0" name=""/>
        <dsp:cNvSpPr/>
      </dsp:nvSpPr>
      <dsp:spPr>
        <a:xfrm>
          <a:off x="5685" y="0"/>
          <a:ext cx="1328928" cy="132892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Excel</a:t>
          </a:r>
        </a:p>
      </dsp:txBody>
      <dsp:txXfrm>
        <a:off x="484365" y="66446"/>
        <a:ext cx="371568" cy="199339"/>
      </dsp:txXfrm>
    </dsp:sp>
    <dsp:sp modelId="{69EE57C3-E91C-4BEB-9F1B-6A2A7C8F7AF4}">
      <dsp:nvSpPr>
        <dsp:cNvPr id="0" name=""/>
        <dsp:cNvSpPr/>
      </dsp:nvSpPr>
      <dsp:spPr>
        <a:xfrm>
          <a:off x="138578" y="265785"/>
          <a:ext cx="1063142" cy="1063142"/>
        </a:xfrm>
        <a:prstGeom prst="ellipse">
          <a:avLst/>
        </a:prstGeom>
        <a:solidFill>
          <a:schemeClr val="accent5">
            <a:hueOff val="-4132458"/>
            <a:satOff val="6183"/>
            <a:lumOff val="-6928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Workbook</a:t>
          </a:r>
        </a:p>
      </dsp:txBody>
      <dsp:txXfrm>
        <a:off x="484365" y="329574"/>
        <a:ext cx="371568" cy="191365"/>
      </dsp:txXfrm>
    </dsp:sp>
    <dsp:sp modelId="{B8F1E722-681E-4BFD-B309-E0E8CB6B45F4}">
      <dsp:nvSpPr>
        <dsp:cNvPr id="0" name=""/>
        <dsp:cNvSpPr/>
      </dsp:nvSpPr>
      <dsp:spPr>
        <a:xfrm>
          <a:off x="271471" y="531571"/>
          <a:ext cx="797356" cy="797356"/>
        </a:xfrm>
        <a:prstGeom prst="ellipse">
          <a:avLst/>
        </a:prstGeom>
        <a:solidFill>
          <a:schemeClr val="accent5">
            <a:hueOff val="-8264916"/>
            <a:satOff val="12367"/>
            <a:lumOff val="-13855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Worksheet</a:t>
          </a:r>
        </a:p>
      </dsp:txBody>
      <dsp:txXfrm>
        <a:off x="484365" y="591372"/>
        <a:ext cx="371568" cy="179405"/>
      </dsp:txXfrm>
    </dsp:sp>
    <dsp:sp modelId="{FFE5AB0C-64A4-4A03-8B24-B0AB6B8713D6}">
      <dsp:nvSpPr>
        <dsp:cNvPr id="0" name=""/>
        <dsp:cNvSpPr/>
      </dsp:nvSpPr>
      <dsp:spPr>
        <a:xfrm>
          <a:off x="404364" y="797356"/>
          <a:ext cx="531571" cy="531571"/>
        </a:xfrm>
        <a:prstGeom prst="ellipse">
          <a:avLst/>
        </a:prstGeom>
        <a:solidFill>
          <a:schemeClr val="accent5">
            <a:hueOff val="-12397374"/>
            <a:satOff val="18550"/>
            <a:lumOff val="-20783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Range</a:t>
          </a:r>
        </a:p>
      </dsp:txBody>
      <dsp:txXfrm>
        <a:off x="482211" y="930249"/>
        <a:ext cx="375877" cy="2657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053290-F5AD-48E1-8A4E-C4642C48FAB2}">
      <dsp:nvSpPr>
        <dsp:cNvPr id="0" name=""/>
        <dsp:cNvSpPr/>
      </dsp:nvSpPr>
      <dsp:spPr>
        <a:xfrm>
          <a:off x="5685" y="0"/>
          <a:ext cx="1328928" cy="132892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Excel</a:t>
          </a:r>
        </a:p>
      </dsp:txBody>
      <dsp:txXfrm>
        <a:off x="484365" y="66446"/>
        <a:ext cx="371568" cy="199339"/>
      </dsp:txXfrm>
    </dsp:sp>
    <dsp:sp modelId="{69EE57C3-E91C-4BEB-9F1B-6A2A7C8F7AF4}">
      <dsp:nvSpPr>
        <dsp:cNvPr id="0" name=""/>
        <dsp:cNvSpPr/>
      </dsp:nvSpPr>
      <dsp:spPr>
        <a:xfrm>
          <a:off x="138578" y="265785"/>
          <a:ext cx="1063142" cy="1063142"/>
        </a:xfrm>
        <a:prstGeom prst="ellipse">
          <a:avLst/>
        </a:prstGeom>
        <a:solidFill>
          <a:schemeClr val="accent5">
            <a:hueOff val="-4132458"/>
            <a:satOff val="6183"/>
            <a:lumOff val="-6928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Workbook</a:t>
          </a:r>
        </a:p>
      </dsp:txBody>
      <dsp:txXfrm>
        <a:off x="484365" y="329574"/>
        <a:ext cx="371568" cy="191365"/>
      </dsp:txXfrm>
    </dsp:sp>
    <dsp:sp modelId="{B8F1E722-681E-4BFD-B309-E0E8CB6B45F4}">
      <dsp:nvSpPr>
        <dsp:cNvPr id="0" name=""/>
        <dsp:cNvSpPr/>
      </dsp:nvSpPr>
      <dsp:spPr>
        <a:xfrm>
          <a:off x="271471" y="531571"/>
          <a:ext cx="797356" cy="797356"/>
        </a:xfrm>
        <a:prstGeom prst="ellipse">
          <a:avLst/>
        </a:prstGeom>
        <a:solidFill>
          <a:schemeClr val="accent5">
            <a:hueOff val="-8264916"/>
            <a:satOff val="12367"/>
            <a:lumOff val="-13855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Worksheet</a:t>
          </a:r>
        </a:p>
      </dsp:txBody>
      <dsp:txXfrm>
        <a:off x="484365" y="591372"/>
        <a:ext cx="371568" cy="179405"/>
      </dsp:txXfrm>
    </dsp:sp>
    <dsp:sp modelId="{FFE5AB0C-64A4-4A03-8B24-B0AB6B8713D6}">
      <dsp:nvSpPr>
        <dsp:cNvPr id="0" name=""/>
        <dsp:cNvSpPr/>
      </dsp:nvSpPr>
      <dsp:spPr>
        <a:xfrm>
          <a:off x="404364" y="797356"/>
          <a:ext cx="531571" cy="531571"/>
        </a:xfrm>
        <a:prstGeom prst="ellipse">
          <a:avLst/>
        </a:prstGeom>
        <a:solidFill>
          <a:schemeClr val="accent5">
            <a:hueOff val="-12397374"/>
            <a:satOff val="18550"/>
            <a:lumOff val="-20783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Range</a:t>
          </a:r>
        </a:p>
      </dsp:txBody>
      <dsp:txXfrm>
        <a:off x="482211" y="930249"/>
        <a:ext cx="375877" cy="2657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68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68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Times New Roman" pitchFamily="18" charset="0"/>
              </a:defRPr>
            </a:lvl1pPr>
          </a:lstStyle>
          <a:p>
            <a:fld id="{6C87EF7B-BAD5-466B-88CC-737F2B684B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360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ahoma" pitchFamily="34" charset="0"/>
              </a:defRPr>
            </a:lvl1pPr>
          </a:lstStyle>
          <a:p>
            <a:endParaRPr lang="en-US"/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68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ahoma" pitchFamily="34" charset="0"/>
              </a:defRPr>
            </a:lvl1pPr>
          </a:lstStyle>
          <a:p>
            <a:endParaRPr lang="en-US"/>
          </a:p>
        </p:txBody>
      </p:sp>
      <p:sp>
        <p:nvSpPr>
          <p:cNvPr id="2375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71800" y="549275"/>
            <a:ext cx="36576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375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0160" y="3474720"/>
            <a:ext cx="7040880" cy="329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75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ahoma" pitchFamily="34" charset="0"/>
              </a:defRPr>
            </a:lvl1pPr>
          </a:lstStyle>
          <a:p>
            <a:endParaRPr lang="en-US"/>
          </a:p>
        </p:txBody>
      </p:sp>
      <p:sp>
        <p:nvSpPr>
          <p:cNvPr id="2375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68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ahoma" pitchFamily="34" charset="0"/>
              </a:defRPr>
            </a:lvl1pPr>
          </a:lstStyle>
          <a:p>
            <a:fld id="{60DFA87B-D22B-4447-BB2F-F863025D46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487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87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87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baseline="0" dirty="0"/>
              <a:t>Right click any part of the ribbon and choose Customize the Ribbon from the shortcut menu</a:t>
            </a:r>
          </a:p>
          <a:p>
            <a:pPr marL="228600" indent="-228600">
              <a:buAutoNum type="arabicParenR"/>
            </a:pPr>
            <a:r>
              <a:rPr lang="en-US" baseline="0" dirty="0"/>
              <a:t>In the Customize Ribbon tab of the Excel Options dialog box, locate Developer in the 2</a:t>
            </a:r>
            <a:r>
              <a:rPr lang="en-US" baseline="30000" dirty="0"/>
              <a:t>nd</a:t>
            </a:r>
            <a:r>
              <a:rPr lang="en-US" baseline="0" dirty="0"/>
              <a:t> column</a:t>
            </a:r>
          </a:p>
          <a:p>
            <a:pPr marL="228600" indent="-228600">
              <a:buAutoNum type="arabicParenR"/>
            </a:pPr>
            <a:r>
              <a:rPr lang="en-US" baseline="0" dirty="0"/>
              <a:t>Put a check mark next to Developer</a:t>
            </a:r>
          </a:p>
          <a:p>
            <a:pPr marL="228600" indent="-228600">
              <a:buAutoNum type="arabicParenR"/>
            </a:pPr>
            <a:r>
              <a:rPr lang="en-US" baseline="0" dirty="0"/>
              <a:t>Click OK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87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on VBE</a:t>
            </a:r>
            <a:r>
              <a:rPr lang="en-US" baseline="0" dirty="0"/>
              <a:t> on pages 31-33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87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in class </a:t>
            </a:r>
            <a:r>
              <a:rPr lang="en-US" dirty="0">
                <a:sym typeface="Wingdings" panose="05000000000000000000" pitchFamily="2" charset="2"/>
              </a:rPr>
              <a:t> open up VBE</a:t>
            </a:r>
            <a:r>
              <a:rPr lang="en-US" baseline="0" dirty="0">
                <a:sym typeface="Wingdings" panose="05000000000000000000" pitchFamily="2" charset="2"/>
              </a:rPr>
              <a:t> and examine the recorded macro</a:t>
            </a:r>
          </a:p>
          <a:p>
            <a:endParaRPr lang="en-US" baseline="0" dirty="0">
              <a:sym typeface="Wingdings" panose="05000000000000000000" pitchFamily="2" charset="2"/>
            </a:endParaRPr>
          </a:p>
          <a:p>
            <a:r>
              <a:rPr lang="en-US" baseline="0" dirty="0">
                <a:sym typeface="Wingdings" panose="05000000000000000000" pitchFamily="2" charset="2"/>
              </a:rPr>
              <a:t>Things to point out: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- name of the Sub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- comments (‘)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- give time for everyone to read through it (although it may not make compete sense)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75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in class </a:t>
            </a:r>
            <a:r>
              <a:rPr lang="en-US" dirty="0">
                <a:sym typeface="Wingdings" panose="05000000000000000000" pitchFamily="2" charset="2"/>
              </a:rPr>
              <a:t> open up VBE</a:t>
            </a:r>
            <a:r>
              <a:rPr lang="en-US" baseline="0" dirty="0">
                <a:sym typeface="Wingdings" panose="05000000000000000000" pitchFamily="2" charset="2"/>
              </a:rPr>
              <a:t> and examine the recorded macro</a:t>
            </a:r>
          </a:p>
          <a:p>
            <a:endParaRPr lang="en-US" baseline="0" dirty="0">
              <a:sym typeface="Wingdings" panose="05000000000000000000" pitchFamily="2" charset="2"/>
            </a:endParaRPr>
          </a:p>
          <a:p>
            <a:r>
              <a:rPr lang="en-US" baseline="0" dirty="0">
                <a:sym typeface="Wingdings" panose="05000000000000000000" pitchFamily="2" charset="2"/>
              </a:rPr>
              <a:t>Things to point out: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- name of the Sub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- comments (‘)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- give time for everyone to read through it (although it may not make compete sense)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38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Ex:  </a:t>
            </a:r>
            <a:r>
              <a:rPr lang="en-US" dirty="0" err="1"/>
              <a:t>pg</a:t>
            </a:r>
            <a:r>
              <a:rPr lang="en-US" dirty="0"/>
              <a:t>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00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00050" lvl="1" indent="0">
              <a:buNone/>
            </a:pPr>
            <a:endParaRPr lang="en-US" dirty="0">
              <a:solidFill>
                <a:srgbClr val="A5392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65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Pointing out we have two subs…how to run them each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49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66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 4 in nook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66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Pg</a:t>
            </a:r>
            <a:r>
              <a:rPr lang="en-US" baseline="0" dirty="0"/>
              <a:t> 52-53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95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Pg</a:t>
            </a:r>
            <a:r>
              <a:rPr lang="en-US" baseline="0" dirty="0"/>
              <a:t> 52-53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99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78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Application is assumed to be excel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the workbook is active and</a:t>
            </a:r>
            <a:r>
              <a:rPr lang="en-US" baseline="0" dirty="0"/>
              <a:t> the worksheet is active, it can be assumed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We are left with B3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327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00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027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28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858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85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HW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FA87B-D22B-4447-BB2F-F863025D4677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30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4FEF-C2BA-405C-940A-0938B86B92B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C-5880-40B2-BCE1-89D9874E17C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163F-9706-41DA-BEEC-9D55578F17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6E7A7-AA1E-4950-A61E-48C7D28E80B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98C29-0FBE-4E3D-B015-97B59C0080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93D-B61E-4215-B242-BF4C72556C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8419-802B-407E-8929-770ED3D6658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C94F-360B-4B6D-81AD-989F75F85B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E860-0FF2-422C-838C-1022CDDC11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B01C-0DE6-4A7A-B272-9B00FB4447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01744FC-BD29-453B-8F5A-0A30F90FC6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A005A5E8-4213-488D-8019-D06882925F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udemy.com/excel-macros-tutorial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14400"/>
            <a:ext cx="8153400" cy="4191000"/>
          </a:xfrm>
        </p:spPr>
        <p:txBody>
          <a:bodyPr>
            <a:normAutofit/>
          </a:bodyPr>
          <a:lstStyle/>
          <a:p>
            <a:r>
              <a:rPr lang="en-US" sz="5400" b="1" dirty="0"/>
              <a:t>Excel and </a:t>
            </a:r>
            <a:br>
              <a:rPr lang="en-US" sz="5400" b="1" dirty="0"/>
            </a:br>
            <a:r>
              <a:rPr lang="en-US" sz="5400" b="1" dirty="0"/>
              <a:t>Visual Basic for Applications (VBA)</a:t>
            </a:r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14400"/>
            <a:ext cx="7924800" cy="5441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Today</a:t>
            </a:r>
          </a:p>
          <a:p>
            <a:pPr lvl="1"/>
            <a:r>
              <a:rPr lang="en-US" sz="3200" dirty="0"/>
              <a:t>Broad overview of Excel</a:t>
            </a:r>
          </a:p>
          <a:p>
            <a:pPr lvl="1"/>
            <a:r>
              <a:rPr lang="en-US" sz="3200" dirty="0"/>
              <a:t>Intro to VBA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Next Time – Continue VBA</a:t>
            </a:r>
          </a:p>
          <a:p>
            <a:pPr lvl="1"/>
            <a:r>
              <a:rPr lang="en-US" sz="3200" dirty="0"/>
              <a:t>Loops</a:t>
            </a:r>
          </a:p>
          <a:p>
            <a:pPr lvl="1"/>
            <a:r>
              <a:rPr lang="en-US" sz="3200" dirty="0"/>
              <a:t>Dialog Boxes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0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26E1-DB9C-4A26-AD16-73DD89F7B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– Recall?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2E19F-0467-4836-99CA-09149B119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Think/Pair/Share</a:t>
            </a:r>
          </a:p>
          <a:p>
            <a:pPr marL="0" indent="0">
              <a:buNone/>
            </a:pPr>
            <a:r>
              <a:rPr lang="en-US" dirty="0"/>
              <a:t>	What are these in Excel:</a:t>
            </a:r>
          </a:p>
          <a:p>
            <a:pPr lvl="4"/>
            <a:r>
              <a:rPr lang="en-US" sz="2400" b="1" dirty="0"/>
              <a:t>Workbook</a:t>
            </a:r>
          </a:p>
          <a:p>
            <a:pPr lvl="4"/>
            <a:r>
              <a:rPr lang="en-US" sz="2400" b="1" dirty="0"/>
              <a:t>Worksheet</a:t>
            </a:r>
          </a:p>
          <a:p>
            <a:pPr lvl="4"/>
            <a:r>
              <a:rPr lang="en-US" sz="2400" b="1" dirty="0"/>
              <a:t>Cell</a:t>
            </a:r>
          </a:p>
          <a:p>
            <a:pPr lvl="4"/>
            <a:r>
              <a:rPr lang="en-US" sz="2400" b="1" dirty="0"/>
              <a:t>Range</a:t>
            </a:r>
          </a:p>
          <a:p>
            <a:pPr lvl="1"/>
            <a:endParaRPr lang="en-US" dirty="0"/>
          </a:p>
          <a:p>
            <a:pPr lvl="3"/>
            <a:r>
              <a:rPr lang="en-US" sz="2200" dirty="0"/>
              <a:t>Answer with a definition or sketch</a:t>
            </a:r>
          </a:p>
          <a:p>
            <a:pPr lvl="3"/>
            <a:r>
              <a:rPr lang="en-US" sz="2200" dirty="0"/>
              <a:t>Don’t peek at next slide yet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0031E-E6C9-4EDB-9FAC-3A55CE9D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6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200"/>
            <a:ext cx="7886700" cy="1325563"/>
          </a:xfrm>
        </p:spPr>
        <p:txBody>
          <a:bodyPr/>
          <a:lstStyle/>
          <a:p>
            <a:pPr algn="ctr"/>
            <a:r>
              <a:rPr lang="en-US" sz="5400" dirty="0"/>
              <a:t>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199"/>
            <a:ext cx="7924800" cy="513715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Excel is spreadsheet software developed by Microsoft</a:t>
            </a:r>
          </a:p>
          <a:p>
            <a:endParaRPr lang="en-US" dirty="0"/>
          </a:p>
          <a:p>
            <a:r>
              <a:rPr lang="en-US" dirty="0"/>
              <a:t>An Excel file (.</a:t>
            </a:r>
            <a:r>
              <a:rPr lang="en-US" dirty="0" err="1"/>
              <a:t>xls</a:t>
            </a:r>
            <a:r>
              <a:rPr lang="en-US" dirty="0"/>
              <a:t> file) is a </a:t>
            </a:r>
            <a:r>
              <a:rPr lang="en-US" b="1" dirty="0"/>
              <a:t>Workbook</a:t>
            </a:r>
          </a:p>
          <a:p>
            <a:endParaRPr lang="en-US" dirty="0"/>
          </a:p>
          <a:p>
            <a:r>
              <a:rPr lang="en-US" dirty="0"/>
              <a:t>A Workbook consists of </a:t>
            </a:r>
            <a:r>
              <a:rPr lang="en-US" b="1" dirty="0"/>
              <a:t>Worksheets</a:t>
            </a:r>
            <a:endParaRPr lang="en-US" dirty="0"/>
          </a:p>
          <a:p>
            <a:pPr lvl="1"/>
            <a:r>
              <a:rPr lang="en-US" dirty="0"/>
              <a:t>Worksheets are organized by tabs that contain data, formulas, functions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Worksheets are organized into rows and columns of</a:t>
            </a:r>
            <a:r>
              <a:rPr lang="en-US" b="1" dirty="0"/>
              <a:t> cells</a:t>
            </a:r>
            <a:r>
              <a:rPr lang="en-US" dirty="0"/>
              <a:t>, referenced by column then row</a:t>
            </a:r>
          </a:p>
          <a:p>
            <a:pPr lvl="1"/>
            <a:r>
              <a:rPr lang="en-US" dirty="0"/>
              <a:t>Ex: B27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range </a:t>
            </a:r>
            <a:r>
              <a:rPr lang="en-US" dirty="0"/>
              <a:t>is a rectangular collection of cells</a:t>
            </a:r>
          </a:p>
          <a:p>
            <a:pPr lvl="1"/>
            <a:r>
              <a:rPr lang="en-US" dirty="0"/>
              <a:t>Ex: A1:B2 is a 2x2 rectangle of cells</a:t>
            </a:r>
          </a:p>
          <a:p>
            <a:pPr lvl="1"/>
            <a:r>
              <a:rPr lang="en-US" dirty="0"/>
              <a:t>Ex: C10:C20 is 11x1 rectangle of cells</a:t>
            </a:r>
          </a:p>
          <a:p>
            <a:r>
              <a:rPr lang="en-US" dirty="0"/>
              <a:t>Can name ranges to help make models more effective/readable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2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2667000" cy="5334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Excel Applications:</a:t>
            </a:r>
          </a:p>
          <a:p>
            <a:r>
              <a:rPr lang="en-US" dirty="0"/>
              <a:t>Data Visualization</a:t>
            </a:r>
          </a:p>
          <a:p>
            <a:pPr lvl="1"/>
            <a:r>
              <a:rPr lang="en-US" dirty="0"/>
              <a:t>Charts, Tables</a:t>
            </a:r>
          </a:p>
          <a:p>
            <a:r>
              <a:rPr lang="en-US" dirty="0"/>
              <a:t>Data Analysis</a:t>
            </a:r>
          </a:p>
          <a:p>
            <a:r>
              <a:rPr lang="en-US" dirty="0"/>
              <a:t>Pivot Tables</a:t>
            </a:r>
          </a:p>
          <a:p>
            <a:r>
              <a:rPr lang="en-US" dirty="0"/>
              <a:t>Import/Export Data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Excel Structure:</a:t>
            </a:r>
          </a:p>
          <a:p>
            <a:r>
              <a:rPr lang="en-US" dirty="0"/>
              <a:t>Workbook</a:t>
            </a:r>
          </a:p>
          <a:p>
            <a:r>
              <a:rPr lang="en-US" dirty="0"/>
              <a:t>Worksheets</a:t>
            </a:r>
          </a:p>
          <a:p>
            <a:r>
              <a:rPr lang="en-US" dirty="0"/>
              <a:t>Ranges/Cells</a:t>
            </a:r>
          </a:p>
          <a:p>
            <a:pPr lvl="1"/>
            <a:r>
              <a:rPr lang="en-US" dirty="0"/>
              <a:t>Formatting</a:t>
            </a:r>
          </a:p>
          <a:p>
            <a:pPr lvl="1"/>
            <a:r>
              <a:rPr lang="en-US" dirty="0"/>
              <a:t>Formulas</a:t>
            </a:r>
          </a:p>
          <a:p>
            <a:r>
              <a:rPr lang="en-US" dirty="0"/>
              <a:t>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 descr="Screen Shot 2018-03-18 at 9.57.4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905000"/>
            <a:ext cx="5298281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23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Intro to VBA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Visual Basic for Applications (VBA) is a programming language specific to Microsoft Office products</a:t>
            </a:r>
          </a:p>
          <a:p>
            <a:pPr lvl="1"/>
            <a:r>
              <a:rPr lang="en-US" sz="2800" dirty="0"/>
              <a:t>For this course our focus is EXCEL VBA</a:t>
            </a:r>
          </a:p>
          <a:p>
            <a:pPr marL="342900" lvl="1" indent="0">
              <a:buNone/>
            </a:pPr>
            <a:endParaRPr lang="en-US" sz="2800" dirty="0"/>
          </a:p>
          <a:p>
            <a:r>
              <a:rPr lang="en-US" sz="3200" dirty="0"/>
              <a:t>VBA is NOT the same as Visual Basic (VB)</a:t>
            </a:r>
          </a:p>
          <a:p>
            <a:pPr lvl="1"/>
            <a:r>
              <a:rPr lang="en-US" sz="2800" dirty="0"/>
              <a:t>VB is a software development language that you can buy and run separately, without the need for Office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15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Why learn VBA?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/>
              <a:t>Why learn VBA?</a:t>
            </a:r>
          </a:p>
          <a:p>
            <a:pPr lvl="1"/>
            <a:r>
              <a:rPr lang="en-US" dirty="0"/>
              <a:t>To further your applications in Excel including DSS</a:t>
            </a:r>
          </a:p>
          <a:p>
            <a:pPr lvl="1"/>
            <a:r>
              <a:rPr lang="en-US" dirty="0"/>
              <a:t>Office is available on all CG work stations</a:t>
            </a:r>
          </a:p>
          <a:p>
            <a:pPr lvl="2"/>
            <a:r>
              <a:rPr lang="en-US" dirty="0"/>
              <a:t>Senior Capstone</a:t>
            </a:r>
          </a:p>
          <a:p>
            <a:pPr lvl="2"/>
            <a:r>
              <a:rPr lang="en-US" dirty="0"/>
              <a:t>Future Assignments</a:t>
            </a:r>
          </a:p>
          <a:p>
            <a:pPr lvl="2"/>
            <a:endParaRPr lang="en-US" dirty="0"/>
          </a:p>
          <a:p>
            <a:r>
              <a:rPr lang="en-US" dirty="0"/>
              <a:t>VBA vs Python in </a:t>
            </a:r>
            <a:r>
              <a:rPr lang="en-US"/>
              <a:t>the ORDA </a:t>
            </a:r>
            <a:r>
              <a:rPr lang="en-US" dirty="0"/>
              <a:t>curriculum</a:t>
            </a:r>
          </a:p>
          <a:p>
            <a:pPr lvl="1"/>
            <a:r>
              <a:rPr lang="en-US" dirty="0"/>
              <a:t>We won’t go into as much depth in VBA as Python</a:t>
            </a:r>
          </a:p>
          <a:p>
            <a:pPr lvl="1"/>
            <a:r>
              <a:rPr lang="en-US" dirty="0"/>
              <a:t>Many Python ideas apply to VBA, though with different syntax</a:t>
            </a:r>
          </a:p>
          <a:p>
            <a:pPr marL="274320" lvl="1" indent="0">
              <a:buNone/>
            </a:pPr>
            <a:r>
              <a:rPr lang="en-US" dirty="0"/>
              <a:t>Ex:  </a:t>
            </a:r>
            <a:r>
              <a:rPr lang="en-US" dirty="0">
                <a:solidFill>
                  <a:srgbClr val="A53926"/>
                </a:solidFill>
                <a:latin typeface="American Typewriter"/>
                <a:cs typeface="American Typewriter"/>
              </a:rPr>
              <a:t>for </a:t>
            </a:r>
            <a:r>
              <a:rPr lang="en-US" dirty="0" err="1">
                <a:solidFill>
                  <a:srgbClr val="A53926"/>
                </a:solidFill>
                <a:latin typeface="American Typewriter"/>
                <a:cs typeface="American Typewriter"/>
              </a:rPr>
              <a:t>i</a:t>
            </a:r>
            <a:r>
              <a:rPr lang="en-US" dirty="0">
                <a:solidFill>
                  <a:srgbClr val="A53926"/>
                </a:solidFill>
                <a:latin typeface="American Typewriter"/>
                <a:cs typeface="American Typewriter"/>
              </a:rPr>
              <a:t> in range(10):</a:t>
            </a:r>
            <a:r>
              <a:rPr lang="en-US" dirty="0"/>
              <a:t>	vs. 	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merican Typewriter"/>
                <a:cs typeface="American Typewriter"/>
              </a:rPr>
              <a:t>For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American Typewriter"/>
                <a:cs typeface="American Typewriter"/>
              </a:rPr>
              <a:t>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merican Typewriter"/>
                <a:cs typeface="American Typewriter"/>
              </a:rPr>
              <a:t> = 0 to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48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Visual Basic Editor </a:t>
            </a:r>
            <a:r>
              <a:rPr lang="en-US" sz="4800" dirty="0"/>
              <a:t>(VBE)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343400"/>
          </a:xfrm>
        </p:spPr>
        <p:txBody>
          <a:bodyPr>
            <a:normAutofit/>
          </a:bodyPr>
          <a:lstStyle/>
          <a:p>
            <a:r>
              <a:rPr lang="en-US" dirty="0"/>
              <a:t>Our Integrated Development Environment (IDE) for VBA/Excel</a:t>
            </a:r>
          </a:p>
          <a:p>
            <a:pPr lvl="1"/>
            <a:r>
              <a:rPr lang="en-US" dirty="0"/>
              <a:t>Note:  In CML our IDE was </a:t>
            </a:r>
            <a:r>
              <a:rPr lang="en-US" dirty="0" err="1"/>
              <a:t>Spyder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To access the VBE:</a:t>
            </a:r>
          </a:p>
          <a:p>
            <a:pPr lvl="1"/>
            <a:r>
              <a:rPr lang="en-US" dirty="0"/>
              <a:t>Alt-F11 key </a:t>
            </a:r>
          </a:p>
          <a:p>
            <a:pPr lvl="1"/>
            <a:r>
              <a:rPr lang="en-US" dirty="0"/>
              <a:t>Or, Developer </a:t>
            </a:r>
            <a:r>
              <a:rPr lang="en-US" dirty="0">
                <a:sym typeface="Wingdings"/>
              </a:rPr>
              <a:t> Visual Basic Applications</a:t>
            </a:r>
          </a:p>
          <a:p>
            <a:pPr lvl="2"/>
            <a:r>
              <a:rPr lang="en-US" dirty="0">
                <a:sym typeface="Wingdings"/>
              </a:rPr>
              <a:t>Note: if you do not have the Developer tab, follow the directions on </a:t>
            </a:r>
            <a:r>
              <a:rPr lang="en-US" dirty="0" err="1">
                <a:sym typeface="Wingdings"/>
              </a:rPr>
              <a:t>pg</a:t>
            </a:r>
            <a:r>
              <a:rPr lang="en-US" dirty="0">
                <a:sym typeface="Wingdings"/>
              </a:rPr>
              <a:t> 17-18 in your textbook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87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Visual Basic Editor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Content Placeholder 5" descr="Screen Shot 2018-03-18 at 6.03.02 PM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33" r="-6733"/>
          <a:stretch>
            <a:fillRect/>
          </a:stretch>
        </p:blipFill>
        <p:spPr>
          <a:xfrm>
            <a:off x="1028700" y="1524000"/>
            <a:ext cx="7086600" cy="4199467"/>
          </a:xfrm>
        </p:spPr>
      </p:pic>
      <p:sp>
        <p:nvSpPr>
          <p:cNvPr id="3" name="Rectangle 2"/>
          <p:cNvSpPr/>
          <p:nvPr/>
        </p:nvSpPr>
        <p:spPr>
          <a:xfrm>
            <a:off x="5953711" y="6238765"/>
            <a:ext cx="2852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More on VBE on pp 31-33</a:t>
            </a:r>
          </a:p>
        </p:txBody>
      </p:sp>
      <p:pic>
        <p:nvPicPr>
          <p:cNvPr id="1026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340" y="6132795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725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2DF3-048B-463E-8D6F-348F42CA1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870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VBA Essentials –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B74C-BD8F-4E97-8799-D835E14E1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134350" cy="5033963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arenR"/>
            </a:pPr>
            <a:r>
              <a:rPr lang="en-US" dirty="0"/>
              <a:t>Record a macro</a:t>
            </a:r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Discuss procedures in VBA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/>
              <a:t>Sub procedure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/>
              <a:t>Function procedure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/>
              <a:t>Event procedure</a:t>
            </a:r>
          </a:p>
          <a:p>
            <a:pPr marL="342900" lvl="1" indent="0">
              <a:buNone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Discuss variables in VBA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/>
              <a:t>Variables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/>
              <a:t>Objects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/>
              <a:t>Constants</a:t>
            </a:r>
          </a:p>
          <a:p>
            <a:pPr marL="342900" lvl="1" indent="0">
              <a:buNone/>
            </a:pPr>
            <a:endParaRPr lang="en-US" dirty="0"/>
          </a:p>
          <a:p>
            <a:pPr marL="525780" indent="-457200">
              <a:buFont typeface="+mj-lt"/>
              <a:buAutoNum type="arabicParenR"/>
            </a:pPr>
            <a:r>
              <a:rPr lang="en-US" dirty="0"/>
              <a:t>Discuss Ranges – powerful object within Excel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D0BF4-BF93-4B12-9374-200B3618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EF086A18-2F3F-4600-A3B5-9F1843453460}"/>
              </a:ext>
            </a:extLst>
          </p:cNvPr>
          <p:cNvSpPr/>
          <p:nvPr/>
        </p:nvSpPr>
        <p:spPr>
          <a:xfrm>
            <a:off x="3514725" y="2761566"/>
            <a:ext cx="195072" cy="592924"/>
          </a:xfrm>
          <a:prstGeom prst="rightBrac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D3784-D69F-43F7-AAA6-9FC9CAA8FAF0}"/>
              </a:ext>
            </a:extLst>
          </p:cNvPr>
          <p:cNvSpPr txBox="1"/>
          <p:nvPr/>
        </p:nvSpPr>
        <p:spPr>
          <a:xfrm>
            <a:off x="3810000" y="28194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today</a:t>
            </a:r>
          </a:p>
        </p:txBody>
      </p:sp>
    </p:spTree>
    <p:extLst>
      <p:ext uri="{BB962C8B-B14F-4D97-AF65-F5344CB8AC3E}">
        <p14:creationId xmlns:p14="http://schemas.microsoft.com/office/powerpoint/2010/main" val="960304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2DF3-048B-463E-8D6F-348F42CA1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9188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What is a Macro?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B74C-BD8F-4E97-8799-D835E14E1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57400"/>
            <a:ext cx="8134350" cy="411956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3200" dirty="0"/>
              <a:t>Macros are little programs in Excel that:</a:t>
            </a:r>
          </a:p>
          <a:p>
            <a:pPr lvl="1"/>
            <a:r>
              <a:rPr lang="en-US" sz="2800" dirty="0"/>
              <a:t>are the result </a:t>
            </a:r>
            <a:r>
              <a:rPr lang="en-US" sz="2800"/>
              <a:t>of the recording </a:t>
            </a:r>
            <a:r>
              <a:rPr lang="en-US" sz="2800" dirty="0"/>
              <a:t>of a series of tasks,</a:t>
            </a:r>
          </a:p>
          <a:p>
            <a:pPr lvl="1"/>
            <a:r>
              <a:rPr lang="en-US" sz="2800" dirty="0"/>
              <a:t>automate common repetitive tasks, and </a:t>
            </a:r>
          </a:p>
          <a:p>
            <a:pPr lvl="1"/>
            <a:r>
              <a:rPr lang="en-US" sz="2800" dirty="0"/>
              <a:t>are written with VBA.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D0BF4-BF93-4B12-9374-200B3618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0" y="6248400"/>
            <a:ext cx="3581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2"/>
              </a:rPr>
              <a:t>https://</a:t>
            </a:r>
            <a:r>
              <a:rPr lang="en-US" sz="1200" dirty="0" err="1">
                <a:hlinkClick r:id="rId2"/>
              </a:rPr>
              <a:t>blog.udemy.com</a:t>
            </a:r>
            <a:r>
              <a:rPr lang="en-US" sz="1200" dirty="0">
                <a:hlinkClick r:id="rId2"/>
              </a:rPr>
              <a:t>/excel-macros-tutorial/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7771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CB0AE-0234-4E6F-9B77-DA6E7A73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 Record a Macro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B56-7A94-42D0-9BFC-C56A9FE06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67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/>
              <a:t>Purpose of recording a macro:</a:t>
            </a:r>
          </a:p>
          <a:p>
            <a:pPr lvl="1"/>
            <a:r>
              <a:rPr lang="en-US" sz="2400"/>
              <a:t>Helpful for beginners to learn VBA</a:t>
            </a:r>
          </a:p>
          <a:p>
            <a:pPr lvl="1"/>
            <a:r>
              <a:rPr lang="en-US" sz="2400"/>
              <a:t>Useful for experienced VBA programmers to refine skills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6E24F-1A14-4EEF-AE3A-A7597D261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EFC8D8-40C4-9985-B849-6941396CA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290" y="3619501"/>
            <a:ext cx="3329710" cy="2438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AA657-A46B-9875-267B-FACDC97A4612}"/>
              </a:ext>
            </a:extLst>
          </p:cNvPr>
          <p:cNvSpPr txBox="1"/>
          <p:nvPr/>
        </p:nvSpPr>
        <p:spPr>
          <a:xfrm>
            <a:off x="35790" y="3222874"/>
            <a:ext cx="57912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How to record a macro in Excel: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 the Developer Tab, choose “</a:t>
            </a:r>
            <a:r>
              <a:rPr lang="en-US" sz="2000" dirty="0">
                <a:sym typeface="Wingdings"/>
              </a:rPr>
              <a:t>Record Macro”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/>
              </a:rPr>
              <a:t>Name the macro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ym typeface="Wingdings"/>
              </a:rPr>
              <a:t>Make sure </a:t>
            </a:r>
            <a:r>
              <a:rPr lang="en-US" sz="2000" dirty="0">
                <a:sym typeface="Wingdings"/>
              </a:rPr>
              <a:t>that under “Store</a:t>
            </a:r>
            <a:r>
              <a:rPr lang="en-US" sz="20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macro in:”  you select “This Workbook” (or “New Workbook”)</a:t>
            </a:r>
            <a:endParaRPr lang="en-US" sz="2000" dirty="0">
              <a:sym typeface="Wingding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/>
              </a:rPr>
              <a:t>Perform some tasks in Excel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/>
              </a:rPr>
              <a:t>Click “Stop Recording” on the Developer Tab</a:t>
            </a:r>
            <a:endParaRPr lang="en-US" sz="1600" dirty="0">
              <a:sym typeface="Wingding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/>
              </a:rPr>
              <a:t>Open Visual Basic Editor to view the code that was generated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6849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CB0AE-0234-4E6F-9B77-DA6E7A73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1. Record a Macro</a:t>
            </a:r>
            <a:br>
              <a:rPr lang="en-US" dirty="0"/>
            </a:br>
            <a:r>
              <a:rPr lang="en-US" sz="2700" dirty="0"/>
              <a:t>Let’s 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B56-7A94-42D0-9BFC-C56A9FE06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3886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macro we are about to create will:</a:t>
            </a:r>
          </a:p>
          <a:p>
            <a:pPr lvl="1"/>
            <a:r>
              <a:rPr lang="en-US" sz="2400" dirty="0"/>
              <a:t>Type your name in a cell</a:t>
            </a:r>
          </a:p>
          <a:p>
            <a:pPr lvl="1"/>
            <a:r>
              <a:rPr lang="en-US" sz="2400" dirty="0"/>
              <a:t>Enter the current date and time in the cell below</a:t>
            </a:r>
          </a:p>
          <a:p>
            <a:pPr lvl="1"/>
            <a:r>
              <a:rPr lang="en-US" sz="2400" dirty="0"/>
              <a:t>Format both cells to display bold</a:t>
            </a:r>
          </a:p>
          <a:p>
            <a:pPr lvl="1"/>
            <a:r>
              <a:rPr lang="en-US" sz="2400" dirty="0"/>
              <a:t>Change the font size of both cells to 16 </a:t>
            </a:r>
            <a:r>
              <a:rPr lang="en-US" sz="2400" dirty="0" err="1"/>
              <a:t>pt</a:t>
            </a:r>
            <a:r>
              <a:rPr lang="en-US" sz="2400" dirty="0"/>
              <a:t> font</a:t>
            </a:r>
          </a:p>
          <a:p>
            <a:pPr lvl="1"/>
            <a:endParaRPr lang="en-US" sz="2400" dirty="0"/>
          </a:p>
          <a:p>
            <a:pPr marL="274320" lvl="1" indent="0">
              <a:buNone/>
            </a:pPr>
            <a:r>
              <a:rPr lang="en-US" sz="2400" dirty="0"/>
              <a:t>Let’s look at the resulting code in the VBE.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6E24F-1A14-4EEF-AE3A-A7597D261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B4C51B-1503-C676-1B3E-415EB8BDB53D}"/>
              </a:ext>
            </a:extLst>
          </p:cNvPr>
          <p:cNvSpPr/>
          <p:nvPr/>
        </p:nvSpPr>
        <p:spPr>
          <a:xfrm>
            <a:off x="2766236" y="5697667"/>
            <a:ext cx="38631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the Recording Macros including step-by-step instructions on pp 19-24 &amp; </a:t>
            </a:r>
            <a:r>
              <a:rPr lang="en-US"/>
              <a:t>Ch 7</a:t>
            </a:r>
            <a:endParaRPr lang="en-US" dirty="0"/>
          </a:p>
        </p:txBody>
      </p:sp>
      <p:pic>
        <p:nvPicPr>
          <p:cNvPr id="8" name="Picture 2" descr="Excel VBA Programming For Dummies, 4th Edition (1119077397) cover image">
            <a:extLst>
              <a:ext uri="{FF2B5EF4-FFF2-40B4-BE49-F238E27FC236}">
                <a16:creationId xmlns:a16="http://schemas.microsoft.com/office/drawing/2014/main" id="{7FC7235A-4067-3ED7-93E1-8647DEC38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5971928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294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CB0AE-0234-4E6F-9B77-DA6E7A73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1. Record a Macro</a:t>
            </a:r>
            <a:br>
              <a:rPr lang="en-US" dirty="0"/>
            </a:br>
            <a:r>
              <a:rPr lang="en-US" sz="2700" dirty="0"/>
              <a:t>Let’s 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B56-7A94-42D0-9BFC-C56A9FE06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3886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 to Excel and the VBE now…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6E24F-1A14-4EEF-AE3A-A7597D261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41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382000" cy="48307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A </a:t>
            </a:r>
            <a:r>
              <a:rPr lang="en-US" b="1" dirty="0"/>
              <a:t>Sub Procedure</a:t>
            </a:r>
            <a:r>
              <a:rPr lang="en-US" sz="2400" dirty="0"/>
              <a:t> is a group of VBA statements that performs an action (or actions) with Excel</a:t>
            </a:r>
          </a:p>
          <a:p>
            <a:pPr>
              <a:lnSpc>
                <a:spcPct val="110000"/>
              </a:lnSpc>
            </a:pPr>
            <a:r>
              <a:rPr lang="en-US" dirty="0"/>
              <a:t>To Create a Sub: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Open VBE </a:t>
            </a:r>
            <a:r>
              <a:rPr lang="en-US" dirty="0">
                <a:sym typeface="Wingdings"/>
              </a:rPr>
              <a:t> Insert  Module</a:t>
            </a: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dirty="0"/>
              <a:t>Syntax: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All subs begin with 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sz="2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SubName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/>
              <a:t>	</a:t>
            </a:r>
          </a:p>
          <a:p>
            <a:pPr lvl="2">
              <a:lnSpc>
                <a:spcPct val="110000"/>
              </a:lnSpc>
            </a:pPr>
            <a:r>
              <a:rPr lang="en-US" sz="2200" dirty="0"/>
              <a:t>The parenthesis can hold arguments/parameters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All subs end with </a:t>
            </a:r>
            <a: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Sub</a:t>
            </a:r>
          </a:p>
          <a:p>
            <a:pPr marL="0" indent="0">
              <a:buNone/>
            </a:pPr>
            <a:endParaRPr lang="en-US" sz="1400" dirty="0"/>
          </a:p>
          <a:p>
            <a:pPr marL="400050" lvl="1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SubName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(arg1, arg2)</a:t>
            </a:r>
          </a:p>
          <a:p>
            <a:pPr marL="400050" lvl="1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`comments and code</a:t>
            </a:r>
          </a:p>
          <a:p>
            <a:pPr marL="400050" lvl="1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`do something with arg1 and arg2</a:t>
            </a:r>
          </a:p>
          <a:p>
            <a:pPr marL="400050" lvl="1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Sub</a:t>
            </a:r>
          </a:p>
          <a:p>
            <a:pPr marL="0" indent="0">
              <a:buNone/>
            </a:pPr>
            <a:endParaRPr lang="en-US" sz="1400" dirty="0"/>
          </a:p>
          <a:p>
            <a:pPr marL="400050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77000" y="6165138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Sub Procedures in </a:t>
            </a:r>
            <a:r>
              <a:rPr lang="en-US" dirty="0" err="1"/>
              <a:t>Ch</a:t>
            </a:r>
            <a:r>
              <a:rPr lang="en-US" dirty="0"/>
              <a:t> 5</a:t>
            </a:r>
          </a:p>
        </p:txBody>
      </p:sp>
      <p:pic>
        <p:nvPicPr>
          <p:cNvPr id="5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19564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685800" y="15240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2.  Sub Procedures (Sub)</a:t>
            </a:r>
          </a:p>
        </p:txBody>
      </p:sp>
    </p:spTree>
    <p:extLst>
      <p:ext uri="{BB962C8B-B14F-4D97-AF65-F5344CB8AC3E}">
        <p14:creationId xmlns:p14="http://schemas.microsoft.com/office/powerpoint/2010/main" val="3964582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2.  Sub Procedures (Sub)</a:t>
            </a:r>
            <a:br>
              <a:rPr lang="en-US" dirty="0"/>
            </a:br>
            <a:r>
              <a:rPr lang="en-US" sz="2400" dirty="0">
                <a:solidFill>
                  <a:srgbClr val="D2533C"/>
                </a:solidFill>
              </a:rPr>
              <a:t>Let’s 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06563"/>
            <a:ext cx="8382000" cy="44196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Open VBE </a:t>
            </a:r>
            <a:r>
              <a:rPr lang="en-US" dirty="0">
                <a:sym typeface="Wingdings"/>
              </a:rPr>
              <a:t> Insert  Module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Type the following: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400050" lvl="1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ShowMessage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00050" lvl="1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MsgBox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"That's all folks!"</a:t>
            </a:r>
          </a:p>
          <a:p>
            <a:pPr marL="400050" lvl="1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Sub</a:t>
            </a:r>
          </a:p>
          <a:p>
            <a:pPr marL="0" indent="0">
              <a:buNone/>
            </a:pPr>
            <a:endParaRPr lang="en-US" sz="1400" dirty="0"/>
          </a:p>
          <a:p>
            <a:pPr lvl="0">
              <a:lnSpc>
                <a:spcPct val="110000"/>
              </a:lnSpc>
              <a:buClr>
                <a:srgbClr val="93A299"/>
              </a:buClr>
            </a:pPr>
            <a:r>
              <a:rPr lang="en-US" dirty="0">
                <a:solidFill>
                  <a:srgbClr val="292934"/>
                </a:solidFill>
              </a:rPr>
              <a:t>To execute: Run </a:t>
            </a:r>
            <a:r>
              <a:rPr lang="en-US" dirty="0">
                <a:solidFill>
                  <a:srgbClr val="292934"/>
                </a:solidFill>
                <a:sym typeface="Wingdings" panose="05000000000000000000" pitchFamily="2" charset="2"/>
              </a:rPr>
              <a:t> </a:t>
            </a:r>
            <a:r>
              <a:rPr lang="en-US" dirty="0" err="1">
                <a:solidFill>
                  <a:srgbClr val="292934"/>
                </a:solidFill>
                <a:sym typeface="Wingdings" panose="05000000000000000000" pitchFamily="2" charset="2"/>
              </a:rPr>
              <a:t>RunSub</a:t>
            </a:r>
            <a:r>
              <a:rPr lang="en-US" dirty="0">
                <a:solidFill>
                  <a:srgbClr val="292934"/>
                </a:solidFill>
                <a:sym typeface="Wingdings" panose="05000000000000000000" pitchFamily="2" charset="2"/>
              </a:rPr>
              <a:t>/</a:t>
            </a:r>
            <a:r>
              <a:rPr lang="en-US" dirty="0" err="1">
                <a:solidFill>
                  <a:srgbClr val="292934"/>
                </a:solidFill>
                <a:sym typeface="Wingdings" panose="05000000000000000000" pitchFamily="2" charset="2"/>
              </a:rPr>
              <a:t>UserForm</a:t>
            </a:r>
            <a:r>
              <a:rPr lang="en-US" dirty="0">
                <a:solidFill>
                  <a:srgbClr val="292934"/>
                </a:solidFill>
                <a:sym typeface="Wingdings" panose="05000000000000000000" pitchFamily="2" charset="2"/>
              </a:rPr>
              <a:t> in VBE or</a:t>
            </a:r>
          </a:p>
          <a:p>
            <a:pPr marL="0" lvl="0" indent="0">
              <a:lnSpc>
                <a:spcPct val="110000"/>
              </a:lnSpc>
              <a:buClr>
                <a:srgbClr val="93A299"/>
              </a:buClr>
              <a:buNone/>
            </a:pPr>
            <a:r>
              <a:rPr lang="en-US" dirty="0">
                <a:solidFill>
                  <a:srgbClr val="292934"/>
                </a:solidFill>
                <a:sym typeface="Wingdings" panose="05000000000000000000" pitchFamily="2" charset="2"/>
              </a:rPr>
              <a:t>		Click      in VBE</a:t>
            </a:r>
            <a:endParaRPr lang="en-US" dirty="0">
              <a:solidFill>
                <a:srgbClr val="292934"/>
              </a:solidFill>
              <a:sym typeface="Wingdings"/>
            </a:endParaRPr>
          </a:p>
          <a:p>
            <a:pPr marL="0" indent="0">
              <a:buNone/>
            </a:pPr>
            <a:endParaRPr lang="en-US" sz="1400" dirty="0"/>
          </a:p>
          <a:p>
            <a:pPr marL="400050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77000" y="6165138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Sub Procedures in </a:t>
            </a:r>
            <a:r>
              <a:rPr lang="en-US" dirty="0" err="1"/>
              <a:t>Ch</a:t>
            </a:r>
            <a:r>
              <a:rPr lang="en-US" dirty="0"/>
              <a:t> 5</a:t>
            </a:r>
          </a:p>
        </p:txBody>
      </p:sp>
      <p:pic>
        <p:nvPicPr>
          <p:cNvPr id="5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19564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ction Button: Forward or Next 6">
            <a:hlinkClick r:id="" action="ppaction://hlinkshowjump?jump=nextslide" highlightClick="1"/>
          </p:cNvPr>
          <p:cNvSpPr/>
          <p:nvPr/>
        </p:nvSpPr>
        <p:spPr>
          <a:xfrm>
            <a:off x="2971800" y="4724400"/>
            <a:ext cx="381000" cy="457200"/>
          </a:xfrm>
          <a:prstGeom prst="actionButtonForwardNex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59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2.  Sub Procedures (Sub)</a:t>
            </a:r>
            <a:br>
              <a:rPr lang="en-US" dirty="0"/>
            </a:br>
            <a:r>
              <a:rPr lang="en-US" sz="2400" dirty="0">
                <a:solidFill>
                  <a:srgbClr val="D2533C"/>
                </a:solidFill>
              </a:rPr>
              <a:t>Let’s 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06563"/>
            <a:ext cx="8382000" cy="44196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Add </a:t>
            </a:r>
            <a:r>
              <a:rPr lang="en-US" dirty="0">
                <a:sym typeface="Wingdings"/>
              </a:rPr>
              <a:t>the following: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400050" lvl="1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ShowSquaredNum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00050" lvl="1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Num =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InputBox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("Enter a number")</a:t>
            </a:r>
          </a:p>
          <a:p>
            <a:pPr marL="400050" lvl="1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MsgBox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Num ^ (2)</a:t>
            </a:r>
          </a:p>
          <a:p>
            <a:pPr marL="400050" lvl="1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Sub</a:t>
            </a:r>
          </a:p>
          <a:p>
            <a:pPr marL="400050" lvl="1" indent="0">
              <a:buNone/>
            </a:pPr>
            <a:endParaRPr lang="en-US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400" dirty="0"/>
          </a:p>
          <a:p>
            <a:pPr marL="400050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77000" y="6165138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Sub Procedures in </a:t>
            </a:r>
            <a:r>
              <a:rPr lang="en-US" dirty="0" err="1"/>
              <a:t>Ch</a:t>
            </a:r>
            <a:r>
              <a:rPr lang="en-US" dirty="0"/>
              <a:t> 5</a:t>
            </a:r>
          </a:p>
        </p:txBody>
      </p:sp>
      <p:pic>
        <p:nvPicPr>
          <p:cNvPr id="5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19564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198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2.  Sub Procedures (Sub)</a:t>
            </a:r>
            <a:br>
              <a:rPr lang="en-US" dirty="0"/>
            </a:br>
            <a:r>
              <a:rPr lang="en-US" sz="2400" dirty="0">
                <a:solidFill>
                  <a:srgbClr val="D2533C"/>
                </a:solidFill>
              </a:rPr>
              <a:t>Executing a Sub from a button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06563"/>
            <a:ext cx="5867400" cy="44196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We can execute a sub directly from an Excel worksheet: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Activate a worksheet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Go to Developer : Insert : Form Controls and click the button tool to add a button (see Figure at right)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Drag in the worksheet to create the button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Select the macro you want to assign to the button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Right-click the button to edit its text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Click OK</a:t>
            </a:r>
            <a:endParaRPr lang="en-US" sz="1000" dirty="0"/>
          </a:p>
          <a:p>
            <a:pPr marL="400050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77000" y="6165138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Executing Subs w/ buttons </a:t>
            </a:r>
            <a:r>
              <a:rPr lang="en-US"/>
              <a:t>on p73</a:t>
            </a:r>
            <a:endParaRPr lang="en-US" dirty="0"/>
          </a:p>
        </p:txBody>
      </p:sp>
      <p:pic>
        <p:nvPicPr>
          <p:cNvPr id="5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19564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241" y="5493756"/>
            <a:ext cx="3350263" cy="1342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E78F9D-2C15-734A-F811-D6D22BF24E3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r="674"/>
          <a:stretch/>
        </p:blipFill>
        <p:spPr>
          <a:xfrm>
            <a:off x="6371259" y="1799964"/>
            <a:ext cx="2760041" cy="27096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C6F460-C154-48F2-EFFF-39A4439F4601}"/>
              </a:ext>
            </a:extLst>
          </p:cNvPr>
          <p:cNvSpPr txBox="1"/>
          <p:nvPr/>
        </p:nvSpPr>
        <p:spPr>
          <a:xfrm>
            <a:off x="6358559" y="5124424"/>
            <a:ext cx="2569934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Go to Excel and do this</a:t>
            </a:r>
          </a:p>
        </p:txBody>
      </p:sp>
    </p:spTree>
    <p:extLst>
      <p:ext uri="{BB962C8B-B14F-4D97-AF65-F5344CB8AC3E}">
        <p14:creationId xmlns:p14="http://schemas.microsoft.com/office/powerpoint/2010/main" val="127767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0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3. Declaring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9154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Recall, in Python, you did not have to declare a data type to a variable before using it: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Cost = 15.12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isSold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parts = 25</a:t>
            </a:r>
          </a:p>
          <a:p>
            <a:pPr lvl="0">
              <a:buClr>
                <a:srgbClr val="93A299"/>
              </a:buClr>
            </a:pPr>
            <a:endParaRPr lang="en-US" dirty="0">
              <a:solidFill>
                <a:srgbClr val="292934"/>
              </a:solidFill>
            </a:endParaRPr>
          </a:p>
          <a:p>
            <a:pPr lvl="0">
              <a:buClr>
                <a:srgbClr val="93A299"/>
              </a:buClr>
            </a:pPr>
            <a:r>
              <a:rPr lang="en-US" dirty="0">
                <a:solidFill>
                  <a:srgbClr val="292934"/>
                </a:solidFill>
              </a:rPr>
              <a:t>With VBA, we also </a:t>
            </a:r>
            <a:r>
              <a:rPr lang="en-US" i="1" dirty="0">
                <a:solidFill>
                  <a:srgbClr val="292934"/>
                </a:solidFill>
              </a:rPr>
              <a:t>do not have to</a:t>
            </a:r>
            <a:r>
              <a:rPr lang="en-US" dirty="0">
                <a:solidFill>
                  <a:srgbClr val="292934"/>
                </a:solidFill>
              </a:rPr>
              <a:t> declare a data type for a variable before we start using it, but it’s a good idea to do so: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dirty="0">
                <a:cs typeface="Courier New" panose="02070309020205020404" pitchFamily="49" charset="0"/>
              </a:rPr>
              <a:t>Variable declaration syntax:  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 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variableName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VariableType</a:t>
            </a:r>
            <a:endParaRPr lang="en-US" sz="2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  </a:t>
            </a:r>
            <a:r>
              <a:rPr lang="en-US" sz="1800" u="sng" dirty="0">
                <a:cs typeface="Courier New" panose="02070309020205020404" pitchFamily="49" charset="0"/>
              </a:rPr>
              <a:t>Examples</a:t>
            </a: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Dim cost As Currency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Dim parts As Integer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Dim </a:t>
            </a:r>
            <a:r>
              <a:rPr lang="en-US" sz="1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isSold</a:t>
            </a: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Boolean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‘or as a list: </a:t>
            </a:r>
            <a:b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‘Dim cost As Currency, parts As Integer, </a:t>
            </a:r>
            <a:r>
              <a:rPr lang="en-US" sz="1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isSold</a:t>
            </a: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Boolean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Cost = 15.12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isSold</a:t>
            </a: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parts = 25</a:t>
            </a:r>
          </a:p>
          <a:p>
            <a:pPr marL="0" indent="0">
              <a:buNone/>
            </a:pPr>
            <a:endParaRPr lang="en-US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77000" y="6165138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Variables </a:t>
            </a:r>
            <a:r>
              <a:rPr lang="en-US"/>
              <a:t>on p111-120</a:t>
            </a:r>
            <a:endParaRPr lang="en-US" dirty="0"/>
          </a:p>
        </p:txBody>
      </p:sp>
      <p:pic>
        <p:nvPicPr>
          <p:cNvPr id="7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19564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15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0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3. Declaring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So if we don’t have to declare a variable, why would we?</a:t>
            </a:r>
          </a:p>
          <a:p>
            <a:pPr lvl="1"/>
            <a:r>
              <a:rPr lang="en-US" dirty="0"/>
              <a:t>More efficient memory use</a:t>
            </a:r>
          </a:p>
          <a:p>
            <a:pPr lvl="1"/>
            <a:r>
              <a:rPr lang="en-US" dirty="0"/>
              <a:t>Faster execution</a:t>
            </a:r>
          </a:p>
          <a:p>
            <a:pPr lvl="1"/>
            <a:r>
              <a:rPr lang="en-US" dirty="0"/>
              <a:t>Makes debugging easier</a:t>
            </a:r>
            <a:br>
              <a:rPr lang="en-US" dirty="0"/>
            </a:br>
            <a:r>
              <a:rPr lang="en-US" dirty="0"/>
              <a:t>(ex: if you misspell a variable, it’ll be hard to detect!)</a:t>
            </a:r>
          </a:p>
          <a:p>
            <a:pPr lvl="1"/>
            <a:endParaRPr lang="en-US" dirty="0"/>
          </a:p>
          <a:p>
            <a:r>
              <a:rPr lang="en-US" dirty="0"/>
              <a:t>To force a requirement to declare variables, use the following statement at the top of your VBA module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Option Explicit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Note: if you do not declare a variable, VBA uses the default data type: Variant – which can change data types depending on what you do with it.  </a:t>
            </a:r>
          </a:p>
          <a:p>
            <a:pPr lvl="1"/>
            <a:endParaRPr lang="en-US" dirty="0"/>
          </a:p>
          <a:p>
            <a:pPr lvl="1"/>
            <a:endParaRPr lang="en-US" sz="12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195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0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3. Declaring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(Some) VBA variable types: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Image result for VBA built-in data types table 7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400" y="1888190"/>
            <a:ext cx="6419199" cy="481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700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3. String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876800"/>
          </a:xfrm>
        </p:spPr>
        <p:txBody>
          <a:bodyPr>
            <a:normAutofit/>
          </a:bodyPr>
          <a:lstStyle/>
          <a:p>
            <a:pPr marL="25146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 </a:t>
            </a:r>
            <a:r>
              <a:rPr lang="en-US" sz="1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String, </a:t>
            </a:r>
            <a:r>
              <a:rPr lang="en-US" sz="1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String, name As String</a:t>
            </a:r>
          </a:p>
          <a:p>
            <a:pPr marL="251460" indent="0">
              <a:buNone/>
            </a:pPr>
            <a:r>
              <a:rPr lang="en-US" sz="1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“John”</a:t>
            </a:r>
          </a:p>
          <a:p>
            <a:pPr marL="251460" indent="0">
              <a:buNone/>
            </a:pPr>
            <a:r>
              <a:rPr lang="en-US" sz="1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“Smith”</a:t>
            </a:r>
          </a:p>
          <a:p>
            <a:pPr marL="25146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</a:t>
            </a:r>
            <a:r>
              <a:rPr lang="en-US" sz="1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“ “ &amp; </a:t>
            </a:r>
            <a:r>
              <a:rPr lang="en-US" sz="1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endParaRPr lang="en-US" sz="1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08660" lvl="1" indent="0">
              <a:buNone/>
            </a:pPr>
            <a:endParaRPr lang="en-US" sz="1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5146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‘Useful String functions</a:t>
            </a:r>
          </a:p>
          <a:p>
            <a:pPr marL="25146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shortString1 = Right(“Hello”, 2)</a:t>
            </a:r>
          </a:p>
          <a:p>
            <a:pPr marL="25146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shortString2 = Left(“Hello”,2)</a:t>
            </a:r>
          </a:p>
          <a:p>
            <a:pPr marL="251460" indent="0">
              <a:buNone/>
            </a:pP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shortString3 = Mid(“Hello”, 2,3)</a:t>
            </a:r>
          </a:p>
          <a:p>
            <a:pPr marL="251460" indent="0">
              <a:buNone/>
            </a:pPr>
            <a:r>
              <a:rPr lang="en-US" sz="1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nCharacters</a:t>
            </a:r>
            <a:r>
              <a:rPr lang="en-US" sz="1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Len(“Hello”)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47CFF9-6B22-70D7-9CD8-D5AA8A32DA5D}"/>
              </a:ext>
            </a:extLst>
          </p:cNvPr>
          <p:cNvSpPr txBox="1"/>
          <p:nvPr/>
        </p:nvSpPr>
        <p:spPr>
          <a:xfrm>
            <a:off x="381000" y="5029200"/>
            <a:ext cx="8305800" cy="1628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Useful sidelight:  the 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Immediate window – works like the console in Spyder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VBE: View &gt; Immediate Window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r>
              <a:rPr lang="en-US" sz="1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myVariable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– to see value of a variable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?expression -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see value of an expression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 other features;  try out string expressions above in the Immediate window</a:t>
            </a:r>
          </a:p>
        </p:txBody>
      </p:sp>
    </p:spTree>
    <p:extLst>
      <p:ext uri="{BB962C8B-B14F-4D97-AF65-F5344CB8AC3E}">
        <p14:creationId xmlns:p14="http://schemas.microsoft.com/office/powerpoint/2010/main" val="13084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2DF3-048B-463E-8D6F-348F42CA1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870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VBA Essentials –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B74C-BD8F-4E97-8799-D835E14E1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134350" cy="5033963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arenR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Record a macro</a:t>
            </a:r>
          </a:p>
          <a:p>
            <a:pPr marL="457200" indent="-457200">
              <a:buAutoNum type="arabicParenR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Discuss procedures in VBA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Sub procedure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Function procedure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Event procedure</a:t>
            </a:r>
          </a:p>
          <a:p>
            <a:pPr marL="342900" lvl="1" indent="0">
              <a:buNone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Discuss variables in VBA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Variables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/>
              <a:t>Objects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/>
              <a:t>Constants</a:t>
            </a:r>
          </a:p>
          <a:p>
            <a:pPr marL="342900" lvl="1" indent="0">
              <a:buNone/>
            </a:pPr>
            <a:endParaRPr lang="en-US" dirty="0"/>
          </a:p>
          <a:p>
            <a:pPr marL="525780" indent="-457200">
              <a:buFont typeface="+mj-lt"/>
              <a:buAutoNum type="arabicParenR"/>
            </a:pPr>
            <a:r>
              <a:rPr lang="en-US" dirty="0"/>
              <a:t>Discuss Ranges – powerful object within Excel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D0BF4-BF93-4B12-9374-200B3618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EF086A18-2F3F-4600-A3B5-9F1843453460}"/>
              </a:ext>
            </a:extLst>
          </p:cNvPr>
          <p:cNvSpPr/>
          <p:nvPr/>
        </p:nvSpPr>
        <p:spPr>
          <a:xfrm>
            <a:off x="3514725" y="2761566"/>
            <a:ext cx="195072" cy="592924"/>
          </a:xfrm>
          <a:prstGeom prst="rightBrac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D3784-D69F-43F7-AAA6-9FC9CAA8FAF0}"/>
              </a:ext>
            </a:extLst>
          </p:cNvPr>
          <p:cNvSpPr txBox="1"/>
          <p:nvPr/>
        </p:nvSpPr>
        <p:spPr>
          <a:xfrm>
            <a:off x="3810000" y="28194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today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A701C4-1BAC-F0AA-F302-1DF97D0259A8}"/>
              </a:ext>
            </a:extLst>
          </p:cNvPr>
          <p:cNvSpPr txBox="1"/>
          <p:nvPr/>
        </p:nvSpPr>
        <p:spPr>
          <a:xfrm>
            <a:off x="3709797" y="4082683"/>
            <a:ext cx="4950172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Before we get into object variables and ranges, we will introduce </a:t>
            </a:r>
            <a:r>
              <a:rPr lang="en-US" b="1" dirty="0"/>
              <a:t>VBA’s object model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55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VBA -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VBA is an </a:t>
            </a:r>
            <a:r>
              <a:rPr lang="en-US" sz="2800" b="1" dirty="0"/>
              <a:t>object oriented </a:t>
            </a:r>
            <a:r>
              <a:rPr lang="en-US" sz="2800" dirty="0"/>
              <a:t>programming language</a:t>
            </a:r>
          </a:p>
          <a:p>
            <a:r>
              <a:rPr lang="en-US" sz="2800" dirty="0"/>
              <a:t>VBA objects have</a:t>
            </a:r>
          </a:p>
          <a:p>
            <a:pPr lvl="1"/>
            <a:r>
              <a:rPr lang="en-US" sz="2400" dirty="0"/>
              <a:t>Properties (attributes)</a:t>
            </a:r>
          </a:p>
          <a:p>
            <a:pPr lvl="1"/>
            <a:r>
              <a:rPr lang="en-US" sz="2400" dirty="0"/>
              <a:t>Methods (functions specific to the object)</a:t>
            </a:r>
          </a:p>
          <a:p>
            <a:pPr lvl="1"/>
            <a:endParaRPr lang="en-US" sz="2400" dirty="0"/>
          </a:p>
          <a:p>
            <a:pPr marL="0" indent="0">
              <a:buNone/>
            </a:pPr>
            <a:r>
              <a:rPr lang="en-US" sz="2800" dirty="0"/>
              <a:t>Example:</a:t>
            </a:r>
          </a:p>
          <a:p>
            <a:r>
              <a:rPr lang="en-US" sz="2800" dirty="0"/>
              <a:t>Object: Car</a:t>
            </a:r>
          </a:p>
          <a:p>
            <a:r>
              <a:rPr lang="en-US" sz="2800" dirty="0"/>
              <a:t>Properties: color, number of </a:t>
            </a:r>
            <a:br>
              <a:rPr lang="en-US" sz="2800" dirty="0"/>
            </a:br>
            <a:r>
              <a:rPr lang="en-US" sz="2800" dirty="0"/>
              <a:t>doors, etc.</a:t>
            </a:r>
          </a:p>
          <a:p>
            <a:r>
              <a:rPr lang="en-US" sz="2800" dirty="0"/>
              <a:t>Methods: drive, sell,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4267200"/>
            <a:ext cx="3365500" cy="205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74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VBA -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VBA has a set of predefined objects which is referred to as the </a:t>
            </a:r>
            <a:r>
              <a:rPr lang="en-US" b="1" dirty="0"/>
              <a:t>object model </a:t>
            </a:r>
            <a:r>
              <a:rPr lang="en-US" dirty="0"/>
              <a:t>for each application.</a:t>
            </a:r>
          </a:p>
          <a:p>
            <a:pPr lvl="1"/>
            <a:r>
              <a:rPr lang="en-US" dirty="0"/>
              <a:t>Using VBA in Word, Access, etc. would require you learning </a:t>
            </a:r>
            <a:r>
              <a:rPr lang="en-US" i="1" dirty="0"/>
              <a:t>its</a:t>
            </a:r>
            <a:r>
              <a:rPr lang="en-US" dirty="0"/>
              <a:t> object model</a:t>
            </a:r>
          </a:p>
          <a:p>
            <a:pPr lvl="1"/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VBA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b="1" dirty="0">
                <a:highlight>
                  <a:srgbClr val="FFFF00"/>
                </a:highlight>
              </a:rPr>
              <a:t>objects</a:t>
            </a:r>
            <a:r>
              <a:rPr lang="en-US" dirty="0">
                <a:highlight>
                  <a:srgbClr val="FFFF00"/>
                </a:highlight>
              </a:rPr>
              <a:t> in Excel:  Range, worksheet, workbook, </a:t>
            </a:r>
            <a:r>
              <a:rPr lang="en-US" dirty="0" err="1">
                <a:highlight>
                  <a:srgbClr val="FFFF00"/>
                </a:highlight>
              </a:rPr>
              <a:t>etc</a:t>
            </a:r>
            <a:endParaRPr lang="en-US" dirty="0">
              <a:highlight>
                <a:srgbClr val="FFFF00"/>
              </a:highlight>
            </a:endParaRP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VBA also has collections. Collection is a type of object that contains a set of related objects.</a:t>
            </a:r>
          </a:p>
          <a:p>
            <a:pPr lvl="1"/>
            <a:r>
              <a:rPr lang="en-US" dirty="0"/>
              <a:t>Ex: a used car lot is a collection of car-objects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VBA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b="1" dirty="0">
                <a:highlight>
                  <a:srgbClr val="FFFF00"/>
                </a:highlight>
              </a:rPr>
              <a:t>collections</a:t>
            </a:r>
            <a:r>
              <a:rPr lang="en-US" dirty="0">
                <a:highlight>
                  <a:srgbClr val="FFFF00"/>
                </a:highlight>
              </a:rPr>
              <a:t> in Excel: Worksheets, workbooks,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23554" y="6292334"/>
            <a:ext cx="2659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More on objects in CH 4</a:t>
            </a:r>
          </a:p>
        </p:txBody>
      </p:sp>
      <p:pic>
        <p:nvPicPr>
          <p:cNvPr id="6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183" y="6186364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837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dirty="0"/>
              <a:t>VBA – Objects</a:t>
            </a:r>
            <a:br>
              <a:rPr lang="en-US" sz="5400" dirty="0"/>
            </a:br>
            <a:r>
              <a:rPr lang="en-US" sz="3600" dirty="0"/>
              <a:t>Hierarchy</a:t>
            </a:r>
            <a:endParaRPr lang="en-US" sz="5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3229906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Object Hierarchy on </a:t>
            </a:r>
            <a:r>
              <a:rPr lang="en-US" dirty="0" err="1"/>
              <a:t>pgs</a:t>
            </a:r>
            <a:r>
              <a:rPr lang="en-US" dirty="0"/>
              <a:t> 52-53</a:t>
            </a:r>
          </a:p>
        </p:txBody>
      </p:sp>
      <p:pic>
        <p:nvPicPr>
          <p:cNvPr id="10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873" y="2939270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499E08-0A2F-68B0-7FF3-7BE3A9E899A2}"/>
              </a:ext>
            </a:extLst>
          </p:cNvPr>
          <p:cNvSpPr txBox="1"/>
          <p:nvPr/>
        </p:nvSpPr>
        <p:spPr>
          <a:xfrm>
            <a:off x="0" y="6492055"/>
            <a:ext cx="9067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600" dirty="0">
                <a:cs typeface="Courier New" panose="02070309020205020404" pitchFamily="49" charset="0"/>
                <a:sym typeface="Wingdings"/>
              </a:rPr>
              <a:t>Ex.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/>
              </a:rPr>
              <a:t>Application.Workbooks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Wingdings"/>
              </a:rPr>
              <a:t>(“Book1.xlsx”).Worksheets(“Sheet1”).Range(“B3”)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10985E-3F66-53A4-DB3D-1FE6E488CC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58" y="2214884"/>
            <a:ext cx="2398406" cy="192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5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dirty="0"/>
              <a:t>VBA – Objects</a:t>
            </a:r>
            <a:br>
              <a:rPr lang="en-US" sz="5400" dirty="0"/>
            </a:br>
            <a:r>
              <a:rPr lang="en-US" sz="3600" dirty="0"/>
              <a:t>Hierarchy</a:t>
            </a:r>
            <a:endParaRPr lang="en-US" sz="5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477000" y="6143872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Object Hierarchy on </a:t>
            </a:r>
            <a:r>
              <a:rPr lang="en-US" dirty="0" err="1"/>
              <a:t>pgs</a:t>
            </a:r>
            <a:r>
              <a:rPr lang="en-US" dirty="0"/>
              <a:t> 52-53</a:t>
            </a:r>
          </a:p>
        </p:txBody>
      </p:sp>
      <p:pic>
        <p:nvPicPr>
          <p:cNvPr id="10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08931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739912"/>
          <a:ext cx="82296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77719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dirty="0"/>
              <a:t>VBA – Objects</a:t>
            </a:r>
            <a:br>
              <a:rPr lang="en-US" sz="5400" dirty="0"/>
            </a:br>
            <a:r>
              <a:rPr lang="en-US" sz="3600" dirty="0"/>
              <a:t>Referencing Objects</a:t>
            </a:r>
            <a:endParaRPr lang="en-US" sz="5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949850" y="533400"/>
          <a:ext cx="1340300" cy="1328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Rectangle 15"/>
          <p:cNvSpPr/>
          <p:nvPr/>
        </p:nvSpPr>
        <p:spPr>
          <a:xfrm>
            <a:off x="6477000" y="6143872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referring to objects on pp 53-56</a:t>
            </a:r>
          </a:p>
        </p:txBody>
      </p:sp>
      <p:pic>
        <p:nvPicPr>
          <p:cNvPr id="17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08931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352800" y="2308319"/>
            <a:ext cx="5638800" cy="1976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dirty="0">
                <a:sym typeface="Wingdings"/>
              </a:rPr>
              <a:t>To work with Excel objects, we need a way to reference them.  For example, range “B3” can be referenced this way:</a:t>
            </a:r>
            <a:endParaRPr lang="en-US" sz="1500" i="1" dirty="0">
              <a:latin typeface="Courier New" panose="02070309020205020404" pitchFamily="49" charset="0"/>
              <a:cs typeface="Courier New" panose="02070309020205020404" pitchFamily="49" charset="0"/>
              <a:sym typeface="Wingding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8D39C6-29A8-D66C-4A02-2CC5911051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" y="2195569"/>
            <a:ext cx="2743200" cy="22016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58F8A5-5C0F-C01F-CFBA-0091D1125BAF}"/>
              </a:ext>
            </a:extLst>
          </p:cNvPr>
          <p:cNvSpPr txBox="1"/>
          <p:nvPr/>
        </p:nvSpPr>
        <p:spPr>
          <a:xfrm>
            <a:off x="152400" y="4749790"/>
            <a:ext cx="8839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/>
              </a:rPr>
              <a:t>Application.Workbooks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Wingdings"/>
              </a:rPr>
              <a:t>(“Book1.xlsx”).Worksheets(“Sheet1”).Range(“B3”)</a:t>
            </a:r>
          </a:p>
          <a:p>
            <a:pPr marL="0" indent="0">
              <a:buFont typeface="Arial" pitchFamily="34" charset="0"/>
              <a:buNone/>
            </a:pPr>
            <a:endParaRPr lang="en-US" sz="1800" i="1" dirty="0">
              <a:solidFill>
                <a:srgbClr val="292934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2800" dirty="0">
                <a:solidFill>
                  <a:srgbClr val="292934"/>
                </a:solidFill>
                <a:sym typeface="Wingdings"/>
              </a:rPr>
              <a:t>Notice how each part of the hierarchy is referenced. </a:t>
            </a:r>
            <a:endParaRPr lang="en-US" sz="2800" i="1" dirty="0">
              <a:solidFill>
                <a:srgbClr val="292934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742931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dirty="0"/>
              <a:t>VBA – Objects</a:t>
            </a:r>
            <a:br>
              <a:rPr lang="en-US" sz="5400" dirty="0"/>
            </a:br>
            <a:r>
              <a:rPr lang="en-US" sz="3600" dirty="0"/>
              <a:t>Referencing Objects</a:t>
            </a:r>
            <a:endParaRPr lang="en-US" sz="5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949850" y="533400"/>
          <a:ext cx="1340300" cy="1328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2590800"/>
            <a:ext cx="82296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i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/>
              </a:rPr>
              <a:t>Application.Workbooks</a:t>
            </a:r>
            <a:r>
              <a:rPr lang="en-US" sz="1500" i="1" dirty="0">
                <a:latin typeface="Courier New" panose="02070309020205020404" pitchFamily="49" charset="0"/>
                <a:cs typeface="Courier New" panose="02070309020205020404" pitchFamily="49" charset="0"/>
                <a:sym typeface="Wingdings"/>
              </a:rPr>
              <a:t>(“Book1.xlsx”).Worksheets(“Sheet1”).Range(“B3”)</a:t>
            </a:r>
            <a:endParaRPr lang="en-US" sz="1500" dirty="0">
              <a:solidFill>
                <a:srgbClr val="292934"/>
              </a:solidFill>
              <a:sym typeface="Wingdings"/>
            </a:endParaRPr>
          </a:p>
          <a:p>
            <a:pPr marL="0" indent="0">
              <a:buFont typeface="Arial" pitchFamily="34" charset="0"/>
              <a:buNone/>
            </a:pPr>
            <a:endParaRPr lang="en-US" sz="2800" dirty="0">
              <a:solidFill>
                <a:srgbClr val="292934"/>
              </a:solidFill>
              <a:sym typeface="Wingdings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2800" dirty="0">
                <a:solidFill>
                  <a:srgbClr val="292934"/>
                </a:solidFill>
                <a:sym typeface="Wingdings"/>
              </a:rPr>
              <a:t>However, this is a mouthful – Excel allows us to simplify (under certain conditions):</a:t>
            </a:r>
          </a:p>
          <a:p>
            <a:pPr marL="0" indent="0">
              <a:buFont typeface="Arial" pitchFamily="34" charset="0"/>
              <a:buNone/>
            </a:pPr>
            <a:endParaRPr lang="en-US" sz="2800" dirty="0">
              <a:solidFill>
                <a:srgbClr val="292934"/>
              </a:solidFill>
              <a:sym typeface="Wingdings"/>
            </a:endParaRPr>
          </a:p>
          <a:p>
            <a:pPr marL="0" indent="0">
              <a:buNone/>
            </a:pP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  <a:sym typeface="Wingdings"/>
              </a:rPr>
              <a:t>Range(“B3”)</a:t>
            </a:r>
          </a:p>
          <a:p>
            <a:pPr marL="0" indent="0">
              <a:buFont typeface="Arial" pitchFamily="34" charset="0"/>
              <a:buNone/>
            </a:pPr>
            <a:endParaRPr lang="en-US" sz="2800" i="1" dirty="0">
              <a:solidFill>
                <a:srgbClr val="292934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/>
            </a:endParaRPr>
          </a:p>
          <a:p>
            <a:pPr marL="0" indent="0">
              <a:buFont typeface="Arial" pitchFamily="34" charset="0"/>
              <a:buNone/>
            </a:pPr>
            <a:endParaRPr lang="en-US" sz="1500" i="1" dirty="0">
              <a:latin typeface="Courier New" panose="02070309020205020404" pitchFamily="49" charset="0"/>
              <a:cs typeface="Courier New" panose="02070309020205020404" pitchFamily="49" charset="0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921760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dirty="0"/>
              <a:t>VBA – Objects</a:t>
            </a:r>
            <a:br>
              <a:rPr lang="en-US" sz="5400" dirty="0"/>
            </a:br>
            <a:r>
              <a:rPr lang="en-US" sz="3600" dirty="0"/>
              <a:t>Method and Properties</a:t>
            </a:r>
            <a:endParaRPr lang="en-US" sz="5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949850" y="533400"/>
          <a:ext cx="1340300" cy="1328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Rectangle 15"/>
          <p:cNvSpPr/>
          <p:nvPr/>
        </p:nvSpPr>
        <p:spPr>
          <a:xfrm>
            <a:off x="6477000" y="6154505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methods and properties on pp 57-64</a:t>
            </a:r>
          </a:p>
        </p:txBody>
      </p:sp>
      <p:pic>
        <p:nvPicPr>
          <p:cNvPr id="17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08931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1862328"/>
            <a:ext cx="8229600" cy="4614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dirty="0">
                <a:solidFill>
                  <a:srgbClr val="292934"/>
                </a:solidFill>
                <a:sym typeface="Wingdings"/>
              </a:rPr>
              <a:t>So now that we have range “B3” referenced – what might we want to do with it?</a:t>
            </a:r>
          </a:p>
          <a:p>
            <a:pPr marL="0" indent="0">
              <a:buFont typeface="Arial" pitchFamily="34" charset="0"/>
              <a:buNone/>
            </a:pPr>
            <a:endParaRPr lang="en-US" sz="2800" dirty="0">
              <a:solidFill>
                <a:srgbClr val="292934"/>
              </a:solidFill>
              <a:sym typeface="Wingdings"/>
            </a:endParaRPr>
          </a:p>
          <a:p>
            <a:pPr>
              <a:buFontTx/>
              <a:buChar char="-"/>
            </a:pPr>
            <a:r>
              <a:rPr lang="en-US" sz="2800" dirty="0">
                <a:solidFill>
                  <a:srgbClr val="292934"/>
                </a:solidFill>
                <a:sym typeface="Wingdings"/>
              </a:rPr>
              <a:t>Read or modify its </a:t>
            </a:r>
            <a:r>
              <a:rPr lang="en-US" sz="2800" b="1" i="1" dirty="0">
                <a:solidFill>
                  <a:srgbClr val="292934"/>
                </a:solidFill>
                <a:sym typeface="Wingdings"/>
              </a:rPr>
              <a:t>properties</a:t>
            </a:r>
            <a:r>
              <a:rPr lang="en-US" sz="2800" i="1" dirty="0">
                <a:solidFill>
                  <a:srgbClr val="292934"/>
                </a:solidFill>
                <a:sym typeface="Wingdings"/>
              </a:rPr>
              <a:t>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rgbClr val="292934"/>
                </a:solidFill>
                <a:sym typeface="Wingdings"/>
              </a:rPr>
              <a:t>Specify a </a:t>
            </a:r>
            <a:r>
              <a:rPr lang="en-US" sz="2800" b="1" i="1" dirty="0">
                <a:solidFill>
                  <a:srgbClr val="292934"/>
                </a:solidFill>
                <a:sym typeface="Wingdings"/>
              </a:rPr>
              <a:t>method</a:t>
            </a:r>
            <a:r>
              <a:rPr lang="en-US" sz="2800" dirty="0">
                <a:solidFill>
                  <a:srgbClr val="292934"/>
                </a:solidFill>
                <a:sym typeface="Wingdings"/>
              </a:rPr>
              <a:t> of action to be used with it</a:t>
            </a:r>
            <a:endParaRPr lang="en-US" sz="2800" dirty="0">
              <a:solidFill>
                <a:srgbClr val="292934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/>
            </a:endParaRPr>
          </a:p>
          <a:p>
            <a:pPr marL="0" indent="0">
              <a:buFont typeface="Arial" pitchFamily="34" charset="0"/>
              <a:buNone/>
            </a:pPr>
            <a:endParaRPr lang="en-US" sz="1500" i="1" dirty="0">
              <a:latin typeface="Courier New" panose="02070309020205020404" pitchFamily="49" charset="0"/>
              <a:cs typeface="Courier New" panose="02070309020205020404" pitchFamily="49" charset="0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220318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dirty="0"/>
              <a:t>VBA – Objects</a:t>
            </a:r>
            <a:br>
              <a:rPr lang="en-US" sz="5400" dirty="0"/>
            </a:br>
            <a:r>
              <a:rPr lang="en-US" sz="3600" dirty="0"/>
              <a:t>Method and Properties</a:t>
            </a:r>
            <a:endParaRPr lang="en-US" sz="5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949850" y="533400"/>
          <a:ext cx="1340300" cy="1328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Rectangle 15"/>
          <p:cNvSpPr/>
          <p:nvPr/>
        </p:nvSpPr>
        <p:spPr>
          <a:xfrm>
            <a:off x="6477000" y="6154505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methods and properties on pp 57-64</a:t>
            </a:r>
          </a:p>
        </p:txBody>
      </p:sp>
      <p:pic>
        <p:nvPicPr>
          <p:cNvPr id="17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08931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1981200"/>
            <a:ext cx="82296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r>
              <a:rPr lang="en-US" sz="2800" b="1" dirty="0"/>
              <a:t>Attributes</a:t>
            </a:r>
            <a:r>
              <a:rPr lang="en-US" sz="2800" dirty="0"/>
              <a:t> (properties) of a range?</a:t>
            </a:r>
          </a:p>
          <a:p>
            <a:pPr lvl="1"/>
            <a:r>
              <a:rPr lang="en-US" sz="2400" dirty="0"/>
              <a:t>Value , alignment, Formula, etc.</a:t>
            </a:r>
          </a:p>
          <a:p>
            <a:pPr marL="274320" lvl="1" indent="0">
              <a:buNone/>
            </a:pPr>
            <a:r>
              <a:rPr lang="en-US" sz="2400" dirty="0"/>
              <a:t>   </a:t>
            </a:r>
            <a:r>
              <a:rPr lang="en-US" sz="2200" dirty="0"/>
              <a:t>Ex: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/>
              </a:rPr>
              <a:t>Range(“B3”).Value</a:t>
            </a:r>
          </a:p>
          <a:p>
            <a:pPr marL="274320" lvl="1" indent="0">
              <a:buNone/>
            </a:pPr>
            <a:endParaRPr lang="en-US" sz="2200" dirty="0"/>
          </a:p>
          <a:p>
            <a:r>
              <a:rPr lang="en-US" sz="2800" b="1" dirty="0"/>
              <a:t>Methods</a:t>
            </a:r>
            <a:r>
              <a:rPr lang="en-US" sz="2800" dirty="0"/>
              <a:t> of a range?</a:t>
            </a:r>
          </a:p>
          <a:p>
            <a:pPr lvl="1"/>
            <a:r>
              <a:rPr lang="en-US" sz="2400" dirty="0"/>
              <a:t>Clear, Copy, Format, etc.</a:t>
            </a:r>
          </a:p>
          <a:p>
            <a:pPr marL="274320" lvl="1" indent="0">
              <a:buNone/>
            </a:pPr>
            <a:r>
              <a:rPr lang="en-US" sz="2200" dirty="0"/>
              <a:t>   Ex: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/>
              </a:rPr>
              <a:t>Range(“B3”).Copy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323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dirty="0"/>
              <a:t>VBA – Objects</a:t>
            </a:r>
            <a:br>
              <a:rPr lang="en-US" sz="5400" dirty="0"/>
            </a:br>
            <a:r>
              <a:rPr lang="en-US" sz="3600" dirty="0"/>
              <a:t>Method and Properties</a:t>
            </a:r>
            <a:endParaRPr lang="en-US" sz="5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949850" y="533400"/>
          <a:ext cx="1340300" cy="1328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Rectangle 15"/>
          <p:cNvSpPr/>
          <p:nvPr/>
        </p:nvSpPr>
        <p:spPr>
          <a:xfrm>
            <a:off x="6477000" y="6154505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the Object Browser </a:t>
            </a:r>
            <a:r>
              <a:rPr lang="en-US"/>
              <a:t>on pp 62-63</a:t>
            </a:r>
            <a:endParaRPr lang="en-US" dirty="0"/>
          </a:p>
        </p:txBody>
      </p:sp>
      <p:pic>
        <p:nvPicPr>
          <p:cNvPr id="17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08931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2743200"/>
            <a:ext cx="8229600" cy="373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dirty="0"/>
              <a:t>You can check out all of the objects in Excel/VBA through the </a:t>
            </a:r>
            <a:r>
              <a:rPr lang="en-US" sz="2800" b="1" dirty="0"/>
              <a:t>object browser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/>
              <a:t>Developer Tab </a:t>
            </a:r>
            <a:r>
              <a:rPr lang="en-US" sz="2000" dirty="0">
                <a:sym typeface="Wingdings"/>
              </a:rPr>
              <a:t> Visual Basic Application  View  Object Browser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i="1" dirty="0">
                <a:sym typeface="Wingdings"/>
              </a:rPr>
              <a:t>You can read more about the object browser on </a:t>
            </a:r>
            <a:r>
              <a:rPr lang="en-US" sz="2000" i="1">
                <a:sym typeface="Wingdings"/>
              </a:rPr>
              <a:t>p 62 </a:t>
            </a:r>
            <a:r>
              <a:rPr lang="en-US" sz="2000" i="1" dirty="0">
                <a:sym typeface="Wingdings"/>
              </a:rPr>
              <a:t>in your text</a:t>
            </a:r>
          </a:p>
          <a:p>
            <a:pPr marL="0" indent="0">
              <a:buFont typeface="Arial" pitchFamily="34" charset="0"/>
              <a:buNone/>
            </a:pPr>
            <a:endParaRPr lang="en-US" sz="2000" i="1" dirty="0">
              <a:sym typeface="Wingdings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2000" b="1" dirty="0">
                <a:sym typeface="Wingdings"/>
              </a:rPr>
              <a:t>Let’s look at Range in the object browser.</a:t>
            </a:r>
          </a:p>
        </p:txBody>
      </p:sp>
    </p:spTree>
    <p:extLst>
      <p:ext uri="{BB962C8B-B14F-4D97-AF65-F5344CB8AC3E}">
        <p14:creationId xmlns:p14="http://schemas.microsoft.com/office/powerpoint/2010/main" val="3977137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2DF3-048B-463E-8D6F-348F42CA1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870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VBA Essentials –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B74C-BD8F-4E97-8799-D835E14E1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134350" cy="5033963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arenR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Record a macro</a:t>
            </a:r>
          </a:p>
          <a:p>
            <a:pPr marL="457200" indent="-457200">
              <a:buAutoNum type="arabicParenR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Discuss procedures in VBA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Sub procedure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Function procedure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Event procedure</a:t>
            </a:r>
          </a:p>
          <a:p>
            <a:pPr marL="342900" lvl="1" indent="0">
              <a:buNone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Discuss variables in VBA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Variables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/>
              <a:t>Objects</a:t>
            </a:r>
          </a:p>
          <a:p>
            <a:pPr marL="800100" lvl="1" indent="-457200">
              <a:buFont typeface="+mj-lt"/>
              <a:buAutoNum type="alphaLcPeriod"/>
            </a:pPr>
            <a:r>
              <a:rPr lang="en-US" dirty="0"/>
              <a:t>Constants</a:t>
            </a:r>
          </a:p>
          <a:p>
            <a:pPr marL="342900" lvl="1" indent="0">
              <a:buNone/>
            </a:pPr>
            <a:endParaRPr lang="en-US" dirty="0"/>
          </a:p>
          <a:p>
            <a:pPr marL="525780" indent="-457200">
              <a:buFont typeface="+mj-lt"/>
              <a:buAutoNum type="arabicParenR"/>
            </a:pPr>
            <a:r>
              <a:rPr lang="en-US" dirty="0"/>
              <a:t>Discuss Ranges – powerful object within Excel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D0BF4-BF93-4B12-9374-200B3618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EF086A18-2F3F-4600-A3B5-9F1843453460}"/>
              </a:ext>
            </a:extLst>
          </p:cNvPr>
          <p:cNvSpPr/>
          <p:nvPr/>
        </p:nvSpPr>
        <p:spPr>
          <a:xfrm>
            <a:off x="3514725" y="2761566"/>
            <a:ext cx="195072" cy="592924"/>
          </a:xfrm>
          <a:prstGeom prst="rightBrac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D3784-D69F-43F7-AAA6-9FC9CAA8FAF0}"/>
              </a:ext>
            </a:extLst>
          </p:cNvPr>
          <p:cNvSpPr txBox="1"/>
          <p:nvPr/>
        </p:nvSpPr>
        <p:spPr>
          <a:xfrm>
            <a:off x="3810000" y="28194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 today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3E2B37-02B5-0401-F895-D5E4161BA5E2}"/>
              </a:ext>
            </a:extLst>
          </p:cNvPr>
          <p:cNvSpPr txBox="1"/>
          <p:nvPr/>
        </p:nvSpPr>
        <p:spPr>
          <a:xfrm>
            <a:off x="5029200" y="4292862"/>
            <a:ext cx="237757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Back to our agenda,</a:t>
            </a:r>
          </a:p>
          <a:p>
            <a:r>
              <a:rPr lang="en-US" dirty="0"/>
              <a:t>continue with Objects</a:t>
            </a:r>
          </a:p>
        </p:txBody>
      </p:sp>
    </p:spTree>
    <p:extLst>
      <p:ext uri="{BB962C8B-B14F-4D97-AF65-F5344CB8AC3E}">
        <p14:creationId xmlns:p14="http://schemas.microsoft.com/office/powerpoint/2010/main" val="1697521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3.  Object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876800"/>
          </a:xfrm>
        </p:spPr>
        <p:txBody>
          <a:bodyPr/>
          <a:lstStyle/>
          <a:p>
            <a:r>
              <a:rPr lang="en-US" dirty="0"/>
              <a:t>Object variables are assigned using </a:t>
            </a:r>
            <a:r>
              <a:rPr lang="en-US" b="1" dirty="0">
                <a:solidFill>
                  <a:srgbClr val="D25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61963">
              <a:buNone/>
            </a:pP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 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scoreRange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Range</a:t>
            </a:r>
          </a:p>
          <a:p>
            <a:pPr marL="0" indent="461963">
              <a:buNone/>
            </a:pP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scoreRange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ActiveWorkbook.Worksheets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(“Data”).Range(“Scores”)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By setting the range named “Scores” to an object variable named </a:t>
            </a:r>
            <a:r>
              <a:rPr lang="en-US" b="1" dirty="0" err="1">
                <a:solidFill>
                  <a:srgbClr val="D25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scoreRange</a:t>
            </a:r>
            <a:r>
              <a:rPr lang="en-US" dirty="0"/>
              <a:t>, we can simply refer to the </a:t>
            </a:r>
            <a:r>
              <a:rPr lang="en-US" b="1" dirty="0" err="1">
                <a:solidFill>
                  <a:srgbClr val="D25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scoreRange</a:t>
            </a:r>
            <a:r>
              <a:rPr lang="en-US" dirty="0"/>
              <a:t> when working with that range in our VBA code.</a:t>
            </a:r>
          </a:p>
        </p:txBody>
      </p:sp>
    </p:spTree>
    <p:extLst>
      <p:ext uri="{BB962C8B-B14F-4D97-AF65-F5344CB8AC3E}">
        <p14:creationId xmlns:p14="http://schemas.microsoft.com/office/powerpoint/2010/main" val="3848515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3. Constant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</a:t>
            </a:r>
            <a:r>
              <a:rPr lang="en-US" dirty="0" err="1"/>
              <a:t>keywork</a:t>
            </a:r>
            <a:r>
              <a:rPr lang="en-US" dirty="0"/>
              <a:t>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PI = 3.1415</a:t>
            </a:r>
            <a:endParaRPr lang="en-US" sz="1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/>
          </a:p>
          <a:p>
            <a:r>
              <a:rPr lang="en-US" dirty="0"/>
              <a:t>Built in Constants (built into Excel, VBA, and Microsoft Office)</a:t>
            </a:r>
          </a:p>
          <a:p>
            <a:pPr lvl="1"/>
            <a:r>
              <a:rPr lang="en-US" dirty="0"/>
              <a:t>Preceded by the prefix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</a:t>
            </a:r>
            <a:r>
              <a:rPr lang="en-US" dirty="0"/>
              <a:t>,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vb</a:t>
            </a:r>
            <a:r>
              <a:rPr lang="en-US" dirty="0"/>
              <a:t>, or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mso</a:t>
            </a:r>
            <a:endParaRPr lang="en-US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vbBlue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xlCalculationManual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vbYes</a:t>
            </a:r>
            <a:endParaRPr lang="en-US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77000" y="6165138"/>
            <a:ext cx="27733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Constant Variables on </a:t>
            </a:r>
            <a:r>
              <a:rPr lang="en-US"/>
              <a:t>pp 120-122</a:t>
            </a:r>
            <a:endParaRPr lang="en-US" dirty="0"/>
          </a:p>
        </p:txBody>
      </p:sp>
      <p:pic>
        <p:nvPicPr>
          <p:cNvPr id="5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19564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388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9498-54E8-4C10-9DED-85C9307B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4.  Range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0FD36-E565-412F-B844-9B7DA8FD4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800"/>
            <a:ext cx="7886700" cy="4351338"/>
          </a:xfrm>
        </p:spPr>
        <p:txBody>
          <a:bodyPr>
            <a:normAutofit/>
          </a:bodyPr>
          <a:lstStyle/>
          <a:p>
            <a:r>
              <a:rPr lang="en-US" sz="2800" dirty="0"/>
              <a:t>A Range consists of one or more contiguous cell(s) in an Excel spreadsheet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A Range is an object in the Excel Library (see object browser)</a:t>
            </a:r>
          </a:p>
          <a:p>
            <a:pPr lvl="1"/>
            <a:r>
              <a:rPr lang="en-US" sz="2400" dirty="0"/>
              <a:t>This is a VERY important object that you will likely use in every program you make with VBA/Excel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A66FE-B3C4-4DF0-8435-15ECB94D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77000" y="6165138"/>
            <a:ext cx="27733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Range Objects in </a:t>
            </a:r>
            <a:r>
              <a:rPr lang="en-US"/>
              <a:t>CH 9</a:t>
            </a:r>
            <a:endParaRPr lang="en-US" dirty="0"/>
          </a:p>
        </p:txBody>
      </p:sp>
      <p:pic>
        <p:nvPicPr>
          <p:cNvPr id="6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19564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02242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9498-54E8-4C10-9DED-85C9307B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4.  Range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0FD36-E565-412F-B844-9B7DA8FD4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800"/>
            <a:ext cx="805815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Ranges can be referenced several different ways:</a:t>
            </a:r>
          </a:p>
          <a:p>
            <a:pPr lvl="1"/>
            <a:r>
              <a:rPr lang="en-US" sz="2400" dirty="0"/>
              <a:t>By address: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Range(“A1”) or Range(“A1:B10”)</a:t>
            </a:r>
          </a:p>
          <a:p>
            <a:pPr lvl="1"/>
            <a:r>
              <a:rPr lang="en-US" sz="2400" dirty="0"/>
              <a:t>By range name:</a:t>
            </a:r>
            <a:br>
              <a:rPr lang="en-US" sz="2400" dirty="0"/>
            </a:br>
            <a:r>
              <a:rPr lang="en-US" sz="2600" dirty="0">
                <a:solidFill>
                  <a:srgbClr val="0070C0"/>
                </a:solidFill>
              </a:rPr>
              <a:t>	</a:t>
            </a:r>
            <a: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Range(“Sales”)</a:t>
            </a:r>
          </a:p>
          <a:p>
            <a:pPr lvl="1"/>
            <a:r>
              <a:rPr lang="en-US" sz="2400" dirty="0"/>
              <a:t>With a variable for a range name: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rangeName</a:t>
            </a:r>
            <a: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“Sales”</a:t>
            </a:r>
            <a:b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Range(</a:t>
            </a:r>
            <a:r>
              <a:rPr lang="en-US" sz="2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rangeName</a:t>
            </a:r>
            <a: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2800" dirty="0">
              <a:solidFill>
                <a:srgbClr val="D2533C"/>
              </a:solidFill>
              <a:latin typeface="American Typewriter"/>
              <a:cs typeface="American Typewriter"/>
            </a:endParaRPr>
          </a:p>
          <a:p>
            <a:pPr marL="0" indent="0">
              <a:buNone/>
            </a:pPr>
            <a:r>
              <a:rPr lang="en-US" sz="2800" b="1" dirty="0">
                <a:sym typeface="Wingdings" panose="05000000000000000000" pitchFamily="2" charset="2"/>
              </a:rPr>
              <a:t>NOTE</a:t>
            </a:r>
            <a:r>
              <a:rPr lang="en-US" sz="2800" dirty="0">
                <a:sym typeface="Wingdings" panose="05000000000000000000" pitchFamily="2" charset="2"/>
              </a:rPr>
              <a:t>: the above references are for ranges on the active worksheet, otherwise need to specify worksheet name (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Worksheets(“Sheet 1”).Range(“K9”)</a:t>
            </a:r>
            <a:r>
              <a:rPr lang="en-US" sz="2800" dirty="0">
                <a:sym typeface="Wingdings" panose="05000000000000000000" pitchFamily="2" charset="2"/>
              </a:rPr>
              <a:t>)</a:t>
            </a:r>
            <a:endParaRPr lang="en-US" sz="2800" dirty="0">
              <a:solidFill>
                <a:srgbClr val="D2533C"/>
              </a:solidFill>
              <a:latin typeface="American Typewriter"/>
              <a:cs typeface="American Typewrite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A66FE-B3C4-4DF0-8435-15ECB94D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77000" y="6165138"/>
            <a:ext cx="27733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Range Objects in </a:t>
            </a:r>
            <a:r>
              <a:rPr lang="en-US"/>
              <a:t>CH 9</a:t>
            </a:r>
            <a:endParaRPr lang="en-US" dirty="0"/>
          </a:p>
        </p:txBody>
      </p:sp>
      <p:pic>
        <p:nvPicPr>
          <p:cNvPr id="6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19564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4686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9498-54E8-4C10-9DED-85C9307B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4.  Range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0FD36-E565-412F-B844-9B7DA8FD4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800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>
              <a:solidFill>
                <a:srgbClr val="D2533C"/>
              </a:solidFill>
              <a:latin typeface="American Typewriter"/>
              <a:cs typeface="American Typewriter"/>
            </a:endParaRPr>
          </a:p>
          <a:p>
            <a:pPr marL="0" indent="0">
              <a:buNone/>
            </a:pPr>
            <a:r>
              <a:rPr lang="en-US" sz="2800" dirty="0"/>
              <a:t>Let’s learn more about the Range object through example.  See </a:t>
            </a:r>
            <a:r>
              <a:rPr lang="en-US" sz="2800"/>
              <a:t>the ‘ranges-essentials.xlsm’ </a:t>
            </a:r>
            <a:r>
              <a:rPr lang="en-US" sz="2800" dirty="0"/>
              <a:t>file in the lec18-VBA-1 folder of the course repo.</a:t>
            </a:r>
          </a:p>
          <a:p>
            <a:pPr marL="0" indent="0">
              <a:buNone/>
            </a:pPr>
            <a:endParaRPr lang="en-US" sz="2800" dirty="0">
              <a:solidFill>
                <a:srgbClr val="D2533C"/>
              </a:solidFill>
              <a:latin typeface="American Typewriter"/>
              <a:cs typeface="American Typewrite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A66FE-B3C4-4DF0-8435-15ECB94D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77000" y="6165138"/>
            <a:ext cx="27733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More on Range Objects in </a:t>
            </a:r>
            <a:r>
              <a:rPr lang="en-US"/>
              <a:t>CH 9</a:t>
            </a:r>
            <a:endParaRPr lang="en-US" dirty="0"/>
          </a:p>
        </p:txBody>
      </p:sp>
      <p:pic>
        <p:nvPicPr>
          <p:cNvPr id="6" name="Picture 2" descr="Excel VBA Programming For Dummies, 4th Edition (1119077397) cover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63" y="6219564"/>
            <a:ext cx="465018" cy="58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303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4258</TotalTime>
  <Words>2444</Words>
  <Application>Microsoft Office PowerPoint</Application>
  <PresentationFormat>On-screen Show (4:3)</PresentationFormat>
  <Paragraphs>428</Paragraphs>
  <Slides>38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American Typewriter</vt:lpstr>
      <vt:lpstr>Arial</vt:lpstr>
      <vt:lpstr>Calibri</vt:lpstr>
      <vt:lpstr>Courier New</vt:lpstr>
      <vt:lpstr>Tahoma</vt:lpstr>
      <vt:lpstr>Times New Roman</vt:lpstr>
      <vt:lpstr>Wingdings</vt:lpstr>
      <vt:lpstr>Clarity</vt:lpstr>
      <vt:lpstr>Excel and  Visual Basic for Applications (VBA)</vt:lpstr>
      <vt:lpstr>PowerPoint Presentation</vt:lpstr>
      <vt:lpstr>Excel – Recall?</vt:lpstr>
      <vt:lpstr>Excel</vt:lpstr>
      <vt:lpstr>Excel</vt:lpstr>
      <vt:lpstr>Intro to VBA</vt:lpstr>
      <vt:lpstr>Why learn VBA?</vt:lpstr>
      <vt:lpstr>Visual Basic Editor (VBE)</vt:lpstr>
      <vt:lpstr>Visual Basic Editor</vt:lpstr>
      <vt:lpstr>VBA Essentials – Part 1</vt:lpstr>
      <vt:lpstr>What is a Macro?</vt:lpstr>
      <vt:lpstr>1. Record a Macro</vt:lpstr>
      <vt:lpstr>1. Record a Macro Let’s Try</vt:lpstr>
      <vt:lpstr>1. Record a Macro Let’s Try</vt:lpstr>
      <vt:lpstr>PowerPoint Presentation</vt:lpstr>
      <vt:lpstr>2.  Sub Procedures (Sub) Let’s Try</vt:lpstr>
      <vt:lpstr>2.  Sub Procedures (Sub) Let’s Try</vt:lpstr>
      <vt:lpstr>2.  Sub Procedures (Sub) Executing a Sub from a button</vt:lpstr>
      <vt:lpstr>3. Declaring Variables</vt:lpstr>
      <vt:lpstr>3. Declaring Variables</vt:lpstr>
      <vt:lpstr>3. Declaring Variables</vt:lpstr>
      <vt:lpstr>3. String Variables</vt:lpstr>
      <vt:lpstr>VBA Essentials – Part 1</vt:lpstr>
      <vt:lpstr>VBA - Objects</vt:lpstr>
      <vt:lpstr>VBA - Objects</vt:lpstr>
      <vt:lpstr>VBA – Objects Hierarchy</vt:lpstr>
      <vt:lpstr>VBA – Objects Hierarchy</vt:lpstr>
      <vt:lpstr>VBA – Objects Referencing Objects</vt:lpstr>
      <vt:lpstr>VBA – Objects Referencing Objects</vt:lpstr>
      <vt:lpstr>VBA – Objects Method and Properties</vt:lpstr>
      <vt:lpstr>VBA – Objects Method and Properties</vt:lpstr>
      <vt:lpstr>VBA – Objects Method and Properties</vt:lpstr>
      <vt:lpstr>VBA Essentials – Part 1</vt:lpstr>
      <vt:lpstr>3.  Object Variables</vt:lpstr>
      <vt:lpstr>3. Constant Variables</vt:lpstr>
      <vt:lpstr>4.  Range Objects</vt:lpstr>
      <vt:lpstr>4.  Range Objects</vt:lpstr>
      <vt:lpstr>4.  Range Objects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</dc:title>
  <dc:subject/>
  <dc:creator>Rushmeier</dc:creator>
  <cp:lastModifiedBy>Frommer, Ian Dr. (EDU)</cp:lastModifiedBy>
  <cp:revision>275</cp:revision>
  <cp:lastPrinted>1999-08-30T21:12:41Z</cp:lastPrinted>
  <dcterms:created xsi:type="dcterms:W3CDTF">2001-08-22T18:42:13Z</dcterms:created>
  <dcterms:modified xsi:type="dcterms:W3CDTF">2026-10-29T16:47:32Z</dcterms:modified>
</cp:coreProperties>
</file>