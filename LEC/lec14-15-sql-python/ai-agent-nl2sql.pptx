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94" r:id="rId3"/>
    <p:sldId id="262" r:id="rId4"/>
    <p:sldId id="264" r:id="rId5"/>
    <p:sldId id="265" r:id="rId6"/>
    <p:sldId id="266" r:id="rId7"/>
    <p:sldId id="272" r:id="rId8"/>
    <p:sldId id="276" r:id="rId9"/>
    <p:sldId id="270" r:id="rId10"/>
    <p:sldId id="271" r:id="rId11"/>
    <p:sldId id="275" r:id="rId12"/>
    <p:sldId id="280" r:id="rId13"/>
    <p:sldId id="285" r:id="rId14"/>
    <p:sldId id="286" r:id="rId15"/>
    <p:sldId id="273" r:id="rId16"/>
    <p:sldId id="283" r:id="rId17"/>
    <p:sldId id="277" r:id="rId18"/>
    <p:sldId id="290" r:id="rId19"/>
    <p:sldId id="291" r:id="rId20"/>
    <p:sldId id="282" r:id="rId21"/>
    <p:sldId id="293" r:id="rId22"/>
    <p:sldId id="288" r:id="rId23"/>
    <p:sldId id="278" r:id="rId24"/>
    <p:sldId id="296" r:id="rId25"/>
    <p:sldId id="281" r:id="rId26"/>
    <p:sldId id="298" r:id="rId27"/>
    <p:sldId id="279" r:id="rId28"/>
    <p:sldId id="300" r:id="rId29"/>
    <p:sldId id="284" r:id="rId30"/>
    <p:sldId id="289" r:id="rId31"/>
    <p:sldId id="301" r:id="rId32"/>
    <p:sldId id="302" r:id="rId33"/>
    <p:sldId id="303" r:id="rId34"/>
    <p:sldId id="305" r:id="rId35"/>
    <p:sldId id="304" r:id="rId36"/>
    <p:sldId id="30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E4FCE7-3766-464D-962B-2B8F4E404F86}" v="2" dt="2026-10-29T15:16:51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6" autoAdjust="0"/>
    <p:restoredTop sz="81235" autoAdjust="0"/>
  </p:normalViewPr>
  <p:slideViewPr>
    <p:cSldViewPr snapToGrid="0">
      <p:cViewPr varScale="1">
        <p:scale>
          <a:sx n="71" d="100"/>
          <a:sy n="71" d="100"/>
        </p:scale>
        <p:origin x="728" y="52"/>
      </p:cViewPr>
      <p:guideLst/>
    </p:cSldViewPr>
  </p:slideViewPr>
  <p:outlineViewPr>
    <p:cViewPr>
      <p:scale>
        <a:sx n="33" d="100"/>
        <a:sy n="33" d="100"/>
      </p:scale>
      <p:origin x="0" y="-4045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undo redo custSel addSld delSld modSld sldOrd">
      <pc:chgData name="Frommer, Ian Dr. (EDU)" userId="28ca3ff0-544f-450a-928b-99e19cf49b89" providerId="ADAL" clId="{A3E8E5B1-0D91-4643-B70B-3D065C8674E0}" dt="2026-10-29T15:16:51.069" v="532" actId="767"/>
      <pc:docMkLst>
        <pc:docMk/>
      </pc:docMkLst>
      <pc:sldChg chg="addSp delSp modSp mod">
        <pc:chgData name="Frommer, Ian Dr. (EDU)" userId="28ca3ff0-544f-450a-928b-99e19cf49b89" providerId="ADAL" clId="{A3E8E5B1-0D91-4643-B70B-3D065C8674E0}" dt="2026-10-22T14:30:15.356" v="528" actId="1035"/>
        <pc:sldMkLst>
          <pc:docMk/>
          <pc:sldMk cId="3535299283" sldId="256"/>
        </pc:sldMkLst>
        <pc:spChg chg="mod">
          <ac:chgData name="Frommer, Ian Dr. (EDU)" userId="28ca3ff0-544f-450a-928b-99e19cf49b89" providerId="ADAL" clId="{A3E8E5B1-0D91-4643-B70B-3D065C8674E0}" dt="2026-10-22T13:09:00.760" v="72" actId="20577"/>
          <ac:spMkLst>
            <pc:docMk/>
            <pc:sldMk cId="3535299283" sldId="256"/>
            <ac:spMk id="2" creationId="{92DA5208-0965-8B95-983C-6B93896B5C2B}"/>
          </ac:spMkLst>
        </pc:spChg>
        <pc:picChg chg="add mod">
          <ac:chgData name="Frommer, Ian Dr. (EDU)" userId="28ca3ff0-544f-450a-928b-99e19cf49b89" providerId="ADAL" clId="{A3E8E5B1-0D91-4643-B70B-3D065C8674E0}" dt="2026-10-22T14:30:15.356" v="528" actId="1035"/>
          <ac:picMkLst>
            <pc:docMk/>
            <pc:sldMk cId="3535299283" sldId="256"/>
            <ac:picMk id="5" creationId="{83F86CCB-2CDE-4684-B1E1-211F6A3A750E}"/>
          </ac:picMkLst>
        </pc:picChg>
      </pc:sldChg>
      <pc:sldChg chg="modSp mod">
        <pc:chgData name="Frommer, Ian Dr. (EDU)" userId="28ca3ff0-544f-450a-928b-99e19cf49b89" providerId="ADAL" clId="{A3E8E5B1-0D91-4643-B70B-3D065C8674E0}" dt="2026-10-22T13:33:54.360" v="404" actId="20577"/>
        <pc:sldMkLst>
          <pc:docMk/>
          <pc:sldMk cId="421190069" sldId="262"/>
        </pc:sldMkLst>
        <pc:spChg chg="mod">
          <ac:chgData name="Frommer, Ian Dr. (EDU)" userId="28ca3ff0-544f-450a-928b-99e19cf49b89" providerId="ADAL" clId="{A3E8E5B1-0D91-4643-B70B-3D065C8674E0}" dt="2026-10-22T13:33:54.360" v="404" actId="20577"/>
          <ac:spMkLst>
            <pc:docMk/>
            <pc:sldMk cId="421190069" sldId="262"/>
            <ac:spMk id="2" creationId="{09727C54-2DD0-FC5D-20C0-4F173A39E4D6}"/>
          </ac:spMkLst>
        </pc:spChg>
      </pc:sldChg>
      <pc:sldChg chg="addSp modSp mod modAnim">
        <pc:chgData name="Frommer, Ian Dr. (EDU)" userId="28ca3ff0-544f-450a-928b-99e19cf49b89" providerId="ADAL" clId="{A3E8E5B1-0D91-4643-B70B-3D065C8674E0}" dt="2026-10-29T15:16:51.069" v="532" actId="767"/>
        <pc:sldMkLst>
          <pc:docMk/>
          <pc:sldMk cId="770100716" sldId="264"/>
        </pc:sldMkLst>
        <pc:spChg chg="mod">
          <ac:chgData name="Frommer, Ian Dr. (EDU)" userId="28ca3ff0-544f-450a-928b-99e19cf49b89" providerId="ADAL" clId="{A3E8E5B1-0D91-4643-B70B-3D065C8674E0}" dt="2026-10-22T13:08:48.040" v="42" actId="20577"/>
          <ac:spMkLst>
            <pc:docMk/>
            <pc:sldMk cId="770100716" sldId="264"/>
            <ac:spMk id="2" creationId="{4411919E-7216-772C-0981-D8BE894C9FC0}"/>
          </ac:spMkLst>
        </pc:spChg>
        <pc:spChg chg="mod">
          <ac:chgData name="Frommer, Ian Dr. (EDU)" userId="28ca3ff0-544f-450a-928b-99e19cf49b89" providerId="ADAL" clId="{A3E8E5B1-0D91-4643-B70B-3D065C8674E0}" dt="2026-10-29T15:16:32.092" v="530" actId="1076"/>
          <ac:spMkLst>
            <pc:docMk/>
            <pc:sldMk cId="770100716" sldId="264"/>
            <ac:spMk id="3" creationId="{4781486B-F490-BC4C-4358-926DA8AE48E2}"/>
          </ac:spMkLst>
        </pc:spChg>
        <pc:spChg chg="add mod">
          <ac:chgData name="Frommer, Ian Dr. (EDU)" userId="28ca3ff0-544f-450a-928b-99e19cf49b89" providerId="ADAL" clId="{A3E8E5B1-0D91-4643-B70B-3D065C8674E0}" dt="2026-10-29T15:16:51.069" v="532" actId="767"/>
          <ac:spMkLst>
            <pc:docMk/>
            <pc:sldMk cId="770100716" sldId="264"/>
            <ac:spMk id="4" creationId="{99E47FBB-EC6E-63DE-A018-3680FB91AF34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964511669" sldId="265"/>
        </pc:sldMkLst>
        <pc:spChg chg="mod">
          <ac:chgData name="Frommer, Ian Dr. (EDU)" userId="28ca3ff0-544f-450a-928b-99e19cf49b89" providerId="ADAL" clId="{A3E8E5B1-0D91-4643-B70B-3D065C8674E0}" dt="2026-10-22T13:09:37.065" v="77"/>
          <ac:spMkLst>
            <pc:docMk/>
            <pc:sldMk cId="964511669" sldId="265"/>
            <ac:spMk id="2" creationId="{671DE8F1-535E-C933-C4EF-0636D4192873}"/>
          </ac:spMkLst>
        </pc:spChg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964511669" sldId="265"/>
            <ac:spMk id="3" creationId="{368EFCC6-C004-61EA-186B-09A5CC48238E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139544829" sldId="266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139544829" sldId="266"/>
            <ac:spMk id="3" creationId="{015F90DE-7D69-D148-C893-DC96E468CD65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2305683748" sldId="270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2305683748" sldId="270"/>
            <ac:spMk id="3" creationId="{FEDC0255-A55D-7DD7-6771-4B1D26E2EAEF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2895292332" sldId="272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2895292332" sldId="272"/>
            <ac:spMk id="3" creationId="{9D74B80B-D1FC-8D76-9B0B-64466F4AF211}"/>
          </ac:spMkLst>
        </pc:spChg>
      </pc:sldChg>
      <pc:sldChg chg="modSp">
        <pc:chgData name="Frommer, Ian Dr. (EDU)" userId="28ca3ff0-544f-450a-928b-99e19cf49b89" providerId="ADAL" clId="{A3E8E5B1-0D91-4643-B70B-3D065C8674E0}" dt="2026-10-22T13:33:31.454" v="397"/>
        <pc:sldMkLst>
          <pc:docMk/>
          <pc:sldMk cId="691575175" sldId="273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691575175" sldId="273"/>
            <ac:spMk id="3" creationId="{D1213ECD-C4B4-23FF-A4D4-EFFAA27DEB93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4109623734" sldId="275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4109623734" sldId="275"/>
            <ac:spMk id="3" creationId="{4FF234DC-526D-FC8B-E738-DAE90C7D6A7A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2369441263" sldId="276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2369441263" sldId="276"/>
            <ac:spMk id="3" creationId="{91B5B153-4348-2CE6-FF2E-7132D944128A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980954645" sldId="277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980954645" sldId="277"/>
            <ac:spMk id="3" creationId="{CFEC2C9E-2FBF-1F37-BF77-7F379858B753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662101201" sldId="278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662101201" sldId="278"/>
            <ac:spMk id="3" creationId="{994E74CD-8F27-D558-504E-66A3F728E93B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1849346869" sldId="279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1849346869" sldId="279"/>
            <ac:spMk id="3" creationId="{A9C51D91-3BCB-96E8-205D-E6DDC2B5D600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4129523818" sldId="280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4129523818" sldId="280"/>
            <ac:spMk id="3" creationId="{EA2B29AC-7642-49D8-8741-6A4F870D8ABB}"/>
          </ac:spMkLst>
        </pc:spChg>
        <pc:graphicFrameChg chg="mod">
          <ac:chgData name="Frommer, Ian Dr. (EDU)" userId="28ca3ff0-544f-450a-928b-99e19cf49b89" providerId="ADAL" clId="{A3E8E5B1-0D91-4643-B70B-3D065C8674E0}" dt="2026-10-22T13:33:31.454" v="397"/>
          <ac:graphicFrameMkLst>
            <pc:docMk/>
            <pc:sldMk cId="4129523818" sldId="280"/>
            <ac:graphicFrameMk id="4" creationId="{62104D3E-2AE2-B20D-B522-E079CE2D2586}"/>
          </ac:graphicFrameMkLst>
        </pc:graphicFrameChg>
      </pc:sldChg>
      <pc:sldChg chg="addSp delSp modSp mod modAnim">
        <pc:chgData name="Frommer, Ian Dr. (EDU)" userId="28ca3ff0-544f-450a-928b-99e19cf49b89" providerId="ADAL" clId="{A3E8E5B1-0D91-4643-B70B-3D065C8674E0}" dt="2026-10-22T14:06:25.976" v="431" actId="1076"/>
        <pc:sldMkLst>
          <pc:docMk/>
          <pc:sldMk cId="3707109464" sldId="281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707109464" sldId="281"/>
            <ac:spMk id="3" creationId="{20E05237-74CD-8688-0C01-B79565D38E50}"/>
          </ac:spMkLst>
        </pc:spChg>
        <pc:spChg chg="mod">
          <ac:chgData name="Frommer, Ian Dr. (EDU)" userId="28ca3ff0-544f-450a-928b-99e19cf49b89" providerId="ADAL" clId="{A3E8E5B1-0D91-4643-B70B-3D065C8674E0}" dt="2026-10-22T14:06:25.976" v="431" actId="1076"/>
          <ac:spMkLst>
            <pc:docMk/>
            <pc:sldMk cId="3707109464" sldId="281"/>
            <ac:spMk id="12" creationId="{FC3754FF-777E-228C-EFED-7D75F21673F9}"/>
          </ac:spMkLst>
        </pc:spChg>
        <pc:picChg chg="add mod">
          <ac:chgData name="Frommer, Ian Dr. (EDU)" userId="28ca3ff0-544f-450a-928b-99e19cf49b89" providerId="ADAL" clId="{A3E8E5B1-0D91-4643-B70B-3D065C8674E0}" dt="2026-10-22T14:06:21.021" v="430" actId="1440"/>
          <ac:picMkLst>
            <pc:docMk/>
            <pc:sldMk cId="3707109464" sldId="281"/>
            <ac:picMk id="8" creationId="{7FED7A27-9243-322E-AEC3-A24E5C3A1936}"/>
          </ac:picMkLst>
        </pc:pic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3149376576" sldId="282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149376576" sldId="282"/>
            <ac:spMk id="3" creationId="{70EAAB32-D80F-43AE-A1AB-1C6B3AB4020E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913617353" sldId="283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913617353" sldId="283"/>
            <ac:spMk id="3" creationId="{B6B302BF-25C3-5F50-403B-98AE224579A2}"/>
          </ac:spMkLst>
        </pc:spChg>
      </pc:sldChg>
      <pc:sldChg chg="modSp">
        <pc:chgData name="Frommer, Ian Dr. (EDU)" userId="28ca3ff0-544f-450a-928b-99e19cf49b89" providerId="ADAL" clId="{A3E8E5B1-0D91-4643-B70B-3D065C8674E0}" dt="2026-10-22T13:33:31.454" v="397"/>
        <pc:sldMkLst>
          <pc:docMk/>
          <pc:sldMk cId="2381247372" sldId="284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2381247372" sldId="284"/>
            <ac:spMk id="3" creationId="{3D6FE424-BE9D-64E8-60E2-C57D663BBBB0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3369002668" sldId="286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369002668" sldId="286"/>
            <ac:spMk id="3" creationId="{FD507229-9A41-FB56-40F9-77E860EFC4AF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1436219195" sldId="288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1436219195" sldId="288"/>
            <ac:spMk id="3" creationId="{BFB4BFF8-4658-01ED-151F-DF53CB4ED9E7}"/>
          </ac:spMkLst>
        </pc:spChg>
      </pc:sldChg>
      <pc:sldChg chg="modSp mod">
        <pc:chgData name="Frommer, Ian Dr. (EDU)" userId="28ca3ff0-544f-450a-928b-99e19cf49b89" providerId="ADAL" clId="{A3E8E5B1-0D91-4643-B70B-3D065C8674E0}" dt="2026-10-22T13:12:40.469" v="120" actId="6549"/>
        <pc:sldMkLst>
          <pc:docMk/>
          <pc:sldMk cId="684203436" sldId="289"/>
        </pc:sldMkLst>
        <pc:spChg chg="mod">
          <ac:chgData name="Frommer, Ian Dr. (EDU)" userId="28ca3ff0-544f-450a-928b-99e19cf49b89" providerId="ADAL" clId="{A3E8E5B1-0D91-4643-B70B-3D065C8674E0}" dt="2026-10-22T13:12:40.469" v="120" actId="6549"/>
          <ac:spMkLst>
            <pc:docMk/>
            <pc:sldMk cId="684203436" sldId="289"/>
            <ac:spMk id="3" creationId="{0AA95C47-D6FD-A174-9B3F-CE48E64585CB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3192546320" sldId="290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192546320" sldId="290"/>
            <ac:spMk id="3" creationId="{4A38BE50-D346-6753-540C-57EA3A26F93E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1202683291" sldId="291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1202683291" sldId="291"/>
            <ac:spMk id="3" creationId="{0CD713A8-583C-DE1A-48BF-FD54C5F62847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3305003386" sldId="293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305003386" sldId="293"/>
            <ac:spMk id="3" creationId="{CA5521B3-F904-D517-F0E0-170CD01EEC43}"/>
          </ac:spMkLst>
        </pc:spChg>
      </pc:sldChg>
      <pc:sldChg chg="modSp modNotes">
        <pc:chgData name="Frommer, Ian Dr. (EDU)" userId="28ca3ff0-544f-450a-928b-99e19cf49b89" providerId="ADAL" clId="{A3E8E5B1-0D91-4643-B70B-3D065C8674E0}" dt="2026-10-22T13:33:31.454" v="397"/>
        <pc:sldMkLst>
          <pc:docMk/>
          <pc:sldMk cId="1627370989" sldId="294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1627370989" sldId="294"/>
            <ac:spMk id="3" creationId="{6417FAC3-9544-75E1-EB7D-6859BA94E8C4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4028234787" sldId="296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4028234787" sldId="296"/>
            <ac:spMk id="3" creationId="{8C5BE36A-3D6D-CE1D-8D5E-ECF240A8B384}"/>
          </ac:spMkLst>
        </pc:spChg>
      </pc:sldChg>
      <pc:sldChg chg="modSp modAnim">
        <pc:chgData name="Frommer, Ian Dr. (EDU)" userId="28ca3ff0-544f-450a-928b-99e19cf49b89" providerId="ADAL" clId="{A3E8E5B1-0D91-4643-B70B-3D065C8674E0}" dt="2026-10-22T13:33:40.924" v="400"/>
        <pc:sldMkLst>
          <pc:docMk/>
          <pc:sldMk cId="3884690631" sldId="298"/>
        </pc:sldMkLst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884690631" sldId="298"/>
            <ac:spMk id="3" creationId="{FB40710B-E609-0958-7927-8883B3B6A69F}"/>
          </ac:spMkLst>
        </pc:spChg>
      </pc:sldChg>
      <pc:sldChg chg="modSp new mod">
        <pc:chgData name="Frommer, Ian Dr. (EDU)" userId="28ca3ff0-544f-450a-928b-99e19cf49b89" providerId="ADAL" clId="{A3E8E5B1-0D91-4643-B70B-3D065C8674E0}" dt="2026-10-22T14:23:44.017" v="467" actId="27636"/>
        <pc:sldMkLst>
          <pc:docMk/>
          <pc:sldMk cId="4239975160" sldId="301"/>
        </pc:sldMkLst>
        <pc:spChg chg="mod">
          <ac:chgData name="Frommer, Ian Dr. (EDU)" userId="28ca3ff0-544f-450a-928b-99e19cf49b89" providerId="ADAL" clId="{A3E8E5B1-0D91-4643-B70B-3D065C8674E0}" dt="2026-10-22T14:23:31.783" v="461" actId="20577"/>
          <ac:spMkLst>
            <pc:docMk/>
            <pc:sldMk cId="4239975160" sldId="301"/>
            <ac:spMk id="2" creationId="{4C2146C6-8581-CAD1-F508-3787A3F50A5B}"/>
          </ac:spMkLst>
        </pc:spChg>
        <pc:spChg chg="mod">
          <ac:chgData name="Frommer, Ian Dr. (EDU)" userId="28ca3ff0-544f-450a-928b-99e19cf49b89" providerId="ADAL" clId="{A3E8E5B1-0D91-4643-B70B-3D065C8674E0}" dt="2026-10-22T14:23:44.017" v="467" actId="27636"/>
          <ac:spMkLst>
            <pc:docMk/>
            <pc:sldMk cId="4239975160" sldId="301"/>
            <ac:spMk id="3" creationId="{CBABBA5B-9430-A8DF-919B-93330F3411FB}"/>
          </ac:spMkLst>
        </pc:spChg>
      </pc:sldChg>
      <pc:sldChg chg="addSp delSp modSp new mod">
        <pc:chgData name="Frommer, Ian Dr. (EDU)" userId="28ca3ff0-544f-450a-928b-99e19cf49b89" providerId="ADAL" clId="{A3E8E5B1-0D91-4643-B70B-3D065C8674E0}" dt="2026-10-22T14:24:13.719" v="498" actId="27636"/>
        <pc:sldMkLst>
          <pc:docMk/>
          <pc:sldMk cId="2270651041" sldId="302"/>
        </pc:sldMkLst>
        <pc:spChg chg="mod">
          <ac:chgData name="Frommer, Ian Dr. (EDU)" userId="28ca3ff0-544f-450a-928b-99e19cf49b89" providerId="ADAL" clId="{A3E8E5B1-0D91-4643-B70B-3D065C8674E0}" dt="2026-10-22T14:23:56.449" v="492" actId="20577"/>
          <ac:spMkLst>
            <pc:docMk/>
            <pc:sldMk cId="2270651041" sldId="302"/>
            <ac:spMk id="2" creationId="{CAE61E01-0540-9956-4EB3-4C091C2977BB}"/>
          </ac:spMkLst>
        </pc:spChg>
        <pc:spChg chg="mod">
          <ac:chgData name="Frommer, Ian Dr. (EDU)" userId="28ca3ff0-544f-450a-928b-99e19cf49b89" providerId="ADAL" clId="{A3E8E5B1-0D91-4643-B70B-3D065C8674E0}" dt="2026-10-22T14:24:13.719" v="498" actId="27636"/>
          <ac:spMkLst>
            <pc:docMk/>
            <pc:sldMk cId="2270651041" sldId="302"/>
            <ac:spMk id="3" creationId="{4CCB0AB9-ECD2-FC3C-0D89-BBB0B5E78791}"/>
          </ac:spMkLst>
        </pc:spChg>
      </pc:sldChg>
      <pc:sldChg chg="modSp new mod">
        <pc:chgData name="Frommer, Ian Dr. (EDU)" userId="28ca3ff0-544f-450a-928b-99e19cf49b89" providerId="ADAL" clId="{A3E8E5B1-0D91-4643-B70B-3D065C8674E0}" dt="2026-10-22T13:33:31.454" v="397"/>
        <pc:sldMkLst>
          <pc:docMk/>
          <pc:sldMk cId="3642264007" sldId="303"/>
        </pc:sldMkLst>
        <pc:spChg chg="mod">
          <ac:chgData name="Frommer, Ian Dr. (EDU)" userId="28ca3ff0-544f-450a-928b-99e19cf49b89" providerId="ADAL" clId="{A3E8E5B1-0D91-4643-B70B-3D065C8674E0}" dt="2026-10-22T13:17:14.692" v="186" actId="1076"/>
          <ac:spMkLst>
            <pc:docMk/>
            <pc:sldMk cId="3642264007" sldId="303"/>
            <ac:spMk id="2" creationId="{A2BACD6C-A258-F6A0-3686-885E17DCA088}"/>
          </ac:spMkLst>
        </pc:spChg>
        <pc:spChg chg="mod">
          <ac:chgData name="Frommer, Ian Dr. (EDU)" userId="28ca3ff0-544f-450a-928b-99e19cf49b89" providerId="ADAL" clId="{A3E8E5B1-0D91-4643-B70B-3D065C8674E0}" dt="2026-10-22T13:33:31.454" v="397"/>
          <ac:spMkLst>
            <pc:docMk/>
            <pc:sldMk cId="3642264007" sldId="303"/>
            <ac:spMk id="3" creationId="{123E7C62-AA1B-557D-F2BC-E1E161E15B4D}"/>
          </ac:spMkLst>
        </pc:spChg>
      </pc:sldChg>
      <pc:sldChg chg="modSp new mod">
        <pc:chgData name="Frommer, Ian Dr. (EDU)" userId="28ca3ff0-544f-450a-928b-99e19cf49b89" providerId="ADAL" clId="{A3E8E5B1-0D91-4643-B70B-3D065C8674E0}" dt="2026-10-22T13:25:56.555" v="271" actId="20577"/>
        <pc:sldMkLst>
          <pc:docMk/>
          <pc:sldMk cId="889370077" sldId="304"/>
        </pc:sldMkLst>
        <pc:spChg chg="mod">
          <ac:chgData name="Frommer, Ian Dr. (EDU)" userId="28ca3ff0-544f-450a-928b-99e19cf49b89" providerId="ADAL" clId="{A3E8E5B1-0D91-4643-B70B-3D065C8674E0}" dt="2026-10-22T13:25:56.555" v="271" actId="20577"/>
          <ac:spMkLst>
            <pc:docMk/>
            <pc:sldMk cId="889370077" sldId="304"/>
            <ac:spMk id="2" creationId="{8E771877-3063-4F03-F92C-48792B0CDBAD}"/>
          </ac:spMkLst>
        </pc:spChg>
        <pc:spChg chg="mod">
          <ac:chgData name="Frommer, Ian Dr. (EDU)" userId="28ca3ff0-544f-450a-928b-99e19cf49b89" providerId="ADAL" clId="{A3E8E5B1-0D91-4643-B70B-3D065C8674E0}" dt="2026-10-22T13:24:27.931" v="217" actId="27636"/>
          <ac:spMkLst>
            <pc:docMk/>
            <pc:sldMk cId="889370077" sldId="304"/>
            <ac:spMk id="3" creationId="{E0F21D9C-7FD7-0F90-4D15-82D0DA68750D}"/>
          </ac:spMkLst>
        </pc:spChg>
      </pc:sldChg>
      <pc:sldChg chg="modSp new mod ord">
        <pc:chgData name="Frommer, Ian Dr. (EDU)" userId="28ca3ff0-544f-450a-928b-99e19cf49b89" providerId="ADAL" clId="{A3E8E5B1-0D91-4643-B70B-3D065C8674E0}" dt="2026-10-22T13:27:21.691" v="367" actId="27636"/>
        <pc:sldMkLst>
          <pc:docMk/>
          <pc:sldMk cId="1006364154" sldId="305"/>
        </pc:sldMkLst>
        <pc:spChg chg="mod">
          <ac:chgData name="Frommer, Ian Dr. (EDU)" userId="28ca3ff0-544f-450a-928b-99e19cf49b89" providerId="ADAL" clId="{A3E8E5B1-0D91-4643-B70B-3D065C8674E0}" dt="2026-10-22T13:26:10.230" v="306" actId="1035"/>
          <ac:spMkLst>
            <pc:docMk/>
            <pc:sldMk cId="1006364154" sldId="305"/>
            <ac:spMk id="2" creationId="{866497E0-B665-2A79-8470-4EF60C6AC4EB}"/>
          </ac:spMkLst>
        </pc:spChg>
        <pc:spChg chg="mod">
          <ac:chgData name="Frommer, Ian Dr. (EDU)" userId="28ca3ff0-544f-450a-928b-99e19cf49b89" providerId="ADAL" clId="{A3E8E5B1-0D91-4643-B70B-3D065C8674E0}" dt="2026-10-22T13:27:21.691" v="367" actId="27636"/>
          <ac:spMkLst>
            <pc:docMk/>
            <pc:sldMk cId="1006364154" sldId="305"/>
            <ac:spMk id="3" creationId="{551D55B6-81F1-5E7B-0CF7-DF74AA91C26C}"/>
          </ac:spMkLst>
        </pc:spChg>
      </pc:sldChg>
      <pc:sldChg chg="addSp modSp new mod">
        <pc:chgData name="Frommer, Ian Dr. (EDU)" userId="28ca3ff0-544f-450a-928b-99e19cf49b89" providerId="ADAL" clId="{A3E8E5B1-0D91-4643-B70B-3D065C8674E0}" dt="2026-10-22T14:29:24.947" v="526" actId="1076"/>
        <pc:sldMkLst>
          <pc:docMk/>
          <pc:sldMk cId="1810481925" sldId="306"/>
        </pc:sldMkLst>
        <pc:spChg chg="mod">
          <ac:chgData name="Frommer, Ian Dr. (EDU)" userId="28ca3ff0-544f-450a-928b-99e19cf49b89" providerId="ADAL" clId="{A3E8E5B1-0D91-4643-B70B-3D065C8674E0}" dt="2026-10-22T14:29:03.203" v="521" actId="14100"/>
          <ac:spMkLst>
            <pc:docMk/>
            <pc:sldMk cId="1810481925" sldId="306"/>
            <ac:spMk id="2" creationId="{44221394-07CD-E1CE-5C62-5872EF5AF7F0}"/>
          </ac:spMkLst>
        </pc:spChg>
        <pc:spChg chg="mod">
          <ac:chgData name="Frommer, Ian Dr. (EDU)" userId="28ca3ff0-544f-450a-928b-99e19cf49b89" providerId="ADAL" clId="{A3E8E5B1-0D91-4643-B70B-3D065C8674E0}" dt="2026-10-22T14:29:24.947" v="526" actId="1076"/>
          <ac:spMkLst>
            <pc:docMk/>
            <pc:sldMk cId="1810481925" sldId="306"/>
            <ac:spMk id="3" creationId="{224AB7B8-9170-FB4B-CDFF-B6B7F872D92C}"/>
          </ac:spMkLst>
        </pc:spChg>
        <pc:picChg chg="add mod">
          <ac:chgData name="Frommer, Ian Dr. (EDU)" userId="28ca3ff0-544f-450a-928b-99e19cf49b89" providerId="ADAL" clId="{A3E8E5B1-0D91-4643-B70B-3D065C8674E0}" dt="2026-10-22T14:29:10.288" v="522" actId="1076"/>
          <ac:picMkLst>
            <pc:docMk/>
            <pc:sldMk cId="1810481925" sldId="306"/>
            <ac:picMk id="5" creationId="{E60F27A9-4FF3-67A5-EB90-86B1143F51C0}"/>
          </ac:picMkLst>
        </pc:picChg>
        <pc:picChg chg="add mod">
          <ac:chgData name="Frommer, Ian Dr. (EDU)" userId="28ca3ff0-544f-450a-928b-99e19cf49b89" providerId="ADAL" clId="{A3E8E5B1-0D91-4643-B70B-3D065C8674E0}" dt="2026-10-22T14:28:58.003" v="520" actId="1076"/>
          <ac:picMkLst>
            <pc:docMk/>
            <pc:sldMk cId="1810481925" sldId="306"/>
            <ac:picMk id="7" creationId="{64C9D325-F156-DD62-C7EF-D22948D200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96FF9-73D5-479D-A801-E1416CBB8EE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247AF-9427-4C6B-B0BD-033BCEC39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webui.com/getting-started/essentials#basic-rag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skills.io/home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"LLMs augmented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memory, tools, planning,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reflection“ –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AI agent in Grootendorst and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Alammar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“AI engineering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refers to the process of building applications on top of foundation models.” Huyen AI Eng. book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0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47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Documents -&gt; Indexer -&gt; Vector database -&gt; Retriever -&gt; LLM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“small enough” – under around 20 tables.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see </a:t>
            </a:r>
            <a:r>
              <a:rPr lang="en-US" dirty="0">
                <a:hlinkClick r:id="rId3"/>
              </a:rPr>
              <a:t>https://docs.openwebui.com/getting-started/essentials#basic-rag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77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A3E5-057F-E641-BB03-1DE28B02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C1A38-39E7-E485-B0A2-5D93C10E7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4C7FD-E96B-4D3D-BB29-CEBB4BD9B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https://agentskills.io/home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dirty="0"/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AI Agent Skills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is where you put that "good day" judgment on how to do something somewhere so it can be reused</a:t>
            </a:r>
          </a:p>
          <a:p>
            <a:r>
              <a:rPr lang="en-US" dirty="0"/>
              <a:t>(paraphrasing from the Soares book)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6B7FE-E646-0C7D-7BF7-2A0120143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40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50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41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247AF-9427-4C6B-B0BD-033BCEC393A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7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CA012-0EA0-AF3F-6A80-A0F4495CE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BB09F-44B6-F87F-6C7D-B244660A1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6E8E9-50C5-5BB5-4A9F-C890FE22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23655-18A0-1353-EFF1-13B27240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CB2E8-0995-B18C-7DE9-537132F3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1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379D-4D74-1811-D1CF-E3992695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75883-569D-636B-5654-2B064F695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47B18-098E-DA9D-1128-8C96D1EA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8C714-4EE2-4E1C-8AC7-FB2B3311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623B5-BAC6-D81C-9811-9A241EE2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5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39CF-456B-2508-0704-9BB5A71B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FAFAE-57AA-B605-4E1A-8E36A0511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265F-8EFF-FDCE-AE99-EAEDE2D6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C533-30CB-DA0B-C373-320DB959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C5D8-CDE2-503D-97E9-C7486BC4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6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829E-79CD-4EBA-2A16-58FF5D4F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EF2F5-3E58-4406-8970-87B3FD9CA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30C38-4A8F-5FCA-7EC8-777A8AB90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B25F8-6885-3EDF-2DE5-97FE31DC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CCF30-6355-E6E8-E41F-F5EA527C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44A39-0F01-4669-76FF-B826577C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6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5AF7-8B40-426D-13A8-2B1463780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83FB-5C6F-651C-BEF5-1D0435083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2D056-9C8A-EF04-0791-A126F82E4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AA27C-3F8E-EBFC-9460-7B3D08EC7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8D66A-600A-5007-6AB5-785743363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7A217-F8A8-ECFA-5C3E-0A193144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93C00-C0CA-7E91-DBF2-E4122ECD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C6A40-F1D4-97F8-0037-3031078B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9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B5DD-53C3-8914-68BE-B18D77B4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E6A79-6C6A-A8E8-8136-A26D96A0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0C282-E082-C3AA-81CB-5EE464C1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A3799-A434-46FD-CBE9-71A93ADB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1236A-9991-0758-0271-6695E459B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30F04-6AD6-B1CF-2154-6AEA5455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AF938-DEEA-CB80-7E9F-95BDE0AA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05D3-F92A-7751-41C8-3F97105A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4116-7A0C-389C-2372-7A8F46DD4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2F984-7FF6-D59B-0C04-D5E7EF0A4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E99AA-A973-5431-FDFB-FE0CAC2B3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8780B-16B6-9A75-11C6-1A67AA70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15F48-BB1B-0458-94C5-D1F17308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3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5642-7B36-1DF7-88CD-1E5D0410E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AB886-63CF-FE17-6AB7-BC4ADE568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4D1C2-6E0C-67E4-472D-ADD11891C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0C9E7-511A-C39D-B8F9-6832B6C9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15064-F2B4-D376-FC7B-C7FE1DCC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52D2A-7096-D33F-A484-1D409A15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4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C1B-35D9-8C67-31A7-79E15EEFA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CCAD8-7A0B-FAEC-DD74-5B25565D6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78B03-1F0A-E3D7-6F50-EA3FB04A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4E28D-FFEA-8BBC-69F0-E22FBE1C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30C3D-A0CF-FB61-686A-6852BA8A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4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0C910-1FB0-1B9B-C26E-91F7BB98C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951BF-DAD5-21DB-EAE1-6C50F0E49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6C701-3A2B-C685-6573-75ED5655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C77AF-470F-48B6-B05F-DA06CDC9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C127-1623-E9D6-B7DD-FE719E81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5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A2D18-AA35-D8B1-4F25-6F55BE2D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FD212-9CAF-5651-C429-82ECC8CD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A327E-2B54-C4CD-BE33-D8A1D2BA2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13BD6-FF64-41A8-A670-415ADC7DA4D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D4149-1380-C2AD-5ACE-EC8D5B558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A979-4A86-7B71-61AA-20AB30C68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B6C6-AABE-4DD5-AF90-05F7E85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2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owui.hopper.sonalysts.com/c/67e128c8-bf1d-4863-87c8-fade7fe6b7b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wui.hopper.sonalysts.com/c/5b8dca8a-334b-4ff4-87cf-c483228aaf4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viumlabs.ai/blog/how-we-built-data-analyst-you-can-talk-t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datacamp.com/learn/courses/introduction-to-ai-agents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openai.com/v1/chat/completion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5208-0965-8B95-983C-6B93896B5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Agent: </a:t>
            </a:r>
            <a:br>
              <a:rPr lang="en-US" dirty="0"/>
            </a:br>
            <a:r>
              <a:rPr lang="en-US" dirty="0"/>
              <a:t>Natural Language to SQL (NL2SQL)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86CCB-2CDE-4684-B1E1-211F6A3A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876" y="4257745"/>
            <a:ext cx="3956247" cy="214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9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1">
            <a:extLst>
              <a:ext uri="{FF2B5EF4-FFF2-40B4-BE49-F238E27FC236}">
                <a16:creationId xmlns:a16="http://schemas.microsoft.com/office/drawing/2014/main" id="{D50059D5-CBE1-F014-3D8B-41172A5B2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957" y="3759584"/>
            <a:ext cx="5537427" cy="31642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14A7EA-9228-330D-C61D-6BC3C4DB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4" y="141190"/>
            <a:ext cx="10515600" cy="1325563"/>
          </a:xfrm>
        </p:spPr>
        <p:txBody>
          <a:bodyPr/>
          <a:lstStyle/>
          <a:p>
            <a:r>
              <a:rPr lang="en-US" dirty="0"/>
              <a:t>What is an </a:t>
            </a:r>
            <a:r>
              <a:rPr lang="en-US" b="1" dirty="0"/>
              <a:t>AI Agent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FAC3-9544-75E1-EB7D-6859BA94E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79" y="1315616"/>
            <a:ext cx="11524862" cy="24439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goal-oriented system, operating with a loop in which:</a:t>
            </a:r>
          </a:p>
          <a:p>
            <a:pPr lvl="1"/>
            <a:r>
              <a:rPr lang="en-US" dirty="0"/>
              <a:t>an LLM provides the reasoning and decision-making, identifying which tools and/or skills to run</a:t>
            </a:r>
          </a:p>
          <a:p>
            <a:pPr lvl="1"/>
            <a:r>
              <a:rPr lang="en-US" dirty="0"/>
              <a:t>the tools and/or skills are then executed </a:t>
            </a:r>
          </a:p>
          <a:p>
            <a:pPr lvl="1"/>
            <a:r>
              <a:rPr lang="en-US" dirty="0"/>
              <a:t>agent observes the results </a:t>
            </a:r>
          </a:p>
          <a:p>
            <a:pPr lvl="1"/>
            <a:r>
              <a:rPr lang="en-US" dirty="0"/>
              <a:t>the LLM is used to reason/decide again </a:t>
            </a:r>
          </a:p>
          <a:p>
            <a:pPr lvl="1"/>
            <a:r>
              <a:rPr lang="en-US" dirty="0"/>
              <a:t>the process repeats until the goal is achieved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61935-7992-BD66-768D-4B539A16230A}"/>
              </a:ext>
            </a:extLst>
          </p:cNvPr>
          <p:cNvSpPr txBox="1"/>
          <p:nvPr/>
        </p:nvSpPr>
        <p:spPr>
          <a:xfrm>
            <a:off x="7977672" y="6111551"/>
            <a:ext cx="4214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src</a:t>
            </a:r>
            <a:r>
              <a:rPr lang="en-US" sz="1400" dirty="0"/>
              <a:t>: https://temporal.io/blog/a-mental-model-for-agentic-ai-applications</a:t>
            </a:r>
          </a:p>
        </p:txBody>
      </p:sp>
    </p:spTree>
    <p:extLst>
      <p:ext uri="{BB962C8B-B14F-4D97-AF65-F5344CB8AC3E}">
        <p14:creationId xmlns:p14="http://schemas.microsoft.com/office/powerpoint/2010/main" val="162737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7C54-2DD0-FC5D-20C0-4F173A39E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25"/>
            <a:ext cx="10515600" cy="1325563"/>
          </a:xfrm>
        </p:spPr>
        <p:txBody>
          <a:bodyPr/>
          <a:lstStyle/>
          <a:p>
            <a:r>
              <a:rPr lang="en-US" dirty="0"/>
              <a:t>Natural-language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BECC-85DE-D7A7-5872-452195613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291"/>
            <a:ext cx="10515600" cy="996264"/>
          </a:xfrm>
        </p:spPr>
        <p:txBody>
          <a:bodyPr numCol="2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operator asks questions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writes SQL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runs queries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generates results</a:t>
            </a:r>
            <a:endParaRPr lang="en-US" sz="2400" dirty="0">
              <a:solidFill>
                <a:srgbClr val="3B3B3B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ECFFB43-C458-45C1-1F36-33C139DC4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9152"/>
          <a:stretch>
            <a:fillRect/>
          </a:stretch>
        </p:blipFill>
        <p:spPr>
          <a:xfrm>
            <a:off x="623085" y="2565375"/>
            <a:ext cx="9777510" cy="268503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C2984D4-5CA0-6C6E-DA1F-F82FC82B4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0848" t="57068"/>
          <a:stretch>
            <a:fillRect/>
          </a:stretch>
        </p:blipFill>
        <p:spPr>
          <a:xfrm>
            <a:off x="3369878" y="5298441"/>
            <a:ext cx="6712907" cy="1229990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197005B-5A7E-FB73-D47B-23B5338E27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35629" y="4683445"/>
            <a:ext cx="6564967" cy="585859"/>
          </a:xfrm>
          <a:prstGeom prst="curvedConnector3">
            <a:avLst>
              <a:gd name="adj1" fmla="val -66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388BCD1-E684-31E4-998E-7E66D08A7A42}"/>
              </a:ext>
            </a:extLst>
          </p:cNvPr>
          <p:cNvCxnSpPr>
            <a:cxnSpLocks/>
          </p:cNvCxnSpPr>
          <p:nvPr/>
        </p:nvCxnSpPr>
        <p:spPr>
          <a:xfrm rot="5400000">
            <a:off x="3280372" y="5358183"/>
            <a:ext cx="654286" cy="465747"/>
          </a:xfrm>
          <a:prstGeom prst="curvedConnector4">
            <a:avLst>
              <a:gd name="adj1" fmla="val 3003"/>
              <a:gd name="adj2" fmla="val 1490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919E-7216-772C-0981-D8BE894C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the NL2SQL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486B-F490-BC4C-4358-926DA8AE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support for periodic batch updates of source data files to the SQLite database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 </a:t>
            </a:r>
            <a:r>
              <a:rPr lang="en-US" b="1" dirty="0"/>
              <a:t>web front end</a:t>
            </a:r>
            <a:r>
              <a:rPr lang="en-US" dirty="0"/>
              <a:t> with:</a:t>
            </a:r>
          </a:p>
          <a:p>
            <a:pPr lvl="1"/>
            <a:r>
              <a:rPr lang="en-US" dirty="0"/>
              <a:t>a </a:t>
            </a:r>
            <a:r>
              <a:rPr lang="en-US" b="1" dirty="0"/>
              <a:t>chat prompt interface</a:t>
            </a:r>
            <a:endParaRPr lang="en-US" dirty="0"/>
          </a:p>
          <a:p>
            <a:pPr lvl="1"/>
            <a:r>
              <a:rPr lang="en-US" dirty="0"/>
              <a:t>end-user capability to:</a:t>
            </a:r>
          </a:p>
          <a:p>
            <a:pPr lvl="2"/>
            <a:r>
              <a:rPr lang="en-US" b="1" dirty="0"/>
              <a:t>enter natural language questions</a:t>
            </a:r>
            <a:r>
              <a:rPr lang="en-US" dirty="0"/>
              <a:t> about the data</a:t>
            </a:r>
          </a:p>
          <a:p>
            <a:pPr lvl="2"/>
            <a:r>
              <a:rPr lang="en-US" dirty="0"/>
              <a:t>ask the model to </a:t>
            </a:r>
            <a:r>
              <a:rPr lang="en-US" b="1" dirty="0"/>
              <a:t>generate</a:t>
            </a:r>
            <a:r>
              <a:rPr lang="en-US" dirty="0"/>
              <a:t> natural language questions about the data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 </a:t>
            </a:r>
            <a:r>
              <a:rPr lang="en-US" b="1" dirty="0"/>
              <a:t>semantic layer</a:t>
            </a:r>
            <a:r>
              <a:rPr lang="en-US" dirty="0"/>
              <a:t> with:</a:t>
            </a:r>
          </a:p>
          <a:p>
            <a:pPr lvl="1"/>
            <a:r>
              <a:rPr lang="en-US" dirty="0"/>
              <a:t>metrics, business rules, data dictionary, skills etc. written to help the AI Agent; </a:t>
            </a:r>
          </a:p>
          <a:p>
            <a:pPr lvl="1"/>
            <a:r>
              <a:rPr lang="en-US" b="1" dirty="0"/>
              <a:t>discoverable</a:t>
            </a:r>
            <a:r>
              <a:rPr lang="en-US" dirty="0"/>
              <a:t> tool definitions (e.g., metrics implemented as Python functions with clear </a:t>
            </a:r>
            <a:r>
              <a:rPr lang="en-US" u="sng" dirty="0"/>
              <a:t>docstrings</a:t>
            </a:r>
            <a:r>
              <a:rPr lang="en-US" dirty="0"/>
              <a:t>) will be provided for the Agent to call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connection to </a:t>
            </a:r>
            <a:r>
              <a:rPr lang="en-US" b="1" dirty="0"/>
              <a:t>LLM</a:t>
            </a:r>
            <a:r>
              <a:rPr lang="en-US" dirty="0"/>
              <a:t> that will convert end-user </a:t>
            </a:r>
          </a:p>
          <a:p>
            <a:pPr marL="0" lvl="0" indent="0">
              <a:buNone/>
            </a:pPr>
            <a:r>
              <a:rPr lang="en-US" dirty="0"/>
              <a:t>        natural language questions to SQL statements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E17F7-24CD-C0D8-5401-E1CE1FB1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11" y="2683823"/>
            <a:ext cx="3828922" cy="9286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3141FB-2C0D-5CB7-3DF2-41C94F61F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2009" y="1534757"/>
            <a:ext cx="657619" cy="1026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7C9F73-F989-06C6-A4A4-5F68CF19A6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19" t="16002" r="3909" b="15826"/>
          <a:stretch>
            <a:fillRect/>
          </a:stretch>
        </p:blipFill>
        <p:spPr>
          <a:xfrm>
            <a:off x="8538358" y="5399299"/>
            <a:ext cx="2743651" cy="11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0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F79B-357E-03C2-8300-2087028F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E8F1-535E-C933-C4EF-0636D419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5" y="214202"/>
            <a:ext cx="10515600" cy="1325563"/>
          </a:xfrm>
        </p:spPr>
        <p:txBody>
          <a:bodyPr/>
          <a:lstStyle/>
          <a:p>
            <a:r>
              <a:rPr lang="en-US" dirty="0"/>
              <a:t>Requirements of NL2SQL Agent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EFCC6-C004-61EA-186B-09A5CC482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50" y="1539765"/>
            <a:ext cx="9783192" cy="4637198"/>
          </a:xfrm>
        </p:spPr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an SQL </a:t>
            </a:r>
            <a:r>
              <a:rPr lang="en-US" b="1" dirty="0"/>
              <a:t>query validation tool</a:t>
            </a:r>
            <a:r>
              <a:rPr lang="en-US" dirty="0"/>
              <a:t> (likely in Python) to ensure queries are well-formed, non-destructive and adhere to read-only permissions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access to a </a:t>
            </a:r>
            <a:r>
              <a:rPr lang="en-US" dirty="0" err="1"/>
              <a:t>sqlite</a:t>
            </a:r>
            <a:r>
              <a:rPr lang="en-US" dirty="0"/>
              <a:t> database </a:t>
            </a:r>
            <a:r>
              <a:rPr lang="en-US" b="1" dirty="0"/>
              <a:t>.</a:t>
            </a:r>
            <a:r>
              <a:rPr lang="en-US" b="1" dirty="0" err="1"/>
              <a:t>db</a:t>
            </a:r>
            <a:r>
              <a:rPr lang="en-US" b="1" dirty="0"/>
              <a:t> file</a:t>
            </a:r>
            <a:r>
              <a:rPr lang="en-US" dirty="0"/>
              <a:t> of information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a tool to </a:t>
            </a:r>
            <a:r>
              <a:rPr lang="en-US" b="1" dirty="0"/>
              <a:t>execute database queries</a:t>
            </a:r>
            <a:r>
              <a:rPr lang="en-US" dirty="0"/>
              <a:t> and obtain results (likely in Python)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tools to provide written </a:t>
            </a:r>
            <a:r>
              <a:rPr lang="en-US" b="1" dirty="0"/>
              <a:t>explanations of the results and visualizations</a:t>
            </a:r>
            <a:r>
              <a:rPr lang="en-US" dirty="0"/>
              <a:t> of them such as plots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agent construction using </a:t>
            </a:r>
            <a:r>
              <a:rPr lang="en-US" dirty="0" err="1"/>
              <a:t>Pydantic</a:t>
            </a:r>
            <a:r>
              <a:rPr lang="en-US" dirty="0"/>
              <a:t> AI's Agent or similar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strong </a:t>
            </a:r>
            <a:r>
              <a:rPr lang="en-US" b="1" dirty="0"/>
              <a:t>security</a:t>
            </a:r>
            <a:r>
              <a:rPr lang="en-US" dirty="0"/>
              <a:t> and </a:t>
            </a:r>
            <a:r>
              <a:rPr lang="en-US" b="1" dirty="0"/>
              <a:t>access</a:t>
            </a:r>
            <a:r>
              <a:rPr lang="en-US" dirty="0"/>
              <a:t> control: user authentication and network-level access control will be managed by the system administrator via existing network infrastructure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95CB5-5C32-5F03-61D9-988CDA10C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43" t="66376"/>
          <a:stretch>
            <a:fillRect/>
          </a:stretch>
        </p:blipFill>
        <p:spPr>
          <a:xfrm>
            <a:off x="9277164" y="3735926"/>
            <a:ext cx="2694968" cy="104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1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4ACF-38CB-C53B-31B6-EB7A31C7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497"/>
            <a:ext cx="10515600" cy="994750"/>
          </a:xfrm>
        </p:spPr>
        <p:txBody>
          <a:bodyPr>
            <a:normAutofit/>
          </a:bodyPr>
          <a:lstStyle/>
          <a:p>
            <a:r>
              <a:rPr lang="en-US" sz="4000" dirty="0"/>
              <a:t>Natural language conversion to SQL (NL2SQL)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90DE-7D69-D148-C893-DC96E468C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5600"/>
            <a:ext cx="10515600" cy="3763108"/>
          </a:xfrm>
        </p:spPr>
        <p:txBody>
          <a:bodyPr>
            <a:normAutofit fontScale="92500"/>
          </a:bodyPr>
          <a:lstStyle/>
          <a:p>
            <a:r>
              <a:rPr lang="en-US" dirty="0"/>
              <a:t>Start with basic </a:t>
            </a:r>
            <a:r>
              <a:rPr lang="en-US" b="1" dirty="0"/>
              <a:t>“</a:t>
            </a:r>
            <a:r>
              <a:rPr lang="en-US" b="1" dirty="0">
                <a:hlinkClick r:id="rId2"/>
              </a:rPr>
              <a:t>zero shot</a:t>
            </a:r>
            <a:r>
              <a:rPr lang="en-US" b="1" dirty="0"/>
              <a:t>” </a:t>
            </a:r>
            <a:r>
              <a:rPr lang="en-US" dirty="0"/>
              <a:t>approach:</a:t>
            </a:r>
          </a:p>
          <a:p>
            <a:pPr marL="0" indent="0">
              <a:buNone/>
            </a:pPr>
            <a:r>
              <a:rPr lang="en-US" dirty="0"/>
              <a:t>        a simple </a:t>
            </a:r>
            <a:r>
              <a:rPr lang="en-US" b="1" dirty="0"/>
              <a:t>system prompt</a:t>
            </a:r>
            <a:r>
              <a:rPr lang="en-US" dirty="0"/>
              <a:t> for the LLM</a:t>
            </a:r>
          </a:p>
          <a:p>
            <a:pPr marL="0" indent="0">
              <a:buNone/>
            </a:pPr>
            <a:endParaRPr lang="en-US" sz="300" dirty="0"/>
          </a:p>
          <a:p>
            <a:pPr lvl="1"/>
            <a:r>
              <a:rPr lang="en-US" dirty="0"/>
              <a:t>What is a </a:t>
            </a:r>
            <a:r>
              <a:rPr lang="en-US" b="1" dirty="0"/>
              <a:t>system prompt</a:t>
            </a:r>
            <a:r>
              <a:rPr lang="en-US" dirty="0"/>
              <a:t>? </a:t>
            </a:r>
          </a:p>
          <a:p>
            <a:pPr lvl="2"/>
            <a:r>
              <a:rPr lang="en-US" dirty="0"/>
              <a:t>a message sent before user prompt in every request to the LLM</a:t>
            </a:r>
          </a:p>
          <a:p>
            <a:pPr lvl="2"/>
            <a:r>
              <a:rPr lang="en-US" dirty="0"/>
              <a:t>its goal is to steer the </a:t>
            </a:r>
            <a:r>
              <a:rPr lang="en-US"/>
              <a:t>model behavior, tone, knowledge, </a:t>
            </a:r>
            <a:r>
              <a:rPr lang="en-US" dirty="0"/>
              <a:t>etc. for the entire conversation</a:t>
            </a:r>
          </a:p>
          <a:p>
            <a:pPr lvl="1"/>
            <a:r>
              <a:rPr lang="en-US" dirty="0"/>
              <a:t>System prompt used here:</a:t>
            </a:r>
          </a:p>
          <a:p>
            <a:pPr marL="914400" lvl="2" indent="0">
              <a:buNone/>
            </a:pPr>
            <a:r>
              <a:rPr lang="en-US" i="1" dirty="0"/>
              <a:t>“Convert this question into a SQL query. Make any assumptions necessary about the underlying database and its schema.”</a:t>
            </a:r>
          </a:p>
          <a:p>
            <a:pPr lvl="1"/>
            <a:r>
              <a:rPr lang="en-US" b="1" dirty="0"/>
              <a:t>zero shot </a:t>
            </a:r>
            <a:r>
              <a:rPr lang="en-US" dirty="0"/>
              <a:t>given no information about </a:t>
            </a:r>
            <a:r>
              <a:rPr lang="en-US"/>
              <a:t>the database, no schema, </a:t>
            </a:r>
            <a:r>
              <a:rPr lang="en-US" dirty="0"/>
              <a:t>no subject information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61C8C-27B1-8072-5C92-ED455717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38" y="1090247"/>
            <a:ext cx="9896124" cy="156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747E-E598-A1D8-BE00-680C5335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NL2SQL </a:t>
            </a:r>
            <a:r>
              <a:rPr lang="en-US" sz="3600" dirty="0"/>
              <a:t>“</a:t>
            </a:r>
            <a:r>
              <a:rPr lang="en-US" sz="3600" b="1" dirty="0"/>
              <a:t>context-aware shot</a:t>
            </a:r>
            <a:r>
              <a:rPr lang="en-US" sz="3600" dirty="0"/>
              <a:t>” approach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4B80B-D1FC-8D76-9B0B-64466F4A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Next consider a more complex “</a:t>
            </a:r>
            <a:r>
              <a:rPr lang="en-US" sz="3200" b="1" dirty="0">
                <a:hlinkClick r:id="rId2"/>
              </a:rPr>
              <a:t>context-aware shot</a:t>
            </a:r>
            <a:r>
              <a:rPr lang="en-US" sz="3200" dirty="0"/>
              <a:t>” approach</a:t>
            </a:r>
          </a:p>
          <a:p>
            <a:pPr marL="0" indent="0">
              <a:buNone/>
            </a:pPr>
            <a:endParaRPr lang="en-US" sz="3200" dirty="0"/>
          </a:p>
          <a:p>
            <a:pPr lvl="1"/>
            <a:r>
              <a:rPr lang="en-US" sz="2800" b="1" dirty="0"/>
              <a:t>Semantic layer </a:t>
            </a:r>
            <a:r>
              <a:rPr lang="en-US" sz="2800" dirty="0"/>
              <a:t>– structured documents that provide information about representation </a:t>
            </a:r>
            <a:r>
              <a:rPr lang="en-US" sz="2800"/>
              <a:t>of data, rules, metrics, </a:t>
            </a:r>
            <a:r>
              <a:rPr lang="en-US" sz="2800" dirty="0"/>
              <a:t>and domain knowledge in a precise form that can be readily utilized by an </a:t>
            </a:r>
            <a:r>
              <a:rPr lang="en-US" sz="2800"/>
              <a:t>automated system, </a:t>
            </a:r>
            <a:r>
              <a:rPr lang="en-US" sz="2800" dirty="0"/>
              <a:t>such as an LLM.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In </a:t>
            </a:r>
            <a:r>
              <a:rPr lang="en-US" sz="2800"/>
              <a:t>this example, </a:t>
            </a:r>
            <a:r>
              <a:rPr lang="en-US" sz="2800" dirty="0"/>
              <a:t>can include </a:t>
            </a:r>
            <a:r>
              <a:rPr lang="en-US" sz="2800"/>
              <a:t>database schema, data dictionary, </a:t>
            </a:r>
            <a:r>
              <a:rPr lang="en-US" sz="2800" dirty="0"/>
              <a:t>business rules. Initial work performed included </a:t>
            </a:r>
            <a:r>
              <a:rPr lang="en-US" sz="2800" b="1" dirty="0"/>
              <a:t>database schema </a:t>
            </a:r>
            <a:r>
              <a:rPr lang="en-US" sz="2800" dirty="0"/>
              <a:t>in </a:t>
            </a:r>
            <a:r>
              <a:rPr lang="en-US" sz="2800" dirty="0" err="1"/>
              <a:t>yaml</a:t>
            </a:r>
            <a:r>
              <a:rPr lang="en-US" sz="2800" dirty="0"/>
              <a:t> file.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and utilized a more robust </a:t>
            </a:r>
            <a:r>
              <a:rPr lang="en-US" sz="2800" b="1" dirty="0"/>
              <a:t>system prompt</a:t>
            </a:r>
            <a:r>
              <a:rPr lang="en-US" sz="2800" dirty="0"/>
              <a:t>:</a:t>
            </a:r>
          </a:p>
          <a:p>
            <a:pPr marL="914400" lvl="2" indent="0">
              <a:buNone/>
            </a:pPr>
            <a:r>
              <a:rPr lang="en-US" sz="2400" i="1" dirty="0"/>
              <a:t>“[Role] You are an expert SQL query-writer.</a:t>
            </a:r>
            <a:br>
              <a:rPr lang="en-US" sz="2400" i="1" dirty="0"/>
            </a:br>
            <a:r>
              <a:rPr lang="en-US" sz="2400" i="1" dirty="0"/>
              <a:t>[Task] Write a SQL query that would answer the question provided through the prompt.</a:t>
            </a:r>
            <a:br>
              <a:rPr lang="en-US" sz="2400" i="1" dirty="0"/>
            </a:br>
            <a:r>
              <a:rPr lang="en-US" sz="2400" i="1" dirty="0"/>
              <a:t>[Context] See the knowledge-base provided for this folder to best address the task. It includes the database schema.”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29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4FC0-E2F7-4732-01E0-4D88ABB4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B153-4348-2CE6-FF2E-7132D9441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r>
              <a:rPr lang="en-US" dirty="0"/>
              <a:t>Ran the NL2SQL using a </a:t>
            </a:r>
            <a:r>
              <a:rPr lang="en-US" b="1" dirty="0"/>
              <a:t>car rental database </a:t>
            </a:r>
            <a:r>
              <a:rPr lang="en-US" dirty="0"/>
              <a:t>with tables </a:t>
            </a:r>
            <a:r>
              <a:rPr lang="en-US"/>
              <a:t>for cars, </a:t>
            </a:r>
            <a:r>
              <a:rPr lang="en-US" dirty="0"/>
              <a:t>rentals (</a:t>
            </a:r>
            <a:r>
              <a:rPr lang="en-US"/>
              <a:t>transactions), owners, </a:t>
            </a:r>
            <a:r>
              <a:rPr lang="en-US" dirty="0"/>
              <a:t>and customers.</a:t>
            </a:r>
          </a:p>
          <a:p>
            <a:r>
              <a:rPr lang="en-US" i="1" dirty="0"/>
              <a:t>Beginning of the cars table:</a:t>
            </a:r>
          </a:p>
          <a:p>
            <a:pPr marL="457200" lvl="1" indent="0">
              <a:buNone/>
            </a:pPr>
            <a:r>
              <a:rPr lang="en-US" sz="1400" b="1" dirty="0"/>
              <a:t>Owner ID       Vehicle ID  	Vehicle                      		Price Per Day</a:t>
            </a:r>
          </a:p>
          <a:p>
            <a:pPr marL="457200" lvl="1" indent="0">
              <a:buNone/>
            </a:pPr>
            <a:r>
              <a:rPr lang="en-US" sz="1400" dirty="0"/>
              <a:t>900       	1           	1992 Rover 216                		169.0</a:t>
            </a:r>
          </a:p>
          <a:p>
            <a:pPr marL="457200" lvl="1" indent="0">
              <a:buNone/>
            </a:pPr>
            <a:r>
              <a:rPr lang="en-US" sz="1400" dirty="0"/>
              <a:t>909       	10          	2010 Mini Cooper Clubman   	187.0</a:t>
            </a:r>
          </a:p>
          <a:p>
            <a:pPr marL="457200" lvl="1" indent="0">
              <a:buNone/>
            </a:pPr>
            <a:r>
              <a:rPr lang="fi-FI" sz="1400" dirty="0"/>
              <a:t>910       	11          	2008 Daewoo Kalos          		129.0</a:t>
            </a:r>
          </a:p>
          <a:p>
            <a:pPr marL="457200" lvl="1" indent="0">
              <a:buNone/>
            </a:pPr>
            <a:r>
              <a:rPr lang="en-US" sz="1400" dirty="0"/>
              <a:t>911       	12          	2005 Land Rover Discovery 	74.0</a:t>
            </a:r>
          </a:p>
          <a:p>
            <a:pPr marL="457200" lvl="1" indent="0">
              <a:buNone/>
            </a:pPr>
            <a:r>
              <a:rPr lang="en-US" sz="1400" dirty="0"/>
              <a:t>912       	13          	1992 Oldsmobile Eighty-Eight 	 181.0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dirty="0"/>
              <a:t>Conducted in </a:t>
            </a:r>
            <a:r>
              <a:rPr lang="en-US" b="1" dirty="0"/>
              <a:t>Open </a:t>
            </a:r>
            <a:r>
              <a:rPr lang="en-US" b="1" dirty="0" err="1"/>
              <a:t>WebUI</a:t>
            </a:r>
            <a:r>
              <a:rPr lang="en-US" dirty="0"/>
              <a:t> using </a:t>
            </a:r>
            <a:r>
              <a:rPr lang="en-US" b="1" dirty="0"/>
              <a:t>Folders</a:t>
            </a:r>
            <a:r>
              <a:rPr lang="en-US" dirty="0"/>
              <a:t> for each approach:</a:t>
            </a:r>
          </a:p>
          <a:p>
            <a:pPr lvl="1"/>
            <a:r>
              <a:rPr lang="en-US" dirty="0"/>
              <a:t>both have system prompts</a:t>
            </a:r>
          </a:p>
          <a:p>
            <a:pPr lvl="1"/>
            <a:r>
              <a:rPr lang="en-US" dirty="0"/>
              <a:t>context-aware approach also has </a:t>
            </a:r>
            <a:r>
              <a:rPr lang="en-US" b="1" dirty="0"/>
              <a:t>Knowledge</a:t>
            </a:r>
            <a:r>
              <a:rPr lang="en-US" dirty="0"/>
              <a:t> in the form of the </a:t>
            </a:r>
            <a:r>
              <a:rPr lang="en-US" b="1" dirty="0"/>
              <a:t>database schema file</a:t>
            </a:r>
          </a:p>
          <a:p>
            <a:r>
              <a:rPr lang="en-US" dirty="0"/>
              <a:t>Note: we are not running the SQL </a:t>
            </a:r>
            <a:r>
              <a:rPr lang="en-US"/>
              <a:t>query yet, </a:t>
            </a:r>
            <a:r>
              <a:rPr lang="en-US" dirty="0"/>
              <a:t>only having the LLM generate it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944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B3BF-BD0B-1964-EBC1-E527B4C8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50"/>
            <a:ext cx="10515600" cy="763647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C0255-A55D-7DD7-6771-4B1D26E2E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96" y="5194450"/>
            <a:ext cx="11518747" cy="1626899"/>
          </a:xfrm>
        </p:spPr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/>
              <a:t>Results</a:t>
            </a:r>
            <a:r>
              <a:rPr lang="en-US" sz="1400" dirty="0"/>
              <a:t>: both are </a:t>
            </a:r>
            <a:r>
              <a:rPr lang="en-US" sz="1400" b="1" dirty="0"/>
              <a:t>correct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The </a:t>
            </a:r>
            <a:r>
              <a:rPr lang="en-US" sz="1400" b="1" dirty="0"/>
              <a:t>Zero-Shot </a:t>
            </a:r>
            <a:r>
              <a:rPr lang="en-US" sz="1400" dirty="0"/>
              <a:t>has additional columns not asked for by </a:t>
            </a:r>
            <a:r>
              <a:rPr lang="en-US" sz="1400"/>
              <a:t>the question, </a:t>
            </a:r>
            <a:r>
              <a:rPr lang="en-US" sz="1400" dirty="0"/>
              <a:t>the </a:t>
            </a:r>
            <a:r>
              <a:rPr lang="en-US" sz="1400" b="1" dirty="0"/>
              <a:t>sem. layer shot </a:t>
            </a:r>
            <a:r>
              <a:rPr lang="en-US" sz="1400" dirty="0"/>
              <a:t>does not.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The LLM </a:t>
            </a:r>
            <a:r>
              <a:rPr lang="en-US" sz="1400" b="1" dirty="0"/>
              <a:t>query-writing style</a:t>
            </a:r>
            <a:r>
              <a:rPr lang="en-US" sz="1400" dirty="0"/>
              <a:t> is slightly different than the "answer" query: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quotation marks instead of square brackets around compound-word </a:t>
            </a:r>
            <a:r>
              <a:rPr lang="en-US" sz="1400"/>
              <a:t>field names, </a:t>
            </a:r>
            <a:endParaRPr lang="en-US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use of aliases (e.g. "Cars AS </a:t>
            </a:r>
            <a:r>
              <a:rPr lang="en-US" sz="1400"/>
              <a:t>c"), </a:t>
            </a:r>
            <a:endParaRPr lang="en-US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LLM names columns (e.g. count column as "</a:t>
            </a:r>
            <a:r>
              <a:rPr lang="en-US" sz="1400" err="1"/>
              <a:t>RentalCount</a:t>
            </a:r>
            <a:r>
              <a:rPr lang="en-US" sz="1400"/>
              <a:t>"),   </a:t>
            </a:r>
            <a:endParaRPr lang="en-US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Most of these are </a:t>
            </a:r>
            <a:r>
              <a:rPr lang="en-US" sz="1400" b="1" dirty="0"/>
              <a:t>improvements or are neutral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32A29-0DC6-E60B-829B-0B3D0563A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26" y="676553"/>
            <a:ext cx="115187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8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C114D-F565-65ED-7AA9-3BEA4EA1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63" y="311859"/>
            <a:ext cx="2686235" cy="1650106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70E2-20E2-1ABD-725F-A40AB1243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05" y="3759283"/>
            <a:ext cx="11159231" cy="28723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Both LLM queries do a </a:t>
            </a:r>
            <a:r>
              <a:rPr lang="en-US" b="1" dirty="0"/>
              <a:t>LEFT JOIN </a:t>
            </a:r>
            <a:r>
              <a:rPr lang="en-US" dirty="0"/>
              <a:t>while the answer query did an </a:t>
            </a:r>
            <a:r>
              <a:rPr lang="en-US" b="1" dirty="0"/>
              <a:t>INNER JOIN</a:t>
            </a:r>
            <a:r>
              <a:rPr lang="en-US" dirty="0"/>
              <a:t>.</a:t>
            </a:r>
          </a:p>
          <a:p>
            <a:endParaRPr lang="en-US" sz="900" b="1" dirty="0"/>
          </a:p>
          <a:p>
            <a:pPr>
              <a:spcBef>
                <a:spcPts val="600"/>
              </a:spcBef>
            </a:pPr>
            <a:r>
              <a:rPr lang="en-US" sz="2400" b="1" dirty="0"/>
              <a:t>INNER</a:t>
            </a:r>
            <a:r>
              <a:rPr lang="en-US" sz="2400" dirty="0"/>
              <a:t> JOIN only returns vehicles that have been rented: </a:t>
            </a:r>
            <a:r>
              <a:rPr lang="en-US" sz="2400" b="1" dirty="0"/>
              <a:t>rental-transaction-focused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LEFT </a:t>
            </a:r>
            <a:r>
              <a:rPr lang="en-US" sz="2400" dirty="0"/>
              <a:t>JOIN returns all vehicles even if they haven't been rented: </a:t>
            </a:r>
            <a:r>
              <a:rPr lang="en-US" sz="2400" b="1" dirty="0"/>
              <a:t>fleet-focused</a:t>
            </a: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/>
              <a:t>The </a:t>
            </a:r>
            <a:r>
              <a:rPr lang="en-US" sz="2400" b="1" dirty="0"/>
              <a:t>semantic layer </a:t>
            </a:r>
            <a:r>
              <a:rPr lang="en-US" sz="2400" dirty="0"/>
              <a:t>should inform what we want via structured </a:t>
            </a:r>
            <a:r>
              <a:rPr lang="en-US" sz="2400" b="1" dirty="0"/>
              <a:t>business rules </a:t>
            </a:r>
            <a:r>
              <a:rPr lang="en-US" sz="2400" dirty="0"/>
              <a:t>documentation: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e.g. "</a:t>
            </a:r>
            <a:r>
              <a:rPr lang="en-US" i="1" dirty="0"/>
              <a:t>We are focused on </a:t>
            </a:r>
            <a:r>
              <a:rPr lang="en-US" i="1" u="sng" dirty="0"/>
              <a:t>business transactions</a:t>
            </a:r>
            <a:r>
              <a:rPr lang="en-US" dirty="0"/>
              <a:t>" vs "</a:t>
            </a:r>
            <a:r>
              <a:rPr lang="en-US" i="1" dirty="0"/>
              <a:t>We are focused on </a:t>
            </a:r>
            <a:r>
              <a:rPr lang="en-US" i="1" u="sng" dirty="0"/>
              <a:t>fleet information</a:t>
            </a:r>
            <a:r>
              <a:rPr lang="en-US" dirty="0"/>
              <a:t>"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80A31-A2FF-87AD-DB91-4D1E3970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12" y="81571"/>
            <a:ext cx="8984927" cy="339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5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656E-C037-057C-DFBC-1C7E2D81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234DC-526D-FC8B-E738-DAE90C7D6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 did several more tests:</a:t>
            </a:r>
          </a:p>
          <a:p>
            <a:pPr lvl="1"/>
            <a:r>
              <a:rPr lang="en-US" dirty="0"/>
              <a:t>What is the average cost of a car per day?</a:t>
            </a:r>
          </a:p>
          <a:p>
            <a:pPr lvl="1"/>
            <a:r>
              <a:rPr lang="en-US" dirty="0"/>
              <a:t>Which owners have the priciest cars (&gt;$250 per day cost)? Show the owner’s first and last name and the price of the car.</a:t>
            </a:r>
          </a:p>
          <a:p>
            <a:pPr lvl="1"/>
            <a:r>
              <a:rPr lang="en-US" dirty="0"/>
              <a:t>List the customer first and </a:t>
            </a:r>
            <a:r>
              <a:rPr lang="en-US"/>
              <a:t>last name, </a:t>
            </a:r>
            <a:r>
              <a:rPr lang="en-US" dirty="0"/>
              <a:t>along with the number of rentals they have done through Rent Ur Car.</a:t>
            </a:r>
          </a:p>
          <a:p>
            <a:r>
              <a:rPr lang="en-US" dirty="0"/>
              <a:t>Observations:</a:t>
            </a:r>
          </a:p>
          <a:p>
            <a:pPr lvl="1"/>
            <a:r>
              <a:rPr lang="en-US" sz="2500" dirty="0"/>
              <a:t>LLM generally performed </a:t>
            </a:r>
            <a:r>
              <a:rPr lang="en-US" sz="2500"/>
              <a:t>quite well, </a:t>
            </a:r>
            <a:r>
              <a:rPr lang="en-US" sz="2500" dirty="0"/>
              <a:t>especially with the </a:t>
            </a:r>
            <a:r>
              <a:rPr lang="en-US" sz="2500" b="1" dirty="0"/>
              <a:t>context-aware </a:t>
            </a:r>
            <a:r>
              <a:rPr lang="en-US" sz="2500" dirty="0"/>
              <a:t>approach</a:t>
            </a:r>
            <a:endParaRPr lang="en-US" sz="2500" b="1" dirty="0"/>
          </a:p>
          <a:p>
            <a:pPr lvl="1"/>
            <a:r>
              <a:rPr lang="en-US" sz="2500" dirty="0"/>
              <a:t>Some errors or inconsistencies popped up</a:t>
            </a:r>
          </a:p>
          <a:p>
            <a:pPr lvl="2"/>
            <a:r>
              <a:rPr lang="en-US" sz="2500" dirty="0"/>
              <a:t>In response to one question LLM left quotes off of compound-word field names resulting in an error. Providing guidance in the semantic layer corrects for this: </a:t>
            </a:r>
          </a:p>
          <a:p>
            <a:pPr marL="914400" lvl="2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500" i="1" dirty="0"/>
              <a:t>"If a database table field consists of multiple words separated </a:t>
            </a:r>
            <a:r>
              <a:rPr lang="en-US" sz="2500" i="1"/>
              <a:t>by spaces, </a:t>
            </a:r>
            <a:r>
              <a:rPr lang="en-US" sz="2500" i="1" dirty="0"/>
              <a:t>e.g. </a:t>
            </a:r>
            <a:r>
              <a:rPr lang="en-US" sz="2500" i="1"/>
              <a:t>Vehicle ID, </a:t>
            </a:r>
            <a:r>
              <a:rPr lang="en-US" sz="2500" i="1" dirty="0"/>
              <a:t>then you must enclose that field name with double quotes in the SQL statement."</a:t>
            </a:r>
          </a:p>
          <a:p>
            <a:pPr lvl="1"/>
            <a:r>
              <a:rPr lang="en-US" sz="2500" dirty="0"/>
              <a:t>We can </a:t>
            </a:r>
            <a:r>
              <a:rPr lang="en-US" sz="2500" b="1" dirty="0"/>
              <a:t>provide a SQL style guide</a:t>
            </a:r>
            <a:r>
              <a:rPr lang="en-US" sz="2500" dirty="0"/>
              <a:t> for these and similar issues that appeared.</a:t>
            </a:r>
          </a:p>
          <a:p>
            <a:pPr lvl="1"/>
            <a:r>
              <a:rPr lang="en-US" sz="2500" dirty="0"/>
              <a:t>Can take this farther by providing strict SQL patterns the LLM must </a:t>
            </a:r>
            <a:r>
              <a:rPr lang="en-US" sz="2500"/>
              <a:t>adhere to, </a:t>
            </a:r>
            <a:r>
              <a:rPr lang="en-US" sz="2500" dirty="0"/>
              <a:t>though this may not be necessary.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62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5E0D-154A-0ABD-6D4B-3A4D4ACF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5"/>
            <a:ext cx="10515600" cy="1325563"/>
          </a:xfrm>
        </p:spPr>
        <p:txBody>
          <a:bodyPr/>
          <a:lstStyle/>
          <a:p>
            <a:r>
              <a:rPr lang="en-US" dirty="0"/>
              <a:t>Additional Semantic Layer Content to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B29AC-7642-49D8-8741-6A4F870D8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218"/>
            <a:ext cx="10515600" cy="520007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b="1" dirty="0"/>
              <a:t>Data dictionary - </a:t>
            </a:r>
            <a:r>
              <a:rPr lang="en-US" sz="2400" dirty="0"/>
              <a:t>database table meanings mapping columns to plain-English descriptions</a:t>
            </a:r>
          </a:p>
          <a:p>
            <a:pPr lvl="0"/>
            <a:r>
              <a:rPr lang="en-US" sz="2400" b="1"/>
              <a:t>Metrics definitions</a:t>
            </a:r>
            <a:r>
              <a:rPr lang="en-US" sz="2400"/>
              <a:t>, </a:t>
            </a:r>
            <a:r>
              <a:rPr lang="en-US" sz="2400" dirty="0"/>
              <a:t>for example:</a:t>
            </a:r>
          </a:p>
          <a:p>
            <a:pPr lvl="0"/>
            <a:endParaRPr lang="en-US" sz="2400" dirty="0"/>
          </a:p>
          <a:p>
            <a:pPr lvl="0"/>
            <a:endParaRPr lang="en-US" sz="2400" b="1" dirty="0"/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0"/>
            <a:endParaRPr lang="en-US" sz="2400" b="1" dirty="0"/>
          </a:p>
          <a:p>
            <a:pPr lvl="0"/>
            <a:r>
              <a:rPr lang="en-US" sz="2400" b="1" dirty="0"/>
              <a:t>business rules </a:t>
            </a:r>
            <a:r>
              <a:rPr lang="en-US" sz="2400" dirty="0"/>
              <a:t>– see earlier example of transaction-focused vs fleet-focused</a:t>
            </a:r>
          </a:p>
          <a:p>
            <a:pPr lvl="0"/>
            <a:r>
              <a:rPr lang="en-US" sz="2400" dirty="0"/>
              <a:t>LLM can generate drafts of semantic layer docs</a:t>
            </a:r>
          </a:p>
          <a:p>
            <a:pPr lvl="1"/>
            <a:r>
              <a:rPr lang="en-US" sz="2000" dirty="0"/>
              <a:t>drop the .</a:t>
            </a:r>
            <a:r>
              <a:rPr lang="en-US" sz="2000" dirty="0" err="1"/>
              <a:t>db</a:t>
            </a:r>
            <a:r>
              <a:rPr lang="en-US" sz="2000" dirty="0"/>
              <a:t> file into the chat (assuming it is small) </a:t>
            </a:r>
          </a:p>
          <a:p>
            <a:pPr lvl="1"/>
            <a:r>
              <a:rPr lang="en-US" sz="2000" dirty="0"/>
              <a:t>ask LLM for information about it</a:t>
            </a:r>
            <a:r>
              <a:rPr lang="en-US" sz="2000"/>
              <a:t>: schema, data dictionary, entities, relationships, </a:t>
            </a:r>
            <a:r>
              <a:rPr lang="en-US" sz="2000" dirty="0"/>
              <a:t>Mermaid ER diagram (see next </a:t>
            </a:r>
            <a:r>
              <a:rPr lang="en-US" sz="2000"/>
              <a:t>slide), </a:t>
            </a:r>
            <a:r>
              <a:rPr lang="en-US" sz="2000" dirty="0"/>
              <a:t>…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104D3E-2AE2-B20D-B522-E079CE2D2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437037"/>
              </p:ext>
            </p:extLst>
          </p:nvPr>
        </p:nvGraphicFramePr>
        <p:xfrm>
          <a:off x="917863" y="2422380"/>
          <a:ext cx="1035627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8137">
                  <a:extLst>
                    <a:ext uri="{9D8B030D-6E8A-4147-A177-3AD203B41FA5}">
                      <a16:colId xmlns:a16="http://schemas.microsoft.com/office/drawing/2014/main" val="354908827"/>
                    </a:ext>
                  </a:extLst>
                </a:gridCol>
                <a:gridCol w="5178137">
                  <a:extLst>
                    <a:ext uri="{9D8B030D-6E8A-4147-A177-3AD203B41FA5}">
                      <a16:colId xmlns:a16="http://schemas.microsoft.com/office/drawing/2014/main" val="4033926925"/>
                    </a:ext>
                  </a:extLst>
                </a:gridCol>
              </a:tblGrid>
              <a:tr h="1736638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/>
                        <a:t> availability</a:t>
                      </a:r>
                      <a:r>
                        <a:rPr lang="en-US" sz="1800" dirty="0"/>
                        <a:t>:</a:t>
                      </a:r>
                    </a:p>
                    <a:p>
                      <a:pPr marL="0" lvl="0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   </a:t>
                      </a:r>
                      <a:r>
                        <a:rPr lang="en-US" sz="1800" i="1" u="sng" dirty="0"/>
                        <a:t>definition</a:t>
                      </a:r>
                      <a:r>
                        <a:rPr lang="en-US" sz="1800" dirty="0"/>
                        <a:t>:   </a:t>
                      </a:r>
                      <a:r>
                        <a:rPr lang="en-US" sz="1600" dirty="0"/>
                        <a:t>Percentage of time a site is operational</a:t>
                      </a:r>
                      <a:endParaRPr lang="en-US" sz="1800" dirty="0"/>
                    </a:p>
                    <a:p>
                      <a:pPr marL="0" lvl="0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   </a:t>
                      </a:r>
                      <a:r>
                        <a:rPr lang="en-US" sz="1800" i="1" u="sng" dirty="0"/>
                        <a:t>formula</a:t>
                      </a:r>
                      <a:r>
                        <a:rPr lang="en-US" sz="1800" dirty="0"/>
                        <a:t>:  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1 -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downtime_minutes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total_minutes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lvl="0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   </a:t>
                      </a:r>
                      <a:r>
                        <a:rPr lang="en-US" sz="1800" i="1" u="sng" dirty="0"/>
                        <a:t>exclusions</a:t>
                      </a:r>
                      <a:r>
                        <a:rPr lang="en-US" sz="1800" dirty="0"/>
                        <a:t>:</a:t>
                      </a:r>
                    </a:p>
                    <a:p>
                      <a:pPr marL="457200" lvl="1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scheduled_maintenance</a:t>
                      </a:r>
                      <a:endParaRPr lang="en-US" sz="1800" dirty="0"/>
                    </a:p>
                    <a:p>
                      <a:pPr marL="457200" lvl="1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training_events</a:t>
                      </a:r>
                      <a:endParaRPr lang="en-US" sz="1800" dirty="0"/>
                    </a:p>
                    <a:p>
                      <a:pPr marL="0" lv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800" dirty="0"/>
                        <a:t>   </a:t>
                      </a:r>
                      <a:r>
                        <a:rPr lang="en-US" sz="1800" i="1" u="sng" dirty="0"/>
                        <a:t>synonyms</a:t>
                      </a:r>
                      <a:r>
                        <a:rPr lang="en-US" sz="1800"/>
                        <a:t>:   uptime, </a:t>
                      </a:r>
                      <a:r>
                        <a:rPr lang="en-US" sz="1800" dirty="0"/>
                        <a:t>operational readiness  </a:t>
                      </a:r>
                    </a:p>
                    <a:p>
                      <a:endParaRPr 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 err="1"/>
                        <a:t>critical_failure</a:t>
                      </a:r>
                      <a:r>
                        <a:rPr lang="en-US" sz="1800" dirty="0"/>
                        <a:t>:</a:t>
                      </a:r>
                    </a:p>
                    <a:p>
                      <a:pPr marL="457200" lvl="1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i="1" u="sng" dirty="0"/>
                        <a:t>definition</a:t>
                      </a:r>
                      <a:r>
                        <a:rPr lang="en-US" sz="1800" dirty="0"/>
                        <a:t>:   Any event with </a:t>
                      </a:r>
                      <a:r>
                        <a:rPr lang="en-US" sz="1800" dirty="0" err="1"/>
                        <a:t>severity_code</a:t>
                      </a:r>
                      <a:r>
                        <a:rPr lang="en-US" sz="1800" dirty="0"/>
                        <a:t> &gt;=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Can also define metrics with calls to Python functions or SQL queries so there is no ambiguity.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5533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52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C08FF5-1A9F-2418-AF7C-F74425961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0" r="20416" b="19422"/>
          <a:stretch>
            <a:fillRect/>
          </a:stretch>
        </p:blipFill>
        <p:spPr>
          <a:xfrm>
            <a:off x="6711518" y="589104"/>
            <a:ext cx="5104661" cy="62327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EBC416-99D2-9CB3-6B46-C972891E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2" y="199141"/>
            <a:ext cx="4070491" cy="342900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293A97-730D-0A4F-535A-BC42FA083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278" t="55533" r="34427" b="17387"/>
          <a:stretch>
            <a:fillRect/>
          </a:stretch>
        </p:blipFill>
        <p:spPr>
          <a:xfrm>
            <a:off x="674642" y="4147084"/>
            <a:ext cx="3600096" cy="2710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641E69-68FB-D27C-08F1-B7F4B42E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968" y="199141"/>
            <a:ext cx="3864991" cy="3063712"/>
          </a:xfrm>
        </p:spPr>
        <p:txBody>
          <a:bodyPr>
            <a:normAutofit/>
          </a:bodyPr>
          <a:lstStyle/>
          <a:p>
            <a:r>
              <a:rPr lang="en-US" dirty="0"/>
              <a:t>E-R Diagram generated by LLM from .</a:t>
            </a:r>
            <a:r>
              <a:rPr lang="en-US" dirty="0" err="1"/>
              <a:t>db</a:t>
            </a:r>
            <a:r>
              <a:rPr lang="en-US" dirty="0"/>
              <a:t> file </a:t>
            </a:r>
            <a:r>
              <a:rPr lang="en-US" sz="3600" dirty="0"/>
              <a:t>(in Mermaid format)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48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7724-ED58-FA21-B31B-D3BE7478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65" y="365125"/>
            <a:ext cx="10741269" cy="1325563"/>
          </a:xfrm>
        </p:spPr>
        <p:txBody>
          <a:bodyPr/>
          <a:lstStyle/>
          <a:p>
            <a:r>
              <a:rPr lang="en-US" dirty="0"/>
              <a:t>Storing Semantic Layer Info in the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7229-9A41-FB56-40F9-77E860EFC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</a:t>
            </a:r>
            <a:r>
              <a:rPr lang="en-US" b="1" dirty="0"/>
              <a:t>semantic layer </a:t>
            </a:r>
            <a:r>
              <a:rPr lang="en-US" dirty="0"/>
              <a:t>is </a:t>
            </a:r>
            <a:r>
              <a:rPr lang="en-US"/>
              <a:t>small enough, </a:t>
            </a:r>
            <a:r>
              <a:rPr lang="en-US" dirty="0"/>
              <a:t>it can be put into the </a:t>
            </a:r>
            <a:r>
              <a:rPr lang="en-US" b="1" dirty="0"/>
              <a:t>system prompt</a:t>
            </a:r>
          </a:p>
          <a:p>
            <a:r>
              <a:rPr lang="en-US" dirty="0"/>
              <a:t>Otherwise it goes into the </a:t>
            </a:r>
            <a:r>
              <a:rPr lang="en-US" b="1" dirty="0"/>
              <a:t>RAG Pipeline </a:t>
            </a:r>
            <a:r>
              <a:rPr lang="en-US" dirty="0"/>
              <a:t>where it is vectorized and embedded to facilitate similarity lookup later from queries</a:t>
            </a:r>
          </a:p>
          <a:p>
            <a:pPr lvl="1"/>
            <a:r>
              <a:rPr lang="en-US" dirty="0"/>
              <a:t>As part of </a:t>
            </a:r>
            <a:r>
              <a:rPr lang="en-US"/>
              <a:t>the pipeline, </a:t>
            </a:r>
            <a:r>
              <a:rPr lang="en-US" dirty="0"/>
              <a:t>the "</a:t>
            </a:r>
            <a:r>
              <a:rPr lang="en-US" b="1" dirty="0"/>
              <a:t>retriever</a:t>
            </a:r>
            <a:r>
              <a:rPr lang="en-US" dirty="0"/>
              <a:t>" searches </a:t>
            </a:r>
            <a:r>
              <a:rPr lang="en-US"/>
              <a:t>schema descriptions, </a:t>
            </a:r>
            <a:r>
              <a:rPr lang="en-US" dirty="0"/>
              <a:t>e.</a:t>
            </a:r>
            <a:r>
              <a:rPr lang="en-US"/>
              <a:t>g., </a:t>
            </a:r>
            <a:r>
              <a:rPr lang="en-US" dirty="0"/>
              <a:t>learns it only needs to return 4 </a:t>
            </a:r>
            <a:r>
              <a:rPr lang="en-US"/>
              <a:t>relevant tables, </a:t>
            </a:r>
            <a:r>
              <a:rPr lang="en-US" dirty="0"/>
              <a:t>then the LLM writes the query.</a:t>
            </a:r>
          </a:p>
          <a:p>
            <a:r>
              <a:rPr lang="en-US" b="1" dirty="0"/>
              <a:t>Trade-offs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System prompt </a:t>
            </a:r>
            <a:r>
              <a:rPr lang="en-US" dirty="0"/>
              <a:t>– exact representation but high token use (</a:t>
            </a:r>
            <a:r>
              <a:rPr lang="en-US"/>
              <a:t>whole schema, </a:t>
            </a:r>
            <a:r>
              <a:rPr lang="en-US" dirty="0"/>
              <a:t>etc. in each prompt)</a:t>
            </a:r>
          </a:p>
          <a:p>
            <a:pPr lvl="1"/>
            <a:r>
              <a:rPr lang="en-US" b="1" dirty="0"/>
              <a:t>RAG </a:t>
            </a:r>
            <a:r>
              <a:rPr lang="en-US" dirty="0"/>
              <a:t>– requires similarity determinations and may lead to fragmentation (e.g. joins across chunks) but keeps token use lower</a:t>
            </a:r>
          </a:p>
        </p:txBody>
      </p:sp>
    </p:spTree>
    <p:extLst>
      <p:ext uri="{BB962C8B-B14F-4D97-AF65-F5344CB8AC3E}">
        <p14:creationId xmlns:p14="http://schemas.microsoft.com/office/powerpoint/2010/main" val="336900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A49D-AEE5-A0B9-0500-E29ED0C10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11" y="338748"/>
            <a:ext cx="1069437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Middle Ground:  </a:t>
            </a:r>
            <a:br>
              <a:rPr lang="en-US" dirty="0"/>
            </a:br>
            <a:r>
              <a:rPr lang="en-US" dirty="0"/>
              <a:t>  Semantic Layer Between System Prompt and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13ECD-C4B4-23FF-A4D4-EFFAA27DE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LLM within an Agentic Architecture utilizes a “</a:t>
            </a:r>
            <a:r>
              <a:rPr lang="en-US" b="1" dirty="0"/>
              <a:t>Router</a:t>
            </a:r>
            <a:r>
              <a:rPr lang="en-US" dirty="0"/>
              <a:t>” </a:t>
            </a:r>
            <a:r>
              <a:rPr lang="en-US" b="1" dirty="0"/>
              <a:t>Skill </a:t>
            </a:r>
            <a:r>
              <a:rPr lang="en-US" dirty="0"/>
              <a:t>that maps natural language to database tables and fields</a:t>
            </a:r>
          </a:p>
          <a:p>
            <a:pPr lvl="2"/>
            <a:r>
              <a:rPr lang="en-US" dirty="0"/>
              <a:t>No RAG; schema not in system prompt; so avoids those downsides (</a:t>
            </a:r>
            <a:r>
              <a:rPr lang="en-US"/>
              <a:t>token use, fragmentation, </a:t>
            </a:r>
            <a:r>
              <a:rPr lang="en-US" dirty="0"/>
              <a:t>…)</a:t>
            </a:r>
          </a:p>
          <a:p>
            <a:pPr lvl="2"/>
            <a:r>
              <a:rPr lang="en-US" dirty="0"/>
              <a:t>The Router Skill can </a:t>
            </a:r>
            <a:r>
              <a:rPr lang="en-US"/>
              <a:t>be simple, </a:t>
            </a:r>
            <a:r>
              <a:rPr lang="en-US" dirty="0"/>
              <a:t>like  a Python dictionary of keywords for the various .md table schema files</a:t>
            </a:r>
          </a:p>
          <a:p>
            <a:pPr lvl="2"/>
            <a:r>
              <a:rPr lang="en-US" dirty="0"/>
              <a:t>LLMs can help build this too - "Which documentation files would you need to answer this question?“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more on </a:t>
            </a:r>
            <a:r>
              <a:rPr lang="en-US" b="1" dirty="0"/>
              <a:t>Skills </a:t>
            </a:r>
            <a:r>
              <a:rPr lang="en-US" dirty="0"/>
              <a:t>soon…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75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0DC1-05B7-FCDD-2FF2-DB666F11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302BF-25C3-5F50-403B-98AE2245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Validate</a:t>
            </a:r>
            <a:r>
              <a:rPr lang="en-US" dirty="0"/>
              <a:t> the LLM-generated query for </a:t>
            </a:r>
            <a:r>
              <a:rPr lang="en-US" b="1" dirty="0"/>
              <a:t>functional correctness </a:t>
            </a:r>
            <a:r>
              <a:rPr lang="en-US" dirty="0"/>
              <a:t>before passing it to the SQL executor</a:t>
            </a:r>
          </a:p>
          <a:p>
            <a:pPr lvl="1"/>
            <a:r>
              <a:rPr lang="en-US" dirty="0"/>
              <a:t>Does it answer the correct question correctly?</a:t>
            </a:r>
          </a:p>
          <a:p>
            <a:r>
              <a:rPr lang="en-US" dirty="0"/>
              <a:t>Can </a:t>
            </a:r>
            <a:r>
              <a:rPr lang="en-US" b="1" dirty="0"/>
              <a:t>benchmark</a:t>
            </a:r>
            <a:r>
              <a:rPr lang="en-US" dirty="0"/>
              <a:t> the system using:</a:t>
            </a:r>
          </a:p>
          <a:p>
            <a:pPr lvl="1"/>
            <a:r>
              <a:rPr lang="en-US" dirty="0"/>
              <a:t>Public benchmarks</a:t>
            </a:r>
          </a:p>
          <a:p>
            <a:pPr lvl="2"/>
            <a:r>
              <a:rPr lang="en-US" dirty="0"/>
              <a:t>Public dataset used to compare models containing generic questions</a:t>
            </a:r>
          </a:p>
          <a:p>
            <a:pPr lvl="2"/>
            <a:r>
              <a:rPr lang="en-US" dirty="0"/>
              <a:t>Examples</a:t>
            </a:r>
            <a:r>
              <a:rPr lang="en-US"/>
              <a:t>: Spider, BIRD-SQL, </a:t>
            </a:r>
            <a:r>
              <a:rPr lang="en-US" dirty="0" err="1"/>
              <a:t>WikiSQL</a:t>
            </a:r>
            <a:endParaRPr lang="en-US" dirty="0"/>
          </a:p>
          <a:p>
            <a:pPr lvl="1"/>
            <a:r>
              <a:rPr lang="en-US" dirty="0"/>
              <a:t>Internal benchmark </a:t>
            </a:r>
          </a:p>
          <a:p>
            <a:pPr lvl="2"/>
            <a:r>
              <a:rPr lang="en-US" dirty="0"/>
              <a:t>a “Golden Dataset” - question/SQL-query pairs about </a:t>
            </a:r>
            <a:r>
              <a:rPr lang="en-US"/>
              <a:t>our data, </a:t>
            </a:r>
            <a:r>
              <a:rPr lang="en-US" dirty="0"/>
              <a:t>known to </a:t>
            </a:r>
            <a:r>
              <a:rPr lang="en-US"/>
              <a:t>be correct, </a:t>
            </a:r>
            <a:r>
              <a:rPr lang="en-US" dirty="0"/>
              <a:t>(see car rental example earlier)</a:t>
            </a:r>
          </a:p>
          <a:p>
            <a:pPr lvl="2"/>
            <a:r>
              <a:rPr lang="en-US" dirty="0"/>
              <a:t>tune the semantic layer by testing LLM against this Golden Dataset</a:t>
            </a:r>
          </a:p>
        </p:txBody>
      </p:sp>
    </p:spTree>
    <p:extLst>
      <p:ext uri="{BB962C8B-B14F-4D97-AF65-F5344CB8AC3E}">
        <p14:creationId xmlns:p14="http://schemas.microsoft.com/office/powerpoint/2010/main" val="91361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5E21-7E94-7599-9DFD-E89AC436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C2C9E-2FBF-1F37-BF77-7F379858B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dirty="0"/>
              <a:t>After LLM generates query and validator </a:t>
            </a:r>
            <a:r>
              <a:rPr lang="en-US" sz="4500"/>
              <a:t>approves it, </a:t>
            </a:r>
            <a:r>
              <a:rPr lang="en-US" sz="4500" dirty="0"/>
              <a:t>the query can be executed by a SQL executor </a:t>
            </a:r>
            <a:r>
              <a:rPr lang="en-US" sz="4500" b="1" u="sng" dirty="0"/>
              <a:t>Tool</a:t>
            </a:r>
            <a:r>
              <a:rPr lang="en-US" sz="4500" dirty="0"/>
              <a:t>. This can be a Python program like: </a:t>
            </a:r>
          </a:p>
          <a:p>
            <a:pPr>
              <a:buFontTx/>
              <a:buChar char="-"/>
            </a:pPr>
            <a:endParaRPr lang="en-US" dirty="0"/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import sqlite3</a:t>
            </a: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connection = sqlite3.connect("</a:t>
            </a:r>
            <a:r>
              <a:rPr lang="en-US" sz="2900" dirty="0" err="1">
                <a:latin typeface="Consolas" panose="020B0609020204030204" pitchFamily="49" charset="0"/>
              </a:rPr>
              <a:t>company.db</a:t>
            </a:r>
            <a:r>
              <a:rPr lang="en-US" sz="2900" dirty="0">
                <a:latin typeface="Consolas" panose="020B0609020204030204" pitchFamily="49" charset="0"/>
              </a:rPr>
              <a:t>")</a:t>
            </a: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cursor = </a:t>
            </a:r>
            <a:r>
              <a:rPr lang="en-US" sz="2900" dirty="0" err="1">
                <a:latin typeface="Consolas" panose="020B0609020204030204" pitchFamily="49" charset="0"/>
              </a:rPr>
              <a:t>connection.cursor</a:t>
            </a:r>
            <a:r>
              <a:rPr lang="en-US" sz="2900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900" dirty="0" err="1">
                <a:latin typeface="Consolas" panose="020B0609020204030204" pitchFamily="49" charset="0"/>
              </a:rPr>
              <a:t>sql_command</a:t>
            </a:r>
            <a:r>
              <a:rPr lang="en-US" sz="2900" dirty="0">
                <a:latin typeface="Consolas" panose="020B0609020204030204" pitchFamily="49" charset="0"/>
              </a:rPr>
              <a:t> = """SELECT * from employee;"""</a:t>
            </a:r>
          </a:p>
          <a:p>
            <a:pPr marL="457200" lvl="1" indent="0">
              <a:buNone/>
            </a:pPr>
            <a:r>
              <a:rPr lang="en-US" sz="2900" dirty="0" err="1">
                <a:latin typeface="Consolas" panose="020B0609020204030204" pitchFamily="49" charset="0"/>
              </a:rPr>
              <a:t>cursor.execute</a:t>
            </a:r>
            <a:r>
              <a:rPr lang="en-US" sz="2900" dirty="0">
                <a:latin typeface="Consolas" panose="020B0609020204030204" pitchFamily="49" charset="0"/>
              </a:rPr>
              <a:t>(</a:t>
            </a:r>
            <a:r>
              <a:rPr lang="en-US" sz="2900" dirty="0" err="1">
                <a:latin typeface="Consolas" panose="020B0609020204030204" pitchFamily="49" charset="0"/>
              </a:rPr>
              <a:t>sql_command</a:t>
            </a:r>
            <a:r>
              <a:rPr lang="en-US" sz="290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results = </a:t>
            </a:r>
            <a:r>
              <a:rPr lang="en-US" sz="2900" dirty="0" err="1">
                <a:latin typeface="Consolas" panose="020B0609020204030204" pitchFamily="49" charset="0"/>
              </a:rPr>
              <a:t>cursor.fetchall</a:t>
            </a:r>
            <a:r>
              <a:rPr lang="en-US" sz="2900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for res in results:</a:t>
            </a: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    print(res)</a:t>
            </a:r>
          </a:p>
          <a:p>
            <a:pPr marL="457200" lvl="1" indent="0">
              <a:buNone/>
            </a:pPr>
            <a:endParaRPr lang="en-US" sz="29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Output:</a:t>
            </a:r>
          </a:p>
          <a:p>
            <a:pPr marL="457200" lvl="1" indent="0">
              <a:buNone/>
            </a:pPr>
            <a:r>
              <a:rPr lang="en-US" sz="2900">
                <a:latin typeface="Consolas" panose="020B0609020204030204" pitchFamily="49" charset="0"/>
              </a:rPr>
              <a:t>(112, 'Stephen', 'Rodriguez', 'm', None, </a:t>
            </a:r>
            <a:r>
              <a:rPr lang="en-US" sz="2900" dirty="0">
                <a:latin typeface="Consolas" panose="020B0609020204030204" pitchFamily="49" charset="0"/>
              </a:rPr>
              <a:t>'1971-2-25’)</a:t>
            </a:r>
          </a:p>
          <a:p>
            <a:pPr marL="457200" lvl="1" indent="0">
              <a:buNone/>
            </a:pPr>
            <a:r>
              <a:rPr lang="en-US" sz="2900">
                <a:latin typeface="Consolas" panose="020B0609020204030204" pitchFamily="49" charset="0"/>
              </a:rPr>
              <a:t>(123, 'Frank', 'Schiller', 'm', None, </a:t>
            </a:r>
            <a:r>
              <a:rPr lang="en-US" sz="2900" dirty="0">
                <a:latin typeface="Consolas" panose="020B0609020204030204" pitchFamily="49" charset="0"/>
              </a:rPr>
              <a:t>'1955-08-17’)</a:t>
            </a:r>
          </a:p>
          <a:p>
            <a:pPr marL="457200" lvl="1" indent="0">
              <a:buNone/>
            </a:pPr>
            <a:r>
              <a:rPr lang="en-US" sz="2900" dirty="0">
                <a:latin typeface="Consolas" panose="020B0609020204030204" pitchFamily="49" charset="0"/>
              </a:rPr>
              <a:t>…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4400" b="1" dirty="0"/>
              <a:t>** </a:t>
            </a:r>
            <a:r>
              <a:rPr lang="en-US" sz="4400" dirty="0"/>
              <a:t>This is all </a:t>
            </a:r>
            <a:r>
              <a:rPr lang="en-US" sz="4400" b="1" dirty="0"/>
              <a:t>deterministic </a:t>
            </a:r>
            <a:r>
              <a:rPr lang="en-US" sz="4400" dirty="0"/>
              <a:t>– LLM not involved on this stage.</a:t>
            </a:r>
          </a:p>
        </p:txBody>
      </p:sp>
    </p:spTree>
    <p:extLst>
      <p:ext uri="{BB962C8B-B14F-4D97-AF65-F5344CB8AC3E}">
        <p14:creationId xmlns:p14="http://schemas.microsoft.com/office/powerpoint/2010/main" val="98095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71B7-D4AA-9764-5AA9-E817A6B20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16"/>
            <a:ext cx="10515600" cy="1325563"/>
          </a:xfrm>
        </p:spPr>
        <p:txBody>
          <a:bodyPr/>
          <a:lstStyle/>
          <a:p>
            <a:r>
              <a:rPr lang="en-US" dirty="0"/>
              <a:t>SQL Execution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8BE50-D346-6753-540C-57EA3A26F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263"/>
            <a:ext cx="10515600" cy="2222475"/>
          </a:xfrm>
        </p:spPr>
        <p:txBody>
          <a:bodyPr>
            <a:normAutofit fontScale="77500" lnSpcReduction="20000"/>
          </a:bodyPr>
          <a:lstStyle/>
          <a:p>
            <a:pPr>
              <a:buFontTx/>
              <a:buChar char="-"/>
            </a:pPr>
            <a:r>
              <a:rPr lang="en-US" sz="2400" dirty="0"/>
              <a:t>Can wire the SQL components together within an </a:t>
            </a:r>
            <a:r>
              <a:rPr lang="en-US" sz="2400" b="1" dirty="0"/>
              <a:t>agentic system </a:t>
            </a:r>
            <a:r>
              <a:rPr lang="en-US" sz="2400" dirty="0"/>
              <a:t>(using Open </a:t>
            </a:r>
            <a:r>
              <a:rPr lang="en-US" sz="2400" dirty="0" err="1"/>
              <a:t>WebUI</a:t>
            </a:r>
            <a:r>
              <a:rPr lang="en-US" sz="2400" dirty="0"/>
              <a:t> or similar):</a:t>
            </a:r>
          </a:p>
          <a:p>
            <a:pPr lvl="1">
              <a:buFontTx/>
              <a:buChar char="-"/>
            </a:pPr>
            <a:r>
              <a:rPr lang="en-US" sz="2000" dirty="0"/>
              <a:t>SQL generation (by the </a:t>
            </a:r>
            <a:r>
              <a:rPr lang="en-US" sz="2000"/>
              <a:t>LLM), </a:t>
            </a:r>
            <a:endParaRPr lang="en-US" sz="2000" dirty="0"/>
          </a:p>
          <a:p>
            <a:pPr lvl="1">
              <a:buFontTx/>
              <a:buChar char="-"/>
            </a:pPr>
            <a:r>
              <a:rPr lang="en-US" sz="2000" dirty="0"/>
              <a:t>SQL validation (by the Parser) </a:t>
            </a:r>
          </a:p>
          <a:p>
            <a:pPr lvl="1">
              <a:buFontTx/>
              <a:buChar char="-"/>
            </a:pPr>
            <a:r>
              <a:rPr lang="en-US" sz="2000" dirty="0"/>
              <a:t>SQL execution (e.g. by Python) </a:t>
            </a:r>
          </a:p>
          <a:p>
            <a:pPr lvl="1">
              <a:buFontTx/>
              <a:buChar char="-"/>
            </a:pPr>
            <a:r>
              <a:rPr lang="en-US" sz="2000" dirty="0"/>
              <a:t>and more </a:t>
            </a:r>
          </a:p>
          <a:p>
            <a:pPr>
              <a:buFontTx/>
              <a:buChar char="-"/>
            </a:pPr>
            <a:r>
              <a:rPr lang="en-US" sz="2400" dirty="0"/>
              <a:t>Will need to address </a:t>
            </a:r>
            <a:r>
              <a:rPr lang="en-US" sz="2400"/>
              <a:t>implementation issues, </a:t>
            </a:r>
            <a:r>
              <a:rPr lang="en-US" sz="2400" dirty="0"/>
              <a:t>e.g. will .</a:t>
            </a:r>
            <a:r>
              <a:rPr lang="en-US" sz="2400" dirty="0" err="1"/>
              <a:t>db</a:t>
            </a:r>
            <a:r>
              <a:rPr lang="en-US" sz="2400" dirty="0"/>
              <a:t> file be on the network hosting the LLM?  within a </a:t>
            </a:r>
            <a:r>
              <a:rPr lang="en-US" sz="2400" b="1" dirty="0"/>
              <a:t>Docker container </a:t>
            </a:r>
            <a:r>
              <a:rPr lang="en-US" sz="2400" dirty="0"/>
              <a:t>(loaded through a volume mount)?</a:t>
            </a:r>
          </a:p>
          <a:p>
            <a:pPr>
              <a:buFontTx/>
              <a:buChar char="-"/>
            </a:pPr>
            <a:r>
              <a:rPr lang="en-US" sz="2400" dirty="0"/>
              <a:t>Current proof-of-concept of SQL Generation and Execution exists – see Demo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10D4F75-37E8-8C70-EB03-3AC46809E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9152"/>
          <a:stretch>
            <a:fillRect/>
          </a:stretch>
        </p:blipFill>
        <p:spPr>
          <a:xfrm>
            <a:off x="1089077" y="3843312"/>
            <a:ext cx="9777510" cy="268503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ECD9F91-B256-E4F2-0F3A-BB007621F8B6}"/>
              </a:ext>
            </a:extLst>
          </p:cNvPr>
          <p:cNvSpPr/>
          <p:nvPr/>
        </p:nvSpPr>
        <p:spPr>
          <a:xfrm>
            <a:off x="3754316" y="3674279"/>
            <a:ext cx="7508631" cy="29102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4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BC0E-E7E7-2E2A-5707-1E595767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1FAC-913F-FFBC-CB23-936355B4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713A8-583C-DE1A-48BF-FD54C5F62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512598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Ultimately we start thinking of NL2SQL and other components as </a:t>
            </a:r>
            <a:r>
              <a:rPr lang="en-US" b="1" u="sng" dirty="0"/>
              <a:t>Skills</a:t>
            </a:r>
            <a:r>
              <a:rPr lang="en-US" b="1" dirty="0"/>
              <a:t> in the AI Agent System</a:t>
            </a:r>
          </a:p>
          <a:p>
            <a:r>
              <a:rPr lang="en-US" dirty="0"/>
              <a:t>Skills are knowledge/instructions/workflow for an agent to accomplish an activity</a:t>
            </a:r>
          </a:p>
          <a:p>
            <a:pPr lvl="1"/>
            <a:r>
              <a:rPr lang="en-US" dirty="0"/>
              <a:t>e.g. </a:t>
            </a:r>
            <a:r>
              <a:rPr lang="en-US"/>
              <a:t>analyze data, </a:t>
            </a:r>
            <a:r>
              <a:rPr lang="en-US" dirty="0"/>
              <a:t>generate </a:t>
            </a:r>
            <a:r>
              <a:rPr lang="en-US"/>
              <a:t>a query, </a:t>
            </a:r>
            <a:r>
              <a:rPr lang="en-US" dirty="0"/>
              <a:t>etc.</a:t>
            </a:r>
          </a:p>
          <a:p>
            <a:r>
              <a:rPr lang="en-US" dirty="0"/>
              <a:t>Skills are often Python functions -</a:t>
            </a:r>
          </a:p>
          <a:p>
            <a:pPr lvl="1"/>
            <a:r>
              <a:rPr lang="en-US" dirty="0"/>
              <a:t>takes some inputs e.g. results of </a:t>
            </a:r>
            <a:r>
              <a:rPr lang="en-US"/>
              <a:t>prior activities, </a:t>
            </a:r>
            <a:r>
              <a:rPr lang="en-US" dirty="0"/>
              <a:t>semantic </a:t>
            </a:r>
            <a:r>
              <a:rPr lang="en-US"/>
              <a:t>layer docs, </a:t>
            </a:r>
            <a:r>
              <a:rPr lang="en-US" dirty="0"/>
              <a:t>etc.</a:t>
            </a:r>
          </a:p>
          <a:p>
            <a:pPr lvl="1"/>
            <a:r>
              <a:rPr lang="en-US" dirty="0"/>
              <a:t>calls the LLM with specific instructions </a:t>
            </a:r>
          </a:p>
          <a:p>
            <a:pPr lvl="1"/>
            <a:r>
              <a:rPr lang="en-US" dirty="0"/>
              <a:t>returns the results</a:t>
            </a:r>
          </a:p>
          <a:p>
            <a:r>
              <a:rPr lang="en-US" dirty="0"/>
              <a:t>Skills can also be Markdown files</a:t>
            </a:r>
          </a:p>
          <a:p>
            <a:r>
              <a:rPr lang="en-US" dirty="0"/>
              <a:t>Can write numerous skills. For example:  </a:t>
            </a:r>
          </a:p>
          <a:p>
            <a:pPr lvl="1"/>
            <a:r>
              <a:rPr lang="en-US" dirty="0"/>
              <a:t>explain query results </a:t>
            </a:r>
          </a:p>
          <a:p>
            <a:pPr lvl="2"/>
            <a:r>
              <a:rPr lang="en-US" dirty="0"/>
              <a:t>references semantic layer documents such as our SQL </a:t>
            </a:r>
            <a:r>
              <a:rPr lang="en-US"/>
              <a:t>style guide, </a:t>
            </a:r>
            <a:r>
              <a:rPr lang="en-US" dirty="0"/>
              <a:t>the natural </a:t>
            </a:r>
            <a:r>
              <a:rPr lang="en-US"/>
              <a:t>language question, </a:t>
            </a:r>
            <a:r>
              <a:rPr lang="en-US" dirty="0"/>
              <a:t>the </a:t>
            </a:r>
            <a:r>
              <a:rPr lang="en-US" err="1"/>
              <a:t>db</a:t>
            </a:r>
            <a:r>
              <a:rPr lang="en-US"/>
              <a:t> schema, </a:t>
            </a:r>
            <a:r>
              <a:rPr lang="en-US" dirty="0"/>
              <a:t>and the query results</a:t>
            </a:r>
          </a:p>
          <a:p>
            <a:pPr lvl="1"/>
            <a:r>
              <a:rPr lang="en-US" dirty="0"/>
              <a:t>provide quick data summaries like:</a:t>
            </a:r>
            <a:endParaRPr lang="en-US" i="1" dirty="0"/>
          </a:p>
          <a:p>
            <a:pPr lvl="2"/>
            <a:r>
              <a:rPr lang="en-US" i="1" dirty="0"/>
              <a:t>“You have </a:t>
            </a:r>
            <a:r>
              <a:rPr lang="en-US" i="1"/>
              <a:t>500 rows, </a:t>
            </a:r>
            <a:r>
              <a:rPr lang="en-US" i="1" dirty="0"/>
              <a:t>the average price is </a:t>
            </a:r>
            <a:r>
              <a:rPr lang="en-US" i="1"/>
              <a:t>$20, </a:t>
            </a:r>
            <a:r>
              <a:rPr lang="en-US" i="1" dirty="0"/>
              <a:t>and you have 3 missing values in the 'Email' column."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68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49DC-F0D5-A079-B17E-29085F8E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8"/>
            <a:ext cx="10515600" cy="1325563"/>
          </a:xfrm>
        </p:spPr>
        <p:txBody>
          <a:bodyPr/>
          <a:lstStyle/>
          <a:p>
            <a:r>
              <a:rPr lang="en-US" dirty="0"/>
              <a:t>Skills example – NL2SQL (simplified)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AB32-D80F-43AE-A1AB-1C6B3AB4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5125988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# 1. Load the rules from a file (The "Source of Truth")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with open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("sql_style_guide.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md"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"r") as f: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sql_rules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f.read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generate_sql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user_query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# 2. Construct the prompt dynamically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messages =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 "role": "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system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", 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 "content":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f"You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are a SQL expert. Follow these rules  					strictly:\n\n{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sql_rules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        },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 "role": "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user", 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 "content":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user_query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]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# 3. Call the LLM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response =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client.chat.completions.create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model="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your-model-name",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messages=messages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response.choices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[0].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message.content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47C2-D5AB-A9DE-CD0F-FB1BB31E32BF}"/>
              </a:ext>
            </a:extLst>
          </p:cNvPr>
          <p:cNvSpPr txBox="1"/>
          <p:nvPr/>
        </p:nvSpPr>
        <p:spPr>
          <a:xfrm>
            <a:off x="9116008" y="1754155"/>
            <a:ext cx="3004457" cy="92333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payload being sent to the LLM to help achieve the goal of this skill.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5E58946-6FA5-7BBD-AC9F-652179E27A12}"/>
              </a:ext>
            </a:extLst>
          </p:cNvPr>
          <p:cNvSpPr/>
          <p:nvPr/>
        </p:nvSpPr>
        <p:spPr>
          <a:xfrm rot="9418065">
            <a:off x="7875077" y="2460327"/>
            <a:ext cx="948533" cy="270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0A8B-C232-C974-2889-BCB23B8C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21B3-F904-D517-F0E0-170CD01EE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Agent uses an LLM to decide </a:t>
            </a:r>
            <a:r>
              <a:rPr lang="en-US" i="1" dirty="0"/>
              <a:t>which</a:t>
            </a:r>
            <a:r>
              <a:rPr lang="en-US" dirty="0"/>
              <a:t> skill to call and then uses Python (or similar) to </a:t>
            </a:r>
            <a:r>
              <a:rPr lang="en-US" i="1" dirty="0"/>
              <a:t>execute</a:t>
            </a:r>
            <a:r>
              <a:rPr lang="en-US" dirty="0"/>
              <a:t> that skill.</a:t>
            </a:r>
          </a:p>
          <a:p>
            <a:r>
              <a:rPr lang="en-US" dirty="0"/>
              <a:t>This is often called a </a:t>
            </a:r>
            <a:r>
              <a:rPr lang="en-US" b="1" dirty="0"/>
              <a:t>Reasoning Loop</a:t>
            </a:r>
            <a:r>
              <a:rPr lang="en-US" dirty="0"/>
              <a:t> or the </a:t>
            </a:r>
            <a:r>
              <a:rPr lang="en-US" b="1" dirty="0" err="1"/>
              <a:t>ReAct</a:t>
            </a:r>
            <a:r>
              <a:rPr lang="en-US" b="1" dirty="0"/>
              <a:t> Pattern</a:t>
            </a:r>
            <a:r>
              <a:rPr lang="en-US" dirty="0"/>
              <a:t>: Reason + Act</a:t>
            </a:r>
          </a:p>
          <a:p>
            <a:r>
              <a:rPr lang="en-US" dirty="0"/>
              <a:t>Combines</a:t>
            </a:r>
          </a:p>
          <a:p>
            <a:pPr lvl="1"/>
            <a:r>
              <a:rPr lang="en-US" b="1" dirty="0"/>
              <a:t>stochastic reasoning (LLM)</a:t>
            </a:r>
            <a:r>
              <a:rPr lang="en-US" dirty="0"/>
              <a:t> and </a:t>
            </a:r>
          </a:p>
          <a:p>
            <a:pPr lvl="1"/>
            <a:r>
              <a:rPr lang="en-US" b="1" dirty="0"/>
              <a:t>deterministic execution (Python/Agent)</a:t>
            </a:r>
            <a:r>
              <a:rPr lang="en-US" dirty="0"/>
              <a:t>.</a:t>
            </a:r>
          </a:p>
          <a:p>
            <a:r>
              <a:rPr lang="en-US" dirty="0"/>
              <a:t>The idea is:</a:t>
            </a:r>
          </a:p>
          <a:p>
            <a:pPr lvl="1"/>
            <a:r>
              <a:rPr lang="en-US" dirty="0"/>
              <a:t>don’t have the LLM do math (it might be incorrect) or remember your database (it may forget or </a:t>
            </a:r>
            <a:r>
              <a:rPr lang="en-US"/>
              <a:t>hallucinate), </a:t>
            </a:r>
            <a:r>
              <a:rPr lang="en-US" dirty="0"/>
              <a:t>etc.</a:t>
            </a:r>
          </a:p>
          <a:p>
            <a:pPr lvl="1"/>
            <a:r>
              <a:rPr lang="en-US" dirty="0"/>
              <a:t>instead give it awareness of Python </a:t>
            </a:r>
            <a:r>
              <a:rPr lang="en-US" b="1" dirty="0"/>
              <a:t>skills </a:t>
            </a:r>
            <a:r>
              <a:rPr lang="en-US" dirty="0"/>
              <a:t>to call to </a:t>
            </a:r>
            <a:r>
              <a:rPr lang="en-US"/>
              <a:t>do math, search schema, query databases, </a:t>
            </a:r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00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85C3-2549-4B77-41C5-40141D41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BFF8-4658-01ED-151F-DF53CB4E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Recall </a:t>
            </a:r>
            <a:r>
              <a:rPr lang="en-US" b="1" dirty="0"/>
              <a:t>skills</a:t>
            </a:r>
            <a:r>
              <a:rPr lang="en-US" dirty="0"/>
              <a:t> are knowledge/instructions/workflow for accomplishing an activity</a:t>
            </a:r>
          </a:p>
          <a:p>
            <a:r>
              <a:rPr lang="en-US" b="1" dirty="0"/>
              <a:t>Tools are executable capabilities for performing actions</a:t>
            </a:r>
          </a:p>
          <a:p>
            <a:pPr lvl="1"/>
            <a:r>
              <a:rPr lang="en-US" dirty="0"/>
              <a:t>Skills might </a:t>
            </a:r>
            <a:r>
              <a:rPr lang="en-US"/>
              <a:t>call tools, </a:t>
            </a:r>
            <a:r>
              <a:rPr lang="en-US" dirty="0"/>
              <a:t>but not vice versa</a:t>
            </a:r>
          </a:p>
          <a:p>
            <a:pPr lvl="0"/>
            <a:r>
              <a:rPr lang="en-US" dirty="0"/>
              <a:t>Some may be built-in to an agentic system - </a:t>
            </a:r>
            <a:r>
              <a:rPr lang="en-US"/>
              <a:t>web search, image generation, notes, </a:t>
            </a:r>
            <a:r>
              <a:rPr lang="en-US" dirty="0"/>
              <a:t>...</a:t>
            </a:r>
          </a:p>
          <a:p>
            <a:pPr lvl="0"/>
            <a:r>
              <a:rPr lang="en-US" dirty="0"/>
              <a:t>Additional tools can be built or imported – e.</a:t>
            </a:r>
            <a:r>
              <a:rPr lang="en-US"/>
              <a:t>g., SQL queries, </a:t>
            </a:r>
            <a:r>
              <a:rPr lang="en-US" dirty="0"/>
              <a:t>chart creation (e.g. `Rechart`) </a:t>
            </a:r>
          </a:p>
          <a:p>
            <a:pPr lvl="0"/>
            <a:r>
              <a:rPr lang="en-US" dirty="0"/>
              <a:t>The LLM is made aware of the </a:t>
            </a:r>
            <a:r>
              <a:rPr lang="en-US" b="1" dirty="0"/>
              <a:t>toolbox</a:t>
            </a:r>
            <a:r>
              <a:rPr lang="en-US" dirty="0"/>
              <a:t> (one way: through Python function docstrings) and can decide when to call tools</a:t>
            </a:r>
          </a:p>
          <a:p>
            <a:pPr lvl="0"/>
            <a:r>
              <a:rPr lang="en-US" dirty="0"/>
              <a:t>I did some testing of tool development in Open </a:t>
            </a:r>
            <a:r>
              <a:rPr lang="en-US" dirty="0" err="1"/>
              <a:t>WebUI</a:t>
            </a:r>
            <a:r>
              <a:rPr lang="en-US" dirty="0"/>
              <a:t>. Some lessons learned: </a:t>
            </a:r>
          </a:p>
          <a:p>
            <a:pPr lvl="1"/>
            <a:r>
              <a:rPr lang="en-US" dirty="0"/>
              <a:t>use a strict docstring in the tool’s Python </a:t>
            </a:r>
            <a:r>
              <a:rPr lang="en-US"/>
              <a:t>function definition, </a:t>
            </a:r>
            <a:r>
              <a:rPr lang="en-US" dirty="0"/>
              <a:t>and </a:t>
            </a:r>
          </a:p>
          <a:p>
            <a:pPr lvl="1"/>
            <a:r>
              <a:rPr lang="en-US" dirty="0"/>
              <a:t>state in the system prompt that the LLM is </a:t>
            </a:r>
            <a:r>
              <a:rPr lang="en-US" u="sng" dirty="0"/>
              <a:t>required</a:t>
            </a:r>
            <a:r>
              <a:rPr lang="en-US" dirty="0"/>
              <a:t> to use the tool (if the circumstances apply)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1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9CD4-938E-8780-7CA3-432C4139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74CD-8F27-D558-504E-66A3F728E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</a:t>
            </a:r>
            <a:r>
              <a:rPr lang="en-US" u="sng" dirty="0"/>
              <a:t>process so far</a:t>
            </a:r>
            <a:r>
              <a:rPr lang="en-US" dirty="0"/>
              <a:t> was:</a:t>
            </a:r>
          </a:p>
          <a:p>
            <a:pPr marL="0" indent="0">
              <a:buNone/>
            </a:pPr>
            <a:r>
              <a:rPr lang="en-US" b="1" dirty="0"/>
              <a:t>operator asks question   →   system writes SQL   →    SQL validated </a:t>
            </a:r>
          </a:p>
          <a:p>
            <a:pPr marL="0" indent="0">
              <a:buNone/>
            </a:pPr>
            <a:r>
              <a:rPr lang="en-US" b="1" dirty="0"/>
              <a:t>	→   SQL query is run   →   SQL query results returned</a:t>
            </a:r>
            <a:endParaRPr lang="en-US" b="1" dirty="0">
              <a:solidFill>
                <a:srgbClr val="3B3B3B"/>
              </a:solidFill>
              <a:latin typeface="Segoe UI" panose="020B0502040204020203" pitchFamily="34" charset="0"/>
            </a:endParaRPr>
          </a:p>
          <a:p>
            <a:endParaRPr lang="en-US" dirty="0"/>
          </a:p>
          <a:p>
            <a:r>
              <a:rPr lang="en-US" dirty="0"/>
              <a:t>Can use the </a:t>
            </a:r>
            <a:r>
              <a:rPr lang="en-US"/>
              <a:t>LLM again, </a:t>
            </a:r>
            <a:r>
              <a:rPr lang="en-US" dirty="0"/>
              <a:t>e.g. through an “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explain_query_results</a:t>
            </a:r>
            <a:r>
              <a:rPr lang="en-US" dirty="0"/>
              <a:t>” </a:t>
            </a:r>
            <a:r>
              <a:rPr lang="en-US" b="1" dirty="0"/>
              <a:t>skill</a:t>
            </a:r>
            <a:r>
              <a:rPr lang="en-US" dirty="0"/>
              <a:t> to generate an </a:t>
            </a:r>
            <a:r>
              <a:rPr lang="en-US" b="1" dirty="0"/>
              <a:t>explanation of results</a:t>
            </a:r>
          </a:p>
          <a:p>
            <a:pPr lvl="1"/>
            <a:r>
              <a:rPr lang="en-US" b="1" dirty="0"/>
              <a:t>Example system prompt </a:t>
            </a:r>
            <a:endParaRPr lang="en-US" dirty="0"/>
          </a:p>
          <a:p>
            <a:pPr marL="457200" lvl="1" indent="0">
              <a:buNone/>
            </a:pPr>
            <a:r>
              <a:rPr lang="en-US" i="1" dirty="0"/>
              <a:t>“Here is the user’s </a:t>
            </a:r>
            <a:r>
              <a:rPr lang="en-US" i="1"/>
              <a:t>original question, </a:t>
            </a:r>
            <a:r>
              <a:rPr lang="en-US" i="1" dirty="0"/>
              <a:t>here is the SQL </a:t>
            </a:r>
            <a:r>
              <a:rPr lang="en-US" i="1"/>
              <a:t>that ran, </a:t>
            </a:r>
            <a:r>
              <a:rPr lang="en-US" i="1" dirty="0"/>
              <a:t>here is the result. Write a 2-3 sentence plain-English explanation that directly answers the question. Include a percentage comparison if the data supports it.”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10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993A-6F77-082D-765D-56C56D76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676"/>
            <a:ext cx="10515600" cy="857185"/>
          </a:xfrm>
        </p:spPr>
        <p:txBody>
          <a:bodyPr/>
          <a:lstStyle/>
          <a:p>
            <a:r>
              <a:rPr lang="en-US" dirty="0"/>
              <a:t>Explain Results Skill Illustration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E36A-3D6D-CE1D-8D5E-ECF240A8B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250302"/>
            <a:ext cx="11728580" cy="5451022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skill_explain_query_results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question,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query,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results,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business_context_document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### SKILL: Explain Query Results with User Intent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prompt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f"""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You are a Senior Data Analyst. Your goal is to  answer a user's specific question using the results of a SQL query.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### THE USER'S ORIGINAL QUESTION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"{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user_question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### BUSINESS CONTEXT &amp; RULES: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business_context_document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### THE SQL QUERY THAT WAS EXECUTED: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sql_query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### THE DATA RETURNED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query_results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###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1. Directly answer the user's question using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the data provided.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2. Use the Business Context to ensure you are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using the correct terminology.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3. If the data does not fully answer the </a:t>
            </a:r>
          </a:p>
          <a:p>
            <a:pPr marL="0" indent="0">
              <a:buNone/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question,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explain what is missing.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4. Keep the explanation concise and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professional.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"""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... rest of the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402823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52AED1-B850-2F2A-E5FD-246806A95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850" y="84090"/>
            <a:ext cx="3430137" cy="188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B7560-E94A-64B9-0BF0-37B7CD3D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81" y="-81136"/>
            <a:ext cx="10515600" cy="1325563"/>
          </a:xfrm>
        </p:spPr>
        <p:txBody>
          <a:bodyPr/>
          <a:lstStyle/>
          <a:p>
            <a:r>
              <a:rPr lang="en-US" dirty="0"/>
              <a:t>Visualization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05237-74CD-8688-0C01-B79565D38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3" y="2917371"/>
            <a:ext cx="11582615" cy="3856539"/>
          </a:xfrm>
        </p:spPr>
        <p:txBody>
          <a:bodyPr>
            <a:normAutofit lnSpcReduction="10000"/>
          </a:bodyPr>
          <a:lstStyle/>
          <a:p>
            <a:r>
              <a:rPr lang="en-US" u="sng" dirty="0"/>
              <a:t>Semantic layer</a:t>
            </a:r>
            <a:r>
              <a:rPr lang="en-US" dirty="0"/>
              <a:t> can help by providing context such as:</a:t>
            </a:r>
          </a:p>
          <a:p>
            <a:pPr lvl="1"/>
            <a:r>
              <a:rPr lang="en-US" sz="1800" dirty="0"/>
              <a:t>data types of columns</a:t>
            </a:r>
          </a:p>
          <a:p>
            <a:pPr lvl="1"/>
            <a:r>
              <a:rPr lang="en-US" sz="1800" dirty="0"/>
              <a:t># of distinct values expected in a column</a:t>
            </a:r>
          </a:p>
          <a:p>
            <a:pPr lvl="1"/>
            <a:r>
              <a:rPr lang="en-US" sz="1800" dirty="0"/>
              <a:t>expected distributions of column data</a:t>
            </a:r>
          </a:p>
          <a:p>
            <a:pPr marL="457200" lvl="1" indent="0">
              <a:buNone/>
            </a:pPr>
            <a:r>
              <a:rPr lang="en-US" dirty="0"/>
              <a:t>Write this part of the semantic layer as guidance to an incoming data analyst (it is!)</a:t>
            </a:r>
          </a:p>
          <a:p>
            <a:r>
              <a:rPr lang="en-US" dirty="0"/>
              <a:t>Can have LLM generate metadata description of plot (e.g. </a:t>
            </a:r>
            <a:r>
              <a:rPr lang="en-US"/>
              <a:t>Vega-Lite), </a:t>
            </a:r>
            <a:r>
              <a:rPr lang="en-US" dirty="0"/>
              <a:t>rather than plotting code. </a:t>
            </a:r>
            <a:r>
              <a:rPr lang="en-US"/>
              <a:t>For example, </a:t>
            </a:r>
            <a:r>
              <a:rPr lang="en-US" dirty="0"/>
              <a:t>LLM outputs JSON object describing the chart: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{"mark": "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bar",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"encoding": {"x": "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date",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"y": "value"}}</a:t>
            </a:r>
          </a:p>
          <a:p>
            <a:r>
              <a:rPr lang="en-US" dirty="0"/>
              <a:t>Separate renderer (e.g. web front-end using React)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754FF-777E-228C-EFED-7D75F21673F9}"/>
              </a:ext>
            </a:extLst>
          </p:cNvPr>
          <p:cNvSpPr txBox="1"/>
          <p:nvPr/>
        </p:nvSpPr>
        <p:spPr>
          <a:xfrm>
            <a:off x="4314791" y="2259880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⬆️</a:t>
            </a:r>
            <a:r>
              <a:rPr lang="en-US" b="1" i="1" dirty="0"/>
              <a:t>   recall from earlier slide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D7A27-9243-322E-AEC3-A24E5C3A1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5" y="1190562"/>
            <a:ext cx="8792802" cy="7811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0710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1AF8-FFBF-F465-E4C8-65E199F2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0710B-E609-0958-7927-8883B3B6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2496457"/>
            <a:ext cx="7086600" cy="36805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←  </a:t>
            </a:r>
            <a:r>
              <a:rPr lang="en-US" sz="2400" b="1" i="1" dirty="0"/>
              <a:t>recap of process from prior slide</a:t>
            </a:r>
          </a:p>
          <a:p>
            <a:endParaRPr lang="en-US" dirty="0"/>
          </a:p>
          <a:p>
            <a:r>
              <a:rPr lang="en-US" dirty="0"/>
              <a:t>Implementation of this process can be through Agent Skills and/or Tools</a:t>
            </a:r>
          </a:p>
          <a:p>
            <a:pPr lvl="1"/>
            <a:r>
              <a:rPr lang="en-US" dirty="0"/>
              <a:t>e.</a:t>
            </a:r>
            <a:r>
              <a:rPr lang="en-US"/>
              <a:t>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Visuals Core</a:t>
            </a:r>
            <a:r>
              <a:rPr lang="en-US" dirty="0"/>
              <a:t> Tool in OUI (via Eric </a:t>
            </a:r>
            <a:r>
              <a:rPr lang="en-US"/>
              <a:t>B), </a:t>
            </a:r>
            <a:r>
              <a:rPr lang="en-US" dirty="0"/>
              <a:t>snippet - </a:t>
            </a:r>
          </a:p>
          <a:p>
            <a:pPr lvl="2"/>
            <a:r>
              <a:rPr lang="en-US" dirty="0"/>
              <a:t>description: </a:t>
            </a:r>
            <a:r>
              <a:rPr lang="en-US"/>
              <a:t>High-quality tables, charts, heatmaps, timelines, flowcharts, </a:t>
            </a:r>
            <a:r>
              <a:rPr lang="en-US" dirty="0"/>
              <a:t>and trees.. </a:t>
            </a:r>
            <a:r>
              <a:rPr lang="en-US" dirty="0" err="1"/>
              <a:t>utilities.required_open_webui_version</a:t>
            </a:r>
            <a:r>
              <a:rPr lang="en-US" dirty="0"/>
              <a:t>: 0.4.0</a:t>
            </a:r>
          </a:p>
          <a:p>
            <a:pPr lvl="2"/>
            <a:r>
              <a:rPr lang="en-US" dirty="0" err="1"/>
              <a:t>tool_instructions</a:t>
            </a:r>
            <a:r>
              <a:rPr lang="en-US" dirty="0"/>
              <a:t>: |  When calling </a:t>
            </a:r>
            <a:r>
              <a:rPr lang="en-US"/>
              <a:t>this tool, </a:t>
            </a:r>
            <a:r>
              <a:rPr lang="en-US" dirty="0"/>
              <a:t>arguments MUST be passed as valid JSON objects.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02A58-0D5E-B57B-5CBA-FC834A1BD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29"/>
          <a:stretch>
            <a:fillRect/>
          </a:stretch>
        </p:blipFill>
        <p:spPr>
          <a:xfrm>
            <a:off x="375141" y="1494971"/>
            <a:ext cx="3287010" cy="4997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BC1B2C-9ACF-D60B-B48C-075D25E8E4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232" b="33074"/>
          <a:stretch>
            <a:fillRect/>
          </a:stretch>
        </p:blipFill>
        <p:spPr>
          <a:xfrm>
            <a:off x="9114972" y="365125"/>
            <a:ext cx="2569244" cy="250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9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3323-817E-C45A-9C81-F43A3B9C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D91-3BCB-96E8-205D-E6DDC2B5D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51525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Exposes the LLM’s reasoning</a:t>
            </a:r>
          </a:p>
          <a:p>
            <a:r>
              <a:rPr lang="en-US" dirty="0"/>
              <a:t>Aimed at helping build human trust in the system</a:t>
            </a:r>
          </a:p>
          <a:p>
            <a:r>
              <a:rPr lang="en-US" dirty="0"/>
              <a:t>Can be a collapsible section (defaulting to collapsed) </a:t>
            </a:r>
            <a:r>
              <a:rPr lang="en-US"/>
              <a:t>that includes, </a:t>
            </a:r>
            <a:r>
              <a:rPr lang="en-US" dirty="0"/>
              <a:t>e.g. for NL2SQL:</a:t>
            </a:r>
          </a:p>
          <a:p>
            <a:pPr lvl="1"/>
            <a:r>
              <a:rPr lang="en-US" dirty="0"/>
              <a:t>SQL it generated</a:t>
            </a:r>
          </a:p>
          <a:p>
            <a:pPr lvl="1"/>
            <a:r>
              <a:rPr lang="en-US" dirty="0"/>
              <a:t>Why it chose the tables and fields it did</a:t>
            </a:r>
          </a:p>
          <a:p>
            <a:pPr lvl="1"/>
            <a:r>
              <a:rPr lang="en-US" dirty="0"/>
              <a:t>Raw query result</a:t>
            </a:r>
          </a:p>
          <a:p>
            <a:pPr lvl="1"/>
            <a:r>
              <a:rPr lang="en-US" dirty="0"/>
              <a:t>Brief description of model’s interpretation</a:t>
            </a:r>
          </a:p>
          <a:p>
            <a:r>
              <a:rPr lang="en-US" b="1" dirty="0"/>
              <a:t>** </a:t>
            </a:r>
            <a:r>
              <a:rPr lang="en-US" dirty="0"/>
              <a:t>This reasoning can be </a:t>
            </a:r>
            <a:r>
              <a:rPr lang="en-US" b="1" dirty="0"/>
              <a:t>captured along the way</a:t>
            </a:r>
            <a:r>
              <a:rPr lang="en-US" dirty="0"/>
              <a:t> by instructing the LLM to </a:t>
            </a:r>
            <a:r>
              <a:rPr lang="en-US" b="1"/>
              <a:t>record concise, </a:t>
            </a:r>
            <a:r>
              <a:rPr lang="en-US" b="1" dirty="0"/>
              <a:t>user-facing explanations</a:t>
            </a:r>
            <a:r>
              <a:rPr lang="en-US" dirty="0"/>
              <a:t> of what it is doing and why.</a:t>
            </a:r>
          </a:p>
          <a:p>
            <a:r>
              <a:rPr lang="en-US" dirty="0"/>
              <a:t>In some of my </a:t>
            </a:r>
            <a:r>
              <a:rPr lang="en-US"/>
              <a:t>NL2SQL experiments, </a:t>
            </a:r>
            <a:r>
              <a:rPr lang="en-US" dirty="0"/>
              <a:t>I was seeing this without </a:t>
            </a:r>
            <a:r>
              <a:rPr lang="en-US"/>
              <a:t>even asking, </a:t>
            </a:r>
            <a:r>
              <a:rPr lang="en-US" dirty="0"/>
              <a:t>e.g. </a:t>
            </a:r>
          </a:p>
          <a:p>
            <a:pPr lvl="1"/>
            <a:r>
              <a:rPr lang="en-US" dirty="0"/>
              <a:t>zero-shot case: </a:t>
            </a:r>
            <a:r>
              <a:rPr lang="en-US" u="sng" dirty="0"/>
              <a:t>without the benefit of </a:t>
            </a:r>
            <a:r>
              <a:rPr lang="en-US" u="sng"/>
              <a:t>a schema, </a:t>
            </a:r>
            <a:r>
              <a:rPr lang="en-US" u="sng" dirty="0"/>
              <a:t>the LLM constructed an assumed one </a:t>
            </a:r>
            <a:r>
              <a:rPr lang="en-US" dirty="0"/>
              <a:t>(that was quite </a:t>
            </a:r>
            <a:r>
              <a:rPr lang="en-US"/>
              <a:t>logical), </a:t>
            </a:r>
            <a:r>
              <a:rPr lang="en-US" dirty="0"/>
              <a:t>citing following common practice for fleet-management systems for some of its decisions</a:t>
            </a:r>
          </a:p>
          <a:p>
            <a:pPr lvl="1"/>
            <a:r>
              <a:rPr lang="en-US" dirty="0"/>
              <a:t>explained </a:t>
            </a:r>
            <a:r>
              <a:rPr lang="en-US" u="sng" dirty="0"/>
              <a:t>why it chose left join</a:t>
            </a:r>
            <a:r>
              <a:rPr lang="en-US" dirty="0"/>
              <a:t> (to ensure every vehicle appeared in the result even if it has never been rented – the fleet-focused perspective)</a:t>
            </a:r>
          </a:p>
          <a:p>
            <a:pPr lvl="1"/>
            <a:r>
              <a:rPr lang="en-US" dirty="0"/>
              <a:t>explained some of the SQL syntax – e.</a:t>
            </a:r>
            <a:r>
              <a:rPr lang="en-US"/>
              <a:t>g., </a:t>
            </a:r>
            <a:r>
              <a:rPr lang="en-US" u="sng" dirty="0"/>
              <a:t>group by groups rows by distinct vehicle</a:t>
            </a:r>
            <a:r>
              <a:rPr lang="en-US" dirty="0"/>
              <a:t> – this can help a beginner or novice understand why the query was written the way it was</a:t>
            </a:r>
          </a:p>
          <a:p>
            <a:pPr lvl="1"/>
            <a:r>
              <a:rPr lang="en-US" dirty="0"/>
              <a:t>offered alternative queries if </a:t>
            </a:r>
            <a:r>
              <a:rPr lang="en-US" u="sng" dirty="0"/>
              <a:t>user wanted something their question might </a:t>
            </a:r>
            <a:r>
              <a:rPr lang="en-US" u="sng"/>
              <a:t>have meant</a:t>
            </a:r>
            <a:r>
              <a:rPr lang="en-US"/>
              <a:t>, </a:t>
            </a:r>
            <a:r>
              <a:rPr lang="en-US" dirty="0"/>
              <a:t>e.g. standard price of a vehicle vs average rental cost of the vehicle.  So if there’s </a:t>
            </a:r>
            <a:r>
              <a:rPr lang="en-US"/>
              <a:t>some ambiguity, </a:t>
            </a:r>
            <a:r>
              <a:rPr lang="en-US" dirty="0"/>
              <a:t>this can be helpful – the LLM can offer options for what it thinks the user meant.</a:t>
            </a:r>
          </a:p>
          <a:p>
            <a:pPr lvl="1"/>
            <a:r>
              <a:rPr lang="en-US" dirty="0"/>
              <a:t>In </a:t>
            </a:r>
            <a:r>
              <a:rPr lang="en-US"/>
              <a:t>context-aware approach, </a:t>
            </a:r>
            <a:r>
              <a:rPr lang="en-US" dirty="0"/>
              <a:t>it </a:t>
            </a:r>
            <a:r>
              <a:rPr lang="en-US" u="sng" dirty="0"/>
              <a:t>cited the schema </a:t>
            </a:r>
            <a:r>
              <a:rPr lang="en-US" dirty="0"/>
              <a:t>I provided as its source for table definitions</a:t>
            </a:r>
          </a:p>
        </p:txBody>
      </p:sp>
    </p:spTree>
    <p:extLst>
      <p:ext uri="{BB962C8B-B14F-4D97-AF65-F5344CB8AC3E}">
        <p14:creationId xmlns:p14="http://schemas.microsoft.com/office/powerpoint/2010/main" val="184934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09F3-8BFA-8A85-49DC-F8FC6D53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Internal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CB80-57F5-9B86-6ACD-D5660625F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485"/>
            <a:ext cx="10515600" cy="4351338"/>
          </a:xfrm>
        </p:spPr>
        <p:txBody>
          <a:bodyPr/>
          <a:lstStyle/>
          <a:p>
            <a:r>
              <a:rPr lang="en-US" dirty="0"/>
              <a:t>have the models supply chain of thought (</a:t>
            </a:r>
            <a:r>
              <a:rPr lang="en-US" dirty="0" err="1"/>
              <a:t>CoT</a:t>
            </a:r>
            <a:r>
              <a:rPr lang="en-US" dirty="0"/>
              <a:t>)</a:t>
            </a:r>
          </a:p>
          <a:p>
            <a:r>
              <a:rPr lang="en-US" dirty="0"/>
              <a:t>build our system to monitor </a:t>
            </a:r>
            <a:r>
              <a:rPr lang="en-US" dirty="0" err="1"/>
              <a:t>CoT</a:t>
            </a:r>
            <a:r>
              <a:rPr lang="en-US" dirty="0"/>
              <a:t> to keep models from misbehaving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00FFC-5B4E-545B-9C94-13E4964A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35" y="2989946"/>
            <a:ext cx="8586686" cy="33432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DD1232-E90D-6F76-6458-74597AA31F0B}"/>
              </a:ext>
            </a:extLst>
          </p:cNvPr>
          <p:cNvSpPr txBox="1"/>
          <p:nvPr/>
        </p:nvSpPr>
        <p:spPr>
          <a:xfrm>
            <a:off x="292850" y="5853797"/>
            <a:ext cx="2474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https://arxiv.org/abs/2507.11473</a:t>
            </a:r>
          </a:p>
        </p:txBody>
      </p:sp>
    </p:spTree>
    <p:extLst>
      <p:ext uri="{BB962C8B-B14F-4D97-AF65-F5344CB8AC3E}">
        <p14:creationId xmlns:p14="http://schemas.microsoft.com/office/powerpoint/2010/main" val="3322025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14AA-0314-F1BF-3415-A9C8411F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FE424-BE9D-64E8-60E2-C57D663B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AI Engineering </a:t>
            </a:r>
            <a:r>
              <a:rPr lang="en-US" dirty="0"/>
              <a:t>by Chip Huyen</a:t>
            </a:r>
          </a:p>
          <a:p>
            <a:r>
              <a:rPr lang="en-US" i="1" dirty="0"/>
              <a:t>An Illustrated Guide to AI Agents</a:t>
            </a:r>
            <a:r>
              <a:rPr lang="en-US" dirty="0"/>
              <a:t> by </a:t>
            </a:r>
            <a:r>
              <a:rPr lang="en-US"/>
              <a:t>Maarten Grootendorst, </a:t>
            </a:r>
            <a:r>
              <a:rPr lang="en-US" dirty="0"/>
              <a:t>Jay </a:t>
            </a:r>
            <a:r>
              <a:rPr lang="en-US" dirty="0" err="1"/>
              <a:t>Alammar</a:t>
            </a:r>
            <a:endParaRPr lang="en-US" dirty="0"/>
          </a:p>
          <a:p>
            <a:r>
              <a:rPr lang="en-US" i="1" dirty="0"/>
              <a:t>Skills for AI Agents </a:t>
            </a:r>
            <a:r>
              <a:rPr lang="en-US" dirty="0"/>
              <a:t>by Lucas Soares</a:t>
            </a:r>
          </a:p>
          <a:p>
            <a:r>
              <a:rPr lang="en-US" dirty="0">
                <a:hlinkClick r:id="rId3"/>
              </a:rPr>
              <a:t>How We Built a Text-to-SQL Data Analyst AI | </a:t>
            </a:r>
            <a:r>
              <a:rPr lang="en-US" dirty="0" err="1">
                <a:hlinkClick r:id="rId3"/>
              </a:rPr>
              <a:t>Kalvium</a:t>
            </a:r>
            <a:r>
              <a:rPr lang="en-US" dirty="0">
                <a:hlinkClick r:id="rId3"/>
              </a:rPr>
              <a:t> Labs</a:t>
            </a:r>
            <a:r>
              <a:rPr lang="en-US" dirty="0"/>
              <a:t> (article)</a:t>
            </a:r>
          </a:p>
          <a:p>
            <a:r>
              <a:rPr lang="en-US" dirty="0">
                <a:hlinkClick r:id="rId4"/>
              </a:rPr>
              <a:t>Introduction to AI Agents - </a:t>
            </a:r>
            <a:r>
              <a:rPr lang="en-US" dirty="0" err="1">
                <a:hlinkClick r:id="rId4"/>
              </a:rPr>
              <a:t>DataCamp</a:t>
            </a:r>
            <a:r>
              <a:rPr lang="en-US" dirty="0">
                <a:hlinkClick r:id="rId4"/>
              </a:rPr>
              <a:t> Learn</a:t>
            </a:r>
            <a:r>
              <a:rPr lang="en-US" dirty="0"/>
              <a:t> (online course)</a:t>
            </a:r>
            <a:endParaRPr lang="en-US" b="1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247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4DC2-8000-0FA7-E302-5A11CEE7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5C47-D6FD-A174-9B3F-CE48E6458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Web front accepts natural language →  LLM generates SQL → </a:t>
            </a:r>
          </a:p>
          <a:p>
            <a:pPr marL="0" indent="0">
              <a:buNone/>
            </a:pPr>
            <a:r>
              <a:rPr lang="en-US" dirty="0"/>
              <a:t>  SQL executor runs query →    LLM produces explanation</a:t>
            </a:r>
          </a:p>
          <a:p>
            <a:endParaRPr lang="en-US" dirty="0"/>
          </a:p>
          <a:p>
            <a:r>
              <a:rPr lang="en-US" dirty="0"/>
              <a:t>In Python using Open AI LLM endpoint</a:t>
            </a:r>
          </a:p>
          <a:p>
            <a:r>
              <a:rPr lang="en-US" dirty="0"/>
              <a:t>See static html pages and screen recording (if offline).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03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46C6-8581-CAD1-F508-3787A3F5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demo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BBA5B-9430-A8DF-919B-93330F341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28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URL 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https://api.openai.com/v1/chat/completions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SYSTEM_PROMPT = """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[Role] You are an expert SQL query writer.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[Task] Write a SQL query that would answer the question provided through the prompt.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[Guideline1] Crucially, all column names and table names that contain spaces must be enclosed in square brackets (e.g., [Email Address] or [Owner ID])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[Guideline2] Crucially, your responses should only be SQL queries and should not contain any additional, extraneous words.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[Context] Use the database schema you are being provided with to best address the task.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""“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75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1E01-0540-9956-4EB3-4C091C29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demo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0AB9-ECD2-FC3C-0D89-BBB0B5E7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02" y="1690688"/>
            <a:ext cx="1147075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payload =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"model": "gpt-4o-mini",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"messages": [{"role": "system", "content": SYSTEM_PROMPT},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{"role": "user",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"content": f"""            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Below is the database schema provided in YAML format: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\n\n{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schema_content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\n\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nQuestion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{question}"""}]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response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requests.post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(URL, headers=headers,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=payload)</a:t>
            </a:r>
          </a:p>
        </p:txBody>
      </p:sp>
    </p:spTree>
    <p:extLst>
      <p:ext uri="{BB962C8B-B14F-4D97-AF65-F5344CB8AC3E}">
        <p14:creationId xmlns:p14="http://schemas.microsoft.com/office/powerpoint/2010/main" val="2270651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CD6C-A258-F6A0-3686-885E17DC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293" y="210179"/>
            <a:ext cx="5079124" cy="1325563"/>
          </a:xfrm>
        </p:spPr>
        <p:txBody>
          <a:bodyPr/>
          <a:lstStyle/>
          <a:p>
            <a:r>
              <a:rPr lang="en-US" dirty="0"/>
              <a:t>Python for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7C62-AA1B-557D-F2BC-E1E161E15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583" y="641131"/>
            <a:ext cx="9808780" cy="609077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do_GET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self.send_response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(200)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self.send_header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Content-type",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"text/html")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self.end_headers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The HTML content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html = """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&lt;!DOCTYPE html&gt;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&lt;html&gt;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&lt;head&gt;&lt;title&gt;AI Agent&lt;/title&gt;&lt;/head&gt;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&lt;body&gt;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&lt;h1&gt;AI Agent LLM Query Interface&lt;/h1&gt;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&lt;form method="POST"&gt;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for="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user_input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question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:&lt;/label&gt;&lt;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&lt;input type="text" id="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user_input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user_input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required&gt;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&lt;button type="submit"&gt;Submit&lt;/button&gt;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&lt;/form&gt;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&lt;/body&gt;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&lt;/html&gt;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"""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self.wfile.write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html.encode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("utf-8"))</a:t>
            </a:r>
          </a:p>
        </p:txBody>
      </p:sp>
    </p:spTree>
    <p:extLst>
      <p:ext uri="{BB962C8B-B14F-4D97-AF65-F5344CB8AC3E}">
        <p14:creationId xmlns:p14="http://schemas.microsoft.com/office/powerpoint/2010/main" val="3642264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97E0-B665-2A79-8470-4EF60C6A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56" y="24880"/>
            <a:ext cx="10515600" cy="1325563"/>
          </a:xfrm>
        </p:spPr>
        <p:txBody>
          <a:bodyPr/>
          <a:lstStyle/>
          <a:p>
            <a:r>
              <a:rPr lang="en-US" dirty="0"/>
              <a:t>Example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55B6-81F1-5E7B-0CF7-DF74AA91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55" y="1212113"/>
            <a:ext cx="11399879" cy="544386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What is the email address of the customer with Customer ID 1?</a:t>
            </a:r>
          </a:p>
          <a:p>
            <a:r>
              <a:rPr lang="en-US" dirty="0"/>
              <a:t>How many different vehicles are currently registered in the Cars table?</a:t>
            </a:r>
          </a:p>
          <a:p>
            <a:r>
              <a:rPr lang="en-US" dirty="0"/>
              <a:t>Which customers live in the state of California?</a:t>
            </a:r>
          </a:p>
          <a:p>
            <a:r>
              <a:rPr lang="en-US" dirty="0"/>
              <a:t>What is the price per day for Vehicle ID 101?</a:t>
            </a:r>
          </a:p>
          <a:p>
            <a:r>
              <a:rPr lang="en-US" dirty="0"/>
              <a:t>Can you list all the rentals that occurred in the North region?</a:t>
            </a:r>
          </a:p>
          <a:p>
            <a:r>
              <a:rPr lang="en-US" dirty="0"/>
              <a:t>What is the last name and telephone number of the owner with Owner ID 5?</a:t>
            </a:r>
          </a:p>
          <a:p>
            <a:r>
              <a:rPr lang="en-US" dirty="0"/>
              <a:t>Which customers have a Visa credit card type on file?</a:t>
            </a:r>
          </a:p>
          <a:p>
            <a:r>
              <a:rPr lang="en-US" dirty="0"/>
              <a:t>What are the start and end dates for Rental ID 500?</a:t>
            </a:r>
          </a:p>
          <a:p>
            <a:r>
              <a:rPr lang="en-US" dirty="0"/>
              <a:t>Which city has the highest concentration of customers?</a:t>
            </a:r>
          </a:p>
          <a:p>
            <a:r>
              <a:rPr lang="en-US" dirty="0"/>
              <a:t>List the names of all owners who live in the city of Los Angeles.</a:t>
            </a:r>
          </a:p>
          <a:p>
            <a:r>
              <a:rPr lang="en-US" dirty="0"/>
              <a:t>What are the first and last names of customers who have rented a vehicle with a price per day greater than 50.0?</a:t>
            </a:r>
          </a:p>
          <a:p>
            <a:r>
              <a:rPr lang="en-US" dirty="0"/>
              <a:t>List the email addresses of owners whose vehicles were involved in a rental in the 'North' region.</a:t>
            </a:r>
          </a:p>
          <a:p>
            <a:r>
              <a:rPr lang="en-US" dirty="0"/>
              <a:t>Which customers have rented a vehicle that belongs to an owner living in the state of 'California'?</a:t>
            </a:r>
          </a:p>
          <a:p>
            <a:r>
              <a:rPr lang="en-US" dirty="0"/>
              <a:t>Show the names of customers and the specific vehicle models they have rented.</a:t>
            </a:r>
          </a:p>
          <a:p>
            <a:r>
              <a:rPr lang="en-US" dirty="0"/>
              <a:t>Find the telephone numbers of owners who have vehicles currently being rented in the 'West' region.</a:t>
            </a:r>
          </a:p>
        </p:txBody>
      </p:sp>
    </p:spTree>
    <p:extLst>
      <p:ext uri="{BB962C8B-B14F-4D97-AF65-F5344CB8AC3E}">
        <p14:creationId xmlns:p14="http://schemas.microsoft.com/office/powerpoint/2010/main" val="1006364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1877-3063-4F03-F92C-48792B0C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1D9C-7FD7-0F90-4D15-82D0DA68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List any information for rentals of vehicles with Rover in their name.</a:t>
            </a:r>
          </a:p>
          <a:p>
            <a:r>
              <a:rPr lang="en-US" dirty="0"/>
              <a:t>List all customers from southern states.</a:t>
            </a:r>
          </a:p>
          <a:p>
            <a:r>
              <a:rPr lang="en-US" dirty="0"/>
              <a:t>list customers from Virginia</a:t>
            </a:r>
          </a:p>
          <a:p>
            <a:r>
              <a:rPr lang="en-US" dirty="0"/>
              <a:t>list customers from west coast states</a:t>
            </a:r>
          </a:p>
          <a:p>
            <a:r>
              <a:rPr lang="en-US" dirty="0"/>
              <a:t>list all customer states</a:t>
            </a:r>
          </a:p>
          <a:p>
            <a:r>
              <a:rPr lang="en-US" dirty="0"/>
              <a:t>Which car was rented the most often?</a:t>
            </a:r>
          </a:p>
          <a:p>
            <a:r>
              <a:rPr lang="en-US" dirty="0"/>
              <a:t>Which customer zip code had the most rentals?</a:t>
            </a:r>
          </a:p>
          <a:p>
            <a:r>
              <a:rPr lang="en-US" dirty="0"/>
              <a:t>Which customer zip code had the most rentals and how many did it have?</a:t>
            </a:r>
          </a:p>
          <a:p>
            <a:r>
              <a:rPr lang="en-US" dirty="0"/>
              <a:t>Who rented the most cars?</a:t>
            </a:r>
          </a:p>
          <a:p>
            <a:r>
              <a:rPr lang="en-US" dirty="0"/>
              <a:t>how many rentals were in the southwestern United States?</a:t>
            </a:r>
          </a:p>
        </p:txBody>
      </p:sp>
    </p:spTree>
    <p:extLst>
      <p:ext uri="{BB962C8B-B14F-4D97-AF65-F5344CB8AC3E}">
        <p14:creationId xmlns:p14="http://schemas.microsoft.com/office/powerpoint/2010/main" val="889370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1394-07CD-E1CE-5C62-5872EF5A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382" y="0"/>
            <a:ext cx="5322101" cy="749147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B7B8-9170-FB4B-CDFF-B6B7F872D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5186" y="6108852"/>
            <a:ext cx="5341131" cy="603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See also Results HTML pages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F27A9-4FF3-67A5-EB90-86B1143F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67" y="225650"/>
            <a:ext cx="4610743" cy="5506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C9D325-F156-DD62-C7EF-D22948D20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58" y="1126131"/>
            <a:ext cx="6946859" cy="460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8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10541</TotalTime>
  <Words>4048</Words>
  <Application>Microsoft Office PowerPoint</Application>
  <PresentationFormat>Widescreen</PresentationFormat>
  <Paragraphs>411</Paragraphs>
  <Slides>36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Consolas</vt:lpstr>
      <vt:lpstr>Courier New</vt:lpstr>
      <vt:lpstr>Segoe UI</vt:lpstr>
      <vt:lpstr>Office Theme</vt:lpstr>
      <vt:lpstr>AI Agent:  Natural Language to SQL (NL2SQL)</vt:lpstr>
      <vt:lpstr>What is an AI Agent?</vt:lpstr>
      <vt:lpstr>Natural-language analytics</vt:lpstr>
      <vt:lpstr>Requirements of the NL2SQL Agent</vt:lpstr>
      <vt:lpstr>Requirements of NL2SQL Agent (continued)</vt:lpstr>
      <vt:lpstr>Natural language conversion to SQL (NL2SQL)</vt:lpstr>
      <vt:lpstr>NL2SQL “context-aware shot” approach</vt:lpstr>
      <vt:lpstr>Experiment</vt:lpstr>
      <vt:lpstr>Results</vt:lpstr>
      <vt:lpstr>Results (continued)</vt:lpstr>
      <vt:lpstr>Additional tests</vt:lpstr>
      <vt:lpstr>Additional Semantic Layer Content to Build</vt:lpstr>
      <vt:lpstr>E-R Diagram generated by LLM from .db file (in Mermaid format)</vt:lpstr>
      <vt:lpstr>Storing Semantic Layer Info in the RAG Pipeline</vt:lpstr>
      <vt:lpstr>Middle Ground:     Semantic Layer Between System Prompt and RAG</vt:lpstr>
      <vt:lpstr>SQL Query Validation</vt:lpstr>
      <vt:lpstr>SQL execution</vt:lpstr>
      <vt:lpstr>SQL Execution (cont.)</vt:lpstr>
      <vt:lpstr>Skills</vt:lpstr>
      <vt:lpstr>Skills example – NL2SQL (simplified)</vt:lpstr>
      <vt:lpstr>Agents and Skills</vt:lpstr>
      <vt:lpstr>Tools</vt:lpstr>
      <vt:lpstr>Explanation of Results</vt:lpstr>
      <vt:lpstr>Explain Results Skill Illustration</vt:lpstr>
      <vt:lpstr>Visualization</vt:lpstr>
      <vt:lpstr>Visualization (continued)</vt:lpstr>
      <vt:lpstr>Reasoning Panel</vt:lpstr>
      <vt:lpstr>Model Internal Reasoning</vt:lpstr>
      <vt:lpstr>References</vt:lpstr>
      <vt:lpstr>Demo</vt:lpstr>
      <vt:lpstr>Some of the demo code</vt:lpstr>
      <vt:lpstr>More demo code</vt:lpstr>
      <vt:lpstr>Python for Web Page</vt:lpstr>
      <vt:lpstr>Example Questions</vt:lpstr>
      <vt:lpstr>More Example Questions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D. Frommer</dc:creator>
  <cp:lastModifiedBy>Frommer, Ian Dr. (EDU)</cp:lastModifiedBy>
  <cp:revision>48</cp:revision>
  <dcterms:created xsi:type="dcterms:W3CDTF">2026-09-03T12:49:47Z</dcterms:created>
  <dcterms:modified xsi:type="dcterms:W3CDTF">2026-10-29T15:16:56Z</dcterms:modified>
</cp:coreProperties>
</file>